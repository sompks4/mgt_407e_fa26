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7"/>
  </p:notesMasterIdLst>
  <p:handoutMasterIdLst>
    <p:handoutMasterId r:id="rId118"/>
  </p:handoutMasterIdLst>
  <p:sldIdLst>
    <p:sldId id="1342" r:id="rId2"/>
    <p:sldId id="2442" r:id="rId3"/>
    <p:sldId id="2446" r:id="rId4"/>
    <p:sldId id="2534" r:id="rId5"/>
    <p:sldId id="2509" r:id="rId6"/>
    <p:sldId id="2535" r:id="rId7"/>
    <p:sldId id="2809" r:id="rId8"/>
    <p:sldId id="2810" r:id="rId9"/>
    <p:sldId id="2445" r:id="rId10"/>
    <p:sldId id="2511" r:id="rId11"/>
    <p:sldId id="2449" r:id="rId12"/>
    <p:sldId id="2450" r:id="rId13"/>
    <p:sldId id="2657" r:id="rId14"/>
    <p:sldId id="2452" r:id="rId15"/>
    <p:sldId id="2529" r:id="rId16"/>
    <p:sldId id="2530" r:id="rId17"/>
    <p:sldId id="2531" r:id="rId18"/>
    <p:sldId id="2797" r:id="rId19"/>
    <p:sldId id="2798" r:id="rId20"/>
    <p:sldId id="2799" r:id="rId21"/>
    <p:sldId id="2800" r:id="rId22"/>
    <p:sldId id="2801" r:id="rId23"/>
    <p:sldId id="2806" r:id="rId24"/>
    <p:sldId id="2659" r:id="rId25"/>
    <p:sldId id="2451" r:id="rId26"/>
    <p:sldId id="2802" r:id="rId27"/>
    <p:sldId id="2791" r:id="rId28"/>
    <p:sldId id="2456" r:id="rId29"/>
    <p:sldId id="2803" r:id="rId30"/>
    <p:sldId id="2489" r:id="rId31"/>
    <p:sldId id="2742" r:id="rId32"/>
    <p:sldId id="2491" r:id="rId33"/>
    <p:sldId id="2743" r:id="rId34"/>
    <p:sldId id="2473" r:id="rId35"/>
    <p:sldId id="2745" r:id="rId36"/>
    <p:sldId id="2747" r:id="rId37"/>
    <p:sldId id="2795" r:id="rId38"/>
    <p:sldId id="2713" r:id="rId39"/>
    <p:sldId id="2774" r:id="rId40"/>
    <p:sldId id="2715" r:id="rId41"/>
    <p:sldId id="2714" r:id="rId42"/>
    <p:sldId id="2716" r:id="rId43"/>
    <p:sldId id="2717" r:id="rId44"/>
    <p:sldId id="2777" r:id="rId45"/>
    <p:sldId id="2748" r:id="rId46"/>
    <p:sldId id="2749" r:id="rId47"/>
    <p:sldId id="2750" r:id="rId48"/>
    <p:sldId id="2767" r:id="rId49"/>
    <p:sldId id="2768" r:id="rId50"/>
    <p:sldId id="2751" r:id="rId51"/>
    <p:sldId id="2789" r:id="rId52"/>
    <p:sldId id="2780" r:id="rId53"/>
    <p:sldId id="2781" r:id="rId54"/>
    <p:sldId id="2782" r:id="rId55"/>
    <p:sldId id="2783" r:id="rId56"/>
    <p:sldId id="2784" r:id="rId57"/>
    <p:sldId id="2785" r:id="rId58"/>
    <p:sldId id="2786" r:id="rId59"/>
    <p:sldId id="2790" r:id="rId60"/>
    <p:sldId id="2787" r:id="rId61"/>
    <p:sldId id="2788" r:id="rId62"/>
    <p:sldId id="2769" r:id="rId63"/>
    <p:sldId id="2770" r:id="rId64"/>
    <p:sldId id="2775" r:id="rId65"/>
    <p:sldId id="2776" r:id="rId66"/>
    <p:sldId id="2793" r:id="rId67"/>
    <p:sldId id="2794" r:id="rId68"/>
    <p:sldId id="2502" r:id="rId69"/>
    <p:sldId id="2761" r:id="rId70"/>
    <p:sldId id="2488" r:id="rId71"/>
    <p:sldId id="2772" r:id="rId72"/>
    <p:sldId id="2763" r:id="rId73"/>
    <p:sldId id="2765" r:id="rId74"/>
    <p:sldId id="2771" r:id="rId75"/>
    <p:sldId id="2796" r:id="rId76"/>
    <p:sldId id="2519" r:id="rId77"/>
    <p:sldId id="2478" r:id="rId78"/>
    <p:sldId id="2484" r:id="rId79"/>
    <p:sldId id="2483" r:id="rId80"/>
    <p:sldId id="2736" r:id="rId81"/>
    <p:sldId id="2670" r:id="rId82"/>
    <p:sldId id="2807" r:id="rId83"/>
    <p:sldId id="2805" r:id="rId84"/>
    <p:sldId id="2804" r:id="rId85"/>
    <p:sldId id="2508" r:id="rId86"/>
    <p:sldId id="1965" r:id="rId87"/>
    <p:sldId id="866" r:id="rId88"/>
    <p:sldId id="2808" r:id="rId89"/>
    <p:sldId id="2447" r:id="rId90"/>
    <p:sldId id="2448" r:id="rId91"/>
    <p:sldId id="2492" r:id="rId92"/>
    <p:sldId id="2466" r:id="rId93"/>
    <p:sldId id="2510" r:id="rId94"/>
    <p:sldId id="2493" r:id="rId95"/>
    <p:sldId id="2495" r:id="rId96"/>
    <p:sldId id="2494" r:id="rId97"/>
    <p:sldId id="2496" r:id="rId98"/>
    <p:sldId id="2497" r:id="rId99"/>
    <p:sldId id="2792" r:id="rId100"/>
    <p:sldId id="2773" r:id="rId101"/>
    <p:sldId id="2504" r:id="rId102"/>
    <p:sldId id="2506" r:id="rId103"/>
    <p:sldId id="2505" r:id="rId104"/>
    <p:sldId id="2507" r:id="rId105"/>
    <p:sldId id="2766" r:id="rId106"/>
    <p:sldId id="2779" r:id="rId107"/>
    <p:sldId id="2524" r:id="rId108"/>
    <p:sldId id="2485" r:id="rId109"/>
    <p:sldId id="2525" r:id="rId110"/>
    <p:sldId id="2527" r:id="rId111"/>
    <p:sldId id="2520" r:id="rId112"/>
    <p:sldId id="2490" r:id="rId113"/>
    <p:sldId id="2498" r:id="rId114"/>
    <p:sldId id="2499" r:id="rId115"/>
    <p:sldId id="2501" r:id="rId116"/>
  </p:sldIdLst>
  <p:sldSz cx="9144000" cy="6858000" type="screen4x3"/>
  <p:notesSz cx="7010400" cy="9296400"/>
  <p:embeddedFontLst>
    <p:embeddedFont>
      <p:font typeface="Cambria" panose="02040503050406030204" pitchFamily="18" charset="0"/>
      <p:regular r:id="rId119"/>
      <p:bold r:id="rId120"/>
      <p:italic r:id="rId121"/>
      <p:boldItalic r:id="rId122"/>
    </p:embeddedFont>
    <p:embeddedFont>
      <p:font typeface="Cambria Math" panose="02040503050406030204" pitchFamily="18" charset="0"/>
      <p:regular r:id="rId123"/>
    </p:embeddedFont>
    <p:embeddedFont>
      <p:font typeface="Wingdings 3" panose="05040102010807070707" pitchFamily="18" charset="2"/>
      <p:regular r:id="rId124"/>
    </p:embeddedFont>
  </p:embeddedFontLst>
  <p:defaultTextStyle>
    <a:defPPr>
      <a:defRPr lang="en-GB"/>
    </a:defPPr>
    <a:lvl1pPr algn="l" rtl="0" fontAlgn="base">
      <a:spcBef>
        <a:spcPct val="0"/>
      </a:spcBef>
      <a:spcAft>
        <a:spcPct val="0"/>
      </a:spcAft>
      <a:defRPr sz="2000" b="1" u="sng" kern="1200">
        <a:solidFill>
          <a:schemeClr val="tx1"/>
        </a:solidFill>
        <a:latin typeface="Arial" pitchFamily="34" charset="0"/>
        <a:ea typeface="+mn-ea"/>
        <a:cs typeface="Arial" charset="0"/>
      </a:defRPr>
    </a:lvl1pPr>
    <a:lvl2pPr marL="457200" algn="l" rtl="0" fontAlgn="base">
      <a:spcBef>
        <a:spcPct val="0"/>
      </a:spcBef>
      <a:spcAft>
        <a:spcPct val="0"/>
      </a:spcAft>
      <a:defRPr sz="2000" b="1" u="sng" kern="1200">
        <a:solidFill>
          <a:schemeClr val="tx1"/>
        </a:solidFill>
        <a:latin typeface="Arial" pitchFamily="34" charset="0"/>
        <a:ea typeface="+mn-ea"/>
        <a:cs typeface="Arial" charset="0"/>
      </a:defRPr>
    </a:lvl2pPr>
    <a:lvl3pPr marL="914400" algn="l" rtl="0" fontAlgn="base">
      <a:spcBef>
        <a:spcPct val="0"/>
      </a:spcBef>
      <a:spcAft>
        <a:spcPct val="0"/>
      </a:spcAft>
      <a:defRPr sz="2000" b="1" u="sng" kern="1200">
        <a:solidFill>
          <a:schemeClr val="tx1"/>
        </a:solidFill>
        <a:latin typeface="Arial" pitchFamily="34" charset="0"/>
        <a:ea typeface="+mn-ea"/>
        <a:cs typeface="Arial" charset="0"/>
      </a:defRPr>
    </a:lvl3pPr>
    <a:lvl4pPr marL="1371600" algn="l" rtl="0" fontAlgn="base">
      <a:spcBef>
        <a:spcPct val="0"/>
      </a:spcBef>
      <a:spcAft>
        <a:spcPct val="0"/>
      </a:spcAft>
      <a:defRPr sz="2000" b="1" u="sng" kern="1200">
        <a:solidFill>
          <a:schemeClr val="tx1"/>
        </a:solidFill>
        <a:latin typeface="Arial" pitchFamily="34" charset="0"/>
        <a:ea typeface="+mn-ea"/>
        <a:cs typeface="Arial" charset="0"/>
      </a:defRPr>
    </a:lvl4pPr>
    <a:lvl5pPr marL="1828800" algn="l" rtl="0" fontAlgn="base">
      <a:spcBef>
        <a:spcPct val="0"/>
      </a:spcBef>
      <a:spcAft>
        <a:spcPct val="0"/>
      </a:spcAft>
      <a:defRPr sz="2000" b="1" u="sng" kern="1200">
        <a:solidFill>
          <a:schemeClr val="tx1"/>
        </a:solidFill>
        <a:latin typeface="Arial" pitchFamily="34" charset="0"/>
        <a:ea typeface="+mn-ea"/>
        <a:cs typeface="Arial" charset="0"/>
      </a:defRPr>
    </a:lvl5pPr>
    <a:lvl6pPr marL="2286000" algn="l" defTabSz="914400" rtl="0" eaLnBrk="1" latinLnBrk="0" hangingPunct="1">
      <a:defRPr sz="2000" b="1" u="sng" kern="1200">
        <a:solidFill>
          <a:schemeClr val="tx1"/>
        </a:solidFill>
        <a:latin typeface="Arial" pitchFamily="34" charset="0"/>
        <a:ea typeface="+mn-ea"/>
        <a:cs typeface="Arial" charset="0"/>
      </a:defRPr>
    </a:lvl6pPr>
    <a:lvl7pPr marL="2743200" algn="l" defTabSz="914400" rtl="0" eaLnBrk="1" latinLnBrk="0" hangingPunct="1">
      <a:defRPr sz="2000" b="1" u="sng" kern="1200">
        <a:solidFill>
          <a:schemeClr val="tx1"/>
        </a:solidFill>
        <a:latin typeface="Arial" pitchFamily="34" charset="0"/>
        <a:ea typeface="+mn-ea"/>
        <a:cs typeface="Arial" charset="0"/>
      </a:defRPr>
    </a:lvl7pPr>
    <a:lvl8pPr marL="3200400" algn="l" defTabSz="914400" rtl="0" eaLnBrk="1" latinLnBrk="0" hangingPunct="1">
      <a:defRPr sz="2000" b="1" u="sng" kern="1200">
        <a:solidFill>
          <a:schemeClr val="tx1"/>
        </a:solidFill>
        <a:latin typeface="Arial" pitchFamily="34" charset="0"/>
        <a:ea typeface="+mn-ea"/>
        <a:cs typeface="Arial" charset="0"/>
      </a:defRPr>
    </a:lvl8pPr>
    <a:lvl9pPr marL="3657600" algn="l" defTabSz="914400" rtl="0" eaLnBrk="1" latinLnBrk="0" hangingPunct="1">
      <a:defRPr sz="2000" b="1" u="sng" kern="1200">
        <a:solidFill>
          <a:schemeClr val="tx1"/>
        </a:solidFill>
        <a:latin typeface="Arial" pitchFamily="34" charset="0"/>
        <a:ea typeface="+mn-ea"/>
        <a:cs typeface="Arial" charset="0"/>
      </a:defRPr>
    </a:lvl9pPr>
  </p:defaultTextStyle>
  <p:extLst>
    <p:ext uri="{EFAFB233-063F-42B5-8137-9DF3F51BA10A}">
      <p15:sldGuideLst xmlns:p15="http://schemas.microsoft.com/office/powerpoint/2012/main">
        <p15:guide id="4" pos="384" userDrawn="1">
          <p15:clr>
            <a:srgbClr val="A4A3A4"/>
          </p15:clr>
        </p15:guide>
        <p15:guide id="10" orient="horz" pos="3120" userDrawn="1">
          <p15:clr>
            <a:srgbClr val="A4A3A4"/>
          </p15:clr>
        </p15:guide>
        <p15:guide id="11"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mit Khandelwal" initials="ak" lastIdx="1" clrIdx="0"/>
  <p:cmAuthor id="1" name="Justin R. Pierce" initials="JRP" lastIdx="10" clrIdx="1"/>
  <p:cmAuthor id="2" name="Schott, Peter" initials="SP" lastIdx="1" clrIdx="2"/>
  <p:cmAuthor id="3" name="Justin Pierce" initials="JP" lastIdx="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971B"/>
    <a:srgbClr val="FF0000"/>
    <a:srgbClr val="FFFF99"/>
    <a:srgbClr val="0000FF"/>
    <a:srgbClr val="008000"/>
    <a:srgbClr val="8080FF"/>
    <a:srgbClr val="FC9292"/>
    <a:srgbClr val="EAF2F3"/>
    <a:srgbClr val="BFDFBF"/>
    <a:srgbClr val="F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68" autoAdjust="0"/>
    <p:restoredTop sz="88241" autoAdjust="0"/>
  </p:normalViewPr>
  <p:slideViewPr>
    <p:cSldViewPr snapToGrid="0" showGuides="1">
      <p:cViewPr varScale="1">
        <p:scale>
          <a:sx n="99" d="100"/>
          <a:sy n="99" d="100"/>
        </p:scale>
        <p:origin x="2058" y="72"/>
      </p:cViewPr>
      <p:guideLst>
        <p:guide pos="384"/>
        <p:guide orient="horz" pos="31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5.fntdata"/><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handoutMaster" Target="handoutMasters/handoutMaster1.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font" Target="fonts/font6.fntdata"/><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font" Target="fonts/font1.fntdata"/><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2.fntdata"/><Relationship Id="rId125"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4.6333352217051323E-2"/>
          <c:w val="1"/>
          <c:h val="0.90673575129533701"/>
        </c:manualLayout>
      </c:layout>
      <c:scatterChart>
        <c:scatterStyle val="smoothMarker"/>
        <c:varyColors val="0"/>
        <c:ser>
          <c:idx val="0"/>
          <c:order val="0"/>
          <c:spPr>
            <a:ln w="15873">
              <a:solidFill>
                <a:srgbClr val="000080"/>
              </a:solidFill>
              <a:prstDash val="solid"/>
            </a:ln>
          </c:spPr>
          <c:marker>
            <c:symbol val="none"/>
          </c:marker>
          <c:xVal>
            <c:numRef>
              <c:f>Sheet1!$B$5:$B$85</c:f>
              <c:numCache>
                <c:formatCode>0.00</c:formatCode>
                <c:ptCount val="81"/>
                <c:pt idx="0">
                  <c:v>-54.21</c:v>
                </c:pt>
                <c:pt idx="1">
                  <c:v>-52.635000000000012</c:v>
                </c:pt>
                <c:pt idx="2">
                  <c:v>-51.06</c:v>
                </c:pt>
                <c:pt idx="3">
                  <c:v>-49.485000000000007</c:v>
                </c:pt>
                <c:pt idx="4">
                  <c:v>-47.91</c:v>
                </c:pt>
                <c:pt idx="5">
                  <c:v>-46.335000000000001</c:v>
                </c:pt>
                <c:pt idx="6">
                  <c:v>-44.760000000000012</c:v>
                </c:pt>
                <c:pt idx="7">
                  <c:v>-43.185000000000002</c:v>
                </c:pt>
                <c:pt idx="8">
                  <c:v>-41.610000000000007</c:v>
                </c:pt>
                <c:pt idx="9">
                  <c:v>-40.035000000000011</c:v>
                </c:pt>
                <c:pt idx="10">
                  <c:v>-38.46</c:v>
                </c:pt>
                <c:pt idx="11">
                  <c:v>-36.884999999999998</c:v>
                </c:pt>
                <c:pt idx="12">
                  <c:v>-35.31</c:v>
                </c:pt>
                <c:pt idx="13">
                  <c:v>-33.735000000000063</c:v>
                </c:pt>
                <c:pt idx="14">
                  <c:v>-32.160000000000011</c:v>
                </c:pt>
                <c:pt idx="15">
                  <c:v>-30.58499999999999</c:v>
                </c:pt>
                <c:pt idx="16">
                  <c:v>-29.009999999999991</c:v>
                </c:pt>
                <c:pt idx="17">
                  <c:v>-27.434999999999992</c:v>
                </c:pt>
                <c:pt idx="18">
                  <c:v>-25.86000000000001</c:v>
                </c:pt>
                <c:pt idx="19">
                  <c:v>-24.284999999999989</c:v>
                </c:pt>
                <c:pt idx="20">
                  <c:v>-22.71</c:v>
                </c:pt>
                <c:pt idx="21">
                  <c:v>-21.135000000000002</c:v>
                </c:pt>
                <c:pt idx="22">
                  <c:v>-19.559999999999999</c:v>
                </c:pt>
                <c:pt idx="23">
                  <c:v>-17.984999999999989</c:v>
                </c:pt>
                <c:pt idx="24">
                  <c:v>-16.41</c:v>
                </c:pt>
                <c:pt idx="25">
                  <c:v>-14.835000000000001</c:v>
                </c:pt>
                <c:pt idx="26">
                  <c:v>-13.26</c:v>
                </c:pt>
                <c:pt idx="27">
                  <c:v>-11.685</c:v>
                </c:pt>
                <c:pt idx="28">
                  <c:v>-10.11</c:v>
                </c:pt>
                <c:pt idx="29">
                  <c:v>-8.5350000000000037</c:v>
                </c:pt>
                <c:pt idx="30">
                  <c:v>-6.9600000000000009</c:v>
                </c:pt>
                <c:pt idx="31">
                  <c:v>-5.3850000000000016</c:v>
                </c:pt>
                <c:pt idx="32">
                  <c:v>-3.8100000000000018</c:v>
                </c:pt>
                <c:pt idx="33">
                  <c:v>-2.234999999999999</c:v>
                </c:pt>
                <c:pt idx="34">
                  <c:v>-0.66000000000000303</c:v>
                </c:pt>
                <c:pt idx="35">
                  <c:v>0.91499999999999904</c:v>
                </c:pt>
                <c:pt idx="36">
                  <c:v>2.489999999999998</c:v>
                </c:pt>
                <c:pt idx="37">
                  <c:v>4.0649999999999809</c:v>
                </c:pt>
                <c:pt idx="38">
                  <c:v>5.6399999999999988</c:v>
                </c:pt>
                <c:pt idx="39">
                  <c:v>7.2149999999999954</c:v>
                </c:pt>
                <c:pt idx="40">
                  <c:v>8.7900000000000009</c:v>
                </c:pt>
                <c:pt idx="41">
                  <c:v>10.36500000000003</c:v>
                </c:pt>
                <c:pt idx="42">
                  <c:v>11.94</c:v>
                </c:pt>
                <c:pt idx="43">
                  <c:v>13.515000000000001</c:v>
                </c:pt>
                <c:pt idx="44">
                  <c:v>15.09</c:v>
                </c:pt>
                <c:pt idx="45">
                  <c:v>16.664999999999999</c:v>
                </c:pt>
                <c:pt idx="46">
                  <c:v>18.239999999999991</c:v>
                </c:pt>
                <c:pt idx="47">
                  <c:v>19.815000000000001</c:v>
                </c:pt>
                <c:pt idx="48">
                  <c:v>21.39</c:v>
                </c:pt>
                <c:pt idx="49">
                  <c:v>22.964999999999989</c:v>
                </c:pt>
                <c:pt idx="50">
                  <c:v>24.54</c:v>
                </c:pt>
                <c:pt idx="51">
                  <c:v>26.11500000000003</c:v>
                </c:pt>
                <c:pt idx="52">
                  <c:v>27.689999999999991</c:v>
                </c:pt>
                <c:pt idx="53">
                  <c:v>29.26499999999999</c:v>
                </c:pt>
                <c:pt idx="54">
                  <c:v>30.84</c:v>
                </c:pt>
                <c:pt idx="55">
                  <c:v>32.415000000000163</c:v>
                </c:pt>
                <c:pt idx="56">
                  <c:v>33.99</c:v>
                </c:pt>
                <c:pt idx="57">
                  <c:v>35.565000000000012</c:v>
                </c:pt>
                <c:pt idx="58">
                  <c:v>37.140000000000157</c:v>
                </c:pt>
                <c:pt idx="59">
                  <c:v>38.71500000000016</c:v>
                </c:pt>
                <c:pt idx="60">
                  <c:v>40.290000000000163</c:v>
                </c:pt>
                <c:pt idx="61">
                  <c:v>41.865000000000002</c:v>
                </c:pt>
                <c:pt idx="62">
                  <c:v>43.440000000000147</c:v>
                </c:pt>
                <c:pt idx="63">
                  <c:v>45.015000000000157</c:v>
                </c:pt>
                <c:pt idx="64">
                  <c:v>46.59000000000016</c:v>
                </c:pt>
                <c:pt idx="65">
                  <c:v>48.165000000000163</c:v>
                </c:pt>
                <c:pt idx="66">
                  <c:v>49.740000000000151</c:v>
                </c:pt>
                <c:pt idx="67">
                  <c:v>51.315000000000147</c:v>
                </c:pt>
                <c:pt idx="68">
                  <c:v>52.890000000000157</c:v>
                </c:pt>
                <c:pt idx="69">
                  <c:v>54.46500000000016</c:v>
                </c:pt>
                <c:pt idx="70">
                  <c:v>56.040000000000163</c:v>
                </c:pt>
                <c:pt idx="71">
                  <c:v>57.615000000000151</c:v>
                </c:pt>
                <c:pt idx="72">
                  <c:v>59.190000000000161</c:v>
                </c:pt>
                <c:pt idx="73">
                  <c:v>60.765000000000263</c:v>
                </c:pt>
                <c:pt idx="74">
                  <c:v>62.340000000000153</c:v>
                </c:pt>
                <c:pt idx="75">
                  <c:v>63.915000000000163</c:v>
                </c:pt>
                <c:pt idx="76">
                  <c:v>65.490000000000165</c:v>
                </c:pt>
                <c:pt idx="77">
                  <c:v>67.065000000000154</c:v>
                </c:pt>
                <c:pt idx="78">
                  <c:v>68.640000000000157</c:v>
                </c:pt>
                <c:pt idx="79">
                  <c:v>70.215000000000146</c:v>
                </c:pt>
                <c:pt idx="80">
                  <c:v>71.790000000000163</c:v>
                </c:pt>
              </c:numCache>
            </c:numRef>
          </c:xVal>
          <c:yVal>
            <c:numRef>
              <c:f>Sheet1!$C$5:$C$85</c:f>
              <c:numCache>
                <c:formatCode>0.0000</c:formatCode>
                <c:ptCount val="81"/>
                <c:pt idx="0">
                  <c:v>8.4971571914213396E-6</c:v>
                </c:pt>
                <c:pt idx="1">
                  <c:v>1.26130458027158E-5</c:v>
                </c:pt>
                <c:pt idx="2">
                  <c:v>1.8536312748664301E-5</c:v>
                </c:pt>
                <c:pt idx="3">
                  <c:v>2.6970175907984401E-5</c:v>
                </c:pt>
                <c:pt idx="4">
                  <c:v>3.8850916197699999E-5</c:v>
                </c:pt>
                <c:pt idx="5">
                  <c:v>5.5408425082270702E-5</c:v>
                </c:pt>
                <c:pt idx="6">
                  <c:v>7.8236137680827095E-5</c:v>
                </c:pt>
                <c:pt idx="7">
                  <c:v>1.09369456447854E-4</c:v>
                </c:pt>
                <c:pt idx="8">
                  <c:v>1.5137067945808499E-4</c:v>
                </c:pt>
                <c:pt idx="9">
                  <c:v>2.0741708293332801E-4</c:v>
                </c:pt>
                <c:pt idx="10">
                  <c:v>2.8138720075796903E-4</c:v>
                </c:pt>
                <c:pt idx="11">
                  <c:v>3.7793856633497601E-4</c:v>
                </c:pt>
                <c:pt idx="12">
                  <c:v>5.0256835447492001E-4</c:v>
                </c:pt>
                <c:pt idx="13">
                  <c:v>6.6164665488397398E-4</c:v>
                </c:pt>
                <c:pt idx="14">
                  <c:v>8.6241074499591205E-4</c:v>
                </c:pt>
                <c:pt idx="15">
                  <c:v>1.11290796784563E-3</c:v>
                </c:pt>
                <c:pt idx="16">
                  <c:v>1.42187493935511E-3</c:v>
                </c:pt>
                <c:pt idx="17">
                  <c:v>1.7985420788318299E-3</c:v>
                </c:pt>
                <c:pt idx="18">
                  <c:v>2.25235510134802E-3</c:v>
                </c:pt>
                <c:pt idx="19">
                  <c:v>2.7926092685985602E-3</c:v>
                </c:pt>
                <c:pt idx="20">
                  <c:v>3.4279978738532202E-3</c:v>
                </c:pt>
                <c:pt idx="21">
                  <c:v>4.1660834777572401E-3</c:v>
                </c:pt>
                <c:pt idx="22">
                  <c:v>5.0127084635488497E-3</c:v>
                </c:pt>
                <c:pt idx="23">
                  <c:v>5.97136999218337E-3</c:v>
                </c:pt>
                <c:pt idx="24">
                  <c:v>7.0425926780606799E-3</c:v>
                </c:pt>
                <c:pt idx="25">
                  <c:v>8.2233394073582093E-3</c:v>
                </c:pt>
                <c:pt idx="26">
                  <c:v>9.5065057546504707E-3</c:v>
                </c:pt>
                <c:pt idx="27">
                  <c:v>1.0880545526844899E-2</c:v>
                </c:pt>
                <c:pt idx="28">
                  <c:v>1.23292733322675E-2</c:v>
                </c:pt>
                <c:pt idx="29">
                  <c:v>1.3831884256035E-2</c:v>
                </c:pt>
                <c:pt idx="30">
                  <c:v>1.5363220604390101E-2</c:v>
                </c:pt>
                <c:pt idx="31">
                  <c:v>1.6894301580873301E-2</c:v>
                </c:pt>
                <c:pt idx="32">
                  <c:v>1.8393114461046502E-2</c:v>
                </c:pt>
                <c:pt idx="33">
                  <c:v>1.9825646562969E-2</c:v>
                </c:pt>
                <c:pt idx="34">
                  <c:v>2.1157117643924001E-2</c:v>
                </c:pt>
                <c:pt idx="35">
                  <c:v>2.23533540802731E-2</c:v>
                </c:pt>
                <c:pt idx="36">
                  <c:v>2.3382231130369701E-2</c:v>
                </c:pt>
                <c:pt idx="37">
                  <c:v>2.4215099394319001E-2</c:v>
                </c:pt>
                <c:pt idx="38">
                  <c:v>2.4828107553997201E-2</c:v>
                </c:pt>
                <c:pt idx="39">
                  <c:v>2.52033363477468E-2</c:v>
                </c:pt>
                <c:pt idx="40">
                  <c:v>2.5329668596916401E-2</c:v>
                </c:pt>
                <c:pt idx="41">
                  <c:v>2.52033363477468E-2</c:v>
                </c:pt>
                <c:pt idx="42">
                  <c:v>2.4828107553997201E-2</c:v>
                </c:pt>
                <c:pt idx="43">
                  <c:v>2.4215099394319001E-2</c:v>
                </c:pt>
                <c:pt idx="44">
                  <c:v>2.3382231130369701E-2</c:v>
                </c:pt>
                <c:pt idx="45">
                  <c:v>2.23533540802731E-2</c:v>
                </c:pt>
                <c:pt idx="46">
                  <c:v>2.1157117643924001E-2</c:v>
                </c:pt>
                <c:pt idx="47">
                  <c:v>1.9825646562969E-2</c:v>
                </c:pt>
                <c:pt idx="48">
                  <c:v>1.8393114461046502E-2</c:v>
                </c:pt>
                <c:pt idx="49">
                  <c:v>1.6894301580873301E-2</c:v>
                </c:pt>
                <c:pt idx="50">
                  <c:v>1.5363220604390101E-2</c:v>
                </c:pt>
                <c:pt idx="51">
                  <c:v>1.3831884256035E-2</c:v>
                </c:pt>
                <c:pt idx="52">
                  <c:v>1.23292733322675E-2</c:v>
                </c:pt>
                <c:pt idx="53">
                  <c:v>1.0880545526844899E-2</c:v>
                </c:pt>
                <c:pt idx="54">
                  <c:v>9.5065057546504707E-3</c:v>
                </c:pt>
                <c:pt idx="55">
                  <c:v>8.2233394073580792E-3</c:v>
                </c:pt>
                <c:pt idx="56">
                  <c:v>7.0425926780606799E-3</c:v>
                </c:pt>
                <c:pt idx="57">
                  <c:v>5.97136999218337E-3</c:v>
                </c:pt>
                <c:pt idx="58">
                  <c:v>5.01270846354875E-3</c:v>
                </c:pt>
                <c:pt idx="59">
                  <c:v>4.1660834777571603E-3</c:v>
                </c:pt>
                <c:pt idx="60">
                  <c:v>3.4279978738531499E-3</c:v>
                </c:pt>
                <c:pt idx="61">
                  <c:v>2.7926092685985602E-3</c:v>
                </c:pt>
                <c:pt idx="62">
                  <c:v>2.2523551013479801E-3</c:v>
                </c:pt>
                <c:pt idx="63">
                  <c:v>1.79854207883179E-3</c:v>
                </c:pt>
                <c:pt idx="64">
                  <c:v>1.4218749393550699E-3</c:v>
                </c:pt>
                <c:pt idx="65">
                  <c:v>1.1129079678456001E-3</c:v>
                </c:pt>
                <c:pt idx="66">
                  <c:v>8.6241074499589004E-4</c:v>
                </c:pt>
                <c:pt idx="67">
                  <c:v>6.6164665488395804E-4</c:v>
                </c:pt>
                <c:pt idx="68">
                  <c:v>5.0256835447490505E-4</c:v>
                </c:pt>
                <c:pt idx="69">
                  <c:v>3.7793856633496501E-4</c:v>
                </c:pt>
                <c:pt idx="70">
                  <c:v>2.8138720075795997E-4</c:v>
                </c:pt>
                <c:pt idx="71">
                  <c:v>2.0741708293332199E-4</c:v>
                </c:pt>
                <c:pt idx="72">
                  <c:v>1.5137067945808101E-4</c:v>
                </c:pt>
                <c:pt idx="73">
                  <c:v>1.09369456447849E-4</c:v>
                </c:pt>
                <c:pt idx="74">
                  <c:v>7.8236137680824194E-5</c:v>
                </c:pt>
                <c:pt idx="75">
                  <c:v>5.5408425082268703E-5</c:v>
                </c:pt>
                <c:pt idx="76">
                  <c:v>3.8850916197698603E-5</c:v>
                </c:pt>
                <c:pt idx="77">
                  <c:v>2.69701759079835E-5</c:v>
                </c:pt>
                <c:pt idx="78">
                  <c:v>1.8536312748663501E-5</c:v>
                </c:pt>
                <c:pt idx="79">
                  <c:v>1.26130458027153E-5</c:v>
                </c:pt>
                <c:pt idx="80">
                  <c:v>8.4971571914210008E-6</c:v>
                </c:pt>
              </c:numCache>
            </c:numRef>
          </c:yVal>
          <c:smooth val="1"/>
          <c:extLst>
            <c:ext xmlns:c16="http://schemas.microsoft.com/office/drawing/2014/chart" uri="{C3380CC4-5D6E-409C-BE32-E72D297353CC}">
              <c16:uniqueId val="{00000000-156E-4670-B6B9-008BE95BFFF7}"/>
            </c:ext>
          </c:extLst>
        </c:ser>
        <c:dLbls>
          <c:showLegendKey val="0"/>
          <c:showVal val="0"/>
          <c:showCatName val="0"/>
          <c:showSerName val="0"/>
          <c:showPercent val="0"/>
          <c:showBubbleSize val="0"/>
        </c:dLbls>
        <c:axId val="1809997384"/>
        <c:axId val="2043464072"/>
      </c:scatterChart>
      <c:valAx>
        <c:axId val="1809997384"/>
        <c:scaling>
          <c:orientation val="minMax"/>
          <c:max val="71.790000000000006"/>
          <c:min val="-54.21"/>
        </c:scaling>
        <c:delete val="0"/>
        <c:axPos val="b"/>
        <c:numFmt formatCode="0.00" sourceLinked="1"/>
        <c:majorTickMark val="out"/>
        <c:minorTickMark val="none"/>
        <c:tickLblPos val="none"/>
        <c:spPr>
          <a:ln w="1984">
            <a:solidFill>
              <a:srgbClr val="000000"/>
            </a:solidFill>
            <a:prstDash val="solid"/>
          </a:ln>
        </c:spPr>
        <c:crossAx val="2043464072"/>
        <c:crosses val="autoZero"/>
        <c:crossBetween val="midCat"/>
        <c:majorUnit val="15.75"/>
        <c:minorUnit val="15.75"/>
      </c:valAx>
      <c:valAx>
        <c:axId val="2043464072"/>
        <c:scaling>
          <c:orientation val="minMax"/>
        </c:scaling>
        <c:delete val="1"/>
        <c:axPos val="l"/>
        <c:numFmt formatCode="0.0000" sourceLinked="1"/>
        <c:majorTickMark val="out"/>
        <c:minorTickMark val="none"/>
        <c:tickLblPos val="none"/>
        <c:crossAx val="1809997384"/>
        <c:crossesAt val="40"/>
        <c:crossBetween val="midCat"/>
      </c:valAx>
      <c:spPr>
        <a:noFill/>
        <a:ln w="15873">
          <a:noFill/>
        </a:ln>
      </c:spPr>
    </c:plotArea>
    <c:plotVisOnly val="1"/>
    <c:dispBlanksAs val="gap"/>
    <c:showDLblsOverMax val="0"/>
  </c:chart>
  <c:spPr>
    <a:solidFill>
      <a:srgbClr val="FFFFFF"/>
    </a:solidFill>
    <a:ln>
      <a:noFill/>
    </a:ln>
  </c:spPr>
  <c:txPr>
    <a:bodyPr/>
    <a:lstStyle/>
    <a:p>
      <a:pPr>
        <a:defRPr sz="516"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42" name="Rectangle 2"/>
          <p:cNvSpPr>
            <a:spLocks noGrp="1" noChangeArrowheads="1"/>
          </p:cNvSpPr>
          <p:nvPr>
            <p:ph type="hdr" sz="quarter"/>
          </p:nvPr>
        </p:nvSpPr>
        <p:spPr bwMode="auto">
          <a:xfrm>
            <a:off x="0" y="2"/>
            <a:ext cx="3038145" cy="465743"/>
          </a:xfrm>
          <a:prstGeom prst="rect">
            <a:avLst/>
          </a:prstGeom>
          <a:noFill/>
          <a:ln w="9525">
            <a:noFill/>
            <a:miter lim="800000"/>
            <a:headEnd/>
            <a:tailEnd/>
          </a:ln>
          <a:effectLst/>
        </p:spPr>
        <p:txBody>
          <a:bodyPr vert="horz" wrap="square" lIns="89811" tIns="44906" rIns="89811" bIns="44906" numCol="1" anchor="t" anchorCtr="0" compatLnSpc="1">
            <a:prstTxWarp prst="textNoShape">
              <a:avLst/>
            </a:prstTxWarp>
          </a:bodyPr>
          <a:lstStyle>
            <a:lvl1pPr defTabSz="897999">
              <a:defRPr sz="1200" b="0" u="none">
                <a:latin typeface="Arial" charset="0"/>
                <a:cs typeface="+mn-cs"/>
              </a:defRPr>
            </a:lvl1pPr>
          </a:lstStyle>
          <a:p>
            <a:pPr>
              <a:defRPr/>
            </a:pPr>
            <a:endParaRPr lang="en-US" dirty="0"/>
          </a:p>
        </p:txBody>
      </p:sp>
      <p:sp>
        <p:nvSpPr>
          <p:cNvPr id="163843" name="Rectangle 3"/>
          <p:cNvSpPr>
            <a:spLocks noGrp="1" noChangeArrowheads="1"/>
          </p:cNvSpPr>
          <p:nvPr>
            <p:ph type="dt" sz="quarter" idx="1"/>
          </p:nvPr>
        </p:nvSpPr>
        <p:spPr bwMode="auto">
          <a:xfrm>
            <a:off x="3970734" y="2"/>
            <a:ext cx="3038145" cy="465743"/>
          </a:xfrm>
          <a:prstGeom prst="rect">
            <a:avLst/>
          </a:prstGeom>
          <a:noFill/>
          <a:ln w="9525">
            <a:noFill/>
            <a:miter lim="800000"/>
            <a:headEnd/>
            <a:tailEnd/>
          </a:ln>
          <a:effectLst/>
        </p:spPr>
        <p:txBody>
          <a:bodyPr vert="horz" wrap="square" lIns="89811" tIns="44906" rIns="89811" bIns="44906" numCol="1" anchor="t" anchorCtr="0" compatLnSpc="1">
            <a:prstTxWarp prst="textNoShape">
              <a:avLst/>
            </a:prstTxWarp>
          </a:bodyPr>
          <a:lstStyle>
            <a:lvl1pPr algn="r" defTabSz="897999">
              <a:defRPr sz="1200" b="0" u="none">
                <a:latin typeface="Arial" charset="0"/>
                <a:cs typeface="+mn-cs"/>
              </a:defRPr>
            </a:lvl1pPr>
          </a:lstStyle>
          <a:p>
            <a:pPr>
              <a:defRPr/>
            </a:pPr>
            <a:endParaRPr lang="en-US" dirty="0"/>
          </a:p>
        </p:txBody>
      </p:sp>
      <p:sp>
        <p:nvSpPr>
          <p:cNvPr id="163844" name="Rectangle 4"/>
          <p:cNvSpPr>
            <a:spLocks noGrp="1" noChangeArrowheads="1"/>
          </p:cNvSpPr>
          <p:nvPr>
            <p:ph type="ftr" sz="quarter" idx="2"/>
          </p:nvPr>
        </p:nvSpPr>
        <p:spPr bwMode="auto">
          <a:xfrm>
            <a:off x="0" y="8829123"/>
            <a:ext cx="3038145" cy="465743"/>
          </a:xfrm>
          <a:prstGeom prst="rect">
            <a:avLst/>
          </a:prstGeom>
          <a:noFill/>
          <a:ln w="9525">
            <a:noFill/>
            <a:miter lim="800000"/>
            <a:headEnd/>
            <a:tailEnd/>
          </a:ln>
          <a:effectLst/>
        </p:spPr>
        <p:txBody>
          <a:bodyPr vert="horz" wrap="square" lIns="89811" tIns="44906" rIns="89811" bIns="44906" numCol="1" anchor="b" anchorCtr="0" compatLnSpc="1">
            <a:prstTxWarp prst="textNoShape">
              <a:avLst/>
            </a:prstTxWarp>
          </a:bodyPr>
          <a:lstStyle>
            <a:lvl1pPr defTabSz="897999">
              <a:defRPr sz="1200" b="0" u="none">
                <a:latin typeface="Arial" charset="0"/>
                <a:cs typeface="+mn-cs"/>
              </a:defRPr>
            </a:lvl1pPr>
          </a:lstStyle>
          <a:p>
            <a:pPr>
              <a:defRPr/>
            </a:pPr>
            <a:endParaRPr lang="en-US" dirty="0"/>
          </a:p>
        </p:txBody>
      </p:sp>
      <p:sp>
        <p:nvSpPr>
          <p:cNvPr id="163845" name="Rectangle 5"/>
          <p:cNvSpPr>
            <a:spLocks noGrp="1" noChangeArrowheads="1"/>
          </p:cNvSpPr>
          <p:nvPr>
            <p:ph type="sldNum" sz="quarter" idx="3"/>
          </p:nvPr>
        </p:nvSpPr>
        <p:spPr bwMode="auto">
          <a:xfrm>
            <a:off x="3970734" y="8829123"/>
            <a:ext cx="3038145" cy="465743"/>
          </a:xfrm>
          <a:prstGeom prst="rect">
            <a:avLst/>
          </a:prstGeom>
          <a:noFill/>
          <a:ln w="9525">
            <a:noFill/>
            <a:miter lim="800000"/>
            <a:headEnd/>
            <a:tailEnd/>
          </a:ln>
          <a:effectLst/>
        </p:spPr>
        <p:txBody>
          <a:bodyPr vert="horz" wrap="square" lIns="89811" tIns="44906" rIns="89811" bIns="44906" numCol="1" anchor="b" anchorCtr="0" compatLnSpc="1">
            <a:prstTxWarp prst="textNoShape">
              <a:avLst/>
            </a:prstTxWarp>
          </a:bodyPr>
          <a:lstStyle>
            <a:lvl1pPr algn="r" defTabSz="897999">
              <a:defRPr sz="1200" b="0" u="none">
                <a:latin typeface="Arial" charset="0"/>
                <a:cs typeface="+mn-cs"/>
              </a:defRPr>
            </a:lvl1pPr>
          </a:lstStyle>
          <a:p>
            <a:pPr>
              <a:defRPr/>
            </a:pPr>
            <a:fld id="{3C153773-BBBC-4D70-9901-00E50FC8BCE2}" type="slidenum">
              <a:rPr lang="en-US"/>
              <a:pPr>
                <a:defRPr/>
              </a:pPr>
              <a:t>‹#›</a:t>
            </a:fld>
            <a:endParaRPr lang="en-US" dirty="0"/>
          </a:p>
        </p:txBody>
      </p:sp>
    </p:spTree>
    <p:extLst>
      <p:ext uri="{BB962C8B-B14F-4D97-AF65-F5344CB8AC3E}">
        <p14:creationId xmlns:p14="http://schemas.microsoft.com/office/powerpoint/2010/main" val="1841792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2" y="2"/>
            <a:ext cx="3009239" cy="491873"/>
          </a:xfrm>
          <a:prstGeom prst="rect">
            <a:avLst/>
          </a:prstGeom>
          <a:noFill/>
          <a:ln w="9525">
            <a:noFill/>
            <a:miter lim="800000"/>
            <a:headEnd/>
            <a:tailEnd/>
          </a:ln>
          <a:effectLst/>
        </p:spPr>
        <p:txBody>
          <a:bodyPr vert="horz" wrap="square" lIns="89782" tIns="44891" rIns="89782" bIns="44891" numCol="1" anchor="t" anchorCtr="0" compatLnSpc="1">
            <a:prstTxWarp prst="textNoShape">
              <a:avLst/>
            </a:prstTxWarp>
          </a:bodyPr>
          <a:lstStyle>
            <a:lvl1pPr defTabSz="897999">
              <a:defRPr sz="1200" b="0" u="none">
                <a:latin typeface="Arial" charset="0"/>
                <a:cs typeface="+mn-cs"/>
              </a:defRPr>
            </a:lvl1pPr>
          </a:lstStyle>
          <a:p>
            <a:pPr>
              <a:defRPr/>
            </a:pPr>
            <a:endParaRPr lang="en-US" dirty="0"/>
          </a:p>
        </p:txBody>
      </p:sp>
      <p:sp>
        <p:nvSpPr>
          <p:cNvPr id="16387" name="Rectangle 3"/>
          <p:cNvSpPr>
            <a:spLocks noGrp="1" noChangeArrowheads="1"/>
          </p:cNvSpPr>
          <p:nvPr>
            <p:ph type="dt" idx="1"/>
          </p:nvPr>
        </p:nvSpPr>
        <p:spPr bwMode="auto">
          <a:xfrm>
            <a:off x="3935746" y="2"/>
            <a:ext cx="3086827" cy="491873"/>
          </a:xfrm>
          <a:prstGeom prst="rect">
            <a:avLst/>
          </a:prstGeom>
          <a:noFill/>
          <a:ln w="9525">
            <a:noFill/>
            <a:miter lim="800000"/>
            <a:headEnd/>
            <a:tailEnd/>
          </a:ln>
          <a:effectLst/>
        </p:spPr>
        <p:txBody>
          <a:bodyPr vert="horz" wrap="square" lIns="89782" tIns="44891" rIns="89782" bIns="44891" numCol="1" anchor="t" anchorCtr="0" compatLnSpc="1">
            <a:prstTxWarp prst="textNoShape">
              <a:avLst/>
            </a:prstTxWarp>
          </a:bodyPr>
          <a:lstStyle>
            <a:lvl1pPr algn="r" defTabSz="897999">
              <a:defRPr sz="1200" b="0" u="none">
                <a:latin typeface="Arial" charset="0"/>
                <a:cs typeface="+mn-cs"/>
              </a:defRPr>
            </a:lvl1pPr>
          </a:lstStyle>
          <a:p>
            <a:pPr>
              <a:defRPr/>
            </a:pPr>
            <a:endParaRPr lang="en-US" dirty="0"/>
          </a:p>
        </p:txBody>
      </p:sp>
      <p:sp>
        <p:nvSpPr>
          <p:cNvPr id="70660" name="Rectangle 4"/>
          <p:cNvSpPr>
            <a:spLocks noGrp="1" noRot="1" noChangeAspect="1" noChangeArrowheads="1" noTextEdit="1"/>
          </p:cNvSpPr>
          <p:nvPr>
            <p:ph type="sldImg" idx="2"/>
          </p:nvPr>
        </p:nvSpPr>
        <p:spPr bwMode="auto">
          <a:xfrm>
            <a:off x="1171575" y="701675"/>
            <a:ext cx="4683125" cy="3513138"/>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26506" y="4425323"/>
            <a:ext cx="5169561" cy="4145567"/>
          </a:xfrm>
          <a:prstGeom prst="rect">
            <a:avLst/>
          </a:prstGeom>
          <a:noFill/>
          <a:ln w="9525">
            <a:noFill/>
            <a:miter lim="800000"/>
            <a:headEnd/>
            <a:tailEnd/>
          </a:ln>
          <a:effectLst/>
        </p:spPr>
        <p:txBody>
          <a:bodyPr vert="horz" wrap="square" lIns="89782" tIns="44891" rIns="89782" bIns="4489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2" y="8850640"/>
            <a:ext cx="3009239" cy="422704"/>
          </a:xfrm>
          <a:prstGeom prst="rect">
            <a:avLst/>
          </a:prstGeom>
          <a:noFill/>
          <a:ln w="9525">
            <a:noFill/>
            <a:miter lim="800000"/>
            <a:headEnd/>
            <a:tailEnd/>
          </a:ln>
          <a:effectLst/>
        </p:spPr>
        <p:txBody>
          <a:bodyPr vert="horz" wrap="square" lIns="89782" tIns="44891" rIns="89782" bIns="44891" numCol="1" anchor="b" anchorCtr="0" compatLnSpc="1">
            <a:prstTxWarp prst="textNoShape">
              <a:avLst/>
            </a:prstTxWarp>
          </a:bodyPr>
          <a:lstStyle>
            <a:lvl1pPr defTabSz="897999">
              <a:defRPr sz="1200" b="0" u="none">
                <a:latin typeface="Arial" charset="0"/>
                <a:cs typeface="+mn-cs"/>
              </a:defRPr>
            </a:lvl1pPr>
          </a:lstStyle>
          <a:p>
            <a:pPr>
              <a:defRPr/>
            </a:pPr>
            <a:endParaRPr lang="en-US" dirty="0"/>
          </a:p>
        </p:txBody>
      </p:sp>
      <p:sp>
        <p:nvSpPr>
          <p:cNvPr id="16391" name="Rectangle 7"/>
          <p:cNvSpPr>
            <a:spLocks noGrp="1" noChangeArrowheads="1"/>
          </p:cNvSpPr>
          <p:nvPr>
            <p:ph type="sldNum" sz="quarter" idx="5"/>
          </p:nvPr>
        </p:nvSpPr>
        <p:spPr bwMode="auto">
          <a:xfrm>
            <a:off x="3935746" y="8850640"/>
            <a:ext cx="3086827" cy="422704"/>
          </a:xfrm>
          <a:prstGeom prst="rect">
            <a:avLst/>
          </a:prstGeom>
          <a:noFill/>
          <a:ln w="9525">
            <a:noFill/>
            <a:miter lim="800000"/>
            <a:headEnd/>
            <a:tailEnd/>
          </a:ln>
          <a:effectLst/>
        </p:spPr>
        <p:txBody>
          <a:bodyPr vert="horz" wrap="square" lIns="89782" tIns="44891" rIns="89782" bIns="44891" numCol="1" anchor="b" anchorCtr="0" compatLnSpc="1">
            <a:prstTxWarp prst="textNoShape">
              <a:avLst/>
            </a:prstTxWarp>
          </a:bodyPr>
          <a:lstStyle>
            <a:lvl1pPr algn="r" defTabSz="897999">
              <a:defRPr sz="1200" b="0" u="none">
                <a:latin typeface="Arial" charset="0"/>
                <a:cs typeface="+mn-cs"/>
              </a:defRPr>
            </a:lvl1pPr>
          </a:lstStyle>
          <a:p>
            <a:pPr>
              <a:defRPr/>
            </a:pPr>
            <a:fld id="{EE586428-1CEA-4E8A-8AB0-84B90B2FB260}" type="slidenum">
              <a:rPr lang="en-US"/>
              <a:pPr>
                <a:defRPr/>
              </a:pPr>
              <a:t>‹#›</a:t>
            </a:fld>
            <a:endParaRPr lang="en-US" dirty="0"/>
          </a:p>
        </p:txBody>
      </p:sp>
    </p:spTree>
    <p:extLst>
      <p:ext uri="{BB962C8B-B14F-4D97-AF65-F5344CB8AC3E}">
        <p14:creationId xmlns:p14="http://schemas.microsoft.com/office/powerpoint/2010/main" val="11845035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EE586428-1CEA-4E8A-8AB0-84B90B2FB260}" type="slidenum">
              <a:rPr lang="en-US" smtClean="0"/>
              <a:pPr>
                <a:defRPr/>
              </a:pPr>
              <a:t>1</a:t>
            </a:fld>
            <a:endParaRPr lang="en-US" dirty="0"/>
          </a:p>
        </p:txBody>
      </p:sp>
    </p:spTree>
    <p:extLst>
      <p:ext uri="{BB962C8B-B14F-4D97-AF65-F5344CB8AC3E}">
        <p14:creationId xmlns:p14="http://schemas.microsoft.com/office/powerpoint/2010/main" val="2246736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23C544AC-262A-42F0-9AE3-E09F1234F293}" type="slidenum">
              <a:rPr lang="en-US" smtClean="0"/>
              <a:pPr/>
              <a:t>86</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04849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23C544AC-262A-42F0-9AE3-E09F1234F293}" type="slidenum">
              <a:rPr lang="en-US" smtClean="0"/>
              <a:pPr/>
              <a:t>87</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33214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6100" y="874832"/>
            <a:ext cx="7772400" cy="1235322"/>
          </a:xfrm>
        </p:spPr>
        <p:txBody>
          <a:bodyPr/>
          <a:lstStyle>
            <a:lvl1pPr algn="l">
              <a:defRPr sz="2000" b="1">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546099" y="3934047"/>
            <a:ext cx="8045007" cy="2456766"/>
          </a:xfrm>
        </p:spPr>
        <p:txBody>
          <a:bodyPr/>
          <a:lstStyle>
            <a:lvl1pPr marL="0" indent="0" algn="l">
              <a:buNone/>
              <a:defRPr sz="1800">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GB" dirty="0"/>
          </a:p>
        </p:txBody>
      </p:sp>
      <p:sp>
        <p:nvSpPr>
          <p:cNvPr id="5" name="Rectangle 6"/>
          <p:cNvSpPr>
            <a:spLocks noGrp="1" noChangeArrowheads="1"/>
          </p:cNvSpPr>
          <p:nvPr>
            <p:ph type="sldNum" sz="quarter" idx="11"/>
          </p:nvPr>
        </p:nvSpPr>
        <p:spPr>
          <a:ln/>
        </p:spPr>
        <p:txBody>
          <a:bodyPr/>
          <a:lstStyle>
            <a:lvl1pPr>
              <a:defRPr>
                <a:latin typeface="Arial" pitchFamily="34" charset="0"/>
                <a:cs typeface="Arial" pitchFamily="34" charset="0"/>
              </a:defRPr>
            </a:lvl1pPr>
          </a:lstStyle>
          <a:p>
            <a:pPr>
              <a:defRPr/>
            </a:pPr>
            <a:endParaRPr lang="en-GB" dirty="0"/>
          </a:p>
          <a:p>
            <a:pPr>
              <a:defRPr/>
            </a:pPr>
            <a:fld id="{FC96386F-C149-48D8-92C5-2CFDBA85534B}" type="slidenum">
              <a:rPr lang="en-GB" smtClean="0"/>
              <a:pPr>
                <a:defRPr/>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54013" y="1089025"/>
            <a:ext cx="4141787" cy="5768975"/>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089025"/>
            <a:ext cx="4143375" cy="5768975"/>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5"/>
          <p:cNvSpPr>
            <a:spLocks noGrp="1" noChangeArrowheads="1"/>
          </p:cNvSpPr>
          <p:nvPr>
            <p:ph type="ftr" sz="quarter" idx="10"/>
          </p:nvPr>
        </p:nvSpPr>
        <p:spPr>
          <a:ln/>
        </p:spPr>
        <p:txBody>
          <a:bodyPr/>
          <a:lstStyle>
            <a:lvl1pPr>
              <a:defRPr/>
            </a:lvl1pPr>
          </a:lstStyle>
          <a:p>
            <a:pPr>
              <a:defRPr/>
            </a:pPr>
            <a:endParaRPr lang="en-GB" dirty="0"/>
          </a:p>
        </p:txBody>
      </p:sp>
      <p:sp>
        <p:nvSpPr>
          <p:cNvPr id="6" name="Rectangle 6"/>
          <p:cNvSpPr>
            <a:spLocks noGrp="1" noChangeArrowheads="1"/>
          </p:cNvSpPr>
          <p:nvPr>
            <p:ph type="sldNum" sz="quarter" idx="11"/>
          </p:nvPr>
        </p:nvSpPr>
        <p:spPr>
          <a:ln/>
        </p:spPr>
        <p:txBody>
          <a:bodyPr/>
          <a:lstStyle>
            <a:lvl1pPr>
              <a:defRPr/>
            </a:lvl1pPr>
          </a:lstStyle>
          <a:p>
            <a:pPr>
              <a:defRPr/>
            </a:pPr>
            <a:endParaRPr lang="en-GB" dirty="0"/>
          </a:p>
          <a:p>
            <a:pPr>
              <a:defRPr/>
            </a:pPr>
            <a:fld id="{930D94F4-7A06-4EF1-81B9-BE8C8288FE03}" type="slidenum">
              <a:rPr lang="en-GB"/>
              <a:pPr>
                <a:defRPr/>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6"/>
          <p:cNvSpPr>
            <a:spLocks noGrp="1" noChangeArrowheads="1"/>
          </p:cNvSpPr>
          <p:nvPr>
            <p:ph type="sldNum" sz="quarter" idx="11"/>
          </p:nvPr>
        </p:nvSpPr>
        <p:spPr>
          <a:ln/>
        </p:spPr>
        <p:txBody>
          <a:bodyPr/>
          <a:lstStyle>
            <a:lvl1pPr>
              <a:defRPr>
                <a:latin typeface="Arial" pitchFamily="34" charset="0"/>
                <a:cs typeface="Arial" pitchFamily="34" charset="0"/>
              </a:defRPr>
            </a:lvl1pPr>
          </a:lstStyle>
          <a:p>
            <a:pPr>
              <a:defRPr/>
            </a:pPr>
            <a:endParaRPr lang="en-GB" dirty="0"/>
          </a:p>
          <a:p>
            <a:pPr>
              <a:defRPr/>
            </a:pPr>
            <a:fld id="{B18DCB8B-D2FE-45D5-9D77-2EAE87C4CC26}" type="slidenum">
              <a:rPr lang="en-GB" smtClean="0"/>
              <a:pPr>
                <a:defRPr/>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4013" y="2865438"/>
            <a:ext cx="8437562" cy="723900"/>
          </a:xfrm>
        </p:spPr>
        <p:txBody>
          <a:bodyPr/>
          <a:lstStyle/>
          <a:p>
            <a:r>
              <a:rPr lang="en-US" dirty="0"/>
              <a:t>Click to edit Master title style</a:t>
            </a:r>
          </a:p>
        </p:txBody>
      </p:sp>
      <p:sp>
        <p:nvSpPr>
          <p:cNvPr id="4" name="Rectangle 6"/>
          <p:cNvSpPr>
            <a:spLocks noGrp="1" noChangeArrowheads="1"/>
          </p:cNvSpPr>
          <p:nvPr>
            <p:ph type="sldNum" sz="quarter" idx="11"/>
          </p:nvPr>
        </p:nvSpPr>
        <p:spPr>
          <a:ln/>
        </p:spPr>
        <p:txBody>
          <a:bodyPr/>
          <a:lstStyle>
            <a:lvl1pPr>
              <a:defRPr>
                <a:latin typeface="Arial" pitchFamily="34" charset="0"/>
                <a:cs typeface="Arial" pitchFamily="34" charset="0"/>
              </a:defRPr>
            </a:lvl1pPr>
          </a:lstStyle>
          <a:p>
            <a:pPr>
              <a:defRPr/>
            </a:pPr>
            <a:endParaRPr lang="en-GB" dirty="0"/>
          </a:p>
          <a:p>
            <a:pPr>
              <a:defRPr/>
            </a:pPr>
            <a:fld id="{B18DCB8B-D2FE-45D5-9D77-2EAE87C4CC26}" type="slidenum">
              <a:rPr lang="en-GB" smtClean="0"/>
              <a:pPr>
                <a:defRPr/>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54013" y="274638"/>
            <a:ext cx="8437562"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1027" name="Rectangle 3"/>
          <p:cNvSpPr>
            <a:spLocks noGrp="1" noChangeArrowheads="1"/>
          </p:cNvSpPr>
          <p:nvPr>
            <p:ph type="body" idx="1"/>
          </p:nvPr>
        </p:nvSpPr>
        <p:spPr bwMode="auto">
          <a:xfrm>
            <a:off x="354013" y="1089025"/>
            <a:ext cx="8437562" cy="576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u="none">
                <a:solidFill>
                  <a:schemeClr val="accent2"/>
                </a:solidFill>
                <a:latin typeface="Arial" panose="020B0604020202020204" pitchFamily="34" charset="0"/>
                <a:cs typeface="+mn-cs"/>
              </a:defRPr>
            </a:lvl1pPr>
          </a:lstStyle>
          <a:p>
            <a:pPr>
              <a:defRPr/>
            </a:pPr>
            <a:endParaRPr lang="en-GB" dirty="0"/>
          </a:p>
        </p:txBody>
      </p:sp>
      <p:sp>
        <p:nvSpPr>
          <p:cNvPr id="1030" name="Rectangle 6"/>
          <p:cNvSpPr>
            <a:spLocks noGrp="1" noChangeArrowheads="1"/>
          </p:cNvSpPr>
          <p:nvPr>
            <p:ph type="sldNum" sz="quarter" idx="4"/>
          </p:nvPr>
        </p:nvSpPr>
        <p:spPr bwMode="auto">
          <a:xfrm>
            <a:off x="8589963" y="6272213"/>
            <a:ext cx="4953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u="none">
                <a:solidFill>
                  <a:schemeClr val="accent2"/>
                </a:solidFill>
                <a:latin typeface="Arial" pitchFamily="34" charset="0"/>
                <a:cs typeface="Arial" pitchFamily="34" charset="0"/>
              </a:defRPr>
            </a:lvl1pPr>
          </a:lstStyle>
          <a:p>
            <a:pPr>
              <a:defRPr/>
            </a:pPr>
            <a:endParaRPr lang="en-GB" dirty="0"/>
          </a:p>
          <a:p>
            <a:pPr>
              <a:defRPr/>
            </a:pPr>
            <a:fld id="{6C53B026-E3BC-40EA-A94F-CF3D3D4CBAA7}" type="slidenum">
              <a:rPr lang="en-GB" smtClean="0"/>
              <a:pPr>
                <a:defRPr/>
              </a:pPr>
              <a:t>‹#›</a:t>
            </a:fld>
            <a:endParaRPr lang="en-GB" dirty="0"/>
          </a:p>
        </p:txBody>
      </p:sp>
      <p:sp>
        <p:nvSpPr>
          <p:cNvPr id="1034" name="Rectangle 10"/>
          <p:cNvSpPr>
            <a:spLocks noChangeArrowheads="1"/>
          </p:cNvSpPr>
          <p:nvPr/>
        </p:nvSpPr>
        <p:spPr bwMode="auto">
          <a:xfrm>
            <a:off x="0" y="2871758"/>
            <a:ext cx="184731" cy="400110"/>
          </a:xfrm>
          <a:prstGeom prst="rect">
            <a:avLst/>
          </a:prstGeom>
          <a:noFill/>
          <a:ln w="9525">
            <a:noFill/>
            <a:miter lim="800000"/>
            <a:headEnd/>
            <a:tailEnd/>
          </a:ln>
          <a:effectLst/>
        </p:spPr>
        <p:txBody>
          <a:bodyPr wrap="none" anchor="ctr">
            <a:spAutoFit/>
          </a:bodyPr>
          <a:lstStyle/>
          <a:p>
            <a:pPr>
              <a:defRPr/>
            </a:pPr>
            <a:endParaRPr lang="en-US" dirty="0">
              <a:latin typeface="Arial" panose="020B0604020202020204" pitchFamily="34" charset="0"/>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ctr" rtl="0" eaLnBrk="1" fontAlgn="base" hangingPunct="1">
        <a:spcBef>
          <a:spcPct val="0"/>
        </a:spcBef>
        <a:spcAft>
          <a:spcPct val="0"/>
        </a:spcAft>
        <a:defRPr sz="2400">
          <a:solidFill>
            <a:schemeClr val="accent2"/>
          </a:solidFill>
          <a:latin typeface="Arial" pitchFamily="34" charset="0"/>
          <a:ea typeface="+mj-ea"/>
          <a:cs typeface="Arial" pitchFamily="34" charset="0"/>
        </a:defRPr>
      </a:lvl1pPr>
      <a:lvl2pPr algn="ctr" rtl="0" eaLnBrk="1" fontAlgn="base" hangingPunct="1">
        <a:spcBef>
          <a:spcPct val="0"/>
        </a:spcBef>
        <a:spcAft>
          <a:spcPct val="0"/>
        </a:spcAft>
        <a:defRPr sz="2800">
          <a:solidFill>
            <a:schemeClr val="accent2"/>
          </a:solidFill>
          <a:latin typeface="Arial" charset="0"/>
        </a:defRPr>
      </a:lvl2pPr>
      <a:lvl3pPr algn="ctr" rtl="0" eaLnBrk="1" fontAlgn="base" hangingPunct="1">
        <a:spcBef>
          <a:spcPct val="0"/>
        </a:spcBef>
        <a:spcAft>
          <a:spcPct val="0"/>
        </a:spcAft>
        <a:defRPr sz="2800">
          <a:solidFill>
            <a:schemeClr val="accent2"/>
          </a:solidFill>
          <a:latin typeface="Arial" charset="0"/>
        </a:defRPr>
      </a:lvl3pPr>
      <a:lvl4pPr algn="ctr" rtl="0" eaLnBrk="1" fontAlgn="base" hangingPunct="1">
        <a:spcBef>
          <a:spcPct val="0"/>
        </a:spcBef>
        <a:spcAft>
          <a:spcPct val="0"/>
        </a:spcAft>
        <a:defRPr sz="2800">
          <a:solidFill>
            <a:schemeClr val="accent2"/>
          </a:solidFill>
          <a:latin typeface="Arial" charset="0"/>
        </a:defRPr>
      </a:lvl4pPr>
      <a:lvl5pPr algn="ctr" rtl="0" eaLnBrk="1" fontAlgn="base" hangingPunct="1">
        <a:spcBef>
          <a:spcPct val="0"/>
        </a:spcBef>
        <a:spcAft>
          <a:spcPct val="0"/>
        </a:spcAft>
        <a:defRPr sz="2800">
          <a:solidFill>
            <a:schemeClr val="accent2"/>
          </a:solidFill>
          <a:latin typeface="Arial" charset="0"/>
        </a:defRPr>
      </a:lvl5pPr>
      <a:lvl6pPr marL="457200" algn="ctr" rtl="0" eaLnBrk="1" fontAlgn="base" hangingPunct="1">
        <a:spcBef>
          <a:spcPct val="0"/>
        </a:spcBef>
        <a:spcAft>
          <a:spcPct val="0"/>
        </a:spcAft>
        <a:defRPr sz="2800">
          <a:solidFill>
            <a:schemeClr val="accent2"/>
          </a:solidFill>
          <a:latin typeface="Arial" charset="0"/>
        </a:defRPr>
      </a:lvl6pPr>
      <a:lvl7pPr marL="914400" algn="ctr" rtl="0" eaLnBrk="1" fontAlgn="base" hangingPunct="1">
        <a:spcBef>
          <a:spcPct val="0"/>
        </a:spcBef>
        <a:spcAft>
          <a:spcPct val="0"/>
        </a:spcAft>
        <a:defRPr sz="2800">
          <a:solidFill>
            <a:schemeClr val="accent2"/>
          </a:solidFill>
          <a:latin typeface="Arial" charset="0"/>
        </a:defRPr>
      </a:lvl7pPr>
      <a:lvl8pPr marL="1371600" algn="ctr" rtl="0" eaLnBrk="1" fontAlgn="base" hangingPunct="1">
        <a:spcBef>
          <a:spcPct val="0"/>
        </a:spcBef>
        <a:spcAft>
          <a:spcPct val="0"/>
        </a:spcAft>
        <a:defRPr sz="2800">
          <a:solidFill>
            <a:schemeClr val="accent2"/>
          </a:solidFill>
          <a:latin typeface="Arial" charset="0"/>
        </a:defRPr>
      </a:lvl8pPr>
      <a:lvl9pPr marL="1828800" algn="ctr" rtl="0" eaLnBrk="1" fontAlgn="base" hangingPunct="1">
        <a:spcBef>
          <a:spcPct val="0"/>
        </a:spcBef>
        <a:spcAft>
          <a:spcPct val="0"/>
        </a:spcAft>
        <a:defRPr sz="2800">
          <a:solidFill>
            <a:schemeClr val="accent2"/>
          </a:solidFill>
          <a:latin typeface="Arial" charset="0"/>
        </a:defRPr>
      </a:lvl9pPr>
    </p:titleStyle>
    <p:bodyStyle>
      <a:lvl1pPr marL="342900" indent="-342900" algn="l" rtl="0" eaLnBrk="1" fontAlgn="base" hangingPunct="1">
        <a:spcBef>
          <a:spcPct val="20000"/>
        </a:spcBef>
        <a:spcAft>
          <a:spcPct val="0"/>
        </a:spcAft>
        <a:buChar char="•"/>
        <a:defRPr sz="2000">
          <a:solidFill>
            <a:schemeClr val="accent2"/>
          </a:solidFill>
          <a:latin typeface="Arial" pitchFamily="34" charset="0"/>
          <a:ea typeface="+mn-ea"/>
          <a:cs typeface="Arial" pitchFamily="34" charset="0"/>
        </a:defRPr>
      </a:lvl1pPr>
      <a:lvl2pPr marL="742950" indent="-28575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2pPr>
      <a:lvl3pPr marL="11430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3pPr>
      <a:lvl4pPr marL="16002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4pPr>
      <a:lvl5pPr marL="20574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5pPr>
      <a:lvl6pPr marL="2514600" indent="-228600" algn="l" rtl="0" eaLnBrk="1" fontAlgn="base" hangingPunct="1">
        <a:spcBef>
          <a:spcPct val="20000"/>
        </a:spcBef>
        <a:spcAft>
          <a:spcPct val="0"/>
        </a:spcAft>
        <a:buChar char="»"/>
        <a:defRPr sz="2000">
          <a:solidFill>
            <a:schemeClr val="accent2"/>
          </a:solidFill>
          <a:latin typeface="+mn-lt"/>
          <a:cs typeface="+mn-cs"/>
        </a:defRPr>
      </a:lvl6pPr>
      <a:lvl7pPr marL="2971800" indent="-228600" algn="l" rtl="0" eaLnBrk="1" fontAlgn="base" hangingPunct="1">
        <a:spcBef>
          <a:spcPct val="20000"/>
        </a:spcBef>
        <a:spcAft>
          <a:spcPct val="0"/>
        </a:spcAft>
        <a:buChar char="»"/>
        <a:defRPr sz="2000">
          <a:solidFill>
            <a:schemeClr val="accent2"/>
          </a:solidFill>
          <a:latin typeface="+mn-lt"/>
          <a:cs typeface="+mn-cs"/>
        </a:defRPr>
      </a:lvl7pPr>
      <a:lvl8pPr marL="3429000" indent="-228600" algn="l" rtl="0" eaLnBrk="1" fontAlgn="base" hangingPunct="1">
        <a:spcBef>
          <a:spcPct val="20000"/>
        </a:spcBef>
        <a:spcAft>
          <a:spcPct val="0"/>
        </a:spcAft>
        <a:buChar char="»"/>
        <a:defRPr sz="2000">
          <a:solidFill>
            <a:schemeClr val="accent2"/>
          </a:solidFill>
          <a:latin typeface="+mn-lt"/>
          <a:cs typeface="+mn-cs"/>
        </a:defRPr>
      </a:lvl8pPr>
      <a:lvl9pPr marL="3886200" indent="-228600" algn="l" rtl="0" eaLnBrk="1" fontAlgn="base" hangingPunct="1">
        <a:spcBef>
          <a:spcPct val="20000"/>
        </a:spcBef>
        <a:spcAft>
          <a:spcPct val="0"/>
        </a:spcAft>
        <a:buChar char="»"/>
        <a:defRPr sz="2000">
          <a:solidFill>
            <a:schemeClr val="accent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i.yale.edu/yales-ai-tools-and-resources/clarity-platfor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jacob.m.miller@yale.edu"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7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90.png"/><Relationship Id="rId12" Type="http://schemas.openxmlformats.org/officeDocument/2006/relationships/image" Target="../media/image14.png"/><Relationship Id="rId2" Type="http://schemas.openxmlformats.org/officeDocument/2006/relationships/chart" Target="../charts/chart1.xml"/><Relationship Id="rId1" Type="http://schemas.openxmlformats.org/officeDocument/2006/relationships/slideLayout" Target="../slideLayouts/slideLayout2.xml"/><Relationship Id="rId11" Type="http://schemas.openxmlformats.org/officeDocument/2006/relationships/image" Target="../media/image15.png"/><Relationship Id="rId5" Type="http://schemas.openxmlformats.org/officeDocument/2006/relationships/image" Target="../media/image13.png"/><Relationship Id="rId10" Type="http://schemas.openxmlformats.org/officeDocument/2006/relationships/image" Target="../media/image61.png"/><Relationship Id="rId4" Type="http://schemas.openxmlformats.org/officeDocument/2006/relationships/image" Target="../media/image112.png"/><Relationship Id="rId9" Type="http://schemas.openxmlformats.org/officeDocument/2006/relationships/image" Target="../media/image120.png"/></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140.png"/><Relationship Id="rId2" Type="http://schemas.openxmlformats.org/officeDocument/2006/relationships/chart" Target="../charts/chart2.xml"/><Relationship Id="rId1" Type="http://schemas.openxmlformats.org/officeDocument/2006/relationships/slideLayout" Target="../slideLayouts/slideLayout2.xml"/><Relationship Id="rId11" Type="http://schemas.openxmlformats.org/officeDocument/2006/relationships/image" Target="../media/image15.png"/><Relationship Id="rId15" Type="http://schemas.openxmlformats.org/officeDocument/2006/relationships/image" Target="../media/image111.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39.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160.png"/><Relationship Id="rId2" Type="http://schemas.openxmlformats.org/officeDocument/2006/relationships/chart" Target="../charts/chart3.xml"/><Relationship Id="rId1" Type="http://schemas.openxmlformats.org/officeDocument/2006/relationships/slideLayout" Target="../slideLayouts/slideLayout2.xml"/><Relationship Id="rId11" Type="http://schemas.openxmlformats.org/officeDocument/2006/relationships/image" Target="../media/image15.png"/><Relationship Id="rId15" Type="http://schemas.openxmlformats.org/officeDocument/2006/relationships/image" Target="../media/image111.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0.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170.png"/><Relationship Id="rId2" Type="http://schemas.openxmlformats.org/officeDocument/2006/relationships/chart" Target="../charts/chart4.xml"/><Relationship Id="rId16" Type="http://schemas.openxmlformats.org/officeDocument/2006/relationships/image" Target="../media/image18.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1.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170.png"/><Relationship Id="rId2" Type="http://schemas.openxmlformats.org/officeDocument/2006/relationships/chart" Target="../charts/chart5.xml"/><Relationship Id="rId16" Type="http://schemas.openxmlformats.org/officeDocument/2006/relationships/image" Target="../media/image19.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7.png"/></Relationships>
</file>

<file path=ppt/slides/_rels/slide42.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170.png"/><Relationship Id="rId2" Type="http://schemas.openxmlformats.org/officeDocument/2006/relationships/chart" Target="../charts/chart6.xml"/><Relationship Id="rId16" Type="http://schemas.openxmlformats.org/officeDocument/2006/relationships/image" Target="../media/image20.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3.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22.png"/><Relationship Id="rId12" Type="http://schemas.openxmlformats.org/officeDocument/2006/relationships/image" Target="../media/image21.png"/><Relationship Id="rId2" Type="http://schemas.openxmlformats.org/officeDocument/2006/relationships/chart" Target="../charts/chart7.xml"/><Relationship Id="rId16" Type="http://schemas.openxmlformats.org/officeDocument/2006/relationships/image" Target="../media/image200.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4.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90.png"/><Relationship Id="rId12" Type="http://schemas.openxmlformats.org/officeDocument/2006/relationships/image" Target="../media/image23.png"/><Relationship Id="rId2" Type="http://schemas.openxmlformats.org/officeDocument/2006/relationships/chart" Target="../charts/chart8.xml"/><Relationship Id="rId16" Type="http://schemas.openxmlformats.org/officeDocument/2006/relationships/image" Target="../media/image20.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5.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24.png"/><Relationship Id="rId12" Type="http://schemas.openxmlformats.org/officeDocument/2006/relationships/image" Target="../media/image210.png"/><Relationship Id="rId2" Type="http://schemas.openxmlformats.org/officeDocument/2006/relationships/chart" Target="../charts/chart9.xml"/><Relationship Id="rId16" Type="http://schemas.openxmlformats.org/officeDocument/2006/relationships/image" Target="../media/image230.png"/><Relationship Id="rId1" Type="http://schemas.openxmlformats.org/officeDocument/2006/relationships/slideLayout" Target="../slideLayouts/slideLayout2.xml"/><Relationship Id="rId11" Type="http://schemas.openxmlformats.org/officeDocument/2006/relationships/image" Target="../media/image15.png"/><Relationship Id="rId10" Type="http://schemas.openxmlformats.org/officeDocument/2006/relationships/image" Target="../media/image61.png"/><Relationship Id="rId9" Type="http://schemas.openxmlformats.org/officeDocument/2006/relationships/image" Target="../media/image120.png"/><Relationship Id="rId14" Type="http://schemas.openxmlformats.org/officeDocument/2006/relationships/image" Target="../media/image13.png"/></Relationships>
</file>

<file path=ppt/slides/_rels/slide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250.png"/><Relationship Id="rId4" Type="http://schemas.openxmlformats.org/officeDocument/2006/relationships/image" Target="../media/image260.png"/></Relationships>
</file>

<file path=ppt/slides/_rels/slide5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8.emf"/></Relationships>
</file>

<file path=ppt/slides/_rels/slide6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chart" Target="../charts/chart10.xml"/><Relationship Id="rId7" Type="http://schemas.openxmlformats.org/officeDocument/2006/relationships/image" Target="../media/image370.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0.png"/></Relationships>
</file>

<file path=ppt/slides/_rels/slide64.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19.emf"/><Relationship Id="rId7" Type="http://schemas.openxmlformats.org/officeDocument/2006/relationships/image" Target="../media/image421.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60.png"/><Relationship Id="rId4" Type="http://schemas.openxmlformats.org/officeDocument/2006/relationships/image" Target="../media/image422.png"/><Relationship Id="rId9" Type="http://schemas.openxmlformats.org/officeDocument/2006/relationships/image" Target="../media/image47.png"/></Relationships>
</file>

<file path=ppt/slides/_rels/slide65.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19.emf"/><Relationship Id="rId7" Type="http://schemas.openxmlformats.org/officeDocument/2006/relationships/image" Target="../media/image45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60.png"/><Relationship Id="rId10" Type="http://schemas.openxmlformats.org/officeDocument/2006/relationships/image" Target="../media/image422.png"/><Relationship Id="rId9" Type="http://schemas.openxmlformats.org/officeDocument/2006/relationships/image" Target="../media/image47.png"/></Relationships>
</file>

<file path=ppt/slides/_rels/slide66.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51.png"/><Relationship Id="rId12" Type="http://schemas.openxmlformats.org/officeDocument/2006/relationships/image" Target="../media/image5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422.png"/><Relationship Id="rId5" Type="http://schemas.openxmlformats.org/officeDocument/2006/relationships/image" Target="../media/image360.png"/><Relationship Id="rId10" Type="http://schemas.openxmlformats.org/officeDocument/2006/relationships/image" Target="../media/image52.png"/><Relationship Id="rId9" Type="http://schemas.openxmlformats.org/officeDocument/2006/relationships/image" Target="../media/image47.png"/></Relationships>
</file>

<file path=ppt/slides/_rels/slide67.xml.rels><?xml version="1.0" encoding="UTF-8" standalone="yes"?>
<Relationships xmlns="http://schemas.openxmlformats.org/package/2006/relationships"><Relationship Id="rId2" Type="http://schemas.openxmlformats.org/officeDocument/2006/relationships/image" Target="../media/image46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19.emf"/><Relationship Id="rId7" Type="http://schemas.openxmlformats.org/officeDocument/2006/relationships/image" Target="../media/image45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60.png"/><Relationship Id="rId4" Type="http://schemas.openxmlformats.org/officeDocument/2006/relationships/image" Target="../media/image402.png"/><Relationship Id="rId9" Type="http://schemas.openxmlformats.org/officeDocument/2006/relationships/image" Target="../media/image47.png"/></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570.png"/><Relationship Id="rId3" Type="http://schemas.openxmlformats.org/officeDocument/2006/relationships/image" Target="../media/image490.png"/><Relationship Id="rId7" Type="http://schemas.openxmlformats.org/officeDocument/2006/relationships/image" Target="../media/image560.png"/><Relationship Id="rId2" Type="http://schemas.openxmlformats.org/officeDocument/2006/relationships/image" Target="../media/image20.emf"/><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360.png"/><Relationship Id="rId9" Type="http://schemas.openxmlformats.org/officeDocument/2006/relationships/image" Target="../media/image47.png"/></Relationships>
</file>

<file path=ppt/slides/_rels/slide75.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25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6.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https://blogs.lse.ac.uk/brexit/2018/07/31/new-poll-suggests-how-to-tell-when-public-opinion-has-really-changed/"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31.png"/><Relationship Id="rId2" Type="http://schemas.openxmlformats.org/officeDocument/2006/relationships/image" Target="../media/image710.png"/><Relationship Id="rId1" Type="http://schemas.openxmlformats.org/officeDocument/2006/relationships/slideLayout" Target="../slideLayouts/slideLayout4.xml"/><Relationship Id="rId5" Type="http://schemas.openxmlformats.org/officeDocument/2006/relationships/image" Target="../media/image750.png"/><Relationship Id="rId4" Type="http://schemas.openxmlformats.org/officeDocument/2006/relationships/image" Target="../media/image74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0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0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40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6100" y="1680064"/>
            <a:ext cx="7772400" cy="1235322"/>
          </a:xfrm>
        </p:spPr>
        <p:txBody>
          <a:bodyPr/>
          <a:lstStyle/>
          <a:p>
            <a:r>
              <a:rPr lang="en-US" dirty="0"/>
              <a:t>1. Course Motivation / Confidence Intervals</a:t>
            </a:r>
            <a:br>
              <a:rPr lang="en-US" dirty="0"/>
            </a:br>
            <a:endParaRPr lang="en-US" dirty="0"/>
          </a:p>
        </p:txBody>
      </p:sp>
      <p:sp>
        <p:nvSpPr>
          <p:cNvPr id="3" name="Subtitle 2"/>
          <p:cNvSpPr>
            <a:spLocks noGrp="1"/>
          </p:cNvSpPr>
          <p:nvPr>
            <p:ph type="subTitle" idx="1"/>
          </p:nvPr>
        </p:nvSpPr>
        <p:spPr/>
        <p:txBody>
          <a:bodyPr/>
          <a:lstStyle/>
          <a:p>
            <a:endParaRPr lang="en-US" dirty="0">
              <a:solidFill>
                <a:schemeClr val="bg1">
                  <a:lumMod val="50000"/>
                </a:schemeClr>
              </a:solidFill>
            </a:endParaRPr>
          </a:p>
          <a:p>
            <a:endParaRPr lang="en-US" dirty="0">
              <a:solidFill>
                <a:schemeClr val="bg1">
                  <a:lumMod val="50000"/>
                </a:schemeClr>
              </a:solidFill>
            </a:endParaRPr>
          </a:p>
          <a:p>
            <a:endParaRPr lang="en-US" dirty="0"/>
          </a:p>
          <a:p>
            <a:pPr>
              <a:spcBef>
                <a:spcPts val="300"/>
              </a:spcBef>
            </a:pPr>
            <a:r>
              <a:rPr lang="en-US" sz="1400" dirty="0"/>
              <a:t>Peter K. Schott </a:t>
            </a:r>
            <a:r>
              <a:rPr lang="en-US" sz="1400" dirty="0">
                <a:solidFill>
                  <a:schemeClr val="bg1">
                    <a:lumMod val="50000"/>
                  </a:schemeClr>
                </a:solidFill>
              </a:rPr>
              <a:t>Yale School of Management &amp; NBER</a:t>
            </a:r>
          </a:p>
        </p:txBody>
      </p:sp>
      <p:sp>
        <p:nvSpPr>
          <p:cNvPr id="4" name="TextBox 3"/>
          <p:cNvSpPr txBox="1"/>
          <p:nvPr/>
        </p:nvSpPr>
        <p:spPr>
          <a:xfrm>
            <a:off x="546099" y="3055384"/>
            <a:ext cx="2850396" cy="523220"/>
          </a:xfrm>
          <a:prstGeom prst="rect">
            <a:avLst/>
          </a:prstGeom>
          <a:noFill/>
        </p:spPr>
        <p:txBody>
          <a:bodyPr wrap="none" rtlCol="0">
            <a:spAutoFit/>
          </a:bodyPr>
          <a:lstStyle/>
          <a:p>
            <a:r>
              <a:rPr lang="en-US" sz="1400" b="0" u="none" dirty="0">
                <a:solidFill>
                  <a:schemeClr val="accent6"/>
                </a:solidFill>
                <a:latin typeface="Arial" pitchFamily="34" charset="0"/>
                <a:cs typeface="Arial" pitchFamily="34" charset="0"/>
              </a:rPr>
              <a:t>MGT 407e Probability &amp; Statistics</a:t>
            </a:r>
          </a:p>
          <a:p>
            <a:r>
              <a:rPr lang="en-US" sz="1400" b="0" u="none" dirty="0">
                <a:solidFill>
                  <a:schemeClr val="accent6"/>
                </a:solidFill>
                <a:latin typeface="Arial" pitchFamily="34" charset="0"/>
                <a:cs typeface="Arial" pitchFamily="34" charset="0"/>
              </a:rPr>
              <a:t>Fall 2026 </a:t>
            </a:r>
            <a:r>
              <a:rPr lang="en-US" sz="1400" b="0" u="none" dirty="0">
                <a:solidFill>
                  <a:schemeClr val="accent6"/>
                </a:solidFill>
                <a:cs typeface="Arial" pitchFamily="34" charset="0"/>
              </a:rPr>
              <a:t> </a:t>
            </a:r>
            <a:endParaRPr lang="en-US" sz="1400" b="0" u="none" dirty="0">
              <a:solidFill>
                <a:schemeClr val="accent6"/>
              </a:solidFill>
              <a:latin typeface="Arial" pitchFamily="34" charset="0"/>
              <a:cs typeface="Arial" pitchFamily="34" charset="0"/>
            </a:endParaRPr>
          </a:p>
        </p:txBody>
      </p:sp>
    </p:spTree>
    <p:extLst>
      <p:ext uri="{BB962C8B-B14F-4D97-AF65-F5344CB8AC3E}">
        <p14:creationId xmlns:p14="http://schemas.microsoft.com/office/powerpoint/2010/main" val="178943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9BA5-D2C4-4124-AB1D-C527B84FFC2C}"/>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3C0FB9B7-88C5-4701-B86A-732089EEE306}"/>
              </a:ext>
            </a:extLst>
          </p:cNvPr>
          <p:cNvSpPr>
            <a:spLocks noGrp="1"/>
          </p:cNvSpPr>
          <p:nvPr>
            <p:ph idx="1"/>
          </p:nvPr>
        </p:nvSpPr>
        <p:spPr/>
        <p:txBody>
          <a:bodyPr/>
          <a:lstStyle/>
          <a:p>
            <a:r>
              <a:rPr lang="en-US" dirty="0"/>
              <a:t>Data, data, data!</a:t>
            </a:r>
          </a:p>
          <a:p>
            <a:endParaRPr lang="en-US" dirty="0"/>
          </a:p>
          <a:p>
            <a:r>
              <a:rPr lang="en-US" dirty="0"/>
              <a:t>Most of you won’t become data analysts, but all of you are exposed to data analysis professionally and personally</a:t>
            </a:r>
          </a:p>
          <a:p>
            <a:endParaRPr lang="en-US" dirty="0"/>
          </a:p>
          <a:p>
            <a:r>
              <a:rPr lang="en-US" dirty="0"/>
              <a:t>Wouldn’t it be great to have enough of a grasp of statistics to understand and critique what data analysts do, and to use AI as your own personal data staff?</a:t>
            </a:r>
          </a:p>
          <a:p>
            <a:endParaRPr lang="en-US" dirty="0"/>
          </a:p>
          <a:p>
            <a:r>
              <a:rPr lang="en-US" dirty="0"/>
              <a:t>That’s the main goal of this course…</a:t>
            </a:r>
          </a:p>
        </p:txBody>
      </p:sp>
      <p:sp>
        <p:nvSpPr>
          <p:cNvPr id="4" name="Slide Number Placeholder 3">
            <a:extLst>
              <a:ext uri="{FF2B5EF4-FFF2-40B4-BE49-F238E27FC236}">
                <a16:creationId xmlns:a16="http://schemas.microsoft.com/office/drawing/2014/main" id="{B8DD7F5C-70CF-46DE-8E9F-6B18ABC397F8}"/>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a:t>
            </a:fld>
            <a:endParaRPr lang="en-GB" dirty="0"/>
          </a:p>
        </p:txBody>
      </p:sp>
    </p:spTree>
    <p:extLst>
      <p:ext uri="{BB962C8B-B14F-4D97-AF65-F5344CB8AC3E}">
        <p14:creationId xmlns:p14="http://schemas.microsoft.com/office/powerpoint/2010/main" val="412580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3DAC-D9AC-4B6E-AA61-8B13302B5019}"/>
              </a:ext>
            </a:extLst>
          </p:cNvPr>
          <p:cNvSpPr>
            <a:spLocks noGrp="1"/>
          </p:cNvSpPr>
          <p:nvPr>
            <p:ph type="title"/>
          </p:nvPr>
        </p:nvSpPr>
        <p:spPr/>
        <p:txBody>
          <a:bodyPr/>
          <a:lstStyle/>
          <a:p>
            <a:r>
              <a:rPr lang="en-US" dirty="0"/>
              <a:t>Achieving Our Goal</a:t>
            </a:r>
          </a:p>
        </p:txBody>
      </p:sp>
      <p:sp>
        <p:nvSpPr>
          <p:cNvPr id="3" name="Content Placeholder 2">
            <a:extLst>
              <a:ext uri="{FF2B5EF4-FFF2-40B4-BE49-F238E27FC236}">
                <a16:creationId xmlns:a16="http://schemas.microsoft.com/office/drawing/2014/main" id="{1CE98707-368D-4573-A1AE-60635CAC05CE}"/>
              </a:ext>
            </a:extLst>
          </p:cNvPr>
          <p:cNvSpPr>
            <a:spLocks noGrp="1"/>
          </p:cNvSpPr>
          <p:nvPr>
            <p:ph idx="1"/>
          </p:nvPr>
        </p:nvSpPr>
        <p:spPr/>
        <p:txBody>
          <a:bodyPr/>
          <a:lstStyle/>
          <a:p>
            <a:r>
              <a:rPr lang="en-US" dirty="0"/>
              <a:t>Learn the </a:t>
            </a:r>
            <a:r>
              <a:rPr lang="en-US" u="sng" dirty="0"/>
              <a:t>vocabulary</a:t>
            </a:r>
            <a:r>
              <a:rPr lang="en-US" dirty="0"/>
              <a:t> of data analysis</a:t>
            </a:r>
          </a:p>
          <a:p>
            <a:pPr lvl="1"/>
            <a:r>
              <a:rPr lang="en-US" dirty="0"/>
              <a:t>What is a </a:t>
            </a:r>
            <a:r>
              <a:rPr lang="en-US" dirty="0">
                <a:solidFill>
                  <a:srgbClr val="00B0F0"/>
                </a:solidFill>
              </a:rPr>
              <a:t>standard error</a:t>
            </a:r>
            <a:r>
              <a:rPr lang="en-US" dirty="0"/>
              <a:t>? How is it standard?</a:t>
            </a:r>
          </a:p>
          <a:p>
            <a:pPr lvl="1"/>
            <a:r>
              <a:rPr lang="en-US" dirty="0"/>
              <a:t>What is a </a:t>
            </a:r>
            <a:r>
              <a:rPr lang="en-US" dirty="0">
                <a:solidFill>
                  <a:srgbClr val="00B0F0"/>
                </a:solidFill>
              </a:rPr>
              <a:t>confidence interval</a:t>
            </a:r>
            <a:r>
              <a:rPr lang="en-US" dirty="0"/>
              <a:t>? How confident can you be?</a:t>
            </a:r>
          </a:p>
          <a:p>
            <a:pPr lvl="1"/>
            <a:r>
              <a:rPr lang="en-US" dirty="0"/>
              <a:t>What is a </a:t>
            </a:r>
            <a:r>
              <a:rPr lang="en-US" dirty="0">
                <a:solidFill>
                  <a:srgbClr val="00B0F0"/>
                </a:solidFill>
              </a:rPr>
              <a:t>test statistic</a:t>
            </a:r>
            <a:r>
              <a:rPr lang="en-US" dirty="0"/>
              <a:t>? What is it testing?</a:t>
            </a:r>
          </a:p>
          <a:p>
            <a:pPr lvl="1"/>
            <a:r>
              <a:rPr lang="en-US" dirty="0"/>
              <a:t>What is </a:t>
            </a:r>
            <a:r>
              <a:rPr lang="en-US" dirty="0">
                <a:solidFill>
                  <a:srgbClr val="00B0F0"/>
                </a:solidFill>
              </a:rPr>
              <a:t>statistical significance</a:t>
            </a:r>
            <a:r>
              <a:rPr lang="en-US" dirty="0"/>
              <a:t>? What makes it significant?</a:t>
            </a:r>
          </a:p>
          <a:p>
            <a:pPr lvl="1"/>
            <a:r>
              <a:rPr lang="en-US" dirty="0"/>
              <a:t>Why is </a:t>
            </a:r>
            <a:r>
              <a:rPr lang="en-US" dirty="0">
                <a:solidFill>
                  <a:srgbClr val="00B0F0"/>
                </a:solidFill>
              </a:rPr>
              <a:t>1.96</a:t>
            </a:r>
            <a:r>
              <a:rPr lang="en-US" dirty="0"/>
              <a:t> a magic number?</a:t>
            </a:r>
          </a:p>
          <a:p>
            <a:endParaRPr lang="en-US" dirty="0"/>
          </a:p>
          <a:p>
            <a:r>
              <a:rPr lang="en-US" dirty="0"/>
              <a:t>Learn how to make and evaluate statistical hypotheses</a:t>
            </a:r>
          </a:p>
          <a:p>
            <a:pPr marL="0" indent="0">
              <a:buNone/>
            </a:pPr>
            <a:endParaRPr lang="en-US" dirty="0"/>
          </a:p>
          <a:p>
            <a:r>
              <a:rPr lang="en-US" dirty="0"/>
              <a:t>Form your own opinions about what a dataset can tell you</a:t>
            </a:r>
          </a:p>
          <a:p>
            <a:endParaRPr lang="en-US" dirty="0"/>
          </a:p>
          <a:p>
            <a:r>
              <a:rPr lang="en-US" dirty="0"/>
              <a:t>Learn how to describe statistical results in </a:t>
            </a:r>
            <a:r>
              <a:rPr lang="en-US" u="sng" dirty="0"/>
              <a:t>PLAIN</a:t>
            </a:r>
            <a:r>
              <a:rPr lang="en-US" dirty="0"/>
              <a:t> </a:t>
            </a:r>
            <a:r>
              <a:rPr lang="en-US" u="sng" dirty="0"/>
              <a:t>ENGLISH</a:t>
            </a:r>
          </a:p>
          <a:p>
            <a:endParaRPr lang="en-US" u="sng" dirty="0"/>
          </a:p>
          <a:p>
            <a:r>
              <a:rPr lang="en-US" dirty="0"/>
              <a:t>Learn a bit about the art of data analysis</a:t>
            </a:r>
          </a:p>
          <a:p>
            <a:endParaRPr lang="en-US" dirty="0"/>
          </a:p>
          <a:p>
            <a:endParaRPr lang="en-US" dirty="0"/>
          </a:p>
        </p:txBody>
      </p:sp>
      <p:sp>
        <p:nvSpPr>
          <p:cNvPr id="4" name="Slide Number Placeholder 3">
            <a:extLst>
              <a:ext uri="{FF2B5EF4-FFF2-40B4-BE49-F238E27FC236}">
                <a16:creationId xmlns:a16="http://schemas.microsoft.com/office/drawing/2014/main" id="{AE3F6BB1-E418-4B5D-90C4-B0402CD05C9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a:t>
            </a:fld>
            <a:endParaRPr lang="en-GB" dirty="0"/>
          </a:p>
        </p:txBody>
      </p:sp>
    </p:spTree>
    <p:extLst>
      <p:ext uri="{BB962C8B-B14F-4D97-AF65-F5344CB8AC3E}">
        <p14:creationId xmlns:p14="http://schemas.microsoft.com/office/powerpoint/2010/main" val="332529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BBE9-D149-9A65-8F8F-39C715BFC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F6AA5-89D0-C420-FFFA-449BF9ED95FB}"/>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BC36AB47-ABA4-4E54-FEBF-412A19CECD3B}"/>
              </a:ext>
            </a:extLst>
          </p:cNvPr>
          <p:cNvSpPr>
            <a:spLocks noGrp="1"/>
          </p:cNvSpPr>
          <p:nvPr>
            <p:ph idx="1"/>
          </p:nvPr>
        </p:nvSpPr>
        <p:spPr/>
        <p:txBody>
          <a:bodyPr/>
          <a:lstStyle/>
          <a:p>
            <a:r>
              <a:rPr lang="en-US" dirty="0"/>
              <a:t>Topics </a:t>
            </a:r>
          </a:p>
          <a:p>
            <a:endParaRPr lang="en-US" dirty="0"/>
          </a:p>
          <a:p>
            <a:endParaRPr lang="en-US" dirty="0"/>
          </a:p>
          <a:p>
            <a:endParaRPr lang="en-US" dirty="0"/>
          </a:p>
          <a:p>
            <a:endParaRPr lang="en-US" dirty="0"/>
          </a:p>
          <a:p>
            <a:endParaRPr lang="en-US" dirty="0"/>
          </a:p>
          <a:p>
            <a:endParaRPr lang="en-US" dirty="0"/>
          </a:p>
          <a:p>
            <a:endParaRPr lang="en-US" dirty="0"/>
          </a:p>
          <a:p>
            <a:r>
              <a:rPr lang="en-US" dirty="0"/>
              <a:t>All slides, problem sets, videos, datasets, </a:t>
            </a:r>
            <a:r>
              <a:rPr lang="en-US" dirty="0" err="1"/>
              <a:t>etc</a:t>
            </a:r>
            <a:r>
              <a:rPr lang="en-US" dirty="0"/>
              <a:t> are located on Canvas</a:t>
            </a:r>
          </a:p>
          <a:p>
            <a:endParaRPr lang="en-US" dirty="0"/>
          </a:p>
          <a:p>
            <a:r>
              <a:rPr lang="en-US" dirty="0"/>
              <a:t>To meet with me, email a few times that work for you and I will pick</a:t>
            </a:r>
          </a:p>
          <a:p>
            <a:endParaRPr lang="en-US" dirty="0"/>
          </a:p>
          <a:p>
            <a:r>
              <a:rPr lang="en-US" dirty="0"/>
              <a:t>Please let me know if something is not working!</a:t>
            </a:r>
          </a:p>
        </p:txBody>
      </p:sp>
      <p:sp>
        <p:nvSpPr>
          <p:cNvPr id="4" name="Slide Number Placeholder 3">
            <a:extLst>
              <a:ext uri="{FF2B5EF4-FFF2-40B4-BE49-F238E27FC236}">
                <a16:creationId xmlns:a16="http://schemas.microsoft.com/office/drawing/2014/main" id="{0D4A17A3-DFED-7F87-1B5D-FC6050C5295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a:t>
            </a:fld>
            <a:endParaRPr lang="en-GB" dirty="0"/>
          </a:p>
        </p:txBody>
      </p:sp>
      <p:graphicFrame>
        <p:nvGraphicFramePr>
          <p:cNvPr id="7" name="Table 6">
            <a:extLst>
              <a:ext uri="{FF2B5EF4-FFF2-40B4-BE49-F238E27FC236}">
                <a16:creationId xmlns:a16="http://schemas.microsoft.com/office/drawing/2014/main" id="{895085CE-4652-4A3C-957C-96982927C1CD}"/>
              </a:ext>
            </a:extLst>
          </p:cNvPr>
          <p:cNvGraphicFramePr>
            <a:graphicFrameLocks noGrp="1"/>
          </p:cNvGraphicFramePr>
          <p:nvPr>
            <p:extLst>
              <p:ext uri="{D42A27DB-BD31-4B8C-83A1-F6EECF244321}">
                <p14:modId xmlns:p14="http://schemas.microsoft.com/office/powerpoint/2010/main" val="621365549"/>
              </p:ext>
            </p:extLst>
          </p:nvPr>
        </p:nvGraphicFramePr>
        <p:xfrm>
          <a:off x="1350339" y="1690816"/>
          <a:ext cx="6469911" cy="1828800"/>
        </p:xfrm>
        <a:graphic>
          <a:graphicData uri="http://schemas.openxmlformats.org/drawingml/2006/table">
            <a:tbl>
              <a:tblPr firstRow="1" bandRow="1">
                <a:tableStyleId>{5C22544A-7EE6-4342-B048-85BDC9FD1C3A}</a:tableStyleId>
              </a:tblPr>
              <a:tblGrid>
                <a:gridCol w="2046763">
                  <a:extLst>
                    <a:ext uri="{9D8B030D-6E8A-4147-A177-3AD203B41FA5}">
                      <a16:colId xmlns:a16="http://schemas.microsoft.com/office/drawing/2014/main" val="3308855989"/>
                    </a:ext>
                  </a:extLst>
                </a:gridCol>
                <a:gridCol w="1646784">
                  <a:extLst>
                    <a:ext uri="{9D8B030D-6E8A-4147-A177-3AD203B41FA5}">
                      <a16:colId xmlns:a16="http://schemas.microsoft.com/office/drawing/2014/main" val="1583128806"/>
                    </a:ext>
                  </a:extLst>
                </a:gridCol>
                <a:gridCol w="2776364">
                  <a:extLst>
                    <a:ext uri="{9D8B030D-6E8A-4147-A177-3AD203B41FA5}">
                      <a16:colId xmlns:a16="http://schemas.microsoft.com/office/drawing/2014/main" val="3341339015"/>
                    </a:ext>
                  </a:extLst>
                </a:gridCol>
              </a:tblGrid>
              <a:tr h="275230">
                <a:tc>
                  <a:txBody>
                    <a:bodyPr/>
                    <a:lstStyle/>
                    <a:p>
                      <a:pPr algn="l"/>
                      <a:r>
                        <a:rPr lang="en-US" sz="1400" dirty="0">
                          <a:solidFill>
                            <a:schemeClr val="tx1"/>
                          </a:solidFill>
                          <a:latin typeface="Arial" panose="020B0604020202020204" pitchFamily="34" charset="0"/>
                          <a:cs typeface="Arial" panose="020B0604020202020204" pitchFamily="34" charset="0"/>
                        </a:rPr>
                        <a:t>Meeting</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Dates</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Topic</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045094"/>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1</a:t>
                      </a:r>
                    </a:p>
                  </a:txBody>
                  <a:tcPr>
                    <a:lnT w="12700" cap="flat" cmpd="sng" algn="ctr">
                      <a:solidFill>
                        <a:schemeClr val="tx1"/>
                      </a:solidFill>
                      <a:prstDash val="solid"/>
                      <a:round/>
                      <a:headEnd type="none" w="med" len="med"/>
                      <a:tailEnd type="none" w="med" len="med"/>
                    </a:lnT>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8/14</a:t>
                      </a:r>
                    </a:p>
                  </a:txBody>
                  <a:tcPr>
                    <a:lnT w="12700" cap="flat" cmpd="sng" algn="ctr">
                      <a:solidFill>
                        <a:schemeClr val="tx1"/>
                      </a:solidFill>
                      <a:prstDash val="solid"/>
                      <a:round/>
                      <a:headEnd type="none" w="med" len="med"/>
                      <a:tailEnd type="none" w="med" len="med"/>
                    </a:lnT>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1. Confidence Intervals</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774289"/>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2</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8/28</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2. Hypothesis Testing</a:t>
                      </a:r>
                    </a:p>
                  </a:txBody>
                  <a:tcPr>
                    <a:noFill/>
                  </a:tcPr>
                </a:tc>
                <a:extLst>
                  <a:ext uri="{0D108BD9-81ED-4DB2-BD59-A6C34878D82A}">
                    <a16:rowId xmlns:a16="http://schemas.microsoft.com/office/drawing/2014/main" val="2026503073"/>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3</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9/11</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3. Bivariate OLS Regression</a:t>
                      </a:r>
                    </a:p>
                  </a:txBody>
                  <a:tcPr>
                    <a:noFill/>
                  </a:tcPr>
                </a:tc>
                <a:extLst>
                  <a:ext uri="{0D108BD9-81ED-4DB2-BD59-A6C34878D82A}">
                    <a16:rowId xmlns:a16="http://schemas.microsoft.com/office/drawing/2014/main" val="594112944"/>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4</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9/25</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4. Multivariate OLS Regression</a:t>
                      </a:r>
                    </a:p>
                  </a:txBody>
                  <a:tcPr>
                    <a:noFill/>
                  </a:tcPr>
                </a:tc>
                <a:extLst>
                  <a:ext uri="{0D108BD9-81ED-4DB2-BD59-A6C34878D82A}">
                    <a16:rowId xmlns:a16="http://schemas.microsoft.com/office/drawing/2014/main" val="1718165537"/>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5</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10/9</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5. OLS Extensions</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8164018"/>
                  </a:ext>
                </a:extLst>
              </a:tr>
            </a:tbl>
          </a:graphicData>
        </a:graphic>
      </p:graphicFrame>
      <p:sp>
        <p:nvSpPr>
          <p:cNvPr id="5" name="TextBox 4">
            <a:extLst>
              <a:ext uri="{FF2B5EF4-FFF2-40B4-BE49-F238E27FC236}">
                <a16:creationId xmlns:a16="http://schemas.microsoft.com/office/drawing/2014/main" id="{EE777EA0-4A91-49BB-AF97-A21966E98DA4}"/>
              </a:ext>
            </a:extLst>
          </p:cNvPr>
          <p:cNvSpPr txBox="1"/>
          <p:nvPr/>
        </p:nvSpPr>
        <p:spPr>
          <a:xfrm>
            <a:off x="1259140" y="3508701"/>
            <a:ext cx="6791728" cy="276999"/>
          </a:xfrm>
          <a:prstGeom prst="rect">
            <a:avLst/>
          </a:prstGeom>
          <a:noFill/>
        </p:spPr>
        <p:txBody>
          <a:bodyPr wrap="square" rtlCol="0">
            <a:spAutoFit/>
          </a:bodyPr>
          <a:lstStyle/>
          <a:p>
            <a:r>
              <a:rPr lang="en-US" sz="1200" b="0" u="none" dirty="0">
                <a:latin typeface="Arial" pitchFamily="34" charset="0"/>
                <a:cs typeface="Arial" pitchFamily="34" charset="0"/>
              </a:rPr>
              <a:t>Note: All meetings are Fridays at 14:30. Each topic is the subject of a separate slide deck.</a:t>
            </a:r>
          </a:p>
        </p:txBody>
      </p:sp>
    </p:spTree>
    <p:extLst>
      <p:ext uri="{BB962C8B-B14F-4D97-AF65-F5344CB8AC3E}">
        <p14:creationId xmlns:p14="http://schemas.microsoft.com/office/powerpoint/2010/main" val="16122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FDF2C-955C-4F78-A7DE-4C104C6EFEB3}"/>
              </a:ext>
            </a:extLst>
          </p:cNvPr>
          <p:cNvSpPr>
            <a:spLocks noGrp="1"/>
          </p:cNvSpPr>
          <p:nvPr>
            <p:ph type="title"/>
          </p:nvPr>
        </p:nvSpPr>
        <p:spPr/>
        <p:txBody>
          <a:bodyPr/>
          <a:lstStyle/>
          <a:p>
            <a:r>
              <a:rPr lang="en-US" dirty="0"/>
              <a:t>Software</a:t>
            </a:r>
          </a:p>
        </p:txBody>
      </p:sp>
      <p:sp>
        <p:nvSpPr>
          <p:cNvPr id="3" name="Content Placeholder 2">
            <a:extLst>
              <a:ext uri="{FF2B5EF4-FFF2-40B4-BE49-F238E27FC236}">
                <a16:creationId xmlns:a16="http://schemas.microsoft.com/office/drawing/2014/main" id="{CE83E9B0-4BEB-4A59-9B7D-DB1BDF309D8A}"/>
              </a:ext>
            </a:extLst>
          </p:cNvPr>
          <p:cNvSpPr>
            <a:spLocks noGrp="1"/>
          </p:cNvSpPr>
          <p:nvPr>
            <p:ph idx="1"/>
          </p:nvPr>
        </p:nvSpPr>
        <p:spPr>
          <a:xfrm>
            <a:off x="354012" y="1089025"/>
            <a:ext cx="8789987" cy="5768975"/>
          </a:xfrm>
        </p:spPr>
        <p:txBody>
          <a:bodyPr/>
          <a:lstStyle/>
          <a:p>
            <a:r>
              <a:rPr lang="en-US" dirty="0"/>
              <a:t>Use AI as your own personal data staff!</a:t>
            </a:r>
          </a:p>
          <a:p>
            <a:pPr lvl="1"/>
            <a:r>
              <a:rPr lang="en-US" dirty="0"/>
              <a:t>ChatGPT via </a:t>
            </a:r>
            <a:r>
              <a:rPr lang="en-US" dirty="0">
                <a:hlinkClick r:id="rId2"/>
              </a:rPr>
              <a:t>Clarity Platform</a:t>
            </a:r>
            <a:r>
              <a:rPr lang="en-US" dirty="0"/>
              <a:t> </a:t>
            </a:r>
          </a:p>
          <a:p>
            <a:pPr lvl="1"/>
            <a:r>
              <a:rPr lang="en-US" dirty="0"/>
              <a:t>Portkey with Tauhid starting in 2 weeks</a:t>
            </a:r>
          </a:p>
          <a:p>
            <a:pPr lvl="1"/>
            <a:r>
              <a:rPr lang="en-US" dirty="0"/>
              <a:t>BUT be careful!!</a:t>
            </a:r>
          </a:p>
          <a:p>
            <a:pPr lvl="1"/>
            <a:r>
              <a:rPr lang="en-US" dirty="0"/>
              <a:t>See Canvas </a:t>
            </a:r>
            <a:r>
              <a:rPr lang="en-US" dirty="0">
                <a:latin typeface="Courier New" panose="02070309020205020404" pitchFamily="49" charset="0"/>
                <a:cs typeface="Courier New" panose="02070309020205020404" pitchFamily="49" charset="0"/>
              </a:rPr>
              <a:t>/files/4.videos</a:t>
            </a:r>
            <a:r>
              <a:rPr lang="en-US" dirty="0"/>
              <a:t> for some simple instructions </a:t>
            </a:r>
            <a:r>
              <a:rPr lang="en-US" dirty="0">
                <a:solidFill>
                  <a:schemeClr val="bg1">
                    <a:lumMod val="50000"/>
                  </a:schemeClr>
                </a:solidFill>
              </a:rPr>
              <a:t>(may no longer be relevant if you already use AI)</a:t>
            </a:r>
          </a:p>
          <a:p>
            <a:pPr lvl="1"/>
            <a:endParaRPr lang="en-US" dirty="0"/>
          </a:p>
          <a:p>
            <a:r>
              <a:rPr lang="en-US" dirty="0"/>
              <a:t>Older methods</a:t>
            </a:r>
          </a:p>
          <a:p>
            <a:pPr lvl="1"/>
            <a:r>
              <a:rPr lang="en-US" dirty="0"/>
              <a:t>Excel: slides show how to do everything we cover in Excel</a:t>
            </a:r>
          </a:p>
          <a:p>
            <a:pPr lvl="1"/>
            <a:r>
              <a:rPr lang="en-US" dirty="0"/>
              <a:t>Stata: I use Stata and will sometimes use it to demonstrate</a:t>
            </a:r>
          </a:p>
          <a:p>
            <a:pPr lvl="1"/>
            <a:r>
              <a:rPr lang="en-US" dirty="0"/>
              <a:t>Any other software you like</a:t>
            </a:r>
          </a:p>
          <a:p>
            <a:endParaRPr lang="en-US" dirty="0"/>
          </a:p>
        </p:txBody>
      </p:sp>
      <p:sp>
        <p:nvSpPr>
          <p:cNvPr id="4" name="Slide Number Placeholder 3">
            <a:extLst>
              <a:ext uri="{FF2B5EF4-FFF2-40B4-BE49-F238E27FC236}">
                <a16:creationId xmlns:a16="http://schemas.microsoft.com/office/drawing/2014/main" id="{F23C5CF3-5798-48F5-9F5B-A6EAA9AF988F}"/>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5</a:t>
            </a:fld>
            <a:endParaRPr lang="en-GB" dirty="0"/>
          </a:p>
        </p:txBody>
      </p:sp>
    </p:spTree>
    <p:extLst>
      <p:ext uri="{BB962C8B-B14F-4D97-AF65-F5344CB8AC3E}">
        <p14:creationId xmlns:p14="http://schemas.microsoft.com/office/powerpoint/2010/main" val="262815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3325B-D436-5300-DA9A-05755E325B7F}"/>
              </a:ext>
            </a:extLst>
          </p:cNvPr>
          <p:cNvSpPr>
            <a:spLocks noGrp="1"/>
          </p:cNvSpPr>
          <p:nvPr>
            <p:ph type="title"/>
          </p:nvPr>
        </p:nvSpPr>
        <p:spPr/>
        <p:txBody>
          <a:bodyPr/>
          <a:lstStyle/>
          <a:p>
            <a:r>
              <a:rPr lang="en-US" dirty="0"/>
              <a:t>Problem Sets</a:t>
            </a:r>
          </a:p>
        </p:txBody>
      </p:sp>
      <p:sp>
        <p:nvSpPr>
          <p:cNvPr id="3" name="Content Placeholder 2">
            <a:extLst>
              <a:ext uri="{FF2B5EF4-FFF2-40B4-BE49-F238E27FC236}">
                <a16:creationId xmlns:a16="http://schemas.microsoft.com/office/drawing/2014/main" id="{262EFE7A-5DD2-41C5-CCE6-C4261BA54D23}"/>
              </a:ext>
            </a:extLst>
          </p:cNvPr>
          <p:cNvSpPr>
            <a:spLocks noGrp="1"/>
          </p:cNvSpPr>
          <p:nvPr>
            <p:ph idx="1"/>
          </p:nvPr>
        </p:nvSpPr>
        <p:spPr/>
        <p:txBody>
          <a:bodyPr/>
          <a:lstStyle/>
          <a:p>
            <a:r>
              <a:rPr lang="en-US" sz="1800" dirty="0"/>
              <a:t>Schedule</a:t>
            </a:r>
          </a:p>
          <a:p>
            <a:endParaRPr lang="en-US" sz="1800" dirty="0"/>
          </a:p>
          <a:p>
            <a:endParaRPr lang="en-US" sz="1800" dirty="0"/>
          </a:p>
          <a:p>
            <a:endParaRPr lang="en-US" sz="1800" dirty="0"/>
          </a:p>
          <a:p>
            <a:endParaRPr lang="en-US" sz="1800" dirty="0"/>
          </a:p>
          <a:p>
            <a:endParaRPr lang="en-US" sz="1800" dirty="0"/>
          </a:p>
          <a:p>
            <a:endParaRPr lang="en-US" sz="1600" dirty="0"/>
          </a:p>
          <a:p>
            <a:r>
              <a:rPr lang="en-US" sz="1600" dirty="0"/>
              <a:t>Scope</a:t>
            </a:r>
          </a:p>
          <a:p>
            <a:pPr lvl="1"/>
            <a:r>
              <a:rPr lang="en-US" sz="1600" dirty="0"/>
              <a:t>Each problem has a stated goal</a:t>
            </a:r>
          </a:p>
          <a:p>
            <a:pPr lvl="1"/>
            <a:r>
              <a:rPr lang="en-US" sz="1600" dirty="0"/>
              <a:t>Problem sets are very ambitious! </a:t>
            </a:r>
          </a:p>
          <a:p>
            <a:pPr lvl="1"/>
            <a:r>
              <a:rPr lang="en-US" sz="1600" dirty="0"/>
              <a:t>Many problems only possible with AI</a:t>
            </a:r>
          </a:p>
          <a:p>
            <a:endParaRPr lang="en-US" sz="16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8799D8D4-41DC-B027-2D38-20C1F460F796}"/>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6</a:t>
            </a:fld>
            <a:endParaRPr lang="en-GB" dirty="0"/>
          </a:p>
        </p:txBody>
      </p:sp>
      <p:graphicFrame>
        <p:nvGraphicFramePr>
          <p:cNvPr id="5" name="Table 4">
            <a:extLst>
              <a:ext uri="{FF2B5EF4-FFF2-40B4-BE49-F238E27FC236}">
                <a16:creationId xmlns:a16="http://schemas.microsoft.com/office/drawing/2014/main" id="{8E8C29DB-F728-B95B-D0C3-BF95DD045D0B}"/>
              </a:ext>
            </a:extLst>
          </p:cNvPr>
          <p:cNvGraphicFramePr>
            <a:graphicFrameLocks noGrp="1"/>
          </p:cNvGraphicFramePr>
          <p:nvPr>
            <p:extLst>
              <p:ext uri="{D42A27DB-BD31-4B8C-83A1-F6EECF244321}">
                <p14:modId xmlns:p14="http://schemas.microsoft.com/office/powerpoint/2010/main" val="3472534717"/>
              </p:ext>
            </p:extLst>
          </p:nvPr>
        </p:nvGraphicFramePr>
        <p:xfrm>
          <a:off x="1340854" y="1549751"/>
          <a:ext cx="6462291" cy="1651380"/>
        </p:xfrm>
        <a:graphic>
          <a:graphicData uri="http://schemas.openxmlformats.org/drawingml/2006/table">
            <a:tbl>
              <a:tblPr firstRow="1" bandRow="1">
                <a:tableStyleId>{5C22544A-7EE6-4342-B048-85BDC9FD1C3A}</a:tableStyleId>
              </a:tblPr>
              <a:tblGrid>
                <a:gridCol w="2239184">
                  <a:extLst>
                    <a:ext uri="{9D8B030D-6E8A-4147-A177-3AD203B41FA5}">
                      <a16:colId xmlns:a16="http://schemas.microsoft.com/office/drawing/2014/main" val="3308855989"/>
                    </a:ext>
                  </a:extLst>
                </a:gridCol>
                <a:gridCol w="1779279">
                  <a:extLst>
                    <a:ext uri="{9D8B030D-6E8A-4147-A177-3AD203B41FA5}">
                      <a16:colId xmlns:a16="http://schemas.microsoft.com/office/drawing/2014/main" val="3341339015"/>
                    </a:ext>
                  </a:extLst>
                </a:gridCol>
                <a:gridCol w="2443828">
                  <a:extLst>
                    <a:ext uri="{9D8B030D-6E8A-4147-A177-3AD203B41FA5}">
                      <a16:colId xmlns:a16="http://schemas.microsoft.com/office/drawing/2014/main" val="587429727"/>
                    </a:ext>
                  </a:extLst>
                </a:gridCol>
              </a:tblGrid>
              <a:tr h="275230">
                <a:tc>
                  <a:txBody>
                    <a:bodyPr/>
                    <a:lstStyle/>
                    <a:p>
                      <a:pPr algn="ctr"/>
                      <a:r>
                        <a:rPr lang="en-US" sz="1200" dirty="0">
                          <a:solidFill>
                            <a:schemeClr val="tx1"/>
                          </a:solidFill>
                          <a:latin typeface="Arial" panose="020B0604020202020204" pitchFamily="34" charset="0"/>
                          <a:cs typeface="Arial" panose="020B0604020202020204" pitchFamily="34" charset="0"/>
                        </a:rPr>
                        <a:t>Due Date</a:t>
                      </a:r>
                    </a:p>
                  </a:txBody>
                  <a:tcPr>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Assignment</a:t>
                      </a:r>
                    </a:p>
                  </a:txBody>
                  <a:tcPr>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 of Final Grade</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045094"/>
                  </a:ext>
                </a:extLst>
              </a:tr>
              <a:tr h="275230">
                <a:tc>
                  <a:txBody>
                    <a:bodyPr/>
                    <a:lstStyle/>
                    <a:p>
                      <a:pPr algn="ctr"/>
                      <a:r>
                        <a:rPr lang="en-US" sz="1200" dirty="0">
                          <a:solidFill>
                            <a:schemeClr val="tx1"/>
                          </a:solidFill>
                          <a:latin typeface="Arial" panose="020B0604020202020204" pitchFamily="34" charset="0"/>
                          <a:cs typeface="Arial" panose="020B0604020202020204" pitchFamily="34" charset="0"/>
                        </a:rPr>
                        <a:t>Wed 8/26 at 23:59</a:t>
                      </a:r>
                    </a:p>
                  </a:txBody>
                  <a:tcPr>
                    <a:lnT w="12700" cap="flat" cmpd="sng" algn="ctr">
                      <a:solidFill>
                        <a:schemeClr val="tx1"/>
                      </a:solidFill>
                      <a:prstDash val="solid"/>
                      <a:round/>
                      <a:headEnd type="none" w="med" len="med"/>
                      <a:tailEnd type="none" w="med" len="med"/>
                    </a:lnT>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Problem Set 1</a:t>
                      </a:r>
                    </a:p>
                  </a:txBody>
                  <a:tcPr>
                    <a:lnT w="12700" cap="flat" cmpd="sng" algn="ctr">
                      <a:solidFill>
                        <a:schemeClr val="tx1"/>
                      </a:solidFill>
                      <a:prstDash val="solid"/>
                      <a:round/>
                      <a:headEnd type="none" w="med" len="med"/>
                      <a:tailEnd type="none" w="med" len="med"/>
                    </a:lnT>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10</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774289"/>
                  </a:ext>
                </a:extLst>
              </a:tr>
              <a:tr h="275230">
                <a:tc>
                  <a:txBody>
                    <a:bodyPr/>
                    <a:lstStyle/>
                    <a:p>
                      <a:pPr algn="ctr"/>
                      <a:r>
                        <a:rPr lang="en-US" sz="1200" dirty="0">
                          <a:solidFill>
                            <a:schemeClr val="tx1"/>
                          </a:solidFill>
                          <a:latin typeface="Arial" panose="020B0604020202020204" pitchFamily="34" charset="0"/>
                          <a:cs typeface="Arial" panose="020B0604020202020204" pitchFamily="34" charset="0"/>
                        </a:rPr>
                        <a:t>wed 9/9 at 23:59</a:t>
                      </a:r>
                    </a:p>
                  </a:txBody>
                  <a:tcPr>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Problem Set 2</a:t>
                      </a:r>
                    </a:p>
                  </a:txBody>
                  <a:tcPr>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10</a:t>
                      </a:r>
                    </a:p>
                  </a:txBody>
                  <a:tcPr>
                    <a:noFill/>
                  </a:tcPr>
                </a:tc>
                <a:extLst>
                  <a:ext uri="{0D108BD9-81ED-4DB2-BD59-A6C34878D82A}">
                    <a16:rowId xmlns:a16="http://schemas.microsoft.com/office/drawing/2014/main" val="2026503073"/>
                  </a:ext>
                </a:extLst>
              </a:tr>
              <a:tr h="2752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cs typeface="Arial" panose="020B0604020202020204" pitchFamily="34" charset="0"/>
                        </a:rPr>
                        <a:t>Wed 9/23 at 23:59</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cs typeface="Arial" panose="020B0604020202020204" pitchFamily="34" charset="0"/>
                        </a:rPr>
                        <a:t>Problem Set 3 </a:t>
                      </a:r>
                    </a:p>
                  </a:txBody>
                  <a:tcPr>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10</a:t>
                      </a:r>
                    </a:p>
                  </a:txBody>
                  <a:tcPr>
                    <a:noFill/>
                  </a:tcPr>
                </a:tc>
                <a:extLst>
                  <a:ext uri="{0D108BD9-81ED-4DB2-BD59-A6C34878D82A}">
                    <a16:rowId xmlns:a16="http://schemas.microsoft.com/office/drawing/2014/main" val="3541276851"/>
                  </a:ext>
                </a:extLst>
              </a:tr>
              <a:tr h="275230">
                <a:tc>
                  <a:txBody>
                    <a:bodyPr/>
                    <a:lstStyle/>
                    <a:p>
                      <a:pPr algn="ctr"/>
                      <a:r>
                        <a:rPr lang="en-US" sz="1200" dirty="0">
                          <a:solidFill>
                            <a:schemeClr val="tx1"/>
                          </a:solidFill>
                          <a:latin typeface="Arial" panose="020B0604020202020204" pitchFamily="34" charset="0"/>
                          <a:cs typeface="Arial" panose="020B0604020202020204" pitchFamily="34" charset="0"/>
                        </a:rPr>
                        <a:t>Wed 10/7 at 23:59</a:t>
                      </a:r>
                    </a:p>
                  </a:txBody>
                  <a:tcPr>
                    <a:lnB w="12700" cmpd="sng">
                      <a:noFill/>
                    </a:lnB>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Problem Set 4 </a:t>
                      </a:r>
                    </a:p>
                  </a:txBody>
                  <a:tcPr>
                    <a:lnB w="12700" cmpd="sng">
                      <a:noFill/>
                    </a:lnB>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10</a:t>
                      </a:r>
                    </a:p>
                  </a:txBody>
                  <a:tcPr>
                    <a:lnB w="12700" cmpd="sng">
                      <a:noFill/>
                    </a:lnB>
                    <a:noFill/>
                  </a:tcPr>
                </a:tc>
                <a:extLst>
                  <a:ext uri="{0D108BD9-81ED-4DB2-BD59-A6C34878D82A}">
                    <a16:rowId xmlns:a16="http://schemas.microsoft.com/office/drawing/2014/main" val="594112944"/>
                  </a:ext>
                </a:extLst>
              </a:tr>
              <a:tr h="275230">
                <a:tc>
                  <a:txBody>
                    <a:bodyPr/>
                    <a:lstStyle/>
                    <a:p>
                      <a:pPr algn="ctr"/>
                      <a:r>
                        <a:rPr lang="en-US" sz="1200" dirty="0">
                          <a:solidFill>
                            <a:schemeClr val="tx1"/>
                          </a:solidFill>
                          <a:latin typeface="Arial" panose="020B0604020202020204" pitchFamily="34" charset="0"/>
                          <a:cs typeface="Arial" panose="020B0604020202020204" pitchFamily="34" charset="0"/>
                        </a:rPr>
                        <a:t>TBD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Take Home Exam</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solidFill>
                          <a:latin typeface="Arial" panose="020B0604020202020204" pitchFamily="34" charset="0"/>
                          <a:cs typeface="Arial" panose="020B0604020202020204" pitchFamily="34" charset="0"/>
                        </a:rPr>
                        <a:t>60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8165537"/>
                  </a:ext>
                </a:extLst>
              </a:tr>
            </a:tbl>
          </a:graphicData>
        </a:graphic>
      </p:graphicFrame>
    </p:spTree>
    <p:extLst>
      <p:ext uri="{BB962C8B-B14F-4D97-AF65-F5344CB8AC3E}">
        <p14:creationId xmlns:p14="http://schemas.microsoft.com/office/powerpoint/2010/main" val="51081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1FBC0E-C2D7-4116-2B09-2773A9792710}"/>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7</a:t>
            </a:fld>
            <a:endParaRPr lang="en-GB" dirty="0"/>
          </a:p>
        </p:txBody>
      </p:sp>
      <p:grpSp>
        <p:nvGrpSpPr>
          <p:cNvPr id="9" name="Group 8">
            <a:extLst>
              <a:ext uri="{FF2B5EF4-FFF2-40B4-BE49-F238E27FC236}">
                <a16:creationId xmlns:a16="http://schemas.microsoft.com/office/drawing/2014/main" id="{3E04BAB5-C07C-375D-72EF-C3DF5DCFFA79}"/>
              </a:ext>
            </a:extLst>
          </p:cNvPr>
          <p:cNvGrpSpPr/>
          <p:nvPr/>
        </p:nvGrpSpPr>
        <p:grpSpPr>
          <a:xfrm>
            <a:off x="978477" y="1091359"/>
            <a:ext cx="7187046" cy="4675281"/>
            <a:chOff x="978476" y="0"/>
            <a:chExt cx="7187046" cy="4675281"/>
          </a:xfrm>
        </p:grpSpPr>
        <p:pic>
          <p:nvPicPr>
            <p:cNvPr id="6" name="Picture 5">
              <a:extLst>
                <a:ext uri="{FF2B5EF4-FFF2-40B4-BE49-F238E27FC236}">
                  <a16:creationId xmlns:a16="http://schemas.microsoft.com/office/drawing/2014/main" id="{911D908A-40EA-1096-2A54-C623B73A5436}"/>
                </a:ext>
              </a:extLst>
            </p:cNvPr>
            <p:cNvPicPr>
              <a:picLocks noChangeAspect="1"/>
            </p:cNvPicPr>
            <p:nvPr/>
          </p:nvPicPr>
          <p:blipFill>
            <a:blip r:embed="rId2"/>
            <a:srcRect b="88540"/>
            <a:stretch>
              <a:fillRect/>
            </a:stretch>
          </p:blipFill>
          <p:spPr>
            <a:xfrm>
              <a:off x="978477" y="0"/>
              <a:ext cx="7187045" cy="785931"/>
            </a:xfrm>
            <a:prstGeom prst="rect">
              <a:avLst/>
            </a:prstGeom>
          </p:spPr>
        </p:pic>
        <p:pic>
          <p:nvPicPr>
            <p:cNvPr id="8" name="Picture 7">
              <a:extLst>
                <a:ext uri="{FF2B5EF4-FFF2-40B4-BE49-F238E27FC236}">
                  <a16:creationId xmlns:a16="http://schemas.microsoft.com/office/drawing/2014/main" id="{E5CBBA39-17E6-7F92-8049-DEDB80007F49}"/>
                </a:ext>
              </a:extLst>
            </p:cNvPr>
            <p:cNvPicPr>
              <a:picLocks noChangeAspect="1"/>
            </p:cNvPicPr>
            <p:nvPr/>
          </p:nvPicPr>
          <p:blipFill>
            <a:blip r:embed="rId2"/>
            <a:srcRect t="43288"/>
            <a:stretch>
              <a:fillRect/>
            </a:stretch>
          </p:blipFill>
          <p:spPr>
            <a:xfrm>
              <a:off x="978476" y="785931"/>
              <a:ext cx="7187045" cy="3889350"/>
            </a:xfrm>
            <a:prstGeom prst="rect">
              <a:avLst/>
            </a:prstGeom>
          </p:spPr>
        </p:pic>
      </p:grpSp>
    </p:spTree>
    <p:extLst>
      <p:ext uri="{BB962C8B-B14F-4D97-AF65-F5344CB8AC3E}">
        <p14:creationId xmlns:p14="http://schemas.microsoft.com/office/powerpoint/2010/main" val="2369639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2BAF8-B9CD-CD0F-23EE-3D39C8DA2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8AACF-9C35-9E1F-ADD1-9931FD7ED19B}"/>
              </a:ext>
            </a:extLst>
          </p:cNvPr>
          <p:cNvSpPr>
            <a:spLocks noGrp="1"/>
          </p:cNvSpPr>
          <p:nvPr>
            <p:ph type="title"/>
          </p:nvPr>
        </p:nvSpPr>
        <p:spPr/>
        <p:txBody>
          <a:bodyPr/>
          <a:lstStyle/>
          <a:p>
            <a:r>
              <a:rPr lang="en-US" dirty="0"/>
              <a:t>Problem Sets</a:t>
            </a:r>
          </a:p>
        </p:txBody>
      </p:sp>
      <p:sp>
        <p:nvSpPr>
          <p:cNvPr id="3" name="Content Placeholder 2">
            <a:extLst>
              <a:ext uri="{FF2B5EF4-FFF2-40B4-BE49-F238E27FC236}">
                <a16:creationId xmlns:a16="http://schemas.microsoft.com/office/drawing/2014/main" id="{BC0260D8-7A51-25CE-C81E-34605FCC4864}"/>
              </a:ext>
            </a:extLst>
          </p:cNvPr>
          <p:cNvSpPr>
            <a:spLocks noGrp="1"/>
          </p:cNvSpPr>
          <p:nvPr>
            <p:ph idx="1"/>
          </p:nvPr>
        </p:nvSpPr>
        <p:spPr/>
        <p:txBody>
          <a:bodyPr/>
          <a:lstStyle/>
          <a:p>
            <a:r>
              <a:rPr lang="en-US" sz="1800" dirty="0">
                <a:solidFill>
                  <a:schemeClr val="bg1">
                    <a:lumMod val="50000"/>
                  </a:schemeClr>
                </a:solidFill>
              </a:rPr>
              <a:t>Schedule</a:t>
            </a:r>
          </a:p>
          <a:p>
            <a:endParaRPr lang="en-US" sz="1800" dirty="0">
              <a:solidFill>
                <a:schemeClr val="bg1">
                  <a:lumMod val="50000"/>
                </a:schemeClr>
              </a:solidFill>
            </a:endParaRPr>
          </a:p>
          <a:p>
            <a:endParaRPr lang="en-US" sz="1800" dirty="0">
              <a:solidFill>
                <a:schemeClr val="bg1">
                  <a:lumMod val="50000"/>
                </a:schemeClr>
              </a:solidFill>
            </a:endParaRPr>
          </a:p>
          <a:p>
            <a:endParaRPr lang="en-US" sz="1800" dirty="0">
              <a:solidFill>
                <a:schemeClr val="bg1">
                  <a:lumMod val="50000"/>
                </a:schemeClr>
              </a:solidFill>
            </a:endParaRPr>
          </a:p>
          <a:p>
            <a:endParaRPr lang="en-US" sz="1800" dirty="0">
              <a:solidFill>
                <a:schemeClr val="bg1">
                  <a:lumMod val="50000"/>
                </a:schemeClr>
              </a:solidFill>
            </a:endParaRPr>
          </a:p>
          <a:p>
            <a:endParaRPr lang="en-US" sz="1800" dirty="0">
              <a:solidFill>
                <a:schemeClr val="bg1">
                  <a:lumMod val="50000"/>
                </a:schemeClr>
              </a:solidFill>
            </a:endParaRPr>
          </a:p>
          <a:p>
            <a:endParaRPr lang="en-US" sz="1600" dirty="0">
              <a:solidFill>
                <a:schemeClr val="bg1">
                  <a:lumMod val="50000"/>
                </a:schemeClr>
              </a:solidFill>
            </a:endParaRPr>
          </a:p>
          <a:p>
            <a:r>
              <a:rPr lang="en-US" sz="1600" dirty="0">
                <a:solidFill>
                  <a:schemeClr val="bg1">
                    <a:lumMod val="50000"/>
                  </a:schemeClr>
                </a:solidFill>
              </a:rPr>
              <a:t>Scope</a:t>
            </a:r>
          </a:p>
          <a:p>
            <a:pPr lvl="1"/>
            <a:r>
              <a:rPr lang="en-US" sz="1600" dirty="0">
                <a:solidFill>
                  <a:schemeClr val="bg1">
                    <a:lumMod val="50000"/>
                  </a:schemeClr>
                </a:solidFill>
              </a:rPr>
              <a:t>Each problem has a stated goal</a:t>
            </a:r>
          </a:p>
          <a:p>
            <a:pPr lvl="1"/>
            <a:r>
              <a:rPr lang="en-US" sz="1600" dirty="0">
                <a:solidFill>
                  <a:schemeClr val="bg1">
                    <a:lumMod val="50000"/>
                  </a:schemeClr>
                </a:solidFill>
              </a:rPr>
              <a:t>Problem sets are very ambitious! Many problems only possible with AI</a:t>
            </a:r>
          </a:p>
          <a:p>
            <a:endParaRPr lang="en-US" sz="1600" dirty="0"/>
          </a:p>
          <a:p>
            <a:r>
              <a:rPr lang="en-US" sz="1600" dirty="0"/>
              <a:t>Please…</a:t>
            </a:r>
          </a:p>
          <a:p>
            <a:pPr lvl="1"/>
            <a:r>
              <a:rPr lang="en-US" sz="1600" dirty="0"/>
              <a:t>Upload your solutions by noted deadline</a:t>
            </a:r>
          </a:p>
          <a:p>
            <a:pPr lvl="1"/>
            <a:r>
              <a:rPr lang="en-US" sz="1600" dirty="0"/>
              <a:t>Follow sample answer format when constructing your solutions to hand in</a:t>
            </a:r>
          </a:p>
          <a:p>
            <a:pPr lvl="1"/>
            <a:r>
              <a:rPr lang="en-US" sz="1600" dirty="0"/>
              <a:t>Complete and upload your answers individually, but feel free to discuss them with your learning team, the TA or the professor</a:t>
            </a:r>
          </a:p>
          <a:p>
            <a:pPr lvl="1"/>
            <a:r>
              <a:rPr lang="en-US" sz="1600" dirty="0"/>
              <a:t>Use AI only when instructed</a:t>
            </a:r>
          </a:p>
          <a:p>
            <a:pPr lvl="1"/>
            <a:r>
              <a:rPr lang="en-US" sz="1600" dirty="0"/>
              <a:t>Do not spin your wheels….ask for help if you get stuck</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B7D861F4-7419-AB9A-FE11-2988C39F1DB0}"/>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8</a:t>
            </a:fld>
            <a:endParaRPr lang="en-GB" dirty="0"/>
          </a:p>
        </p:txBody>
      </p:sp>
      <p:graphicFrame>
        <p:nvGraphicFramePr>
          <p:cNvPr id="5" name="Table 4">
            <a:extLst>
              <a:ext uri="{FF2B5EF4-FFF2-40B4-BE49-F238E27FC236}">
                <a16:creationId xmlns:a16="http://schemas.microsoft.com/office/drawing/2014/main" id="{BEC7DEA5-EA48-7ECB-0DD5-D039EBFB3769}"/>
              </a:ext>
            </a:extLst>
          </p:cNvPr>
          <p:cNvGraphicFramePr>
            <a:graphicFrameLocks noGrp="1"/>
          </p:cNvGraphicFramePr>
          <p:nvPr>
            <p:extLst>
              <p:ext uri="{D42A27DB-BD31-4B8C-83A1-F6EECF244321}">
                <p14:modId xmlns:p14="http://schemas.microsoft.com/office/powerpoint/2010/main" val="3354959261"/>
              </p:ext>
            </p:extLst>
          </p:nvPr>
        </p:nvGraphicFramePr>
        <p:xfrm>
          <a:off x="1340854" y="1549751"/>
          <a:ext cx="6462291" cy="1651380"/>
        </p:xfrm>
        <a:graphic>
          <a:graphicData uri="http://schemas.openxmlformats.org/drawingml/2006/table">
            <a:tbl>
              <a:tblPr firstRow="1" bandRow="1">
                <a:tableStyleId>{5C22544A-7EE6-4342-B048-85BDC9FD1C3A}</a:tableStyleId>
              </a:tblPr>
              <a:tblGrid>
                <a:gridCol w="2239184">
                  <a:extLst>
                    <a:ext uri="{9D8B030D-6E8A-4147-A177-3AD203B41FA5}">
                      <a16:colId xmlns:a16="http://schemas.microsoft.com/office/drawing/2014/main" val="3308855989"/>
                    </a:ext>
                  </a:extLst>
                </a:gridCol>
                <a:gridCol w="1779279">
                  <a:extLst>
                    <a:ext uri="{9D8B030D-6E8A-4147-A177-3AD203B41FA5}">
                      <a16:colId xmlns:a16="http://schemas.microsoft.com/office/drawing/2014/main" val="3341339015"/>
                    </a:ext>
                  </a:extLst>
                </a:gridCol>
                <a:gridCol w="2443828">
                  <a:extLst>
                    <a:ext uri="{9D8B030D-6E8A-4147-A177-3AD203B41FA5}">
                      <a16:colId xmlns:a16="http://schemas.microsoft.com/office/drawing/2014/main" val="587429727"/>
                    </a:ext>
                  </a:extLst>
                </a:gridCol>
              </a:tblGrid>
              <a:tr h="275230">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Due Date</a:t>
                      </a:r>
                    </a:p>
                  </a:txBody>
                  <a:tcPr>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Assignment</a:t>
                      </a:r>
                    </a:p>
                  </a:txBody>
                  <a:tcPr>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 of Final Grade</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045094"/>
                  </a:ext>
                </a:extLst>
              </a:tr>
              <a:tr h="275230">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Thu 8/26 at 23:59</a:t>
                      </a:r>
                    </a:p>
                  </a:txBody>
                  <a:tcPr>
                    <a:lnT w="12700" cap="flat" cmpd="sng" algn="ctr">
                      <a:solidFill>
                        <a:schemeClr val="tx1"/>
                      </a:solidFill>
                      <a:prstDash val="solid"/>
                      <a:round/>
                      <a:headEnd type="none" w="med" len="med"/>
                      <a:tailEnd type="none" w="med" len="med"/>
                    </a:lnT>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Problem Set 1</a:t>
                      </a:r>
                    </a:p>
                  </a:txBody>
                  <a:tcPr>
                    <a:lnT w="12700" cap="flat" cmpd="sng" algn="ctr">
                      <a:solidFill>
                        <a:schemeClr val="tx1"/>
                      </a:solidFill>
                      <a:prstDash val="solid"/>
                      <a:round/>
                      <a:headEnd type="none" w="med" len="med"/>
                      <a:tailEnd type="none" w="med" len="med"/>
                    </a:lnT>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5</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774289"/>
                  </a:ext>
                </a:extLst>
              </a:tr>
              <a:tr h="275230">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Thu 9/9 at 23:59</a:t>
                      </a:r>
                    </a:p>
                  </a:txBody>
                  <a:tcPr>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Problem Set 2</a:t>
                      </a:r>
                    </a:p>
                  </a:txBody>
                  <a:tcPr>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5</a:t>
                      </a:r>
                    </a:p>
                  </a:txBody>
                  <a:tcPr>
                    <a:noFill/>
                  </a:tcPr>
                </a:tc>
                <a:extLst>
                  <a:ext uri="{0D108BD9-81ED-4DB2-BD59-A6C34878D82A}">
                    <a16:rowId xmlns:a16="http://schemas.microsoft.com/office/drawing/2014/main" val="2026503073"/>
                  </a:ext>
                </a:extLst>
              </a:tr>
              <a:tr h="2752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lumMod val="50000"/>
                            </a:schemeClr>
                          </a:solidFill>
                          <a:latin typeface="Arial" panose="020B0604020202020204" pitchFamily="34" charset="0"/>
                          <a:cs typeface="Arial" panose="020B0604020202020204" pitchFamily="34" charset="0"/>
                        </a:rPr>
                        <a:t>Thu 9/23 at 23:59</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lumMod val="50000"/>
                            </a:schemeClr>
                          </a:solidFill>
                          <a:latin typeface="Arial" panose="020B0604020202020204" pitchFamily="34" charset="0"/>
                          <a:cs typeface="Arial" panose="020B0604020202020204" pitchFamily="34" charset="0"/>
                        </a:rPr>
                        <a:t>Problem Set 3 </a:t>
                      </a:r>
                    </a:p>
                  </a:txBody>
                  <a:tcPr>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5</a:t>
                      </a:r>
                    </a:p>
                  </a:txBody>
                  <a:tcPr>
                    <a:noFill/>
                  </a:tcPr>
                </a:tc>
                <a:extLst>
                  <a:ext uri="{0D108BD9-81ED-4DB2-BD59-A6C34878D82A}">
                    <a16:rowId xmlns:a16="http://schemas.microsoft.com/office/drawing/2014/main" val="3541276851"/>
                  </a:ext>
                </a:extLst>
              </a:tr>
              <a:tr h="275230">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Thu 10/7 at 23:59</a:t>
                      </a:r>
                    </a:p>
                  </a:txBody>
                  <a:tcPr>
                    <a:lnB w="12700" cmpd="sng">
                      <a:noFill/>
                    </a:lnB>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Problem Set 4 </a:t>
                      </a:r>
                    </a:p>
                  </a:txBody>
                  <a:tcPr>
                    <a:lnB w="12700" cmpd="sng">
                      <a:noFill/>
                    </a:lnB>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5</a:t>
                      </a:r>
                    </a:p>
                  </a:txBody>
                  <a:tcPr>
                    <a:lnB w="12700" cmpd="sng">
                      <a:noFill/>
                    </a:lnB>
                    <a:noFill/>
                  </a:tcPr>
                </a:tc>
                <a:extLst>
                  <a:ext uri="{0D108BD9-81ED-4DB2-BD59-A6C34878D82A}">
                    <a16:rowId xmlns:a16="http://schemas.microsoft.com/office/drawing/2014/main" val="594112944"/>
                  </a:ext>
                </a:extLst>
              </a:tr>
              <a:tr h="275230">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TBD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Take Home Exam</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bg1">
                              <a:lumMod val="50000"/>
                            </a:schemeClr>
                          </a:solidFill>
                          <a:latin typeface="Arial" panose="020B0604020202020204" pitchFamily="34" charset="0"/>
                          <a:cs typeface="Arial" panose="020B0604020202020204" pitchFamily="34" charset="0"/>
                        </a:rPr>
                        <a:t>80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8165537"/>
                  </a:ext>
                </a:extLst>
              </a:tr>
            </a:tbl>
          </a:graphicData>
        </a:graphic>
      </p:graphicFrame>
    </p:spTree>
    <p:extLst>
      <p:ext uri="{BB962C8B-B14F-4D97-AF65-F5344CB8AC3E}">
        <p14:creationId xmlns:p14="http://schemas.microsoft.com/office/powerpoint/2010/main" val="1143387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779A-49C0-4972-BF98-3D1542A49CCE}"/>
              </a:ext>
            </a:extLst>
          </p:cNvPr>
          <p:cNvSpPr>
            <a:spLocks noGrp="1"/>
          </p:cNvSpPr>
          <p:nvPr>
            <p:ph type="title"/>
          </p:nvPr>
        </p:nvSpPr>
        <p:spPr/>
        <p:txBody>
          <a:bodyPr/>
          <a:lstStyle/>
          <a:p>
            <a:r>
              <a:rPr lang="en-US" dirty="0"/>
              <a:t>Your TA</a:t>
            </a:r>
          </a:p>
        </p:txBody>
      </p:sp>
      <p:sp>
        <p:nvSpPr>
          <p:cNvPr id="3" name="Content Placeholder 2">
            <a:extLst>
              <a:ext uri="{FF2B5EF4-FFF2-40B4-BE49-F238E27FC236}">
                <a16:creationId xmlns:a16="http://schemas.microsoft.com/office/drawing/2014/main" id="{6A42A4EE-EC47-47BE-AEAC-FE79CA0CA3D7}"/>
              </a:ext>
            </a:extLst>
          </p:cNvPr>
          <p:cNvSpPr>
            <a:spLocks noGrp="1"/>
          </p:cNvSpPr>
          <p:nvPr>
            <p:ph idx="1"/>
          </p:nvPr>
        </p:nvSpPr>
        <p:spPr>
          <a:xfrm>
            <a:off x="354013" y="1089025"/>
            <a:ext cx="8235950" cy="5768975"/>
          </a:xfrm>
          <a:solidFill>
            <a:schemeClr val="bg1"/>
          </a:solidFill>
        </p:spPr>
        <p:txBody>
          <a:bodyPr/>
          <a:lstStyle/>
          <a:p>
            <a:endParaRPr lang="en-US" dirty="0"/>
          </a:p>
          <a:p>
            <a:r>
              <a:rPr lang="en-US" dirty="0"/>
              <a:t>Jacob M. Miller</a:t>
            </a:r>
          </a:p>
          <a:p>
            <a:pPr lvl="1"/>
            <a:r>
              <a:rPr lang="en-US" dirty="0"/>
              <a:t>Yale Economics PHD student</a:t>
            </a:r>
          </a:p>
          <a:p>
            <a:pPr lvl="1"/>
            <a:r>
              <a:rPr lang="en-US" dirty="0">
                <a:hlinkClick r:id="rId2"/>
              </a:rPr>
              <a:t>jacob.m.miller@yale.edu</a:t>
            </a:r>
            <a:endParaRPr lang="en-US" dirty="0"/>
          </a:p>
          <a:p>
            <a:pPr lvl="1"/>
            <a:endParaRPr lang="en-US" dirty="0"/>
          </a:p>
          <a:p>
            <a:endParaRPr lang="en-US" dirty="0"/>
          </a:p>
          <a:p>
            <a:r>
              <a:rPr lang="en-US" dirty="0">
                <a:solidFill>
                  <a:srgbClr val="FF0000"/>
                </a:solidFill>
              </a:rPr>
              <a:t>Proposed</a:t>
            </a:r>
            <a:r>
              <a:rPr lang="en-US" dirty="0"/>
              <a:t> schedule</a:t>
            </a:r>
          </a:p>
          <a:p>
            <a:endParaRPr lang="en-US" dirty="0"/>
          </a:p>
          <a:p>
            <a:endParaRPr lang="en-US" dirty="0"/>
          </a:p>
          <a:p>
            <a:endParaRPr lang="en-US" dirty="0"/>
          </a:p>
          <a:p>
            <a:endParaRPr lang="en-US" dirty="0"/>
          </a:p>
          <a:p>
            <a:endParaRPr lang="en-US" dirty="0"/>
          </a:p>
          <a:p>
            <a:endParaRPr lang="en-US" dirty="0"/>
          </a:p>
          <a:p>
            <a:r>
              <a:rPr lang="en-US" dirty="0"/>
              <a:t>Note: Jacob and I are going to experiment with AI Grading</a:t>
            </a:r>
          </a:p>
        </p:txBody>
      </p:sp>
      <p:sp>
        <p:nvSpPr>
          <p:cNvPr id="4" name="Slide Number Placeholder 3">
            <a:extLst>
              <a:ext uri="{FF2B5EF4-FFF2-40B4-BE49-F238E27FC236}">
                <a16:creationId xmlns:a16="http://schemas.microsoft.com/office/drawing/2014/main" id="{1059007D-4684-4E09-8CBC-A500A14CE35B}"/>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a:t>
            </a:fld>
            <a:endParaRPr lang="en-GB" dirty="0"/>
          </a:p>
        </p:txBody>
      </p:sp>
      <p:pic>
        <p:nvPicPr>
          <p:cNvPr id="6" name="Picture 5">
            <a:extLst>
              <a:ext uri="{FF2B5EF4-FFF2-40B4-BE49-F238E27FC236}">
                <a16:creationId xmlns:a16="http://schemas.microsoft.com/office/drawing/2014/main" id="{155192DD-2962-7E30-8FE9-7E81C2BF2679}"/>
              </a:ext>
            </a:extLst>
          </p:cNvPr>
          <p:cNvPicPr>
            <a:picLocks noChangeAspect="1"/>
          </p:cNvPicPr>
          <p:nvPr/>
        </p:nvPicPr>
        <p:blipFill>
          <a:blip r:embed="rId3"/>
          <a:stretch>
            <a:fillRect/>
          </a:stretch>
        </p:blipFill>
        <p:spPr>
          <a:xfrm>
            <a:off x="5324311" y="1089025"/>
            <a:ext cx="2697785" cy="2280038"/>
          </a:xfrm>
          <a:prstGeom prst="rect">
            <a:avLst/>
          </a:prstGeom>
        </p:spPr>
      </p:pic>
      <p:graphicFrame>
        <p:nvGraphicFramePr>
          <p:cNvPr id="7" name="Table 6">
            <a:extLst>
              <a:ext uri="{FF2B5EF4-FFF2-40B4-BE49-F238E27FC236}">
                <a16:creationId xmlns:a16="http://schemas.microsoft.com/office/drawing/2014/main" id="{C58841C3-8964-00AD-C03C-EF8CDA8698FB}"/>
              </a:ext>
            </a:extLst>
          </p:cNvPr>
          <p:cNvGraphicFramePr>
            <a:graphicFrameLocks noGrp="1"/>
          </p:cNvGraphicFramePr>
          <p:nvPr>
            <p:extLst>
              <p:ext uri="{D42A27DB-BD31-4B8C-83A1-F6EECF244321}">
                <p14:modId xmlns:p14="http://schemas.microsoft.com/office/powerpoint/2010/main" val="1860915774"/>
              </p:ext>
            </p:extLst>
          </p:nvPr>
        </p:nvGraphicFramePr>
        <p:xfrm>
          <a:off x="1305848" y="3973512"/>
          <a:ext cx="4018463" cy="1524000"/>
        </p:xfrm>
        <a:graphic>
          <a:graphicData uri="http://schemas.openxmlformats.org/drawingml/2006/table">
            <a:tbl>
              <a:tblPr firstRow="1" bandRow="1">
                <a:tableStyleId>{5C22544A-7EE6-4342-B048-85BDC9FD1C3A}</a:tableStyleId>
              </a:tblPr>
              <a:tblGrid>
                <a:gridCol w="2239184">
                  <a:extLst>
                    <a:ext uri="{9D8B030D-6E8A-4147-A177-3AD203B41FA5}">
                      <a16:colId xmlns:a16="http://schemas.microsoft.com/office/drawing/2014/main" val="3308855989"/>
                    </a:ext>
                  </a:extLst>
                </a:gridCol>
                <a:gridCol w="1779279">
                  <a:extLst>
                    <a:ext uri="{9D8B030D-6E8A-4147-A177-3AD203B41FA5}">
                      <a16:colId xmlns:a16="http://schemas.microsoft.com/office/drawing/2014/main" val="3341339015"/>
                    </a:ext>
                  </a:extLst>
                </a:gridCol>
              </a:tblGrid>
              <a:tr h="275230">
                <a:tc>
                  <a:txBody>
                    <a:bodyPr/>
                    <a:lstStyle/>
                    <a:p>
                      <a:pPr algn="ctr"/>
                      <a:r>
                        <a:rPr lang="en-US" sz="1400" dirty="0">
                          <a:solidFill>
                            <a:schemeClr val="tx1"/>
                          </a:solidFill>
                          <a:latin typeface="Arial" panose="020B0604020202020204" pitchFamily="34" charset="0"/>
                          <a:cs typeface="Arial" panose="020B0604020202020204" pitchFamily="34" charset="0"/>
                        </a:rPr>
                        <a:t>Date</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latin typeface="Arial" panose="020B0604020202020204" pitchFamily="34" charset="0"/>
                          <a:cs typeface="Arial" panose="020B0604020202020204" pitchFamily="34" charset="0"/>
                        </a:rPr>
                        <a:t>Time</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045094"/>
                  </a:ext>
                </a:extLst>
              </a:tr>
              <a:tr h="275230">
                <a:tc>
                  <a:txBody>
                    <a:bodyPr/>
                    <a:lstStyle/>
                    <a:p>
                      <a:pPr algn="ctr"/>
                      <a:r>
                        <a:rPr lang="en-US" sz="1400" dirty="0">
                          <a:solidFill>
                            <a:schemeClr val="tx1"/>
                          </a:solidFill>
                          <a:latin typeface="Arial" panose="020B0604020202020204" pitchFamily="34" charset="0"/>
                          <a:cs typeface="Arial" panose="020B0604020202020204" pitchFamily="34" charset="0"/>
                        </a:rPr>
                        <a:t>Wed, Aug 19</a:t>
                      </a:r>
                    </a:p>
                  </a:txBody>
                  <a:tcPr>
                    <a:lnT w="12700" cap="flat" cmpd="sng" algn="ctr">
                      <a:solidFill>
                        <a:schemeClr val="tx1"/>
                      </a:solidFill>
                      <a:prstDash val="solid"/>
                      <a:round/>
                      <a:headEnd type="none" w="med" len="med"/>
                      <a:tailEnd type="none" w="med" len="med"/>
                    </a:lnT>
                    <a:noFill/>
                  </a:tcPr>
                </a:tc>
                <a:tc>
                  <a:txBody>
                    <a:bodyPr/>
                    <a:lstStyle/>
                    <a:p>
                      <a:pPr algn="ctr"/>
                      <a:r>
                        <a:rPr lang="en-US" sz="1400" dirty="0">
                          <a:solidFill>
                            <a:schemeClr val="tx1"/>
                          </a:solidFill>
                          <a:latin typeface="Arial" panose="020B0604020202020204" pitchFamily="34" charset="0"/>
                          <a:cs typeface="Arial" panose="020B0604020202020204" pitchFamily="34" charset="0"/>
                        </a:rPr>
                        <a:t>7-8pm EST</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774289"/>
                  </a:ext>
                </a:extLst>
              </a:tr>
              <a:tr h="275230">
                <a:tc>
                  <a:txBody>
                    <a:bodyPr/>
                    <a:lstStyle/>
                    <a:p>
                      <a:pPr algn="ctr"/>
                      <a:r>
                        <a:rPr lang="en-US" sz="1400" dirty="0">
                          <a:solidFill>
                            <a:schemeClr val="tx1"/>
                          </a:solidFill>
                          <a:latin typeface="Arial" panose="020B0604020202020204" pitchFamily="34" charset="0"/>
                          <a:cs typeface="Arial" panose="020B0604020202020204" pitchFamily="34" charset="0"/>
                        </a:rPr>
                        <a:t>Wed, Sep 2 </a:t>
                      </a:r>
                    </a:p>
                  </a:txBody>
                  <a:tcPr>
                    <a:noFill/>
                  </a:tcPr>
                </a:tc>
                <a:tc>
                  <a:txBody>
                    <a:bodyPr/>
                    <a:lstStyle/>
                    <a:p>
                      <a:pPr algn="ctr"/>
                      <a:r>
                        <a:rPr lang="en-US" sz="1400" dirty="0">
                          <a:solidFill>
                            <a:schemeClr val="tx1"/>
                          </a:solidFill>
                          <a:latin typeface="Arial" panose="020B0604020202020204" pitchFamily="34" charset="0"/>
                          <a:cs typeface="Arial" panose="020B0604020202020204" pitchFamily="34" charset="0"/>
                        </a:rPr>
                        <a:t>7-8pm EST</a:t>
                      </a:r>
                    </a:p>
                  </a:txBody>
                  <a:tcPr>
                    <a:noFill/>
                  </a:tcPr>
                </a:tc>
                <a:extLst>
                  <a:ext uri="{0D108BD9-81ED-4DB2-BD59-A6C34878D82A}">
                    <a16:rowId xmlns:a16="http://schemas.microsoft.com/office/drawing/2014/main" val="2026503073"/>
                  </a:ext>
                </a:extLst>
              </a:tr>
              <a:tr h="2752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Wed, Sep 16</a:t>
                      </a:r>
                    </a:p>
                  </a:txBody>
                  <a:tcPr>
                    <a:noFill/>
                  </a:tcPr>
                </a:tc>
                <a:tc>
                  <a:txBody>
                    <a:bodyPr/>
                    <a:lstStyle/>
                    <a:p>
                      <a:pPr algn="ctr"/>
                      <a:r>
                        <a:rPr lang="en-US" sz="1400" dirty="0">
                          <a:solidFill>
                            <a:schemeClr val="tx1"/>
                          </a:solidFill>
                          <a:latin typeface="Arial" panose="020B0604020202020204" pitchFamily="34" charset="0"/>
                          <a:cs typeface="Arial" panose="020B0604020202020204" pitchFamily="34" charset="0"/>
                        </a:rPr>
                        <a:t>7-8pm EST</a:t>
                      </a:r>
                    </a:p>
                  </a:txBody>
                  <a:tcPr>
                    <a:noFill/>
                  </a:tcPr>
                </a:tc>
                <a:extLst>
                  <a:ext uri="{0D108BD9-81ED-4DB2-BD59-A6C34878D82A}">
                    <a16:rowId xmlns:a16="http://schemas.microsoft.com/office/drawing/2014/main" val="3541276851"/>
                  </a:ext>
                </a:extLst>
              </a:tr>
              <a:tr h="275230">
                <a:tc>
                  <a:txBody>
                    <a:bodyPr/>
                    <a:lstStyle/>
                    <a:p>
                      <a:pPr algn="ctr"/>
                      <a:r>
                        <a:rPr lang="en-US" sz="1400" dirty="0">
                          <a:solidFill>
                            <a:schemeClr val="tx1"/>
                          </a:solidFill>
                          <a:latin typeface="Arial" panose="020B0604020202020204" pitchFamily="34" charset="0"/>
                          <a:cs typeface="Arial" panose="020B0604020202020204" pitchFamily="34" charset="0"/>
                        </a:rPr>
                        <a:t>Wed, Sep 30</a:t>
                      </a:r>
                    </a:p>
                  </a:txBody>
                  <a:tcPr>
                    <a:lnB w="12700" cmpd="sng">
                      <a:noFill/>
                    </a:lnB>
                    <a:noFill/>
                  </a:tcPr>
                </a:tc>
                <a:tc>
                  <a:txBody>
                    <a:bodyPr/>
                    <a:lstStyle/>
                    <a:p>
                      <a:pPr algn="ctr"/>
                      <a:r>
                        <a:rPr lang="en-US" sz="1400" dirty="0">
                          <a:solidFill>
                            <a:schemeClr val="tx1"/>
                          </a:solidFill>
                          <a:latin typeface="Arial" panose="020B0604020202020204" pitchFamily="34" charset="0"/>
                          <a:cs typeface="Arial" panose="020B0604020202020204" pitchFamily="34" charset="0"/>
                        </a:rPr>
                        <a:t>7-8pm EST</a:t>
                      </a:r>
                    </a:p>
                  </a:txBody>
                  <a:tcPr>
                    <a:lnB w="12700" cmpd="sng">
                      <a:noFill/>
                    </a:lnB>
                    <a:noFill/>
                  </a:tcPr>
                </a:tc>
                <a:extLst>
                  <a:ext uri="{0D108BD9-81ED-4DB2-BD59-A6C34878D82A}">
                    <a16:rowId xmlns:a16="http://schemas.microsoft.com/office/drawing/2014/main" val="594112944"/>
                  </a:ext>
                </a:extLst>
              </a:tr>
            </a:tbl>
          </a:graphicData>
        </a:graphic>
      </p:graphicFrame>
    </p:spTree>
    <p:extLst>
      <p:ext uri="{BB962C8B-B14F-4D97-AF65-F5344CB8AC3E}">
        <p14:creationId xmlns:p14="http://schemas.microsoft.com/office/powerpoint/2010/main" val="68348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5F07-6A15-4388-9CA1-46D4F55C726C}"/>
              </a:ext>
            </a:extLst>
          </p:cNvPr>
          <p:cNvSpPr>
            <a:spLocks noGrp="1"/>
          </p:cNvSpPr>
          <p:nvPr>
            <p:ph type="title"/>
          </p:nvPr>
        </p:nvSpPr>
        <p:spPr/>
        <p:txBody>
          <a:bodyPr/>
          <a:lstStyle/>
          <a:p>
            <a:r>
              <a:rPr lang="en-US" dirty="0"/>
              <a:t>OK, let’s get started!</a:t>
            </a:r>
          </a:p>
        </p:txBody>
      </p:sp>
      <p:sp>
        <p:nvSpPr>
          <p:cNvPr id="3" name="Slide Number Placeholder 2">
            <a:extLst>
              <a:ext uri="{FF2B5EF4-FFF2-40B4-BE49-F238E27FC236}">
                <a16:creationId xmlns:a16="http://schemas.microsoft.com/office/drawing/2014/main" id="{03423B99-22A3-4E1E-BE39-CFAE08850458}"/>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10</a:t>
            </a:fld>
            <a:endParaRPr lang="en-GB" dirty="0"/>
          </a:p>
        </p:txBody>
      </p:sp>
    </p:spTree>
    <p:extLst>
      <p:ext uri="{BB962C8B-B14F-4D97-AF65-F5344CB8AC3E}">
        <p14:creationId xmlns:p14="http://schemas.microsoft.com/office/powerpoint/2010/main" val="2133985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D582-3D6C-4719-A2BA-3A8AEDD1CEF5}"/>
              </a:ext>
            </a:extLst>
          </p:cNvPr>
          <p:cNvSpPr>
            <a:spLocks noGrp="1"/>
          </p:cNvSpPr>
          <p:nvPr>
            <p:ph type="title"/>
          </p:nvPr>
        </p:nvSpPr>
        <p:spPr/>
        <p:txBody>
          <a:bodyPr/>
          <a:lstStyle/>
          <a:p>
            <a:r>
              <a:rPr lang="en-US" dirty="0"/>
              <a:t>Today</a:t>
            </a:r>
          </a:p>
        </p:txBody>
      </p:sp>
      <p:sp>
        <p:nvSpPr>
          <p:cNvPr id="4" name="Slide Number Placeholder 3">
            <a:extLst>
              <a:ext uri="{FF2B5EF4-FFF2-40B4-BE49-F238E27FC236}">
                <a16:creationId xmlns:a16="http://schemas.microsoft.com/office/drawing/2014/main" id="{389AFAE8-2735-4354-BD16-959EC96EAF4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11</a:t>
            </a:fld>
            <a:endParaRPr lang="en-GB" dirty="0"/>
          </a:p>
        </p:txBody>
      </p:sp>
      <p:graphicFrame>
        <p:nvGraphicFramePr>
          <p:cNvPr id="3" name="Table 2">
            <a:extLst>
              <a:ext uri="{FF2B5EF4-FFF2-40B4-BE49-F238E27FC236}">
                <a16:creationId xmlns:a16="http://schemas.microsoft.com/office/drawing/2014/main" id="{DB0E3553-ED5F-BC5C-FC40-8C775D060EF3}"/>
              </a:ext>
            </a:extLst>
          </p:cNvPr>
          <p:cNvGraphicFramePr>
            <a:graphicFrameLocks noGrp="1"/>
          </p:cNvGraphicFramePr>
          <p:nvPr>
            <p:extLst>
              <p:ext uri="{D42A27DB-BD31-4B8C-83A1-F6EECF244321}">
                <p14:modId xmlns:p14="http://schemas.microsoft.com/office/powerpoint/2010/main" val="1388373706"/>
              </p:ext>
            </p:extLst>
          </p:nvPr>
        </p:nvGraphicFramePr>
        <p:xfrm>
          <a:off x="1350339" y="1690816"/>
          <a:ext cx="6469911" cy="1828800"/>
        </p:xfrm>
        <a:graphic>
          <a:graphicData uri="http://schemas.openxmlformats.org/drawingml/2006/table">
            <a:tbl>
              <a:tblPr firstRow="1" bandRow="1">
                <a:tableStyleId>{5C22544A-7EE6-4342-B048-85BDC9FD1C3A}</a:tableStyleId>
              </a:tblPr>
              <a:tblGrid>
                <a:gridCol w="2046763">
                  <a:extLst>
                    <a:ext uri="{9D8B030D-6E8A-4147-A177-3AD203B41FA5}">
                      <a16:colId xmlns:a16="http://schemas.microsoft.com/office/drawing/2014/main" val="3308855989"/>
                    </a:ext>
                  </a:extLst>
                </a:gridCol>
                <a:gridCol w="1646784">
                  <a:extLst>
                    <a:ext uri="{9D8B030D-6E8A-4147-A177-3AD203B41FA5}">
                      <a16:colId xmlns:a16="http://schemas.microsoft.com/office/drawing/2014/main" val="1583128806"/>
                    </a:ext>
                  </a:extLst>
                </a:gridCol>
                <a:gridCol w="2776364">
                  <a:extLst>
                    <a:ext uri="{9D8B030D-6E8A-4147-A177-3AD203B41FA5}">
                      <a16:colId xmlns:a16="http://schemas.microsoft.com/office/drawing/2014/main" val="3341339015"/>
                    </a:ext>
                  </a:extLst>
                </a:gridCol>
              </a:tblGrid>
              <a:tr h="275230">
                <a:tc>
                  <a:txBody>
                    <a:bodyPr/>
                    <a:lstStyle/>
                    <a:p>
                      <a:pPr algn="l"/>
                      <a:r>
                        <a:rPr lang="en-US" sz="1400" dirty="0">
                          <a:solidFill>
                            <a:schemeClr val="tx1"/>
                          </a:solidFill>
                          <a:latin typeface="Arial" panose="020B0604020202020204" pitchFamily="34" charset="0"/>
                          <a:cs typeface="Arial" panose="020B0604020202020204" pitchFamily="34" charset="0"/>
                        </a:rPr>
                        <a:t>Meeting</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Dates</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Topic</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045094"/>
                  </a:ext>
                </a:extLst>
              </a:tr>
              <a:tr h="275230">
                <a:tc>
                  <a:txBody>
                    <a:bodyPr/>
                    <a:lstStyle/>
                    <a:p>
                      <a:pPr algn="l"/>
                      <a:r>
                        <a:rPr lang="en-US" sz="1400" dirty="0">
                          <a:solidFill>
                            <a:srgbClr val="FF0000"/>
                          </a:solidFill>
                          <a:latin typeface="Arial" panose="020B0604020202020204" pitchFamily="34" charset="0"/>
                          <a:cs typeface="Arial" panose="020B0604020202020204" pitchFamily="34" charset="0"/>
                        </a:rPr>
                        <a:t>1</a:t>
                      </a:r>
                    </a:p>
                  </a:txBody>
                  <a:tcPr>
                    <a:lnT w="12700" cap="flat" cmpd="sng" algn="ctr">
                      <a:solidFill>
                        <a:schemeClr val="tx1"/>
                      </a:solidFill>
                      <a:prstDash val="solid"/>
                      <a:round/>
                      <a:headEnd type="none" w="med" len="med"/>
                      <a:tailEnd type="none" w="med" len="med"/>
                    </a:lnT>
                    <a:noFill/>
                  </a:tcPr>
                </a:tc>
                <a:tc>
                  <a:txBody>
                    <a:bodyPr/>
                    <a:lstStyle/>
                    <a:p>
                      <a:pPr algn="l"/>
                      <a:r>
                        <a:rPr lang="en-US" sz="1400" dirty="0">
                          <a:solidFill>
                            <a:srgbClr val="FF0000"/>
                          </a:solidFill>
                          <a:latin typeface="Arial" panose="020B0604020202020204" pitchFamily="34" charset="0"/>
                          <a:cs typeface="Arial" panose="020B0604020202020204" pitchFamily="34" charset="0"/>
                        </a:rPr>
                        <a:t>8/14</a:t>
                      </a:r>
                    </a:p>
                  </a:txBody>
                  <a:tcPr>
                    <a:lnT w="12700" cap="flat" cmpd="sng" algn="ctr">
                      <a:solidFill>
                        <a:schemeClr val="tx1"/>
                      </a:solidFill>
                      <a:prstDash val="solid"/>
                      <a:round/>
                      <a:headEnd type="none" w="med" len="med"/>
                      <a:tailEnd type="none" w="med" len="med"/>
                    </a:lnT>
                    <a:noFill/>
                  </a:tcPr>
                </a:tc>
                <a:tc>
                  <a:txBody>
                    <a:bodyPr/>
                    <a:lstStyle/>
                    <a:p>
                      <a:pPr algn="l"/>
                      <a:r>
                        <a:rPr lang="en-US" sz="1400" dirty="0">
                          <a:solidFill>
                            <a:srgbClr val="FF0000"/>
                          </a:solidFill>
                          <a:latin typeface="Arial" panose="020B0604020202020204" pitchFamily="34" charset="0"/>
                          <a:cs typeface="Arial" panose="020B0604020202020204" pitchFamily="34" charset="0"/>
                        </a:rPr>
                        <a:t>1. Confidence Intervals</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774289"/>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2</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8/28</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2. Hypothesis Testing</a:t>
                      </a:r>
                    </a:p>
                  </a:txBody>
                  <a:tcPr>
                    <a:noFill/>
                  </a:tcPr>
                </a:tc>
                <a:extLst>
                  <a:ext uri="{0D108BD9-81ED-4DB2-BD59-A6C34878D82A}">
                    <a16:rowId xmlns:a16="http://schemas.microsoft.com/office/drawing/2014/main" val="2026503073"/>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3</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9/11</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3. Bivariate OLS Regression</a:t>
                      </a:r>
                    </a:p>
                  </a:txBody>
                  <a:tcPr>
                    <a:noFill/>
                  </a:tcPr>
                </a:tc>
                <a:extLst>
                  <a:ext uri="{0D108BD9-81ED-4DB2-BD59-A6C34878D82A}">
                    <a16:rowId xmlns:a16="http://schemas.microsoft.com/office/drawing/2014/main" val="594112944"/>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4</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9/25</a:t>
                      </a:r>
                    </a:p>
                  </a:txBody>
                  <a:tcPr>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4. Multivariate OLS Regression</a:t>
                      </a:r>
                    </a:p>
                  </a:txBody>
                  <a:tcPr>
                    <a:noFill/>
                  </a:tcPr>
                </a:tc>
                <a:extLst>
                  <a:ext uri="{0D108BD9-81ED-4DB2-BD59-A6C34878D82A}">
                    <a16:rowId xmlns:a16="http://schemas.microsoft.com/office/drawing/2014/main" val="1718165537"/>
                  </a:ext>
                </a:extLst>
              </a:tr>
              <a:tr h="275230">
                <a:tc>
                  <a:txBody>
                    <a:bodyPr/>
                    <a:lstStyle/>
                    <a:p>
                      <a:pPr algn="l"/>
                      <a:r>
                        <a:rPr lang="en-US" sz="1400" dirty="0">
                          <a:solidFill>
                            <a:schemeClr val="tx1"/>
                          </a:solidFill>
                          <a:latin typeface="Arial" panose="020B0604020202020204" pitchFamily="34" charset="0"/>
                          <a:cs typeface="Arial" panose="020B0604020202020204" pitchFamily="34" charset="0"/>
                        </a:rPr>
                        <a:t>5</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10/9</a:t>
                      </a:r>
                    </a:p>
                  </a:txBody>
                  <a:tcPr>
                    <a:lnB w="12700" cap="flat" cmpd="sng" algn="ctr">
                      <a:solidFill>
                        <a:schemeClr val="tx1"/>
                      </a:solidFill>
                      <a:prstDash val="solid"/>
                      <a:round/>
                      <a:headEnd type="none" w="med" len="med"/>
                      <a:tailEnd type="none" w="med" len="med"/>
                    </a:lnB>
                    <a:noFill/>
                  </a:tcPr>
                </a:tc>
                <a:tc>
                  <a:txBody>
                    <a:bodyPr/>
                    <a:lstStyle/>
                    <a:p>
                      <a:pPr algn="l"/>
                      <a:r>
                        <a:rPr lang="en-US" sz="1400" dirty="0">
                          <a:solidFill>
                            <a:schemeClr val="tx1"/>
                          </a:solidFill>
                          <a:latin typeface="Arial" panose="020B0604020202020204" pitchFamily="34" charset="0"/>
                          <a:cs typeface="Arial" panose="020B0604020202020204" pitchFamily="34" charset="0"/>
                        </a:rPr>
                        <a:t>5. OLS Extensions</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8164018"/>
                  </a:ext>
                </a:extLst>
              </a:tr>
            </a:tbl>
          </a:graphicData>
        </a:graphic>
      </p:graphicFrame>
    </p:spTree>
    <p:extLst>
      <p:ext uri="{BB962C8B-B14F-4D97-AF65-F5344CB8AC3E}">
        <p14:creationId xmlns:p14="http://schemas.microsoft.com/office/powerpoint/2010/main" val="197628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2D34-B9B5-490F-BC83-7C6280856E5A}"/>
              </a:ext>
            </a:extLst>
          </p:cNvPr>
          <p:cNvSpPr>
            <a:spLocks noGrp="1"/>
          </p:cNvSpPr>
          <p:nvPr>
            <p:ph type="title"/>
          </p:nvPr>
        </p:nvSpPr>
        <p:spPr/>
        <p:txBody>
          <a:bodyPr/>
          <a:lstStyle/>
          <a:p>
            <a:r>
              <a:rPr lang="en-US" dirty="0"/>
              <a:t>Today’s Concepts</a:t>
            </a:r>
          </a:p>
        </p:txBody>
      </p:sp>
      <p:sp>
        <p:nvSpPr>
          <p:cNvPr id="3" name="Content Placeholder 2">
            <a:extLst>
              <a:ext uri="{FF2B5EF4-FFF2-40B4-BE49-F238E27FC236}">
                <a16:creationId xmlns:a16="http://schemas.microsoft.com/office/drawing/2014/main" id="{FAAEC826-3582-473B-AC7A-CABE9DA5769F}"/>
              </a:ext>
            </a:extLst>
          </p:cNvPr>
          <p:cNvSpPr>
            <a:spLocks noGrp="1"/>
          </p:cNvSpPr>
          <p:nvPr>
            <p:ph idx="1"/>
          </p:nvPr>
        </p:nvSpPr>
        <p:spPr>
          <a:ln>
            <a:noFill/>
          </a:ln>
        </p:spPr>
        <p:txBody>
          <a:bodyPr/>
          <a:lstStyle/>
          <a:p>
            <a:endParaRPr lang="en-US" dirty="0">
              <a:solidFill>
                <a:schemeClr val="accent6"/>
              </a:solidFill>
            </a:endParaRPr>
          </a:p>
          <a:p>
            <a:r>
              <a:rPr lang="en-US" dirty="0">
                <a:solidFill>
                  <a:schemeClr val="accent6"/>
                </a:solidFill>
              </a:rPr>
              <a:t>Sample vs population</a:t>
            </a:r>
          </a:p>
          <a:p>
            <a:endParaRPr lang="en-US" dirty="0">
              <a:solidFill>
                <a:schemeClr val="accent6"/>
              </a:solidFill>
            </a:endParaRPr>
          </a:p>
          <a:p>
            <a:r>
              <a:rPr lang="en-US" dirty="0">
                <a:solidFill>
                  <a:schemeClr val="accent6"/>
                </a:solidFill>
              </a:rPr>
              <a:t>Confidence Interval </a:t>
            </a:r>
          </a:p>
          <a:p>
            <a:endParaRPr lang="en-US" dirty="0">
              <a:solidFill>
                <a:schemeClr val="accent6"/>
              </a:solidFill>
            </a:endParaRPr>
          </a:p>
          <a:p>
            <a:r>
              <a:rPr lang="en-US" dirty="0">
                <a:solidFill>
                  <a:schemeClr val="accent6"/>
                </a:solidFill>
              </a:rPr>
              <a:t>Margin of error </a:t>
            </a:r>
          </a:p>
          <a:p>
            <a:endParaRPr lang="en-US" dirty="0">
              <a:solidFill>
                <a:schemeClr val="accent6"/>
              </a:solidFill>
            </a:endParaRPr>
          </a:p>
          <a:p>
            <a:r>
              <a:rPr lang="en-US" dirty="0">
                <a:solidFill>
                  <a:schemeClr val="accent6"/>
                </a:solidFill>
              </a:rPr>
              <a:t>Statistical significance</a:t>
            </a:r>
          </a:p>
          <a:p>
            <a:endParaRPr lang="en-US" dirty="0">
              <a:solidFill>
                <a:schemeClr val="accent6"/>
              </a:solidFill>
            </a:endParaRPr>
          </a:p>
          <a:p>
            <a:r>
              <a:rPr lang="en-US" dirty="0">
                <a:solidFill>
                  <a:schemeClr val="bg1">
                    <a:lumMod val="50000"/>
                  </a:schemeClr>
                </a:solidFill>
              </a:rPr>
              <a:t>Bootstrapping (if time)</a:t>
            </a:r>
          </a:p>
          <a:p>
            <a:endParaRPr lang="en-US" dirty="0"/>
          </a:p>
        </p:txBody>
      </p:sp>
      <p:sp>
        <p:nvSpPr>
          <p:cNvPr id="4" name="Slide Number Placeholder 3">
            <a:extLst>
              <a:ext uri="{FF2B5EF4-FFF2-40B4-BE49-F238E27FC236}">
                <a16:creationId xmlns:a16="http://schemas.microsoft.com/office/drawing/2014/main" id="{029BDCB7-0213-41BB-8EC8-73F4C28B34ED}"/>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12</a:t>
            </a:fld>
            <a:endParaRPr lang="en-GB" dirty="0"/>
          </a:p>
        </p:txBody>
      </p:sp>
    </p:spTree>
    <p:extLst>
      <p:ext uri="{BB962C8B-B14F-4D97-AF65-F5344CB8AC3E}">
        <p14:creationId xmlns:p14="http://schemas.microsoft.com/office/powerpoint/2010/main" val="288482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0E56-5BD1-F7D0-90A6-8DFDB3AB1D4C}"/>
              </a:ext>
            </a:extLst>
          </p:cNvPr>
          <p:cNvSpPr>
            <a:spLocks noGrp="1"/>
          </p:cNvSpPr>
          <p:nvPr>
            <p:ph type="title"/>
          </p:nvPr>
        </p:nvSpPr>
        <p:spPr/>
        <p:txBody>
          <a:bodyPr/>
          <a:lstStyle/>
          <a:p>
            <a:r>
              <a:rPr lang="en-US" dirty="0"/>
              <a:t>Background: </a:t>
            </a:r>
            <a:r>
              <a:rPr lang="en-US" dirty="0">
                <a:solidFill>
                  <a:srgbClr val="00B0F0"/>
                </a:solidFill>
              </a:rPr>
              <a:t>Population</a:t>
            </a:r>
            <a:r>
              <a:rPr lang="en-US" dirty="0"/>
              <a:t> versus </a:t>
            </a:r>
            <a:r>
              <a:rPr lang="en-US" dirty="0">
                <a:solidFill>
                  <a:srgbClr val="00B0F0"/>
                </a:solidFill>
              </a:rPr>
              <a:t>Sample</a:t>
            </a:r>
          </a:p>
        </p:txBody>
      </p:sp>
      <p:sp>
        <p:nvSpPr>
          <p:cNvPr id="3" name="Slide Number Placeholder 2">
            <a:extLst>
              <a:ext uri="{FF2B5EF4-FFF2-40B4-BE49-F238E27FC236}">
                <a16:creationId xmlns:a16="http://schemas.microsoft.com/office/drawing/2014/main" id="{313809FC-5A9A-757A-8DD9-E45295764EB6}"/>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13</a:t>
            </a:fld>
            <a:endParaRPr lang="en-GB" dirty="0"/>
          </a:p>
        </p:txBody>
      </p:sp>
    </p:spTree>
    <p:extLst>
      <p:ext uri="{BB962C8B-B14F-4D97-AF65-F5344CB8AC3E}">
        <p14:creationId xmlns:p14="http://schemas.microsoft.com/office/powerpoint/2010/main" val="316610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0080-8FA2-4308-9998-B88254E3AC31}"/>
              </a:ext>
            </a:extLst>
          </p:cNvPr>
          <p:cNvSpPr>
            <a:spLocks noGrp="1"/>
          </p:cNvSpPr>
          <p:nvPr>
            <p:ph type="title"/>
          </p:nvPr>
        </p:nvSpPr>
        <p:spPr/>
        <p:txBody>
          <a:bodyPr/>
          <a:lstStyle/>
          <a:p>
            <a:r>
              <a:rPr lang="en-US" dirty="0"/>
              <a:t>Population versus Sample</a:t>
            </a:r>
          </a:p>
        </p:txBody>
      </p:sp>
      <p:sp>
        <p:nvSpPr>
          <p:cNvPr id="3" name="Slide Number Placeholder 2">
            <a:extLst>
              <a:ext uri="{FF2B5EF4-FFF2-40B4-BE49-F238E27FC236}">
                <a16:creationId xmlns:a16="http://schemas.microsoft.com/office/drawing/2014/main" id="{85890776-39B3-48AE-831D-F02F469B3540}"/>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14</a:t>
            </a:fld>
            <a:endParaRPr lang="en-GB" dirty="0"/>
          </a:p>
        </p:txBody>
      </p:sp>
      <p:sp>
        <p:nvSpPr>
          <p:cNvPr id="6" name="Oval 5">
            <a:extLst>
              <a:ext uri="{FF2B5EF4-FFF2-40B4-BE49-F238E27FC236}">
                <a16:creationId xmlns:a16="http://schemas.microsoft.com/office/drawing/2014/main" id="{E8F26E90-BEEF-40F3-B63C-C64F59E46928}"/>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 name="Oval 3">
            <a:extLst>
              <a:ext uri="{FF2B5EF4-FFF2-40B4-BE49-F238E27FC236}">
                <a16:creationId xmlns:a16="http://schemas.microsoft.com/office/drawing/2014/main" id="{83676D7E-549B-4319-9D4B-712959B09BB1}"/>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0" name="Oval 9">
            <a:extLst>
              <a:ext uri="{FF2B5EF4-FFF2-40B4-BE49-F238E27FC236}">
                <a16:creationId xmlns:a16="http://schemas.microsoft.com/office/drawing/2014/main" id="{C9E62406-1E29-4083-AF39-28779302E3FA}"/>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1" name="Oval 10">
            <a:extLst>
              <a:ext uri="{FF2B5EF4-FFF2-40B4-BE49-F238E27FC236}">
                <a16:creationId xmlns:a16="http://schemas.microsoft.com/office/drawing/2014/main" id="{31BEB274-E4CC-43B2-9C1A-AC17337D25EA}"/>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2" name="Oval 11">
            <a:extLst>
              <a:ext uri="{FF2B5EF4-FFF2-40B4-BE49-F238E27FC236}">
                <a16:creationId xmlns:a16="http://schemas.microsoft.com/office/drawing/2014/main" id="{2F1ADA35-EA4E-4757-A832-DE1D5EEC709A}"/>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3" name="Oval 12">
            <a:extLst>
              <a:ext uri="{FF2B5EF4-FFF2-40B4-BE49-F238E27FC236}">
                <a16:creationId xmlns:a16="http://schemas.microsoft.com/office/drawing/2014/main" id="{802F1243-5C04-42C5-9BD0-51A2B90B27C5}"/>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4" name="Oval 13">
            <a:extLst>
              <a:ext uri="{FF2B5EF4-FFF2-40B4-BE49-F238E27FC236}">
                <a16:creationId xmlns:a16="http://schemas.microsoft.com/office/drawing/2014/main" id="{F9E0462D-B0A9-478F-B2E3-DCDFEA13FB65}"/>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5" name="Oval 14">
            <a:extLst>
              <a:ext uri="{FF2B5EF4-FFF2-40B4-BE49-F238E27FC236}">
                <a16:creationId xmlns:a16="http://schemas.microsoft.com/office/drawing/2014/main" id="{AF23031C-EDBC-4620-9ABB-8713295F1EF7}"/>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6" name="Oval 15">
            <a:extLst>
              <a:ext uri="{FF2B5EF4-FFF2-40B4-BE49-F238E27FC236}">
                <a16:creationId xmlns:a16="http://schemas.microsoft.com/office/drawing/2014/main" id="{07F4A761-28E3-48CA-A2D7-1ADC5412A20B}"/>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7" name="Oval 16">
            <a:extLst>
              <a:ext uri="{FF2B5EF4-FFF2-40B4-BE49-F238E27FC236}">
                <a16:creationId xmlns:a16="http://schemas.microsoft.com/office/drawing/2014/main" id="{3E49A1BA-11E6-4F22-B0C4-40211A6DB103}"/>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8" name="Oval 17">
            <a:extLst>
              <a:ext uri="{FF2B5EF4-FFF2-40B4-BE49-F238E27FC236}">
                <a16:creationId xmlns:a16="http://schemas.microsoft.com/office/drawing/2014/main" id="{52546CC3-111E-44B3-A4F3-EDC53A96BF3F}"/>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9" name="Oval 18">
            <a:extLst>
              <a:ext uri="{FF2B5EF4-FFF2-40B4-BE49-F238E27FC236}">
                <a16:creationId xmlns:a16="http://schemas.microsoft.com/office/drawing/2014/main" id="{1E0877B4-262D-497B-8730-F3B06888451C}"/>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0" name="Oval 19">
            <a:extLst>
              <a:ext uri="{FF2B5EF4-FFF2-40B4-BE49-F238E27FC236}">
                <a16:creationId xmlns:a16="http://schemas.microsoft.com/office/drawing/2014/main" id="{FB40DA0A-4CA1-45A7-9E1B-ADFF0DBD5E7A}"/>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1" name="Oval 20">
            <a:extLst>
              <a:ext uri="{FF2B5EF4-FFF2-40B4-BE49-F238E27FC236}">
                <a16:creationId xmlns:a16="http://schemas.microsoft.com/office/drawing/2014/main" id="{9470AEFF-D50B-40A5-8645-A8918846F17B}"/>
              </a:ext>
            </a:extLst>
          </p:cNvPr>
          <p:cNvSpPr/>
          <p:nvPr/>
        </p:nvSpPr>
        <p:spPr bwMode="auto">
          <a:xfrm>
            <a:off x="3520937" y="28272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2" name="Oval 21">
            <a:extLst>
              <a:ext uri="{FF2B5EF4-FFF2-40B4-BE49-F238E27FC236}">
                <a16:creationId xmlns:a16="http://schemas.microsoft.com/office/drawing/2014/main" id="{EF0EFA0A-7AA2-4619-82B0-9714B774A389}"/>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3" name="Oval 22">
            <a:extLst>
              <a:ext uri="{FF2B5EF4-FFF2-40B4-BE49-F238E27FC236}">
                <a16:creationId xmlns:a16="http://schemas.microsoft.com/office/drawing/2014/main" id="{4E1B47AF-3274-4A75-AE17-473D3A4AE866}"/>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4" name="Oval 23">
            <a:extLst>
              <a:ext uri="{FF2B5EF4-FFF2-40B4-BE49-F238E27FC236}">
                <a16:creationId xmlns:a16="http://schemas.microsoft.com/office/drawing/2014/main" id="{367AE056-C946-47D7-ADF6-399E06DCD0E8}"/>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5" name="Oval 24">
            <a:extLst>
              <a:ext uri="{FF2B5EF4-FFF2-40B4-BE49-F238E27FC236}">
                <a16:creationId xmlns:a16="http://schemas.microsoft.com/office/drawing/2014/main" id="{C4BE7D79-458F-40B0-87C3-BFF2AD18608D}"/>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6" name="Oval 25">
            <a:extLst>
              <a:ext uri="{FF2B5EF4-FFF2-40B4-BE49-F238E27FC236}">
                <a16:creationId xmlns:a16="http://schemas.microsoft.com/office/drawing/2014/main" id="{8438D486-16BC-47AF-AA31-F472FB23503D}"/>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7" name="Oval 26">
            <a:extLst>
              <a:ext uri="{FF2B5EF4-FFF2-40B4-BE49-F238E27FC236}">
                <a16:creationId xmlns:a16="http://schemas.microsoft.com/office/drawing/2014/main" id="{05F4D33F-D6E3-4C9D-8086-FE9D44C718E5}"/>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8" name="Oval 27">
            <a:extLst>
              <a:ext uri="{FF2B5EF4-FFF2-40B4-BE49-F238E27FC236}">
                <a16:creationId xmlns:a16="http://schemas.microsoft.com/office/drawing/2014/main" id="{3A3F4120-07DD-41E0-ADFF-AC3BB26DC4F4}"/>
              </a:ext>
            </a:extLst>
          </p:cNvPr>
          <p:cNvSpPr/>
          <p:nvPr/>
        </p:nvSpPr>
        <p:spPr bwMode="auto">
          <a:xfrm>
            <a:off x="4825448" y="228478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9" name="Oval 28">
            <a:extLst>
              <a:ext uri="{FF2B5EF4-FFF2-40B4-BE49-F238E27FC236}">
                <a16:creationId xmlns:a16="http://schemas.microsoft.com/office/drawing/2014/main" id="{6EF835B4-5FE0-4183-995A-4D7BEF210181}"/>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0" name="Oval 29">
            <a:extLst>
              <a:ext uri="{FF2B5EF4-FFF2-40B4-BE49-F238E27FC236}">
                <a16:creationId xmlns:a16="http://schemas.microsoft.com/office/drawing/2014/main" id="{60CA99EC-783A-4321-A4EF-8609A57AA2D0}"/>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1" name="Oval 30">
            <a:extLst>
              <a:ext uri="{FF2B5EF4-FFF2-40B4-BE49-F238E27FC236}">
                <a16:creationId xmlns:a16="http://schemas.microsoft.com/office/drawing/2014/main" id="{5526D787-7281-404D-BB27-E920B8540724}"/>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2" name="Oval 31">
            <a:extLst>
              <a:ext uri="{FF2B5EF4-FFF2-40B4-BE49-F238E27FC236}">
                <a16:creationId xmlns:a16="http://schemas.microsoft.com/office/drawing/2014/main" id="{8CC8CFF7-84A3-48E1-BE1B-F9393B70E336}"/>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3" name="Oval 32">
            <a:extLst>
              <a:ext uri="{FF2B5EF4-FFF2-40B4-BE49-F238E27FC236}">
                <a16:creationId xmlns:a16="http://schemas.microsoft.com/office/drawing/2014/main" id="{86709F6C-1FBC-4AB7-B9C9-FCC6CDF48964}"/>
              </a:ext>
            </a:extLst>
          </p:cNvPr>
          <p:cNvSpPr/>
          <p:nvPr/>
        </p:nvSpPr>
        <p:spPr bwMode="auto">
          <a:xfrm>
            <a:off x="4821307" y="508138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4" name="Oval 33">
            <a:extLst>
              <a:ext uri="{FF2B5EF4-FFF2-40B4-BE49-F238E27FC236}">
                <a16:creationId xmlns:a16="http://schemas.microsoft.com/office/drawing/2014/main" id="{92DFB400-0ED0-40B1-8800-24630ACE5F58}"/>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5" name="Oval 34">
            <a:extLst>
              <a:ext uri="{FF2B5EF4-FFF2-40B4-BE49-F238E27FC236}">
                <a16:creationId xmlns:a16="http://schemas.microsoft.com/office/drawing/2014/main" id="{A59B9EE6-C172-44BF-BBDF-AED17CFFCEFB}"/>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6" name="Oval 35">
            <a:extLst>
              <a:ext uri="{FF2B5EF4-FFF2-40B4-BE49-F238E27FC236}">
                <a16:creationId xmlns:a16="http://schemas.microsoft.com/office/drawing/2014/main" id="{52A4109E-DE36-4C64-B456-2C627B93D4BB}"/>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7" name="Oval 36">
            <a:extLst>
              <a:ext uri="{FF2B5EF4-FFF2-40B4-BE49-F238E27FC236}">
                <a16:creationId xmlns:a16="http://schemas.microsoft.com/office/drawing/2014/main" id="{8702F6D0-3C65-4A5D-8EF3-DB16A8F3F8F2}"/>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8" name="Oval 37">
            <a:extLst>
              <a:ext uri="{FF2B5EF4-FFF2-40B4-BE49-F238E27FC236}">
                <a16:creationId xmlns:a16="http://schemas.microsoft.com/office/drawing/2014/main" id="{C47659B6-0C37-4D11-81A8-8288F0297E49}"/>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9" name="Oval 38">
            <a:extLst>
              <a:ext uri="{FF2B5EF4-FFF2-40B4-BE49-F238E27FC236}">
                <a16:creationId xmlns:a16="http://schemas.microsoft.com/office/drawing/2014/main" id="{9DB815FE-FCD5-487C-A4B5-6858158B3C4D}"/>
              </a:ext>
            </a:extLst>
          </p:cNvPr>
          <p:cNvSpPr/>
          <p:nvPr/>
        </p:nvSpPr>
        <p:spPr bwMode="auto">
          <a:xfrm>
            <a:off x="838200" y="34737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0" name="Oval 39">
            <a:extLst>
              <a:ext uri="{FF2B5EF4-FFF2-40B4-BE49-F238E27FC236}">
                <a16:creationId xmlns:a16="http://schemas.microsoft.com/office/drawing/2014/main" id="{DD581C64-8DC5-4597-83D5-C7BC05DA5DDD}"/>
              </a:ext>
            </a:extLst>
          </p:cNvPr>
          <p:cNvSpPr/>
          <p:nvPr/>
        </p:nvSpPr>
        <p:spPr bwMode="auto">
          <a:xfrm>
            <a:off x="5987284" y="336453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1" name="Oval 40">
            <a:extLst>
              <a:ext uri="{FF2B5EF4-FFF2-40B4-BE49-F238E27FC236}">
                <a16:creationId xmlns:a16="http://schemas.microsoft.com/office/drawing/2014/main" id="{C37F7503-B957-47C4-BE4E-73167375F9BD}"/>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2" name="Oval 41">
            <a:extLst>
              <a:ext uri="{FF2B5EF4-FFF2-40B4-BE49-F238E27FC236}">
                <a16:creationId xmlns:a16="http://schemas.microsoft.com/office/drawing/2014/main" id="{01E4347B-118D-4437-984D-BB876DC0AE7E}"/>
              </a:ext>
            </a:extLst>
          </p:cNvPr>
          <p:cNvSpPr/>
          <p:nvPr/>
        </p:nvSpPr>
        <p:spPr bwMode="auto">
          <a:xfrm>
            <a:off x="1965463" y="537404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3" name="Oval 42">
            <a:extLst>
              <a:ext uri="{FF2B5EF4-FFF2-40B4-BE49-F238E27FC236}">
                <a16:creationId xmlns:a16="http://schemas.microsoft.com/office/drawing/2014/main" id="{FC235F8A-71C5-4725-A123-6EC4B869DF8E}"/>
              </a:ext>
            </a:extLst>
          </p:cNvPr>
          <p:cNvSpPr/>
          <p:nvPr/>
        </p:nvSpPr>
        <p:spPr bwMode="auto">
          <a:xfrm>
            <a:off x="2136913" y="341243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4" name="Oval 43">
            <a:extLst>
              <a:ext uri="{FF2B5EF4-FFF2-40B4-BE49-F238E27FC236}">
                <a16:creationId xmlns:a16="http://schemas.microsoft.com/office/drawing/2014/main" id="{9AD2D43A-163F-464D-ABDA-C36DB5A39744}"/>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5" name="Oval 44">
            <a:extLst>
              <a:ext uri="{FF2B5EF4-FFF2-40B4-BE49-F238E27FC236}">
                <a16:creationId xmlns:a16="http://schemas.microsoft.com/office/drawing/2014/main" id="{1CD11E50-330C-459A-B238-94E612AD7A3F}"/>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TextBox 50">
            <a:extLst>
              <a:ext uri="{FF2B5EF4-FFF2-40B4-BE49-F238E27FC236}">
                <a16:creationId xmlns:a16="http://schemas.microsoft.com/office/drawing/2014/main" id="{51B397BE-A4AA-4A17-91FC-3EB3B35FC5E3}"/>
              </a:ext>
            </a:extLst>
          </p:cNvPr>
          <p:cNvSpPr txBox="1"/>
          <p:nvPr/>
        </p:nvSpPr>
        <p:spPr>
          <a:xfrm>
            <a:off x="218144" y="1045915"/>
            <a:ext cx="2351637" cy="400110"/>
          </a:xfrm>
          <a:prstGeom prst="rect">
            <a:avLst/>
          </a:prstGeom>
          <a:noFill/>
        </p:spPr>
        <p:txBody>
          <a:bodyPr wrap="square" rtlCol="0">
            <a:spAutoFit/>
          </a:bodyPr>
          <a:lstStyle/>
          <a:p>
            <a:pPr algn="ctr"/>
            <a:r>
              <a:rPr lang="en-US" b="0" u="none" dirty="0">
                <a:latin typeface="Arial" pitchFamily="34" charset="0"/>
                <a:cs typeface="Arial" pitchFamily="34" charset="0"/>
              </a:rPr>
              <a:t>Population</a:t>
            </a:r>
          </a:p>
        </p:txBody>
      </p:sp>
    </p:spTree>
    <p:extLst>
      <p:ext uri="{BB962C8B-B14F-4D97-AF65-F5344CB8AC3E}">
        <p14:creationId xmlns:p14="http://schemas.microsoft.com/office/powerpoint/2010/main" val="1922036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0080-8FA2-4308-9998-B88254E3AC31}"/>
              </a:ext>
            </a:extLst>
          </p:cNvPr>
          <p:cNvSpPr>
            <a:spLocks noGrp="1"/>
          </p:cNvSpPr>
          <p:nvPr>
            <p:ph type="title"/>
          </p:nvPr>
        </p:nvSpPr>
        <p:spPr/>
        <p:txBody>
          <a:bodyPr/>
          <a:lstStyle/>
          <a:p>
            <a:r>
              <a:rPr lang="en-US" dirty="0"/>
              <a:t>Population versus Sample</a:t>
            </a:r>
          </a:p>
        </p:txBody>
      </p:sp>
      <p:sp>
        <p:nvSpPr>
          <p:cNvPr id="3" name="Slide Number Placeholder 2">
            <a:extLst>
              <a:ext uri="{FF2B5EF4-FFF2-40B4-BE49-F238E27FC236}">
                <a16:creationId xmlns:a16="http://schemas.microsoft.com/office/drawing/2014/main" id="{85890776-39B3-48AE-831D-F02F469B3540}"/>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15</a:t>
            </a:fld>
            <a:endParaRPr lang="en-GB" dirty="0"/>
          </a:p>
        </p:txBody>
      </p:sp>
      <p:sp>
        <p:nvSpPr>
          <p:cNvPr id="6" name="Oval 5">
            <a:extLst>
              <a:ext uri="{FF2B5EF4-FFF2-40B4-BE49-F238E27FC236}">
                <a16:creationId xmlns:a16="http://schemas.microsoft.com/office/drawing/2014/main" id="{E8F26E90-BEEF-40F3-B63C-C64F59E46928}"/>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 name="Oval 3">
            <a:extLst>
              <a:ext uri="{FF2B5EF4-FFF2-40B4-BE49-F238E27FC236}">
                <a16:creationId xmlns:a16="http://schemas.microsoft.com/office/drawing/2014/main" id="{83676D7E-549B-4319-9D4B-712959B09BB1}"/>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0" name="Oval 9">
            <a:extLst>
              <a:ext uri="{FF2B5EF4-FFF2-40B4-BE49-F238E27FC236}">
                <a16:creationId xmlns:a16="http://schemas.microsoft.com/office/drawing/2014/main" id="{C9E62406-1E29-4083-AF39-28779302E3FA}"/>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1" name="Oval 10">
            <a:extLst>
              <a:ext uri="{FF2B5EF4-FFF2-40B4-BE49-F238E27FC236}">
                <a16:creationId xmlns:a16="http://schemas.microsoft.com/office/drawing/2014/main" id="{31BEB274-E4CC-43B2-9C1A-AC17337D25EA}"/>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2" name="Oval 11">
            <a:extLst>
              <a:ext uri="{FF2B5EF4-FFF2-40B4-BE49-F238E27FC236}">
                <a16:creationId xmlns:a16="http://schemas.microsoft.com/office/drawing/2014/main" id="{2F1ADA35-EA4E-4757-A832-DE1D5EEC709A}"/>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3" name="Oval 12">
            <a:extLst>
              <a:ext uri="{FF2B5EF4-FFF2-40B4-BE49-F238E27FC236}">
                <a16:creationId xmlns:a16="http://schemas.microsoft.com/office/drawing/2014/main" id="{802F1243-5C04-42C5-9BD0-51A2B90B27C5}"/>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4" name="Oval 13">
            <a:extLst>
              <a:ext uri="{FF2B5EF4-FFF2-40B4-BE49-F238E27FC236}">
                <a16:creationId xmlns:a16="http://schemas.microsoft.com/office/drawing/2014/main" id="{F9E0462D-B0A9-478F-B2E3-DCDFEA13FB65}"/>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5" name="Oval 14">
            <a:extLst>
              <a:ext uri="{FF2B5EF4-FFF2-40B4-BE49-F238E27FC236}">
                <a16:creationId xmlns:a16="http://schemas.microsoft.com/office/drawing/2014/main" id="{AF23031C-EDBC-4620-9ABB-8713295F1EF7}"/>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6" name="Oval 15">
            <a:extLst>
              <a:ext uri="{FF2B5EF4-FFF2-40B4-BE49-F238E27FC236}">
                <a16:creationId xmlns:a16="http://schemas.microsoft.com/office/drawing/2014/main" id="{07F4A761-28E3-48CA-A2D7-1ADC5412A20B}"/>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7" name="Oval 16">
            <a:extLst>
              <a:ext uri="{FF2B5EF4-FFF2-40B4-BE49-F238E27FC236}">
                <a16:creationId xmlns:a16="http://schemas.microsoft.com/office/drawing/2014/main" id="{3E49A1BA-11E6-4F22-B0C4-40211A6DB103}"/>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8" name="Oval 17">
            <a:extLst>
              <a:ext uri="{FF2B5EF4-FFF2-40B4-BE49-F238E27FC236}">
                <a16:creationId xmlns:a16="http://schemas.microsoft.com/office/drawing/2014/main" id="{52546CC3-111E-44B3-A4F3-EDC53A96BF3F}"/>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9" name="Oval 18">
            <a:extLst>
              <a:ext uri="{FF2B5EF4-FFF2-40B4-BE49-F238E27FC236}">
                <a16:creationId xmlns:a16="http://schemas.microsoft.com/office/drawing/2014/main" id="{1E0877B4-262D-497B-8730-F3B06888451C}"/>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0" name="Oval 19">
            <a:extLst>
              <a:ext uri="{FF2B5EF4-FFF2-40B4-BE49-F238E27FC236}">
                <a16:creationId xmlns:a16="http://schemas.microsoft.com/office/drawing/2014/main" id="{FB40DA0A-4CA1-45A7-9E1B-ADFF0DBD5E7A}"/>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1" name="Oval 20">
            <a:extLst>
              <a:ext uri="{FF2B5EF4-FFF2-40B4-BE49-F238E27FC236}">
                <a16:creationId xmlns:a16="http://schemas.microsoft.com/office/drawing/2014/main" id="{9470AEFF-D50B-40A5-8645-A8918846F17B}"/>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22" name="Oval 21">
            <a:extLst>
              <a:ext uri="{FF2B5EF4-FFF2-40B4-BE49-F238E27FC236}">
                <a16:creationId xmlns:a16="http://schemas.microsoft.com/office/drawing/2014/main" id="{EF0EFA0A-7AA2-4619-82B0-9714B774A389}"/>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3" name="Oval 22">
            <a:extLst>
              <a:ext uri="{FF2B5EF4-FFF2-40B4-BE49-F238E27FC236}">
                <a16:creationId xmlns:a16="http://schemas.microsoft.com/office/drawing/2014/main" id="{4E1B47AF-3274-4A75-AE17-473D3A4AE866}"/>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4" name="Oval 23">
            <a:extLst>
              <a:ext uri="{FF2B5EF4-FFF2-40B4-BE49-F238E27FC236}">
                <a16:creationId xmlns:a16="http://schemas.microsoft.com/office/drawing/2014/main" id="{367AE056-C946-47D7-ADF6-399E06DCD0E8}"/>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5" name="Oval 24">
            <a:extLst>
              <a:ext uri="{FF2B5EF4-FFF2-40B4-BE49-F238E27FC236}">
                <a16:creationId xmlns:a16="http://schemas.microsoft.com/office/drawing/2014/main" id="{C4BE7D79-458F-40B0-87C3-BFF2AD18608D}"/>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6" name="Oval 25">
            <a:extLst>
              <a:ext uri="{FF2B5EF4-FFF2-40B4-BE49-F238E27FC236}">
                <a16:creationId xmlns:a16="http://schemas.microsoft.com/office/drawing/2014/main" id="{8438D486-16BC-47AF-AA31-F472FB23503D}"/>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7" name="Oval 26">
            <a:extLst>
              <a:ext uri="{FF2B5EF4-FFF2-40B4-BE49-F238E27FC236}">
                <a16:creationId xmlns:a16="http://schemas.microsoft.com/office/drawing/2014/main" id="{05F4D33F-D6E3-4C9D-8086-FE9D44C718E5}"/>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8" name="Oval 27">
            <a:extLst>
              <a:ext uri="{FF2B5EF4-FFF2-40B4-BE49-F238E27FC236}">
                <a16:creationId xmlns:a16="http://schemas.microsoft.com/office/drawing/2014/main" id="{3A3F4120-07DD-41E0-ADFF-AC3BB26DC4F4}"/>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29" name="Oval 28">
            <a:extLst>
              <a:ext uri="{FF2B5EF4-FFF2-40B4-BE49-F238E27FC236}">
                <a16:creationId xmlns:a16="http://schemas.microsoft.com/office/drawing/2014/main" id="{6EF835B4-5FE0-4183-995A-4D7BEF210181}"/>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0" name="Oval 29">
            <a:extLst>
              <a:ext uri="{FF2B5EF4-FFF2-40B4-BE49-F238E27FC236}">
                <a16:creationId xmlns:a16="http://schemas.microsoft.com/office/drawing/2014/main" id="{60CA99EC-783A-4321-A4EF-8609A57AA2D0}"/>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1" name="Oval 30">
            <a:extLst>
              <a:ext uri="{FF2B5EF4-FFF2-40B4-BE49-F238E27FC236}">
                <a16:creationId xmlns:a16="http://schemas.microsoft.com/office/drawing/2014/main" id="{5526D787-7281-404D-BB27-E920B8540724}"/>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2" name="Oval 31">
            <a:extLst>
              <a:ext uri="{FF2B5EF4-FFF2-40B4-BE49-F238E27FC236}">
                <a16:creationId xmlns:a16="http://schemas.microsoft.com/office/drawing/2014/main" id="{8CC8CFF7-84A3-48E1-BE1B-F9393B70E336}"/>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3" name="Oval 32">
            <a:extLst>
              <a:ext uri="{FF2B5EF4-FFF2-40B4-BE49-F238E27FC236}">
                <a16:creationId xmlns:a16="http://schemas.microsoft.com/office/drawing/2014/main" id="{86709F6C-1FBC-4AB7-B9C9-FCC6CDF48964}"/>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34" name="Oval 33">
            <a:extLst>
              <a:ext uri="{FF2B5EF4-FFF2-40B4-BE49-F238E27FC236}">
                <a16:creationId xmlns:a16="http://schemas.microsoft.com/office/drawing/2014/main" id="{92DFB400-0ED0-40B1-8800-24630ACE5F58}"/>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5" name="Oval 34">
            <a:extLst>
              <a:ext uri="{FF2B5EF4-FFF2-40B4-BE49-F238E27FC236}">
                <a16:creationId xmlns:a16="http://schemas.microsoft.com/office/drawing/2014/main" id="{A59B9EE6-C172-44BF-BBDF-AED17CFFCEFB}"/>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6" name="Oval 35">
            <a:extLst>
              <a:ext uri="{FF2B5EF4-FFF2-40B4-BE49-F238E27FC236}">
                <a16:creationId xmlns:a16="http://schemas.microsoft.com/office/drawing/2014/main" id="{52A4109E-DE36-4C64-B456-2C627B93D4BB}"/>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7" name="Oval 36">
            <a:extLst>
              <a:ext uri="{FF2B5EF4-FFF2-40B4-BE49-F238E27FC236}">
                <a16:creationId xmlns:a16="http://schemas.microsoft.com/office/drawing/2014/main" id="{8702F6D0-3C65-4A5D-8EF3-DB16A8F3F8F2}"/>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8" name="Oval 37">
            <a:extLst>
              <a:ext uri="{FF2B5EF4-FFF2-40B4-BE49-F238E27FC236}">
                <a16:creationId xmlns:a16="http://schemas.microsoft.com/office/drawing/2014/main" id="{C47659B6-0C37-4D11-81A8-8288F0297E49}"/>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9" name="Oval 38">
            <a:extLst>
              <a:ext uri="{FF2B5EF4-FFF2-40B4-BE49-F238E27FC236}">
                <a16:creationId xmlns:a16="http://schemas.microsoft.com/office/drawing/2014/main" id="{9DB815FE-FCD5-487C-A4B5-6858158B3C4D}"/>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0" name="Oval 39">
            <a:extLst>
              <a:ext uri="{FF2B5EF4-FFF2-40B4-BE49-F238E27FC236}">
                <a16:creationId xmlns:a16="http://schemas.microsoft.com/office/drawing/2014/main" id="{DD581C64-8DC5-4597-83D5-C7BC05DA5DDD}"/>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1" name="Oval 40">
            <a:extLst>
              <a:ext uri="{FF2B5EF4-FFF2-40B4-BE49-F238E27FC236}">
                <a16:creationId xmlns:a16="http://schemas.microsoft.com/office/drawing/2014/main" id="{C37F7503-B957-47C4-BE4E-73167375F9BD}"/>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2" name="Oval 41">
            <a:extLst>
              <a:ext uri="{FF2B5EF4-FFF2-40B4-BE49-F238E27FC236}">
                <a16:creationId xmlns:a16="http://schemas.microsoft.com/office/drawing/2014/main" id="{01E4347B-118D-4437-984D-BB876DC0AE7E}"/>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3" name="Oval 42">
            <a:extLst>
              <a:ext uri="{FF2B5EF4-FFF2-40B4-BE49-F238E27FC236}">
                <a16:creationId xmlns:a16="http://schemas.microsoft.com/office/drawing/2014/main" id="{FC235F8A-71C5-4725-A123-6EC4B869DF8E}"/>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4" name="Oval 43">
            <a:extLst>
              <a:ext uri="{FF2B5EF4-FFF2-40B4-BE49-F238E27FC236}">
                <a16:creationId xmlns:a16="http://schemas.microsoft.com/office/drawing/2014/main" id="{9AD2D43A-163F-464D-ABDA-C36DB5A39744}"/>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5" name="Oval 44">
            <a:extLst>
              <a:ext uri="{FF2B5EF4-FFF2-40B4-BE49-F238E27FC236}">
                <a16:creationId xmlns:a16="http://schemas.microsoft.com/office/drawing/2014/main" id="{1CD11E50-330C-459A-B238-94E612AD7A3F}"/>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6" name="TextBox 45">
            <a:extLst>
              <a:ext uri="{FF2B5EF4-FFF2-40B4-BE49-F238E27FC236}">
                <a16:creationId xmlns:a16="http://schemas.microsoft.com/office/drawing/2014/main" id="{592F2B07-CBDD-4E38-A5C9-B0F035D3580A}"/>
              </a:ext>
            </a:extLst>
          </p:cNvPr>
          <p:cNvSpPr txBox="1"/>
          <p:nvPr/>
        </p:nvSpPr>
        <p:spPr>
          <a:xfrm>
            <a:off x="6994936" y="2811117"/>
            <a:ext cx="1822799" cy="400110"/>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Sample</a:t>
            </a:r>
          </a:p>
        </p:txBody>
      </p:sp>
      <p:sp>
        <p:nvSpPr>
          <p:cNvPr id="47" name="TextBox 46">
            <a:extLst>
              <a:ext uri="{FF2B5EF4-FFF2-40B4-BE49-F238E27FC236}">
                <a16:creationId xmlns:a16="http://schemas.microsoft.com/office/drawing/2014/main" id="{129F5DD5-21EB-47CD-B77B-323CA545F7B8}"/>
              </a:ext>
            </a:extLst>
          </p:cNvPr>
          <p:cNvSpPr txBox="1"/>
          <p:nvPr/>
        </p:nvSpPr>
        <p:spPr>
          <a:xfrm>
            <a:off x="218144" y="1045915"/>
            <a:ext cx="2351637" cy="400110"/>
          </a:xfrm>
          <a:prstGeom prst="rect">
            <a:avLst/>
          </a:prstGeom>
          <a:noFill/>
        </p:spPr>
        <p:txBody>
          <a:bodyPr wrap="square" rtlCol="0">
            <a:spAutoFit/>
          </a:bodyPr>
          <a:lstStyle/>
          <a:p>
            <a:pPr algn="ctr"/>
            <a:r>
              <a:rPr lang="en-US" b="0" u="none" dirty="0">
                <a:latin typeface="Arial" pitchFamily="34" charset="0"/>
                <a:cs typeface="Arial" pitchFamily="34" charset="0"/>
              </a:rPr>
              <a:t>Population</a:t>
            </a:r>
          </a:p>
        </p:txBody>
      </p:sp>
    </p:spTree>
    <p:extLst>
      <p:ext uri="{BB962C8B-B14F-4D97-AF65-F5344CB8AC3E}">
        <p14:creationId xmlns:p14="http://schemas.microsoft.com/office/powerpoint/2010/main" val="3588783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0080-8FA2-4308-9998-B88254E3AC31}"/>
              </a:ext>
            </a:extLst>
          </p:cNvPr>
          <p:cNvSpPr>
            <a:spLocks noGrp="1"/>
          </p:cNvSpPr>
          <p:nvPr>
            <p:ph type="title"/>
          </p:nvPr>
        </p:nvSpPr>
        <p:spPr/>
        <p:txBody>
          <a:bodyPr/>
          <a:lstStyle/>
          <a:p>
            <a:r>
              <a:rPr lang="en-US" dirty="0"/>
              <a:t>What is the Average Price of Dinner in Vienna?</a:t>
            </a:r>
          </a:p>
        </p:txBody>
      </p:sp>
      <p:sp>
        <p:nvSpPr>
          <p:cNvPr id="3" name="Slide Number Placeholder 2">
            <a:extLst>
              <a:ext uri="{FF2B5EF4-FFF2-40B4-BE49-F238E27FC236}">
                <a16:creationId xmlns:a16="http://schemas.microsoft.com/office/drawing/2014/main" id="{85890776-39B3-48AE-831D-F02F469B3540}"/>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16</a:t>
            </a:fld>
            <a:endParaRPr lang="en-GB" dirty="0"/>
          </a:p>
        </p:txBody>
      </p:sp>
      <p:sp>
        <p:nvSpPr>
          <p:cNvPr id="6" name="Oval 5">
            <a:extLst>
              <a:ext uri="{FF2B5EF4-FFF2-40B4-BE49-F238E27FC236}">
                <a16:creationId xmlns:a16="http://schemas.microsoft.com/office/drawing/2014/main" id="{E8F26E90-BEEF-40F3-B63C-C64F59E46928}"/>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 name="Oval 3">
            <a:extLst>
              <a:ext uri="{FF2B5EF4-FFF2-40B4-BE49-F238E27FC236}">
                <a16:creationId xmlns:a16="http://schemas.microsoft.com/office/drawing/2014/main" id="{83676D7E-549B-4319-9D4B-712959B09BB1}"/>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0" name="Oval 9">
            <a:extLst>
              <a:ext uri="{FF2B5EF4-FFF2-40B4-BE49-F238E27FC236}">
                <a16:creationId xmlns:a16="http://schemas.microsoft.com/office/drawing/2014/main" id="{C9E62406-1E29-4083-AF39-28779302E3FA}"/>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1" name="Oval 10">
            <a:extLst>
              <a:ext uri="{FF2B5EF4-FFF2-40B4-BE49-F238E27FC236}">
                <a16:creationId xmlns:a16="http://schemas.microsoft.com/office/drawing/2014/main" id="{31BEB274-E4CC-43B2-9C1A-AC17337D25EA}"/>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2" name="Oval 11">
            <a:extLst>
              <a:ext uri="{FF2B5EF4-FFF2-40B4-BE49-F238E27FC236}">
                <a16:creationId xmlns:a16="http://schemas.microsoft.com/office/drawing/2014/main" id="{2F1ADA35-EA4E-4757-A832-DE1D5EEC709A}"/>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3" name="Oval 12">
            <a:extLst>
              <a:ext uri="{FF2B5EF4-FFF2-40B4-BE49-F238E27FC236}">
                <a16:creationId xmlns:a16="http://schemas.microsoft.com/office/drawing/2014/main" id="{802F1243-5C04-42C5-9BD0-51A2B90B27C5}"/>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4" name="Oval 13">
            <a:extLst>
              <a:ext uri="{FF2B5EF4-FFF2-40B4-BE49-F238E27FC236}">
                <a16:creationId xmlns:a16="http://schemas.microsoft.com/office/drawing/2014/main" id="{F9E0462D-B0A9-478F-B2E3-DCDFEA13FB65}"/>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5" name="Oval 14">
            <a:extLst>
              <a:ext uri="{FF2B5EF4-FFF2-40B4-BE49-F238E27FC236}">
                <a16:creationId xmlns:a16="http://schemas.microsoft.com/office/drawing/2014/main" id="{AF23031C-EDBC-4620-9ABB-8713295F1EF7}"/>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6" name="Oval 15">
            <a:extLst>
              <a:ext uri="{FF2B5EF4-FFF2-40B4-BE49-F238E27FC236}">
                <a16:creationId xmlns:a16="http://schemas.microsoft.com/office/drawing/2014/main" id="{07F4A761-28E3-48CA-A2D7-1ADC5412A20B}"/>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7" name="Oval 16">
            <a:extLst>
              <a:ext uri="{FF2B5EF4-FFF2-40B4-BE49-F238E27FC236}">
                <a16:creationId xmlns:a16="http://schemas.microsoft.com/office/drawing/2014/main" id="{3E49A1BA-11E6-4F22-B0C4-40211A6DB103}"/>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8" name="Oval 17">
            <a:extLst>
              <a:ext uri="{FF2B5EF4-FFF2-40B4-BE49-F238E27FC236}">
                <a16:creationId xmlns:a16="http://schemas.microsoft.com/office/drawing/2014/main" id="{52546CC3-111E-44B3-A4F3-EDC53A96BF3F}"/>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19" name="Oval 18">
            <a:extLst>
              <a:ext uri="{FF2B5EF4-FFF2-40B4-BE49-F238E27FC236}">
                <a16:creationId xmlns:a16="http://schemas.microsoft.com/office/drawing/2014/main" id="{1E0877B4-262D-497B-8730-F3B06888451C}"/>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0" name="Oval 19">
            <a:extLst>
              <a:ext uri="{FF2B5EF4-FFF2-40B4-BE49-F238E27FC236}">
                <a16:creationId xmlns:a16="http://schemas.microsoft.com/office/drawing/2014/main" id="{FB40DA0A-4CA1-45A7-9E1B-ADFF0DBD5E7A}"/>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2" name="Oval 21">
            <a:extLst>
              <a:ext uri="{FF2B5EF4-FFF2-40B4-BE49-F238E27FC236}">
                <a16:creationId xmlns:a16="http://schemas.microsoft.com/office/drawing/2014/main" id="{EF0EFA0A-7AA2-4619-82B0-9714B774A389}"/>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3" name="Oval 22">
            <a:extLst>
              <a:ext uri="{FF2B5EF4-FFF2-40B4-BE49-F238E27FC236}">
                <a16:creationId xmlns:a16="http://schemas.microsoft.com/office/drawing/2014/main" id="{4E1B47AF-3274-4A75-AE17-473D3A4AE866}"/>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4" name="Oval 23">
            <a:extLst>
              <a:ext uri="{FF2B5EF4-FFF2-40B4-BE49-F238E27FC236}">
                <a16:creationId xmlns:a16="http://schemas.microsoft.com/office/drawing/2014/main" id="{367AE056-C946-47D7-ADF6-399E06DCD0E8}"/>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5" name="Oval 24">
            <a:extLst>
              <a:ext uri="{FF2B5EF4-FFF2-40B4-BE49-F238E27FC236}">
                <a16:creationId xmlns:a16="http://schemas.microsoft.com/office/drawing/2014/main" id="{C4BE7D79-458F-40B0-87C3-BFF2AD18608D}"/>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6" name="Oval 25">
            <a:extLst>
              <a:ext uri="{FF2B5EF4-FFF2-40B4-BE49-F238E27FC236}">
                <a16:creationId xmlns:a16="http://schemas.microsoft.com/office/drawing/2014/main" id="{8438D486-16BC-47AF-AA31-F472FB23503D}"/>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7" name="Oval 26">
            <a:extLst>
              <a:ext uri="{FF2B5EF4-FFF2-40B4-BE49-F238E27FC236}">
                <a16:creationId xmlns:a16="http://schemas.microsoft.com/office/drawing/2014/main" id="{05F4D33F-D6E3-4C9D-8086-FE9D44C718E5}"/>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29" name="Oval 28">
            <a:extLst>
              <a:ext uri="{FF2B5EF4-FFF2-40B4-BE49-F238E27FC236}">
                <a16:creationId xmlns:a16="http://schemas.microsoft.com/office/drawing/2014/main" id="{6EF835B4-5FE0-4183-995A-4D7BEF210181}"/>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0" name="Oval 29">
            <a:extLst>
              <a:ext uri="{FF2B5EF4-FFF2-40B4-BE49-F238E27FC236}">
                <a16:creationId xmlns:a16="http://schemas.microsoft.com/office/drawing/2014/main" id="{60CA99EC-783A-4321-A4EF-8609A57AA2D0}"/>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1" name="Oval 30">
            <a:extLst>
              <a:ext uri="{FF2B5EF4-FFF2-40B4-BE49-F238E27FC236}">
                <a16:creationId xmlns:a16="http://schemas.microsoft.com/office/drawing/2014/main" id="{5526D787-7281-404D-BB27-E920B8540724}"/>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2" name="Oval 31">
            <a:extLst>
              <a:ext uri="{FF2B5EF4-FFF2-40B4-BE49-F238E27FC236}">
                <a16:creationId xmlns:a16="http://schemas.microsoft.com/office/drawing/2014/main" id="{8CC8CFF7-84A3-48E1-BE1B-F9393B70E336}"/>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4" name="Oval 33">
            <a:extLst>
              <a:ext uri="{FF2B5EF4-FFF2-40B4-BE49-F238E27FC236}">
                <a16:creationId xmlns:a16="http://schemas.microsoft.com/office/drawing/2014/main" id="{92DFB400-0ED0-40B1-8800-24630ACE5F58}"/>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5" name="Oval 34">
            <a:extLst>
              <a:ext uri="{FF2B5EF4-FFF2-40B4-BE49-F238E27FC236}">
                <a16:creationId xmlns:a16="http://schemas.microsoft.com/office/drawing/2014/main" id="{A59B9EE6-C172-44BF-BBDF-AED17CFFCEFB}"/>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6" name="Oval 35">
            <a:extLst>
              <a:ext uri="{FF2B5EF4-FFF2-40B4-BE49-F238E27FC236}">
                <a16:creationId xmlns:a16="http://schemas.microsoft.com/office/drawing/2014/main" id="{52A4109E-DE36-4C64-B456-2C627B93D4BB}"/>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7" name="Oval 36">
            <a:extLst>
              <a:ext uri="{FF2B5EF4-FFF2-40B4-BE49-F238E27FC236}">
                <a16:creationId xmlns:a16="http://schemas.microsoft.com/office/drawing/2014/main" id="{8702F6D0-3C65-4A5D-8EF3-DB16A8F3F8F2}"/>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38" name="Oval 37">
            <a:extLst>
              <a:ext uri="{FF2B5EF4-FFF2-40B4-BE49-F238E27FC236}">
                <a16:creationId xmlns:a16="http://schemas.microsoft.com/office/drawing/2014/main" id="{C47659B6-0C37-4D11-81A8-8288F0297E49}"/>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1" name="Oval 40">
            <a:extLst>
              <a:ext uri="{FF2B5EF4-FFF2-40B4-BE49-F238E27FC236}">
                <a16:creationId xmlns:a16="http://schemas.microsoft.com/office/drawing/2014/main" id="{C37F7503-B957-47C4-BE4E-73167375F9BD}"/>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4" name="Oval 43">
            <a:extLst>
              <a:ext uri="{FF2B5EF4-FFF2-40B4-BE49-F238E27FC236}">
                <a16:creationId xmlns:a16="http://schemas.microsoft.com/office/drawing/2014/main" id="{9AD2D43A-163F-464D-ABDA-C36DB5A39744}"/>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5" name="Oval 44">
            <a:extLst>
              <a:ext uri="{FF2B5EF4-FFF2-40B4-BE49-F238E27FC236}">
                <a16:creationId xmlns:a16="http://schemas.microsoft.com/office/drawing/2014/main" id="{1CD11E50-330C-459A-B238-94E612AD7A3F}"/>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6" name="TextBox 45">
            <a:extLst>
              <a:ext uri="{FF2B5EF4-FFF2-40B4-BE49-F238E27FC236}">
                <a16:creationId xmlns:a16="http://schemas.microsoft.com/office/drawing/2014/main" id="{592F2B07-CBDD-4E38-A5C9-B0F035D3580A}"/>
              </a:ext>
            </a:extLst>
          </p:cNvPr>
          <p:cNvSpPr txBox="1"/>
          <p:nvPr/>
        </p:nvSpPr>
        <p:spPr>
          <a:xfrm>
            <a:off x="6994936" y="2811117"/>
            <a:ext cx="1822799" cy="400110"/>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Sample</a:t>
            </a:r>
          </a:p>
        </p:txBody>
      </p:sp>
      <p:sp>
        <p:nvSpPr>
          <p:cNvPr id="47" name="TextBox 46">
            <a:extLst>
              <a:ext uri="{FF2B5EF4-FFF2-40B4-BE49-F238E27FC236}">
                <a16:creationId xmlns:a16="http://schemas.microsoft.com/office/drawing/2014/main" id="{C5EC90DC-C11E-42E3-A129-1FF972DA0E92}"/>
              </a:ext>
            </a:extLst>
          </p:cNvPr>
          <p:cNvSpPr txBox="1"/>
          <p:nvPr/>
        </p:nvSpPr>
        <p:spPr>
          <a:xfrm>
            <a:off x="218144" y="1045915"/>
            <a:ext cx="2351637" cy="400110"/>
          </a:xfrm>
          <a:prstGeom prst="rect">
            <a:avLst/>
          </a:prstGeom>
          <a:noFill/>
        </p:spPr>
        <p:txBody>
          <a:bodyPr wrap="square" rtlCol="0">
            <a:spAutoFit/>
          </a:bodyPr>
          <a:lstStyle/>
          <a:p>
            <a:pPr algn="ctr"/>
            <a:r>
              <a:rPr lang="en-US" b="0" u="none" dirty="0">
                <a:latin typeface="Arial" pitchFamily="34" charset="0"/>
                <a:cs typeface="Arial" pitchFamily="34" charset="0"/>
              </a:rPr>
              <a:t>Population</a:t>
            </a:r>
          </a:p>
        </p:txBody>
      </p:sp>
      <p:sp>
        <p:nvSpPr>
          <p:cNvPr id="54" name="Oval 53">
            <a:extLst>
              <a:ext uri="{FF2B5EF4-FFF2-40B4-BE49-F238E27FC236}">
                <a16:creationId xmlns:a16="http://schemas.microsoft.com/office/drawing/2014/main" id="{E4927815-3724-D348-C45E-D7DCDF67FEA9}"/>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996DEABE-E4D4-C5EF-A94B-FC5C77BA875D}"/>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1BAB189F-CE98-5AD0-69FD-8C6F8D557653}"/>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05C8614D-AA26-44F0-1203-840FC1E50D86}"/>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1433E42F-0333-2538-4249-5D7B36562328}"/>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BE6E926D-E50B-DBBB-70C2-69C82AB6E637}"/>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45D9C351-31C8-FA85-2715-872CC84A7FDE}"/>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745197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0080-8FA2-4308-9998-B88254E3AC31}"/>
              </a:ext>
            </a:extLst>
          </p:cNvPr>
          <p:cNvSpPr>
            <a:spLocks noGrp="1"/>
          </p:cNvSpPr>
          <p:nvPr>
            <p:ph type="title"/>
          </p:nvPr>
        </p:nvSpPr>
        <p:spPr/>
        <p:txBody>
          <a:bodyPr/>
          <a:lstStyle/>
          <a:p>
            <a:r>
              <a:rPr lang="en-US" dirty="0"/>
              <a:t>What is the Average Price of Dinner in Vienna?</a:t>
            </a:r>
          </a:p>
        </p:txBody>
      </p:sp>
      <p:sp>
        <p:nvSpPr>
          <p:cNvPr id="3" name="Slide Number Placeholder 2">
            <a:extLst>
              <a:ext uri="{FF2B5EF4-FFF2-40B4-BE49-F238E27FC236}">
                <a16:creationId xmlns:a16="http://schemas.microsoft.com/office/drawing/2014/main" id="{85890776-39B3-48AE-831D-F02F469B3540}"/>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17</a:t>
            </a:fld>
            <a:endParaRPr lang="en-GB" dirty="0"/>
          </a:p>
        </p:txBody>
      </p:sp>
      <p:sp>
        <p:nvSpPr>
          <p:cNvPr id="8" name="TextBox 7">
            <a:extLst>
              <a:ext uri="{FF2B5EF4-FFF2-40B4-BE49-F238E27FC236}">
                <a16:creationId xmlns:a16="http://schemas.microsoft.com/office/drawing/2014/main" id="{F9372CB6-9041-4C6C-94D9-C075F7377ECE}"/>
              </a:ext>
            </a:extLst>
          </p:cNvPr>
          <p:cNvSpPr txBox="1"/>
          <p:nvPr/>
        </p:nvSpPr>
        <p:spPr>
          <a:xfrm>
            <a:off x="218144" y="1045915"/>
            <a:ext cx="2351637" cy="707886"/>
          </a:xfrm>
          <a:prstGeom prst="rect">
            <a:avLst/>
          </a:prstGeom>
          <a:noFill/>
        </p:spPr>
        <p:txBody>
          <a:bodyPr wrap="square" rtlCol="0">
            <a:spAutoFit/>
          </a:bodyPr>
          <a:lstStyle/>
          <a:p>
            <a:pPr algn="ctr"/>
            <a:r>
              <a:rPr lang="en-US" b="0" u="none" dirty="0">
                <a:latin typeface="Arial" pitchFamily="34" charset="0"/>
                <a:cs typeface="Arial" pitchFamily="34" charset="0"/>
              </a:rPr>
              <a:t>All Restaurants </a:t>
            </a:r>
            <a:br>
              <a:rPr lang="en-US" b="0" u="none" dirty="0">
                <a:latin typeface="Arial" pitchFamily="34" charset="0"/>
                <a:cs typeface="Arial" pitchFamily="34" charset="0"/>
              </a:rPr>
            </a:br>
            <a:r>
              <a:rPr lang="en-US" b="0" u="none" dirty="0">
                <a:latin typeface="Arial" pitchFamily="34" charset="0"/>
                <a:cs typeface="Arial" pitchFamily="34" charset="0"/>
              </a:rPr>
              <a:t>in Vienna</a:t>
            </a:r>
          </a:p>
        </p:txBody>
      </p:sp>
      <p:sp>
        <p:nvSpPr>
          <p:cNvPr id="46" name="TextBox 45">
            <a:extLst>
              <a:ext uri="{FF2B5EF4-FFF2-40B4-BE49-F238E27FC236}">
                <a16:creationId xmlns:a16="http://schemas.microsoft.com/office/drawing/2014/main" id="{592F2B07-CBDD-4E38-A5C9-B0F035D3580A}"/>
              </a:ext>
            </a:extLst>
          </p:cNvPr>
          <p:cNvSpPr txBox="1"/>
          <p:nvPr/>
        </p:nvSpPr>
        <p:spPr>
          <a:xfrm>
            <a:off x="6994936" y="2811117"/>
            <a:ext cx="1822799" cy="707886"/>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Restaurants I Visite</a:t>
            </a:r>
            <a:r>
              <a:rPr lang="en-US" b="0" u="none" dirty="0">
                <a:solidFill>
                  <a:srgbClr val="EB971B"/>
                </a:solidFill>
                <a:cs typeface="Arial" pitchFamily="34" charset="0"/>
              </a:rPr>
              <a:t>d in July</a:t>
            </a:r>
            <a:endParaRPr lang="en-US" b="0" u="none" dirty="0">
              <a:solidFill>
                <a:srgbClr val="EB971B"/>
              </a:solidFill>
              <a:latin typeface="Arial" pitchFamily="34" charset="0"/>
              <a:cs typeface="Arial" pitchFamily="34" charset="0"/>
            </a:endParaRPr>
          </a:p>
        </p:txBody>
      </p:sp>
      <p:sp>
        <p:nvSpPr>
          <p:cNvPr id="7" name="Oval 6">
            <a:extLst>
              <a:ext uri="{FF2B5EF4-FFF2-40B4-BE49-F238E27FC236}">
                <a16:creationId xmlns:a16="http://schemas.microsoft.com/office/drawing/2014/main" id="{C299945C-F7F2-9F60-C0CE-75B035550DAD}"/>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0990F60A-8B1E-615C-080B-764FE7902086}"/>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F44CAAFB-443E-2D54-4C13-66F10EF0AB71}"/>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F2C5BDAF-8812-336C-28BF-6BF717CD84E3}"/>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145BACCD-106E-579A-95DC-961D807C9987}"/>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C7991700-3D58-83AA-2961-B5A67059827D}"/>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09250565-8D02-4CC7-8AF6-FBC10C0B798A}"/>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18A1723F-2BA5-5979-B5AA-2C05224B20B9}"/>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94EA3727-3E3F-5DF9-8221-BCDAB61F3912}"/>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09C3210A-3724-35E2-64D4-1C312520954E}"/>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AC9B9FE3-015C-7115-C5C6-1BD1C055CB09}"/>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C2DA82D9-9521-1BEF-D96D-4E319706B788}"/>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5315B7E8-A709-BF18-4B81-17BA5D58BACF}"/>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B9335C4D-216C-5923-8AF0-8B220EB16847}"/>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46C39F4F-C6B6-991C-B0AB-E1BD8F24320C}"/>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CF23ACEF-4E2D-6CB4-5CC1-7253E3739E68}"/>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E74717F2-E398-9822-BE01-BBFB8F1D9288}"/>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607A43FE-7095-9730-1379-0A96D6787DB5}"/>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126A1CFB-1572-9C77-93A6-591AE7B78F7F}"/>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E26B24CD-5025-5F44-A2AE-D2020627DB12}"/>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C125FFEA-4A52-76F1-8261-805D73C383CB}"/>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3719F039-F79E-7C7A-320E-0C72DECB847D}"/>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196A7606-FDCE-F47C-22AB-088AE75E29CB}"/>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48089696-D840-BC6F-D0DF-677704AEFBD7}"/>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27B291A2-5338-B5AC-C6CD-80689DA3BD03}"/>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6BCDAF8F-782B-4075-6388-456E0A14B6E7}"/>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245E4440-C80E-8E8F-0A59-EF16100FE315}"/>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E29E3C0F-C2EF-C892-0A34-2E7A59760525}"/>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9FFA4D50-7379-290D-7216-4B19A44C7593}"/>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24BAB04D-C177-9F40-B05E-5562A27B27D4}"/>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4E616D5A-4107-ED61-05BC-D779288EBA6A}"/>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ACB07FA0-F738-3B8E-3038-D03B74E38D52}"/>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1CE5BF1B-9DE0-8AF8-9DD5-3CA1625D3A3F}"/>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86F61005-6C23-9F17-91E9-6286D4FFCC15}"/>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36B78B31-A1DC-37D7-BFE5-B3C4290988FE}"/>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0D1538F1-6386-8D82-759A-A4AE77FDC650}"/>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864F6E38-1BFA-3D50-AA56-ABEC4112F6C5}"/>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A505CB4E-D5B9-8CB1-C6A7-A0289AB92ABF}"/>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116775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2CB0B-8428-3CA3-DF21-2E090C5B3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B9918-8569-FD49-277A-A99543BE633E}"/>
              </a:ext>
            </a:extLst>
          </p:cNvPr>
          <p:cNvSpPr>
            <a:spLocks noGrp="1"/>
          </p:cNvSpPr>
          <p:nvPr>
            <p:ph type="title"/>
          </p:nvPr>
        </p:nvSpPr>
        <p:spPr/>
        <p:txBody>
          <a:bodyPr/>
          <a:lstStyle/>
          <a:p>
            <a:r>
              <a:rPr lang="en-US" dirty="0"/>
              <a:t>Is the New Cancer Drug Effective?</a:t>
            </a:r>
          </a:p>
        </p:txBody>
      </p:sp>
      <p:sp>
        <p:nvSpPr>
          <p:cNvPr id="3" name="Slide Number Placeholder 2">
            <a:extLst>
              <a:ext uri="{FF2B5EF4-FFF2-40B4-BE49-F238E27FC236}">
                <a16:creationId xmlns:a16="http://schemas.microsoft.com/office/drawing/2014/main" id="{410151BB-408E-AE84-8889-D2A3B7F93129}"/>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18</a:t>
            </a:fld>
            <a:endParaRPr lang="en-GB" dirty="0"/>
          </a:p>
        </p:txBody>
      </p:sp>
      <p:sp>
        <p:nvSpPr>
          <p:cNvPr id="8" name="TextBox 7">
            <a:extLst>
              <a:ext uri="{FF2B5EF4-FFF2-40B4-BE49-F238E27FC236}">
                <a16:creationId xmlns:a16="http://schemas.microsoft.com/office/drawing/2014/main" id="{9EF64B76-9DDC-B864-0BE1-755AE4C8F625}"/>
              </a:ext>
            </a:extLst>
          </p:cNvPr>
          <p:cNvSpPr txBox="1"/>
          <p:nvPr/>
        </p:nvSpPr>
        <p:spPr>
          <a:xfrm>
            <a:off x="218144" y="1045915"/>
            <a:ext cx="2351637" cy="400110"/>
          </a:xfrm>
          <a:prstGeom prst="rect">
            <a:avLst/>
          </a:prstGeom>
          <a:noFill/>
        </p:spPr>
        <p:txBody>
          <a:bodyPr wrap="square" rtlCol="0">
            <a:spAutoFit/>
          </a:bodyPr>
          <a:lstStyle/>
          <a:p>
            <a:pPr algn="ctr"/>
            <a:r>
              <a:rPr lang="en-US" b="0" u="none" dirty="0">
                <a:latin typeface="Arial" pitchFamily="34" charset="0"/>
                <a:cs typeface="Arial" pitchFamily="34" charset="0"/>
              </a:rPr>
              <a:t>All Patients</a:t>
            </a:r>
          </a:p>
        </p:txBody>
      </p:sp>
      <p:sp>
        <p:nvSpPr>
          <p:cNvPr id="46" name="TextBox 45">
            <a:extLst>
              <a:ext uri="{FF2B5EF4-FFF2-40B4-BE49-F238E27FC236}">
                <a16:creationId xmlns:a16="http://schemas.microsoft.com/office/drawing/2014/main" id="{EC2A62C5-E1CA-9EC1-3A72-6D5DDCD8CCD3}"/>
              </a:ext>
            </a:extLst>
          </p:cNvPr>
          <p:cNvSpPr txBox="1"/>
          <p:nvPr/>
        </p:nvSpPr>
        <p:spPr>
          <a:xfrm>
            <a:off x="6994936" y="2811117"/>
            <a:ext cx="1822799" cy="707886"/>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Patients in Drug Trial</a:t>
            </a:r>
          </a:p>
        </p:txBody>
      </p:sp>
      <p:sp>
        <p:nvSpPr>
          <p:cNvPr id="7" name="Oval 6">
            <a:extLst>
              <a:ext uri="{FF2B5EF4-FFF2-40B4-BE49-F238E27FC236}">
                <a16:creationId xmlns:a16="http://schemas.microsoft.com/office/drawing/2014/main" id="{85848073-6F14-D67B-AC96-D4CFB09591CC}"/>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47E9A88C-D02B-7AE4-5B9A-CFE803D8F735}"/>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80D2EDCE-E978-2574-DC77-ECF9067074E1}"/>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2C13F5A2-91D5-4926-3CF7-AB09448B6E6C}"/>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A77DF80D-42EB-25EA-4EA7-EED55DC5039A}"/>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594D538C-7303-CB21-2245-3091B8DBA0D4}"/>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DF01DCC2-95A5-A59D-4F99-A51232BDD890}"/>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0CB3C8D1-731C-7619-25E5-421D19CAD907}"/>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C22DEF2F-A754-EFAE-2335-4F1FEEFE7E4F}"/>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74476B3B-718A-1357-A7F4-D735C7EDA554}"/>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A4C31546-52D2-1CAA-A7C0-B2418BBD96B7}"/>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37243219-27DB-C4F3-7F53-95CF39418EB8}"/>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B81E5784-578A-75F0-8B8D-08B68EC2CA22}"/>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26FC462D-F00A-0F8F-250E-060F42DAB914}"/>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B54FE613-A623-E63A-AA09-5D2A9BD95670}"/>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B457FBA8-AB9B-4861-3BF0-53DD0F51DDF0}"/>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3391A17F-3184-E809-B220-E7A66D65CDC8}"/>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9EB62C24-8ED0-4046-BABF-B2BECA660C4C}"/>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011501C2-0F52-AA7C-8ED4-FB8DC6272DDA}"/>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D2DCE8BC-94A3-2AEE-6598-E60FCE89C542}"/>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0F4B0456-DED2-4ED5-7B3D-2F3EC82D7846}"/>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DBAC46F6-4F78-32EE-559F-7C007B1C6542}"/>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61A45718-8609-954A-CD15-3810EE1EC9DE}"/>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9DB89647-9349-2D19-B8C8-1A9D99CAA480}"/>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81D0E57E-A5DC-3B95-CBB8-55544947CE87}"/>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B3B73C45-EF3A-0130-6653-15D6527E6D5C}"/>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02033D3F-F48A-5931-0E70-8CDD0E3A56AF}"/>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E95DF488-AFF8-EED6-E8EE-983C46B2F008}"/>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A446F17A-646D-36FB-C91A-392DEAE3B8F7}"/>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D6F7DD71-453D-C50B-056D-6916F9650C7B}"/>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3A217764-0169-BF46-7693-04EE17F95452}"/>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51E21ABC-3A07-D155-6CCB-3EEC4BDECF00}"/>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BF8DC565-487D-1FF6-A49A-A622FEF60C51}"/>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98BB846E-83E7-4D73-483F-1F10C87D15DC}"/>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620FF620-A706-5036-1383-2C21D1FBED38}"/>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9BC8D559-4263-77C7-F945-0FA2A9956B9A}"/>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C04AEC69-1C09-BA76-3FA5-A8A943A09CC1}"/>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26D53B99-3CE1-9DF7-BE44-BEB1BA17D0D9}"/>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495373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B5A1-D721-F08F-283E-26C2D93C1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114EB-3645-7EBC-E7E0-AA918638172C}"/>
              </a:ext>
            </a:extLst>
          </p:cNvPr>
          <p:cNvSpPr>
            <a:spLocks noGrp="1"/>
          </p:cNvSpPr>
          <p:nvPr>
            <p:ph type="title"/>
          </p:nvPr>
        </p:nvSpPr>
        <p:spPr/>
        <p:txBody>
          <a:bodyPr/>
          <a:lstStyle/>
          <a:p>
            <a:r>
              <a:rPr lang="en-US" dirty="0"/>
              <a:t>What is the Average Price of a House?</a:t>
            </a:r>
          </a:p>
        </p:txBody>
      </p:sp>
      <p:sp>
        <p:nvSpPr>
          <p:cNvPr id="3" name="Slide Number Placeholder 2">
            <a:extLst>
              <a:ext uri="{FF2B5EF4-FFF2-40B4-BE49-F238E27FC236}">
                <a16:creationId xmlns:a16="http://schemas.microsoft.com/office/drawing/2014/main" id="{271567A7-8920-366F-4799-1A2659CF225A}"/>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19</a:t>
            </a:fld>
            <a:endParaRPr lang="en-GB" dirty="0"/>
          </a:p>
        </p:txBody>
      </p:sp>
      <p:sp>
        <p:nvSpPr>
          <p:cNvPr id="8" name="TextBox 7">
            <a:extLst>
              <a:ext uri="{FF2B5EF4-FFF2-40B4-BE49-F238E27FC236}">
                <a16:creationId xmlns:a16="http://schemas.microsoft.com/office/drawing/2014/main" id="{BCD0DCA1-B38E-284D-0320-CD76FAC181B2}"/>
              </a:ext>
            </a:extLst>
          </p:cNvPr>
          <p:cNvSpPr txBox="1"/>
          <p:nvPr/>
        </p:nvSpPr>
        <p:spPr>
          <a:xfrm>
            <a:off x="218144" y="1045915"/>
            <a:ext cx="2351637" cy="400110"/>
          </a:xfrm>
          <a:prstGeom prst="rect">
            <a:avLst/>
          </a:prstGeom>
          <a:noFill/>
        </p:spPr>
        <p:txBody>
          <a:bodyPr wrap="square" rtlCol="0">
            <a:spAutoFit/>
          </a:bodyPr>
          <a:lstStyle/>
          <a:p>
            <a:pPr algn="ctr"/>
            <a:r>
              <a:rPr lang="en-US" b="0" u="none" dirty="0">
                <a:latin typeface="Arial" pitchFamily="34" charset="0"/>
                <a:cs typeface="Arial" pitchFamily="34" charset="0"/>
              </a:rPr>
              <a:t>All Houses</a:t>
            </a:r>
          </a:p>
        </p:txBody>
      </p:sp>
      <p:sp>
        <p:nvSpPr>
          <p:cNvPr id="46" name="TextBox 45">
            <a:extLst>
              <a:ext uri="{FF2B5EF4-FFF2-40B4-BE49-F238E27FC236}">
                <a16:creationId xmlns:a16="http://schemas.microsoft.com/office/drawing/2014/main" id="{7CDC6C5E-7615-65EF-76C4-D61D0AC3361D}"/>
              </a:ext>
            </a:extLst>
          </p:cNvPr>
          <p:cNvSpPr txBox="1"/>
          <p:nvPr/>
        </p:nvSpPr>
        <p:spPr>
          <a:xfrm>
            <a:off x="6994936" y="2811117"/>
            <a:ext cx="1822799" cy="707886"/>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Houses in New Haven</a:t>
            </a:r>
          </a:p>
        </p:txBody>
      </p:sp>
      <p:sp>
        <p:nvSpPr>
          <p:cNvPr id="7" name="Oval 6">
            <a:extLst>
              <a:ext uri="{FF2B5EF4-FFF2-40B4-BE49-F238E27FC236}">
                <a16:creationId xmlns:a16="http://schemas.microsoft.com/office/drawing/2014/main" id="{E58EAC56-F4E3-85AE-4727-BF2731239BE5}"/>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72346C5D-1C95-C723-E8E2-8C6EDE44FDC0}"/>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0B83C14F-63C0-4943-DF02-DAE14FAC8E2C}"/>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6AAC2925-0A75-62EA-EB18-742E2C85B3DE}"/>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D418E470-CE84-D5D0-A179-380A10A3107C}"/>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4F032423-4619-65A9-805D-5067C00F7B23}"/>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C761F5E1-5A90-5B47-7642-DF36FF2D0FBC}"/>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07BA3726-AD97-6060-E0EE-9B998432D009}"/>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5F44A3E1-B994-D5E4-829C-C0F66BD6E694}"/>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71C3A203-EBF7-E5CD-12E2-0645CB0DB486}"/>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34F5961C-E871-9A81-73DA-E3479F06D6C7}"/>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78EE496B-4C27-3A5E-9802-E02CF7E1A9E3}"/>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4F76316A-82AA-C31E-C57D-1EF88244665B}"/>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D1384378-D839-1077-0B6C-40EBDADD8489}"/>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0986158A-B1BB-D15C-F11C-DA919576126B}"/>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9C5D112C-663B-D977-7180-5B795BF3784D}"/>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223F4A04-BC77-AB01-5D30-695CE85D3B5B}"/>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18F253F0-B8CF-8950-5559-61C54999018E}"/>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9BCA3AB3-97B3-D875-5E65-71448F90AA40}"/>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4991DDF1-C363-0357-9B69-E544FEC0C648}"/>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04BA954A-8067-314D-5A57-BE7BC08DAE74}"/>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D4444785-418F-2FF1-E61A-C84A95063596}"/>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71F2A94A-C2AC-5367-4497-26CC0B19BAF7}"/>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D0309664-9B8F-EB8A-B8CC-0753B1D0472C}"/>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B3DAEF2D-F37F-37B0-9696-BBD4B523F3AC}"/>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B8799184-24F8-17DE-AFCF-A9DA5B75CD60}"/>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37166D72-B5D9-5646-4BC7-E83CFBA778A7}"/>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40158E81-76F8-7B56-0F33-2476F9943C10}"/>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0E34699F-6824-BB4B-B626-C7B4F41356F9}"/>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72C34C46-5C59-1D13-236D-206B351EDE62}"/>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E6E6EA9F-864C-85C9-DDD2-265849F7D8B4}"/>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622BE388-49E0-6AF8-D154-ED293DF40F72}"/>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CE3C3ABA-0260-F968-83EA-10F7CB0C00A4}"/>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C4F29346-9C6B-1AD7-D7BA-928EC8FA6C72}"/>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F1798F4B-FC79-8C3F-ACB6-79A92AD804ED}"/>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DDB06043-932F-56B6-3D08-B0C0ACDE2EA1}"/>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7A625E11-C01F-96A0-781F-6BCFDFA35BAA}"/>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26133991-FA42-E4CA-BCB2-7553306398EC}"/>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937400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F06F-CFC5-14BD-4A0B-64DF1622B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DEB1B-7255-8764-CF0A-DBDA9E8F6206}"/>
              </a:ext>
            </a:extLst>
          </p:cNvPr>
          <p:cNvSpPr>
            <a:spLocks noGrp="1"/>
          </p:cNvSpPr>
          <p:nvPr>
            <p:ph type="title"/>
          </p:nvPr>
        </p:nvSpPr>
        <p:spPr/>
        <p:txBody>
          <a:bodyPr/>
          <a:lstStyle/>
          <a:p>
            <a:r>
              <a:rPr lang="en-US" dirty="0"/>
              <a:t>Will the Republicans Keep the House?</a:t>
            </a:r>
          </a:p>
        </p:txBody>
      </p:sp>
      <p:sp>
        <p:nvSpPr>
          <p:cNvPr id="3" name="Slide Number Placeholder 2">
            <a:extLst>
              <a:ext uri="{FF2B5EF4-FFF2-40B4-BE49-F238E27FC236}">
                <a16:creationId xmlns:a16="http://schemas.microsoft.com/office/drawing/2014/main" id="{73E9B686-F071-882E-5A46-1004DAD9B3D7}"/>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20</a:t>
            </a:fld>
            <a:endParaRPr lang="en-GB" dirty="0"/>
          </a:p>
        </p:txBody>
      </p:sp>
      <p:sp>
        <p:nvSpPr>
          <p:cNvPr id="8" name="TextBox 7">
            <a:extLst>
              <a:ext uri="{FF2B5EF4-FFF2-40B4-BE49-F238E27FC236}">
                <a16:creationId xmlns:a16="http://schemas.microsoft.com/office/drawing/2014/main" id="{CDEB4760-91DD-8B4C-27FF-52C81A34094A}"/>
              </a:ext>
            </a:extLst>
          </p:cNvPr>
          <p:cNvSpPr txBox="1"/>
          <p:nvPr/>
        </p:nvSpPr>
        <p:spPr>
          <a:xfrm>
            <a:off x="218144" y="1045915"/>
            <a:ext cx="2351637" cy="707886"/>
          </a:xfrm>
          <a:prstGeom prst="rect">
            <a:avLst/>
          </a:prstGeom>
          <a:noFill/>
        </p:spPr>
        <p:txBody>
          <a:bodyPr wrap="square" rtlCol="0">
            <a:spAutoFit/>
          </a:bodyPr>
          <a:lstStyle/>
          <a:p>
            <a:pPr algn="ctr"/>
            <a:r>
              <a:rPr lang="en-US" b="0" u="none" dirty="0">
                <a:latin typeface="Arial" pitchFamily="34" charset="0"/>
                <a:cs typeface="Arial" pitchFamily="34" charset="0"/>
              </a:rPr>
              <a:t>All Voters </a:t>
            </a:r>
            <a:r>
              <a:rPr lang="en-US" b="0" u="none" dirty="0">
                <a:cs typeface="Arial" pitchFamily="34" charset="0"/>
              </a:rPr>
              <a:t>on Election Day</a:t>
            </a:r>
            <a:endParaRPr lang="en-US" b="0" u="none" dirty="0">
              <a:latin typeface="Arial" pitchFamily="34" charset="0"/>
              <a:cs typeface="Arial" pitchFamily="34" charset="0"/>
            </a:endParaRPr>
          </a:p>
        </p:txBody>
      </p:sp>
      <p:sp>
        <p:nvSpPr>
          <p:cNvPr id="46" name="TextBox 45">
            <a:extLst>
              <a:ext uri="{FF2B5EF4-FFF2-40B4-BE49-F238E27FC236}">
                <a16:creationId xmlns:a16="http://schemas.microsoft.com/office/drawing/2014/main" id="{7C78A4E9-E528-3975-2734-45A3BE8F1877}"/>
              </a:ext>
            </a:extLst>
          </p:cNvPr>
          <p:cNvSpPr txBox="1"/>
          <p:nvPr/>
        </p:nvSpPr>
        <p:spPr>
          <a:xfrm>
            <a:off x="6994936" y="2811117"/>
            <a:ext cx="1822799" cy="1015663"/>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Likely Voters Before Election Day</a:t>
            </a:r>
          </a:p>
        </p:txBody>
      </p:sp>
      <p:sp>
        <p:nvSpPr>
          <p:cNvPr id="7" name="Oval 6">
            <a:extLst>
              <a:ext uri="{FF2B5EF4-FFF2-40B4-BE49-F238E27FC236}">
                <a16:creationId xmlns:a16="http://schemas.microsoft.com/office/drawing/2014/main" id="{5E99EB59-E6B7-0A75-61A1-3BA2B12A1AB3}"/>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DA80CD61-7594-2904-582B-4DCA0BEE8CD1}"/>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F5C0E50A-23D9-D708-247A-461007EC5572}"/>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C7715DFE-E73B-BAF2-63DD-F716BFD5D783}"/>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3E9824DC-E543-C34C-9F5D-AE3926E20AA9}"/>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B7ED7A2A-5DAC-6CEB-020E-28BEEB7A5E2B}"/>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30A30DC4-37D6-B18C-3338-4BF226628C83}"/>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A8FEEA96-A9BA-9A80-941D-6B71EA7CC9AC}"/>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9748CEB1-75CF-2141-01A8-3425C410D215}"/>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9D0B79CF-4683-1FF9-9DED-C6E2CDB605F6}"/>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CA2293A8-8069-824A-71EA-A5B602068BF7}"/>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B68D34F0-C310-A76F-A40C-B15B4C11E98B}"/>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A73A3375-8621-C12B-C0B5-93C9FF37F532}"/>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51DF508E-998F-CEBF-2D17-7F8E315732EE}"/>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AA154E2E-9324-5650-AF0B-7EA84C305863}"/>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A8FAF40F-2376-77EB-EE99-513BAB5957E4}"/>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4DBB2F66-9E31-9C8C-FA40-DB4767DB31A0}"/>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AAD8BE33-AF50-3007-E56A-59B30B46B182}"/>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F1026091-7605-3F30-C28A-D1BC3E230706}"/>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C4417215-B47F-61C7-9ED7-6EC16AEB5733}"/>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4BC031DA-44AE-F2E6-2636-2DCF6F22795C}"/>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A1B8F149-96CD-82B2-BFB8-D00524722C67}"/>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9542A758-01E4-9F11-5E8D-C59FC6BF24DE}"/>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DCFEF6EE-927C-B064-55A8-91B37DB94E05}"/>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896DBFE1-D0B1-B7C9-4145-1FE0FE9E4F02}"/>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F8CF51E5-FA2A-4599-07BB-4212A01E81A6}"/>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B33493D3-770C-76F6-242E-2034E06A721C}"/>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6350CD56-291C-11AC-8B3A-D5739088765F}"/>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82429252-92D2-8F73-B65F-97B249439E87}"/>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FC058875-EA18-7DE5-6DAF-EE4558455341}"/>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184ECA7D-E066-31F3-8371-95E0ADFD8A07}"/>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440A8DC6-722E-A16C-27FD-6AF7155B5EC1}"/>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C0281C9C-F1A3-2675-7A34-E81F20613F09}"/>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B0D0BD25-3F74-27E2-6CE4-056F26A38E61}"/>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390D0600-E9DA-016A-8E93-F895D1BF6953}"/>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67DCA3C1-8792-20CE-4CC3-93244003E8F1}"/>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0EB8B7F0-7F17-3830-703D-96B0E1104A4E}"/>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E5ED7F86-8F5C-08AC-F7E6-3B224954CCD4}"/>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2526847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F2D77-4FDF-8737-9805-2E360CBA2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D67B3-38F8-97CC-E3DF-9740AB6DAAC9}"/>
              </a:ext>
            </a:extLst>
          </p:cNvPr>
          <p:cNvSpPr>
            <a:spLocks noGrp="1"/>
          </p:cNvSpPr>
          <p:nvPr>
            <p:ph type="title"/>
          </p:nvPr>
        </p:nvSpPr>
        <p:spPr/>
        <p:txBody>
          <a:bodyPr/>
          <a:lstStyle/>
          <a:p>
            <a:r>
              <a:rPr lang="en-US" dirty="0"/>
              <a:t>Will the Republicans Keep the House?</a:t>
            </a:r>
          </a:p>
        </p:txBody>
      </p:sp>
      <p:sp>
        <p:nvSpPr>
          <p:cNvPr id="3" name="Slide Number Placeholder 2">
            <a:extLst>
              <a:ext uri="{FF2B5EF4-FFF2-40B4-BE49-F238E27FC236}">
                <a16:creationId xmlns:a16="http://schemas.microsoft.com/office/drawing/2014/main" id="{0D2B33D7-B952-F6C7-D8B4-9591C2520AAB}"/>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21</a:t>
            </a:fld>
            <a:endParaRPr lang="en-GB" dirty="0"/>
          </a:p>
        </p:txBody>
      </p:sp>
      <p:sp>
        <p:nvSpPr>
          <p:cNvPr id="8" name="TextBox 7">
            <a:extLst>
              <a:ext uri="{FF2B5EF4-FFF2-40B4-BE49-F238E27FC236}">
                <a16:creationId xmlns:a16="http://schemas.microsoft.com/office/drawing/2014/main" id="{13814A33-CF78-B60A-FAEA-3B25E5401EEF}"/>
              </a:ext>
            </a:extLst>
          </p:cNvPr>
          <p:cNvSpPr txBox="1"/>
          <p:nvPr/>
        </p:nvSpPr>
        <p:spPr>
          <a:xfrm>
            <a:off x="218144" y="1045915"/>
            <a:ext cx="2351637" cy="707886"/>
          </a:xfrm>
          <a:prstGeom prst="rect">
            <a:avLst/>
          </a:prstGeom>
          <a:noFill/>
        </p:spPr>
        <p:txBody>
          <a:bodyPr wrap="square" rtlCol="0">
            <a:spAutoFit/>
          </a:bodyPr>
          <a:lstStyle/>
          <a:p>
            <a:pPr algn="ctr"/>
            <a:r>
              <a:rPr lang="en-US" b="0" u="none" dirty="0">
                <a:latin typeface="Arial" pitchFamily="34" charset="0"/>
                <a:cs typeface="Arial" pitchFamily="34" charset="0"/>
              </a:rPr>
              <a:t>All Voters </a:t>
            </a:r>
            <a:r>
              <a:rPr lang="en-US" b="0" u="none" dirty="0">
                <a:cs typeface="Arial" pitchFamily="34" charset="0"/>
              </a:rPr>
              <a:t>on Election Day</a:t>
            </a:r>
            <a:endParaRPr lang="en-US" b="0" u="none" dirty="0">
              <a:latin typeface="Arial" pitchFamily="34" charset="0"/>
              <a:cs typeface="Arial" pitchFamily="34" charset="0"/>
            </a:endParaRPr>
          </a:p>
        </p:txBody>
      </p:sp>
      <p:sp>
        <p:nvSpPr>
          <p:cNvPr id="46" name="TextBox 45">
            <a:extLst>
              <a:ext uri="{FF2B5EF4-FFF2-40B4-BE49-F238E27FC236}">
                <a16:creationId xmlns:a16="http://schemas.microsoft.com/office/drawing/2014/main" id="{7C4AF446-5790-ED06-951B-6FF8E3293FC1}"/>
              </a:ext>
            </a:extLst>
          </p:cNvPr>
          <p:cNvSpPr txBox="1"/>
          <p:nvPr/>
        </p:nvSpPr>
        <p:spPr>
          <a:xfrm>
            <a:off x="6994936" y="2811117"/>
            <a:ext cx="1822799" cy="1015663"/>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Likely Voters Before Election Day</a:t>
            </a:r>
          </a:p>
        </p:txBody>
      </p:sp>
      <p:sp>
        <p:nvSpPr>
          <p:cNvPr id="7" name="Oval 6">
            <a:extLst>
              <a:ext uri="{FF2B5EF4-FFF2-40B4-BE49-F238E27FC236}">
                <a16:creationId xmlns:a16="http://schemas.microsoft.com/office/drawing/2014/main" id="{8811A6CF-154C-6FED-BD9E-8A9EE0351E1C}"/>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F35629EF-C979-83C5-C1F4-52726EA16BD7}"/>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9EA607E4-1FD8-552E-DC96-FAF2774E66C2}"/>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4B60FD10-9DF2-E287-2784-F3D5DAB5CF8A}"/>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80971598-4EA3-DDDA-E444-9D10388D0A9A}"/>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14D63E55-5CF1-A778-5902-930D6F3975C3}"/>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CF7FC5E0-B0AD-674E-3A81-CD4195E35C00}"/>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EB1B98EF-BC21-655A-3FBE-27B6A94B4DFF}"/>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78E520DF-3FA2-79A2-16BC-CCB81EB41BBD}"/>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1D730AA9-C1E0-50E7-840F-B145DC7461F2}"/>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E322C2F1-C12B-2E4C-3BD5-B55EE1F4FB46}"/>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9D7B49D5-5385-83B9-FAD7-7249C1A9CF79}"/>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CA9D5ECA-DA42-DEAA-8ED2-CBED2F570273}"/>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C8DCD3E0-3803-AA12-B5E9-5294CB8D7DE5}"/>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B4AE835C-B4C5-56A6-7075-2F5AB912058F}"/>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CBBCEBF9-7E1D-092E-A243-65FB45CD9B94}"/>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EB81B532-DDCA-3A7C-A36C-1F984D491140}"/>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B2948B7C-3736-C59D-53E6-3C8EEF1D7514}"/>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EFB91112-4570-CF0F-8E84-71EDEA93BF7A}"/>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465A6974-62A0-6CFD-A47B-09489CD8D3F3}"/>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1933DE4E-5F1F-0883-FB0E-F0AD4A5C4382}"/>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5B3C4D49-2F56-1F7E-109C-07D6B53B61B3}"/>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F61966DF-FDFC-BBEF-B985-4176ACC57585}"/>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B606AAFE-7BEF-F2C6-51A7-8243B5CC0A84}"/>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3808D123-49A9-A1B7-56E5-E241A1E1A763}"/>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DFEB7F56-0F9A-759E-90BD-9F51A51551AE}"/>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30509A33-6BE2-3C93-F806-DAAAE34AC2A4}"/>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2AF671FF-DAC0-730A-2E10-C97C729D09E6}"/>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9507B390-677E-8529-05D3-F43BCA622EAA}"/>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9C7130FA-EF0E-D321-A711-2CFF3D9D1F98}"/>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C2EFE780-7B39-41DA-3AD2-FE6DB1030148}"/>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163D0C00-CF39-7026-89E9-B2BFF5471BBB}"/>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8C086198-14D7-774D-9A27-742C2B7ACB76}"/>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90AE901A-EAD9-CBA2-6B3F-747D6CD5FAFC}"/>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A83FA3D7-07FD-BD46-B5FD-D6A4A35CC3CD}"/>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EA379CF3-27DB-71F3-A9BA-53071401620E}"/>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C59385C6-3F06-99EB-E4E6-3566FAF62784}"/>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60FC06B9-E584-B691-0692-7C437CCA0D7C}"/>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 name="TextBox 3">
            <a:extLst>
              <a:ext uri="{FF2B5EF4-FFF2-40B4-BE49-F238E27FC236}">
                <a16:creationId xmlns:a16="http://schemas.microsoft.com/office/drawing/2014/main" id="{C1F1D691-5E20-1AAB-0689-1C633DC208FB}"/>
              </a:ext>
            </a:extLst>
          </p:cNvPr>
          <p:cNvSpPr txBox="1"/>
          <p:nvPr/>
        </p:nvSpPr>
        <p:spPr>
          <a:xfrm>
            <a:off x="5987284" y="4828256"/>
            <a:ext cx="2776540" cy="1200329"/>
          </a:xfrm>
          <a:prstGeom prst="rect">
            <a:avLst/>
          </a:prstGeom>
          <a:solidFill>
            <a:schemeClr val="accent3">
              <a:lumMod val="95000"/>
            </a:schemeClr>
          </a:solidFill>
          <a:ln w="3175">
            <a:solidFill>
              <a:srgbClr val="FF0000"/>
            </a:solidFill>
          </a:ln>
        </p:spPr>
        <p:txBody>
          <a:bodyPr wrap="square">
            <a:spAutoFit/>
          </a:bodyPr>
          <a:lstStyle/>
          <a:p>
            <a:r>
              <a:rPr lang="en-US" sz="1800" b="0" u="none" dirty="0">
                <a:solidFill>
                  <a:srgbClr val="EB971B"/>
                </a:solidFill>
                <a:cs typeface="Arial" pitchFamily="34" charset="0"/>
              </a:rPr>
              <a:t>Samples</a:t>
            </a:r>
            <a:r>
              <a:rPr lang="en-US" sz="1800" b="0" u="none" dirty="0">
                <a:solidFill>
                  <a:srgbClr val="00B0F0"/>
                </a:solidFill>
                <a:cs typeface="Arial" pitchFamily="34" charset="0"/>
              </a:rPr>
              <a:t> </a:t>
            </a:r>
            <a:r>
              <a:rPr lang="en-US" sz="1800" b="0" u="none" dirty="0">
                <a:solidFill>
                  <a:srgbClr val="FF0000"/>
                </a:solidFill>
                <a:cs typeface="Arial" pitchFamily="34" charset="0"/>
              </a:rPr>
              <a:t>can differ from the </a:t>
            </a:r>
            <a:r>
              <a:rPr lang="en-US" sz="1800" b="0" u="none" dirty="0">
                <a:cs typeface="Arial" pitchFamily="34" charset="0"/>
              </a:rPr>
              <a:t>population </a:t>
            </a:r>
            <a:r>
              <a:rPr lang="en-US" sz="1800" b="0" u="none" dirty="0">
                <a:solidFill>
                  <a:srgbClr val="FF0000"/>
                </a:solidFill>
                <a:cs typeface="Arial" pitchFamily="34" charset="0"/>
              </a:rPr>
              <a:t>from which they are drawn due to random noise</a:t>
            </a:r>
          </a:p>
        </p:txBody>
      </p:sp>
    </p:spTree>
    <p:extLst>
      <p:ext uri="{BB962C8B-B14F-4D97-AF65-F5344CB8AC3E}">
        <p14:creationId xmlns:p14="http://schemas.microsoft.com/office/powerpoint/2010/main" val="3183440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BB63-58A5-E67F-3F7A-05766812F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B9E3D-80D8-56C7-7F22-1C40946740DD}"/>
              </a:ext>
            </a:extLst>
          </p:cNvPr>
          <p:cNvSpPr>
            <a:spLocks noGrp="1"/>
          </p:cNvSpPr>
          <p:nvPr>
            <p:ph type="title"/>
          </p:nvPr>
        </p:nvSpPr>
        <p:spPr/>
        <p:txBody>
          <a:bodyPr/>
          <a:lstStyle/>
          <a:p>
            <a:r>
              <a:rPr lang="en-US" dirty="0"/>
              <a:t>Will the Republicans Keep the House?</a:t>
            </a:r>
          </a:p>
        </p:txBody>
      </p:sp>
      <p:sp>
        <p:nvSpPr>
          <p:cNvPr id="3" name="Slide Number Placeholder 2">
            <a:extLst>
              <a:ext uri="{FF2B5EF4-FFF2-40B4-BE49-F238E27FC236}">
                <a16:creationId xmlns:a16="http://schemas.microsoft.com/office/drawing/2014/main" id="{F3473C6E-73BE-1F4E-B197-F5D57F425BBD}"/>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22</a:t>
            </a:fld>
            <a:endParaRPr lang="en-GB" dirty="0"/>
          </a:p>
        </p:txBody>
      </p:sp>
      <p:sp>
        <p:nvSpPr>
          <p:cNvPr id="8" name="TextBox 7">
            <a:extLst>
              <a:ext uri="{FF2B5EF4-FFF2-40B4-BE49-F238E27FC236}">
                <a16:creationId xmlns:a16="http://schemas.microsoft.com/office/drawing/2014/main" id="{9B532891-A565-B34D-6AB0-4643D930992C}"/>
              </a:ext>
            </a:extLst>
          </p:cNvPr>
          <p:cNvSpPr txBox="1"/>
          <p:nvPr/>
        </p:nvSpPr>
        <p:spPr>
          <a:xfrm>
            <a:off x="218144" y="1045915"/>
            <a:ext cx="2351637" cy="707886"/>
          </a:xfrm>
          <a:prstGeom prst="rect">
            <a:avLst/>
          </a:prstGeom>
          <a:noFill/>
        </p:spPr>
        <p:txBody>
          <a:bodyPr wrap="square" rtlCol="0">
            <a:spAutoFit/>
          </a:bodyPr>
          <a:lstStyle/>
          <a:p>
            <a:pPr algn="ctr"/>
            <a:r>
              <a:rPr lang="en-US" b="0" u="none" dirty="0">
                <a:latin typeface="Arial" pitchFamily="34" charset="0"/>
                <a:cs typeface="Arial" pitchFamily="34" charset="0"/>
              </a:rPr>
              <a:t>All Voters </a:t>
            </a:r>
            <a:r>
              <a:rPr lang="en-US" b="0" u="none" dirty="0">
                <a:cs typeface="Arial" pitchFamily="34" charset="0"/>
              </a:rPr>
              <a:t>on Election Day</a:t>
            </a:r>
            <a:endParaRPr lang="en-US" b="0" u="none" dirty="0">
              <a:latin typeface="Arial" pitchFamily="34" charset="0"/>
              <a:cs typeface="Arial" pitchFamily="34" charset="0"/>
            </a:endParaRPr>
          </a:p>
        </p:txBody>
      </p:sp>
      <p:sp>
        <p:nvSpPr>
          <p:cNvPr id="46" name="TextBox 45">
            <a:extLst>
              <a:ext uri="{FF2B5EF4-FFF2-40B4-BE49-F238E27FC236}">
                <a16:creationId xmlns:a16="http://schemas.microsoft.com/office/drawing/2014/main" id="{B7D9DD1F-E9ED-DBE1-556F-C96B21765237}"/>
              </a:ext>
            </a:extLst>
          </p:cNvPr>
          <p:cNvSpPr txBox="1"/>
          <p:nvPr/>
        </p:nvSpPr>
        <p:spPr>
          <a:xfrm>
            <a:off x="6994936" y="2811117"/>
            <a:ext cx="1822799" cy="1015663"/>
          </a:xfrm>
          <a:prstGeom prst="rect">
            <a:avLst/>
          </a:prstGeom>
          <a:noFill/>
        </p:spPr>
        <p:txBody>
          <a:bodyPr wrap="square" rtlCol="0">
            <a:spAutoFit/>
          </a:bodyPr>
          <a:lstStyle/>
          <a:p>
            <a:pPr algn="ctr"/>
            <a:r>
              <a:rPr lang="en-US" b="0" u="none" dirty="0">
                <a:solidFill>
                  <a:srgbClr val="EB971B"/>
                </a:solidFill>
                <a:latin typeface="Arial" pitchFamily="34" charset="0"/>
                <a:cs typeface="Arial" pitchFamily="34" charset="0"/>
              </a:rPr>
              <a:t>Likely Voters Before Election Day</a:t>
            </a:r>
          </a:p>
        </p:txBody>
      </p:sp>
      <p:sp>
        <p:nvSpPr>
          <p:cNvPr id="7" name="Oval 6">
            <a:extLst>
              <a:ext uri="{FF2B5EF4-FFF2-40B4-BE49-F238E27FC236}">
                <a16:creationId xmlns:a16="http://schemas.microsoft.com/office/drawing/2014/main" id="{77763FB0-476D-4FF9-3823-285EFA81A2F6}"/>
              </a:ext>
            </a:extLst>
          </p:cNvPr>
          <p:cNvSpPr/>
          <p:nvPr/>
        </p:nvSpPr>
        <p:spPr bwMode="auto">
          <a:xfrm>
            <a:off x="544159" y="1387131"/>
            <a:ext cx="6336196" cy="488508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9" name="Oval 8">
            <a:extLst>
              <a:ext uri="{FF2B5EF4-FFF2-40B4-BE49-F238E27FC236}">
                <a16:creationId xmlns:a16="http://schemas.microsoft.com/office/drawing/2014/main" id="{640AFDF7-0206-C093-A77A-DBE418264327}"/>
              </a:ext>
            </a:extLst>
          </p:cNvPr>
          <p:cNvSpPr/>
          <p:nvPr/>
        </p:nvSpPr>
        <p:spPr bwMode="auto">
          <a:xfrm>
            <a:off x="2237133" y="205578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47" name="Oval 46">
            <a:extLst>
              <a:ext uri="{FF2B5EF4-FFF2-40B4-BE49-F238E27FC236}">
                <a16:creationId xmlns:a16="http://schemas.microsoft.com/office/drawing/2014/main" id="{A9D3FC96-052D-E909-764E-14C5927DF8DC}"/>
              </a:ext>
            </a:extLst>
          </p:cNvPr>
          <p:cNvSpPr/>
          <p:nvPr/>
        </p:nvSpPr>
        <p:spPr bwMode="auto">
          <a:xfrm>
            <a:off x="1374913" y="26520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1" name="Oval 50">
            <a:extLst>
              <a:ext uri="{FF2B5EF4-FFF2-40B4-BE49-F238E27FC236}">
                <a16:creationId xmlns:a16="http://schemas.microsoft.com/office/drawing/2014/main" id="{B4BB4CA0-73CD-9818-AA2D-44FD5193BC9B}"/>
              </a:ext>
            </a:extLst>
          </p:cNvPr>
          <p:cNvSpPr/>
          <p:nvPr/>
        </p:nvSpPr>
        <p:spPr bwMode="auto">
          <a:xfrm>
            <a:off x="1393963"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2" name="Oval 51">
            <a:extLst>
              <a:ext uri="{FF2B5EF4-FFF2-40B4-BE49-F238E27FC236}">
                <a16:creationId xmlns:a16="http://schemas.microsoft.com/office/drawing/2014/main" id="{6B59268C-29C3-9925-B4EC-105882DB2C53}"/>
              </a:ext>
            </a:extLst>
          </p:cNvPr>
          <p:cNvSpPr/>
          <p:nvPr/>
        </p:nvSpPr>
        <p:spPr bwMode="auto">
          <a:xfrm>
            <a:off x="2146438" y="412308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3" name="Oval 52">
            <a:extLst>
              <a:ext uri="{FF2B5EF4-FFF2-40B4-BE49-F238E27FC236}">
                <a16:creationId xmlns:a16="http://schemas.microsoft.com/office/drawing/2014/main" id="{E55561CD-3672-93E6-2612-13CF21616126}"/>
              </a:ext>
            </a:extLst>
          </p:cNvPr>
          <p:cNvSpPr/>
          <p:nvPr/>
        </p:nvSpPr>
        <p:spPr bwMode="auto">
          <a:xfrm>
            <a:off x="1728580" y="32302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4" name="Oval 53">
            <a:extLst>
              <a:ext uri="{FF2B5EF4-FFF2-40B4-BE49-F238E27FC236}">
                <a16:creationId xmlns:a16="http://schemas.microsoft.com/office/drawing/2014/main" id="{C452E016-5BB8-F7C1-9B29-E27AF1900D47}"/>
              </a:ext>
            </a:extLst>
          </p:cNvPr>
          <p:cNvSpPr/>
          <p:nvPr/>
        </p:nvSpPr>
        <p:spPr bwMode="auto">
          <a:xfrm>
            <a:off x="2663477" y="317983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5" name="Oval 54">
            <a:extLst>
              <a:ext uri="{FF2B5EF4-FFF2-40B4-BE49-F238E27FC236}">
                <a16:creationId xmlns:a16="http://schemas.microsoft.com/office/drawing/2014/main" id="{994F0DAE-6305-E6C8-7A09-47DE2F87B246}"/>
              </a:ext>
            </a:extLst>
          </p:cNvPr>
          <p:cNvSpPr/>
          <p:nvPr/>
        </p:nvSpPr>
        <p:spPr bwMode="auto">
          <a:xfrm>
            <a:off x="2656233" y="556254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6" name="Oval 55">
            <a:extLst>
              <a:ext uri="{FF2B5EF4-FFF2-40B4-BE49-F238E27FC236}">
                <a16:creationId xmlns:a16="http://schemas.microsoft.com/office/drawing/2014/main" id="{C6805A15-F925-0878-DD53-316075C442E5}"/>
              </a:ext>
            </a:extLst>
          </p:cNvPr>
          <p:cNvSpPr/>
          <p:nvPr/>
        </p:nvSpPr>
        <p:spPr bwMode="auto">
          <a:xfrm>
            <a:off x="3520937" y="175387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7" name="Oval 56">
            <a:extLst>
              <a:ext uri="{FF2B5EF4-FFF2-40B4-BE49-F238E27FC236}">
                <a16:creationId xmlns:a16="http://schemas.microsoft.com/office/drawing/2014/main" id="{BB5175FD-268E-1140-E13B-861FDF03240D}"/>
              </a:ext>
            </a:extLst>
          </p:cNvPr>
          <p:cNvSpPr/>
          <p:nvPr/>
        </p:nvSpPr>
        <p:spPr bwMode="auto">
          <a:xfrm>
            <a:off x="2441713" y="37188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8" name="Oval 57">
            <a:extLst>
              <a:ext uri="{FF2B5EF4-FFF2-40B4-BE49-F238E27FC236}">
                <a16:creationId xmlns:a16="http://schemas.microsoft.com/office/drawing/2014/main" id="{B9D4C7C6-8D34-1609-AB96-D8F2E75BFD4A}"/>
              </a:ext>
            </a:extLst>
          </p:cNvPr>
          <p:cNvSpPr/>
          <p:nvPr/>
        </p:nvSpPr>
        <p:spPr bwMode="auto">
          <a:xfrm>
            <a:off x="2527033" y="474096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59" name="Oval 58">
            <a:extLst>
              <a:ext uri="{FF2B5EF4-FFF2-40B4-BE49-F238E27FC236}">
                <a16:creationId xmlns:a16="http://schemas.microsoft.com/office/drawing/2014/main" id="{78B9AD9E-316A-DA97-02F6-269B24BDE7CC}"/>
              </a:ext>
            </a:extLst>
          </p:cNvPr>
          <p:cNvSpPr/>
          <p:nvPr/>
        </p:nvSpPr>
        <p:spPr bwMode="auto">
          <a:xfrm>
            <a:off x="3153189" y="351309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0" name="Oval 59">
            <a:extLst>
              <a:ext uri="{FF2B5EF4-FFF2-40B4-BE49-F238E27FC236}">
                <a16:creationId xmlns:a16="http://schemas.microsoft.com/office/drawing/2014/main" id="{A9802C7D-0609-7461-E154-3B0AFE33E88D}"/>
              </a:ext>
            </a:extLst>
          </p:cNvPr>
          <p:cNvSpPr/>
          <p:nvPr/>
        </p:nvSpPr>
        <p:spPr bwMode="auto">
          <a:xfrm>
            <a:off x="1882637" y="473547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1" name="Oval 60">
            <a:extLst>
              <a:ext uri="{FF2B5EF4-FFF2-40B4-BE49-F238E27FC236}">
                <a16:creationId xmlns:a16="http://schemas.microsoft.com/office/drawing/2014/main" id="{CA11AEB8-CFAB-2373-5AC6-976621D492CA}"/>
              </a:ext>
            </a:extLst>
          </p:cNvPr>
          <p:cNvSpPr/>
          <p:nvPr/>
        </p:nvSpPr>
        <p:spPr bwMode="auto">
          <a:xfrm>
            <a:off x="4083326" y="431392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2" name="Oval 61">
            <a:extLst>
              <a:ext uri="{FF2B5EF4-FFF2-40B4-BE49-F238E27FC236}">
                <a16:creationId xmlns:a16="http://schemas.microsoft.com/office/drawing/2014/main" id="{9E091891-CF56-DD6F-5AAB-3B813A4D7D81}"/>
              </a:ext>
            </a:extLst>
          </p:cNvPr>
          <p:cNvSpPr/>
          <p:nvPr/>
        </p:nvSpPr>
        <p:spPr bwMode="auto">
          <a:xfrm>
            <a:off x="4027414" y="335085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3" name="Oval 62">
            <a:extLst>
              <a:ext uri="{FF2B5EF4-FFF2-40B4-BE49-F238E27FC236}">
                <a16:creationId xmlns:a16="http://schemas.microsoft.com/office/drawing/2014/main" id="{EC05806E-6204-4BC7-1EEF-2EB6281283D1}"/>
              </a:ext>
            </a:extLst>
          </p:cNvPr>
          <p:cNvSpPr/>
          <p:nvPr/>
        </p:nvSpPr>
        <p:spPr bwMode="auto">
          <a:xfrm>
            <a:off x="3105978" y="455160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4" name="Oval 63">
            <a:extLst>
              <a:ext uri="{FF2B5EF4-FFF2-40B4-BE49-F238E27FC236}">
                <a16:creationId xmlns:a16="http://schemas.microsoft.com/office/drawing/2014/main" id="{2264836F-1DC5-DE4D-E942-D371145C6D89}"/>
              </a:ext>
            </a:extLst>
          </p:cNvPr>
          <p:cNvSpPr/>
          <p:nvPr/>
        </p:nvSpPr>
        <p:spPr bwMode="auto">
          <a:xfrm>
            <a:off x="3605420" y="533068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5" name="Oval 64">
            <a:extLst>
              <a:ext uri="{FF2B5EF4-FFF2-40B4-BE49-F238E27FC236}">
                <a16:creationId xmlns:a16="http://schemas.microsoft.com/office/drawing/2014/main" id="{77A2FE88-45D5-26FE-9B94-8EE23BB7B764}"/>
              </a:ext>
            </a:extLst>
          </p:cNvPr>
          <p:cNvSpPr/>
          <p:nvPr/>
        </p:nvSpPr>
        <p:spPr bwMode="auto">
          <a:xfrm>
            <a:off x="3813313" y="5090491"/>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6" name="Oval 65">
            <a:extLst>
              <a:ext uri="{FF2B5EF4-FFF2-40B4-BE49-F238E27FC236}">
                <a16:creationId xmlns:a16="http://schemas.microsoft.com/office/drawing/2014/main" id="{85B2C8A2-55FB-BB79-9D9D-66FE5F2DC7CD}"/>
              </a:ext>
            </a:extLst>
          </p:cNvPr>
          <p:cNvSpPr/>
          <p:nvPr/>
        </p:nvSpPr>
        <p:spPr bwMode="auto">
          <a:xfrm>
            <a:off x="4083326" y="52967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7" name="Oval 66">
            <a:extLst>
              <a:ext uri="{FF2B5EF4-FFF2-40B4-BE49-F238E27FC236}">
                <a16:creationId xmlns:a16="http://schemas.microsoft.com/office/drawing/2014/main" id="{24A319D1-FE2A-C328-EBE9-38ECC0FBA8FF}"/>
              </a:ext>
            </a:extLst>
          </p:cNvPr>
          <p:cNvSpPr/>
          <p:nvPr/>
        </p:nvSpPr>
        <p:spPr bwMode="auto">
          <a:xfrm>
            <a:off x="4185202" y="2744028"/>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8" name="Oval 67">
            <a:extLst>
              <a:ext uri="{FF2B5EF4-FFF2-40B4-BE49-F238E27FC236}">
                <a16:creationId xmlns:a16="http://schemas.microsoft.com/office/drawing/2014/main" id="{82782525-A4DB-312B-38DD-2E4D8B0DE63A}"/>
              </a:ext>
            </a:extLst>
          </p:cNvPr>
          <p:cNvSpPr/>
          <p:nvPr/>
        </p:nvSpPr>
        <p:spPr bwMode="auto">
          <a:xfrm>
            <a:off x="5384524" y="241386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69" name="Oval 68">
            <a:extLst>
              <a:ext uri="{FF2B5EF4-FFF2-40B4-BE49-F238E27FC236}">
                <a16:creationId xmlns:a16="http://schemas.microsoft.com/office/drawing/2014/main" id="{2256C24E-F5EA-BEC9-7D41-953265914952}"/>
              </a:ext>
            </a:extLst>
          </p:cNvPr>
          <p:cNvSpPr/>
          <p:nvPr/>
        </p:nvSpPr>
        <p:spPr bwMode="auto">
          <a:xfrm>
            <a:off x="4878252" y="291923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0" name="Oval 69">
            <a:extLst>
              <a:ext uri="{FF2B5EF4-FFF2-40B4-BE49-F238E27FC236}">
                <a16:creationId xmlns:a16="http://schemas.microsoft.com/office/drawing/2014/main" id="{CA936C05-E9B7-8FB3-B1A4-0622A0C26E4D}"/>
              </a:ext>
            </a:extLst>
          </p:cNvPr>
          <p:cNvSpPr/>
          <p:nvPr/>
        </p:nvSpPr>
        <p:spPr bwMode="auto">
          <a:xfrm>
            <a:off x="4512365" y="391187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1" name="Oval 70">
            <a:extLst>
              <a:ext uri="{FF2B5EF4-FFF2-40B4-BE49-F238E27FC236}">
                <a16:creationId xmlns:a16="http://schemas.microsoft.com/office/drawing/2014/main" id="{A9778316-1F95-5686-1FFA-A6D8541D0A64}"/>
              </a:ext>
            </a:extLst>
          </p:cNvPr>
          <p:cNvSpPr/>
          <p:nvPr/>
        </p:nvSpPr>
        <p:spPr bwMode="auto">
          <a:xfrm>
            <a:off x="5184093" y="4428710"/>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2" name="Oval 71">
            <a:extLst>
              <a:ext uri="{FF2B5EF4-FFF2-40B4-BE49-F238E27FC236}">
                <a16:creationId xmlns:a16="http://schemas.microsoft.com/office/drawing/2014/main" id="{A5BC2163-219B-C7DC-3799-17523DA472C6}"/>
              </a:ext>
            </a:extLst>
          </p:cNvPr>
          <p:cNvSpPr/>
          <p:nvPr/>
        </p:nvSpPr>
        <p:spPr bwMode="auto">
          <a:xfrm>
            <a:off x="5943600" y="4449417"/>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3" name="Oval 72">
            <a:extLst>
              <a:ext uri="{FF2B5EF4-FFF2-40B4-BE49-F238E27FC236}">
                <a16:creationId xmlns:a16="http://schemas.microsoft.com/office/drawing/2014/main" id="{A9DD8F7D-197A-57D3-51B7-4D185A06B9CB}"/>
              </a:ext>
            </a:extLst>
          </p:cNvPr>
          <p:cNvSpPr/>
          <p:nvPr/>
        </p:nvSpPr>
        <p:spPr bwMode="auto">
          <a:xfrm>
            <a:off x="4222055" y="1941503"/>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4" name="Oval 73">
            <a:extLst>
              <a:ext uri="{FF2B5EF4-FFF2-40B4-BE49-F238E27FC236}">
                <a16:creationId xmlns:a16="http://schemas.microsoft.com/office/drawing/2014/main" id="{EF315129-BF02-B5B9-F63D-87F2AEB26EF7}"/>
              </a:ext>
            </a:extLst>
          </p:cNvPr>
          <p:cNvSpPr/>
          <p:nvPr/>
        </p:nvSpPr>
        <p:spPr bwMode="auto">
          <a:xfrm>
            <a:off x="3330433" y="4083326"/>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5" name="Oval 74">
            <a:extLst>
              <a:ext uri="{FF2B5EF4-FFF2-40B4-BE49-F238E27FC236}">
                <a16:creationId xmlns:a16="http://schemas.microsoft.com/office/drawing/2014/main" id="{CAF866C8-A6B2-CFDB-23F0-10CCCBBCB48E}"/>
              </a:ext>
            </a:extLst>
          </p:cNvPr>
          <p:cNvSpPr/>
          <p:nvPr/>
        </p:nvSpPr>
        <p:spPr bwMode="auto">
          <a:xfrm>
            <a:off x="5094214" y="3363705"/>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6" name="Oval 75">
            <a:extLst>
              <a:ext uri="{FF2B5EF4-FFF2-40B4-BE49-F238E27FC236}">
                <a16:creationId xmlns:a16="http://schemas.microsoft.com/office/drawing/2014/main" id="{F5857ABA-4AEB-2C34-BF4F-C9F5740EAFC7}"/>
              </a:ext>
            </a:extLst>
          </p:cNvPr>
          <p:cNvSpPr/>
          <p:nvPr/>
        </p:nvSpPr>
        <p:spPr bwMode="auto">
          <a:xfrm>
            <a:off x="5523671" y="3899452"/>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7" name="Oval 76">
            <a:extLst>
              <a:ext uri="{FF2B5EF4-FFF2-40B4-BE49-F238E27FC236}">
                <a16:creationId xmlns:a16="http://schemas.microsoft.com/office/drawing/2014/main" id="{9A1295FA-CB22-4156-867A-488233681F2C}"/>
              </a:ext>
            </a:extLst>
          </p:cNvPr>
          <p:cNvSpPr/>
          <p:nvPr/>
        </p:nvSpPr>
        <p:spPr bwMode="auto">
          <a:xfrm>
            <a:off x="2346049" y="2729179"/>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78" name="Oval 77">
            <a:extLst>
              <a:ext uri="{FF2B5EF4-FFF2-40B4-BE49-F238E27FC236}">
                <a16:creationId xmlns:a16="http://schemas.microsoft.com/office/drawing/2014/main" id="{3F7AC90C-3EB4-03EB-96C0-C83556F5B3F9}"/>
              </a:ext>
            </a:extLst>
          </p:cNvPr>
          <p:cNvSpPr/>
          <p:nvPr/>
        </p:nvSpPr>
        <p:spPr bwMode="auto">
          <a:xfrm>
            <a:off x="3051313" y="2352824"/>
            <a:ext cx="203752" cy="183874"/>
          </a:xfrm>
          <a:prstGeom prst="ellipse">
            <a:avLst/>
          </a:prstGeom>
          <a:solidFill>
            <a:schemeClr val="tx1"/>
          </a:solidFill>
          <a:ln w="9525" cap="flat" cmpd="sng" algn="ctr">
            <a:solidFill>
              <a:schemeClr val="tx1"/>
            </a:solidFill>
            <a:prstDash val="solid"/>
            <a:round/>
            <a:headEnd type="none" w="med" len="med"/>
            <a:tailEnd type="triangle" w="med" len="med"/>
          </a:ln>
          <a:effectLst/>
        </p:spPr>
        <p:txBody>
          <a:bodyPr rtlCol="0" anchor="ctr"/>
          <a:lstStyle/>
          <a:p>
            <a:pPr algn="ctr"/>
            <a:endParaRPr lang="en-US"/>
          </a:p>
        </p:txBody>
      </p:sp>
      <p:sp>
        <p:nvSpPr>
          <p:cNvPr id="81" name="Oval 80">
            <a:extLst>
              <a:ext uri="{FF2B5EF4-FFF2-40B4-BE49-F238E27FC236}">
                <a16:creationId xmlns:a16="http://schemas.microsoft.com/office/drawing/2014/main" id="{6814725B-2C8A-B475-1EFB-1E2AB40794E7}"/>
              </a:ext>
            </a:extLst>
          </p:cNvPr>
          <p:cNvSpPr/>
          <p:nvPr/>
        </p:nvSpPr>
        <p:spPr bwMode="auto">
          <a:xfrm>
            <a:off x="3520937" y="2827298"/>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2" name="Oval 81">
            <a:extLst>
              <a:ext uri="{FF2B5EF4-FFF2-40B4-BE49-F238E27FC236}">
                <a16:creationId xmlns:a16="http://schemas.microsoft.com/office/drawing/2014/main" id="{311A957C-97FB-B3C0-A404-2A3A90504B80}"/>
              </a:ext>
            </a:extLst>
          </p:cNvPr>
          <p:cNvSpPr/>
          <p:nvPr/>
        </p:nvSpPr>
        <p:spPr bwMode="auto">
          <a:xfrm>
            <a:off x="4825448" y="2284787"/>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3" name="Oval 82">
            <a:extLst>
              <a:ext uri="{FF2B5EF4-FFF2-40B4-BE49-F238E27FC236}">
                <a16:creationId xmlns:a16="http://schemas.microsoft.com/office/drawing/2014/main" id="{F9647D5C-5411-17BD-40BC-66257AF97381}"/>
              </a:ext>
            </a:extLst>
          </p:cNvPr>
          <p:cNvSpPr/>
          <p:nvPr/>
        </p:nvSpPr>
        <p:spPr bwMode="auto">
          <a:xfrm>
            <a:off x="4821307" y="5081380"/>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4" name="Oval 83">
            <a:extLst>
              <a:ext uri="{FF2B5EF4-FFF2-40B4-BE49-F238E27FC236}">
                <a16:creationId xmlns:a16="http://schemas.microsoft.com/office/drawing/2014/main" id="{FC3C9537-1E36-497C-9D89-62CC2937EE93}"/>
              </a:ext>
            </a:extLst>
          </p:cNvPr>
          <p:cNvSpPr/>
          <p:nvPr/>
        </p:nvSpPr>
        <p:spPr bwMode="auto">
          <a:xfrm>
            <a:off x="838200" y="3473726"/>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5" name="Oval 84">
            <a:extLst>
              <a:ext uri="{FF2B5EF4-FFF2-40B4-BE49-F238E27FC236}">
                <a16:creationId xmlns:a16="http://schemas.microsoft.com/office/drawing/2014/main" id="{60EAE5DB-4AC6-0EA7-6E32-51B218094406}"/>
              </a:ext>
            </a:extLst>
          </p:cNvPr>
          <p:cNvSpPr/>
          <p:nvPr/>
        </p:nvSpPr>
        <p:spPr bwMode="auto">
          <a:xfrm>
            <a:off x="5987284" y="3364533"/>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6" name="Oval 85">
            <a:extLst>
              <a:ext uri="{FF2B5EF4-FFF2-40B4-BE49-F238E27FC236}">
                <a16:creationId xmlns:a16="http://schemas.microsoft.com/office/drawing/2014/main" id="{D365342D-19B7-1EC1-49C7-E816324F4E77}"/>
              </a:ext>
            </a:extLst>
          </p:cNvPr>
          <p:cNvSpPr/>
          <p:nvPr/>
        </p:nvSpPr>
        <p:spPr bwMode="auto">
          <a:xfrm>
            <a:off x="1965463" y="5374041"/>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87" name="Oval 86">
            <a:extLst>
              <a:ext uri="{FF2B5EF4-FFF2-40B4-BE49-F238E27FC236}">
                <a16:creationId xmlns:a16="http://schemas.microsoft.com/office/drawing/2014/main" id="{4F5D2C11-E3DE-4114-C6B8-99E3D3CB25BD}"/>
              </a:ext>
            </a:extLst>
          </p:cNvPr>
          <p:cNvSpPr/>
          <p:nvPr/>
        </p:nvSpPr>
        <p:spPr bwMode="auto">
          <a:xfrm>
            <a:off x="2136913" y="3412434"/>
            <a:ext cx="203752" cy="183874"/>
          </a:xfrm>
          <a:prstGeom prst="ellipse">
            <a:avLst/>
          </a:prstGeom>
          <a:solidFill>
            <a:srgbClr val="FFC000"/>
          </a:solidFill>
          <a:ln w="9525" cap="flat" cmpd="sng" algn="ctr">
            <a:solidFill>
              <a:srgbClr val="FFC000"/>
            </a:solidFill>
            <a:prstDash val="solid"/>
            <a:round/>
            <a:headEnd type="none" w="med" len="med"/>
            <a:tailEnd type="triangle" w="med" len="med"/>
          </a:ln>
          <a:effectLst/>
        </p:spPr>
        <p:txBody>
          <a:bodyPr rtlCol="0" anchor="ctr"/>
          <a:lstStyle/>
          <a:p>
            <a:pPr algn="ctr"/>
            <a:endParaRPr lang="en-US"/>
          </a:p>
        </p:txBody>
      </p:sp>
      <p:sp>
        <p:nvSpPr>
          <p:cNvPr id="4" name="TextBox 3">
            <a:extLst>
              <a:ext uri="{FF2B5EF4-FFF2-40B4-BE49-F238E27FC236}">
                <a16:creationId xmlns:a16="http://schemas.microsoft.com/office/drawing/2014/main" id="{2CDF4BDC-4BC9-CEF6-07CC-3D3A550C3E32}"/>
              </a:ext>
            </a:extLst>
          </p:cNvPr>
          <p:cNvSpPr txBox="1"/>
          <p:nvPr/>
        </p:nvSpPr>
        <p:spPr>
          <a:xfrm>
            <a:off x="5987284" y="4828256"/>
            <a:ext cx="2776540" cy="1477328"/>
          </a:xfrm>
          <a:prstGeom prst="rect">
            <a:avLst/>
          </a:prstGeom>
          <a:solidFill>
            <a:schemeClr val="accent3">
              <a:lumMod val="95000"/>
            </a:schemeClr>
          </a:solidFill>
          <a:ln w="3175">
            <a:solidFill>
              <a:srgbClr val="FF0000"/>
            </a:solidFill>
          </a:ln>
        </p:spPr>
        <p:txBody>
          <a:bodyPr wrap="square">
            <a:spAutoFit/>
          </a:bodyPr>
          <a:lstStyle/>
          <a:p>
            <a:r>
              <a:rPr lang="en-US" sz="1800" b="0" u="none" dirty="0">
                <a:solidFill>
                  <a:srgbClr val="EB971B"/>
                </a:solidFill>
                <a:cs typeface="Arial" pitchFamily="34" charset="0"/>
              </a:rPr>
              <a:t>Samples</a:t>
            </a:r>
            <a:r>
              <a:rPr lang="en-US" sz="1800" b="0" u="none" dirty="0">
                <a:solidFill>
                  <a:srgbClr val="00B0F0"/>
                </a:solidFill>
                <a:cs typeface="Arial" pitchFamily="34" charset="0"/>
              </a:rPr>
              <a:t> </a:t>
            </a:r>
            <a:r>
              <a:rPr lang="en-US" sz="1800" b="0" u="none" dirty="0">
                <a:solidFill>
                  <a:srgbClr val="FF0000"/>
                </a:solidFill>
                <a:cs typeface="Arial" pitchFamily="34" charset="0"/>
              </a:rPr>
              <a:t>are better approximations of the </a:t>
            </a:r>
            <a:r>
              <a:rPr lang="en-US" sz="1800" b="0" u="none" dirty="0">
                <a:cs typeface="Arial" pitchFamily="34" charset="0"/>
              </a:rPr>
              <a:t>population </a:t>
            </a:r>
            <a:r>
              <a:rPr lang="en-US" sz="1800" b="0" u="none" dirty="0">
                <a:solidFill>
                  <a:srgbClr val="FF0000"/>
                </a:solidFill>
                <a:cs typeface="Arial" pitchFamily="34" charset="0"/>
              </a:rPr>
              <a:t>when they are drawn randomly and when they are larger</a:t>
            </a:r>
          </a:p>
        </p:txBody>
      </p:sp>
    </p:spTree>
    <p:extLst>
      <p:ext uri="{BB962C8B-B14F-4D97-AF65-F5344CB8AC3E}">
        <p14:creationId xmlns:p14="http://schemas.microsoft.com/office/powerpoint/2010/main" val="221738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549F18-3AC9-9FE5-063A-372A39A2BFB3}"/>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23</a:t>
            </a:fld>
            <a:endParaRPr lang="en-GB" dirty="0"/>
          </a:p>
        </p:txBody>
      </p:sp>
      <p:pic>
        <p:nvPicPr>
          <p:cNvPr id="5" name="Picture 4">
            <a:extLst>
              <a:ext uri="{FF2B5EF4-FFF2-40B4-BE49-F238E27FC236}">
                <a16:creationId xmlns:a16="http://schemas.microsoft.com/office/drawing/2014/main" id="{820C28B1-CBEF-C7C1-3A98-5B439707D5E6}"/>
              </a:ext>
            </a:extLst>
          </p:cNvPr>
          <p:cNvPicPr>
            <a:picLocks noChangeAspect="1"/>
          </p:cNvPicPr>
          <p:nvPr/>
        </p:nvPicPr>
        <p:blipFill>
          <a:blip r:embed="rId2"/>
          <a:stretch>
            <a:fillRect/>
          </a:stretch>
        </p:blipFill>
        <p:spPr>
          <a:xfrm>
            <a:off x="2348014" y="358320"/>
            <a:ext cx="4447971" cy="6296479"/>
          </a:xfrm>
          <a:prstGeom prst="rect">
            <a:avLst/>
          </a:prstGeom>
        </p:spPr>
      </p:pic>
    </p:spTree>
    <p:extLst>
      <p:ext uri="{BB962C8B-B14F-4D97-AF65-F5344CB8AC3E}">
        <p14:creationId xmlns:p14="http://schemas.microsoft.com/office/powerpoint/2010/main" val="1739653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39A9-D713-6B35-3B6B-6A00EB637D86}"/>
              </a:ext>
            </a:extLst>
          </p:cNvPr>
          <p:cNvSpPr>
            <a:spLocks noGrp="1"/>
          </p:cNvSpPr>
          <p:nvPr>
            <p:ph type="title"/>
          </p:nvPr>
        </p:nvSpPr>
        <p:spPr/>
        <p:txBody>
          <a:bodyPr/>
          <a:lstStyle/>
          <a:p>
            <a:r>
              <a:rPr lang="en-US" dirty="0"/>
              <a:t>What is </a:t>
            </a:r>
            <a:r>
              <a:rPr lang="en-US" dirty="0">
                <a:solidFill>
                  <a:srgbClr val="00B0F0"/>
                </a:solidFill>
              </a:rPr>
              <a:t>Statistics</a:t>
            </a:r>
            <a:r>
              <a:rPr lang="en-US" dirty="0"/>
              <a:t>?</a:t>
            </a:r>
            <a:endParaRPr lang="en-US" dirty="0">
              <a:solidFill>
                <a:srgbClr val="00B0F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37AF2F-7CE2-3A81-8B30-428B5A68179A}"/>
                  </a:ext>
                </a:extLst>
              </p:cNvPr>
              <p:cNvSpPr>
                <a:spLocks noGrp="1"/>
              </p:cNvSpPr>
              <p:nvPr>
                <p:ph idx="1"/>
              </p:nvPr>
            </p:nvSpPr>
            <p:spPr>
              <a:xfrm>
                <a:off x="354013" y="1089025"/>
                <a:ext cx="8604636" cy="5768975"/>
              </a:xfrm>
            </p:spPr>
            <p:txBody>
              <a:bodyPr/>
              <a:lstStyle/>
              <a:p>
                <a:r>
                  <a:rPr lang="en-US" dirty="0">
                    <a:solidFill>
                      <a:schemeClr val="accent6"/>
                    </a:solidFill>
                  </a:rPr>
                  <a:t> </a:t>
                </a:r>
                <a:r>
                  <a:rPr lang="en-US" dirty="0">
                    <a:solidFill>
                      <a:srgbClr val="00B0F0"/>
                    </a:solidFill>
                  </a:rPr>
                  <a:t>Statistics</a:t>
                </a:r>
                <a:r>
                  <a:rPr lang="en-US" dirty="0">
                    <a:solidFill>
                      <a:schemeClr val="accent6"/>
                    </a:solidFill>
                  </a:rPr>
                  <a:t>: use </a:t>
                </a:r>
                <a:r>
                  <a:rPr lang="en-US" dirty="0">
                    <a:solidFill>
                      <a:srgbClr val="00B0F0"/>
                    </a:solidFill>
                  </a:rPr>
                  <a:t>samples</a:t>
                </a:r>
                <a:r>
                  <a:rPr lang="en-US" dirty="0">
                    <a:solidFill>
                      <a:schemeClr val="accent6"/>
                    </a:solidFill>
                  </a:rPr>
                  <a:t> to infer ranges within which </a:t>
                </a:r>
                <a:r>
                  <a:rPr lang="en-US" dirty="0">
                    <a:solidFill>
                      <a:srgbClr val="00B0F0"/>
                    </a:solidFill>
                  </a:rPr>
                  <a:t>population</a:t>
                </a:r>
                <a:br>
                  <a:rPr lang="en-US" dirty="0">
                    <a:solidFill>
                      <a:srgbClr val="00B0F0"/>
                    </a:solidFill>
                  </a:rPr>
                </a:br>
                <a:r>
                  <a:rPr lang="en-US" dirty="0">
                    <a:solidFill>
                      <a:schemeClr val="accent6"/>
                    </a:solidFill>
                  </a:rPr>
                  <a:t> attributes might lie; these ranges are known as </a:t>
                </a:r>
                <a:r>
                  <a:rPr lang="en-US" dirty="0">
                    <a:solidFill>
                      <a:srgbClr val="00B0F0"/>
                    </a:solidFill>
                  </a:rPr>
                  <a:t>confidence intervals</a:t>
                </a:r>
              </a:p>
              <a:p>
                <a:endParaRPr lang="en-US" dirty="0"/>
              </a:p>
              <a:p>
                <a:r>
                  <a:rPr lang="en-US" dirty="0"/>
                  <a:t>For example, maybe we’d like to know…</a:t>
                </a:r>
                <a:endParaRPr lang="en-US" dirty="0">
                  <a:solidFill>
                    <a:srgbClr val="00B0F0"/>
                  </a:solidFill>
                </a:endParaRPr>
              </a:p>
              <a:p>
                <a:pPr lvl="1"/>
                <a:r>
                  <a:rPr lang="en-US" dirty="0">
                    <a:solidFill>
                      <a:schemeClr val="accent6"/>
                    </a:solidFill>
                  </a:rPr>
                  <a:t>The </a:t>
                </a:r>
                <a:r>
                  <a:rPr lang="en-US" dirty="0">
                    <a:solidFill>
                      <a:srgbClr val="00B0F0"/>
                    </a:solidFill>
                  </a:rPr>
                  <a:t>true</a:t>
                </a:r>
                <a:r>
                  <a:rPr lang="en-US" dirty="0">
                    <a:solidFill>
                      <a:schemeClr val="accent6"/>
                    </a:solidFill>
                  </a:rPr>
                  <a:t> support for candidate A in the upcoming election?</a:t>
                </a:r>
              </a:p>
              <a:p>
                <a:pPr lvl="1"/>
                <a:r>
                  <a:rPr lang="en-US" dirty="0">
                    <a:solidFill>
                      <a:schemeClr val="accent6"/>
                    </a:solidFill>
                  </a:rPr>
                  <a:t>How much test scores </a:t>
                </a:r>
                <a:r>
                  <a:rPr lang="en-US" dirty="0">
                    <a:solidFill>
                      <a:srgbClr val="00B0F0"/>
                    </a:solidFill>
                  </a:rPr>
                  <a:t>truly </a:t>
                </a:r>
                <a:r>
                  <a:rPr lang="en-US" dirty="0">
                    <a:solidFill>
                      <a:schemeClr val="accent6"/>
                    </a:solidFill>
                  </a:rPr>
                  <a:t>rise with teacher quality?</a:t>
                </a:r>
              </a:p>
              <a:p>
                <a:pPr lvl="1"/>
                <a:endParaRPr lang="en-US" dirty="0">
                  <a:solidFill>
                    <a:schemeClr val="accent6"/>
                  </a:solidFill>
                </a:endParaRPr>
              </a:p>
              <a:p>
                <a:r>
                  <a:rPr lang="en-US" dirty="0">
                    <a:solidFill>
                      <a:schemeClr val="accent6"/>
                    </a:solidFill>
                  </a:rPr>
                  <a:t>If we observed (the full) population we’d be done</a:t>
                </a:r>
              </a:p>
              <a:p>
                <a:pPr lvl="1"/>
                <a:r>
                  <a:rPr lang="en-US" dirty="0">
                    <a:solidFill>
                      <a:schemeClr val="accent6"/>
                    </a:solidFill>
                  </a:rPr>
                  <a:t>Usually too expensive!</a:t>
                </a:r>
                <a:endParaRPr lang="en-US" dirty="0">
                  <a:solidFill>
                    <a:srgbClr val="00B0F0"/>
                  </a:solidFill>
                </a:endParaRPr>
              </a:p>
              <a:p>
                <a:pPr marL="0" indent="0">
                  <a:buNone/>
                </a:pPr>
                <a:endParaRPr lang="en-US" dirty="0">
                  <a:solidFill>
                    <a:schemeClr val="accent6"/>
                  </a:solidFill>
                </a:endParaRPr>
              </a:p>
              <a:p>
                <a:r>
                  <a:rPr lang="en-US" dirty="0">
                    <a:solidFill>
                      <a:schemeClr val="accent6"/>
                    </a:solidFill>
                  </a:rPr>
                  <a:t>If a </a:t>
                </a:r>
                <a:r>
                  <a:rPr lang="en-US" dirty="0">
                    <a:solidFill>
                      <a:srgbClr val="00B0F0"/>
                    </a:solidFill>
                  </a:rPr>
                  <a:t>confidence interval (</a:t>
                </a:r>
                <a14:m>
                  <m:oMath xmlns:m="http://schemas.openxmlformats.org/officeDocument/2006/math">
                    <m:r>
                      <a:rPr lang="en-US" i="1" dirty="0" smtClean="0">
                        <a:solidFill>
                          <a:srgbClr val="00B0F0"/>
                        </a:solidFill>
                        <a:latin typeface="Cambria Math" panose="02040503050406030204" pitchFamily="18" charset="0"/>
                      </a:rPr>
                      <m:t>𝐶𝐼</m:t>
                    </m:r>
                  </m:oMath>
                </a14:m>
                <a:r>
                  <a:rPr lang="en-US" dirty="0">
                    <a:solidFill>
                      <a:srgbClr val="00B0F0"/>
                    </a:solidFill>
                  </a:rPr>
                  <a:t>)</a:t>
                </a:r>
                <a:r>
                  <a:rPr lang="en-US" dirty="0">
                    <a:solidFill>
                      <a:schemeClr val="accent6"/>
                    </a:solidFill>
                  </a:rPr>
                  <a:t> </a:t>
                </a:r>
                <a:r>
                  <a:rPr lang="en-US" u="sng" dirty="0">
                    <a:solidFill>
                      <a:schemeClr val="accent6"/>
                    </a:solidFill>
                  </a:rPr>
                  <a:t>ex</a:t>
                </a:r>
                <a:r>
                  <a:rPr lang="en-US" dirty="0">
                    <a:solidFill>
                      <a:schemeClr val="accent6"/>
                    </a:solidFill>
                  </a:rPr>
                  <a:t>cludes a value we care about, then we </a:t>
                </a:r>
                <a:br>
                  <a:rPr lang="en-US" dirty="0">
                    <a:solidFill>
                      <a:schemeClr val="accent6"/>
                    </a:solidFill>
                  </a:rPr>
                </a:br>
                <a:r>
                  <a:rPr lang="en-US" dirty="0">
                    <a:solidFill>
                      <a:schemeClr val="accent6"/>
                    </a:solidFill>
                  </a:rPr>
                  <a:t>say the sample result is </a:t>
                </a:r>
                <a:r>
                  <a:rPr lang="en-US" dirty="0">
                    <a:solidFill>
                      <a:srgbClr val="00B0F0"/>
                    </a:solidFill>
                  </a:rPr>
                  <a:t>“statistically significantly different than that value” </a:t>
                </a:r>
                <a:r>
                  <a:rPr lang="en-US" dirty="0">
                    <a:solidFill>
                      <a:schemeClr val="accent6"/>
                    </a:solidFill>
                  </a:rPr>
                  <a:t>at a </a:t>
                </a:r>
                <a:r>
                  <a:rPr lang="en-US" dirty="0">
                    <a:solidFill>
                      <a:srgbClr val="00B0F0"/>
                    </a:solidFill>
                  </a:rPr>
                  <a:t>percent level</a:t>
                </a:r>
                <a:r>
                  <a:rPr lang="en-US" i="1" dirty="0">
                    <a:solidFill>
                      <a:schemeClr val="accent6"/>
                    </a:solidFill>
                  </a:rPr>
                  <a:t> </a:t>
                </a:r>
                <a:r>
                  <a:rPr lang="en-US" dirty="0">
                    <a:solidFill>
                      <a:schemeClr val="accent6"/>
                    </a:solidFill>
                  </a:rPr>
                  <a:t>that we choose</a:t>
                </a:r>
              </a:p>
              <a:p>
                <a:endParaRPr lang="en-US" dirty="0">
                  <a:solidFill>
                    <a:schemeClr val="accent6"/>
                  </a:solidFill>
                </a:endParaRPr>
              </a:p>
              <a:p>
                <a:r>
                  <a:rPr lang="en-US" dirty="0">
                    <a:solidFill>
                      <a:schemeClr val="accent6"/>
                    </a:solidFill>
                  </a:rPr>
                  <a:t>Key intuition: </a:t>
                </a:r>
                <a:r>
                  <a:rPr lang="en-US" dirty="0">
                    <a:solidFill>
                      <a:srgbClr val="00B0F0"/>
                    </a:solidFill>
                  </a:rPr>
                  <a:t>statistically significant</a:t>
                </a:r>
                <a:r>
                  <a:rPr lang="en-US" dirty="0">
                    <a:solidFill>
                      <a:schemeClr val="accent6"/>
                    </a:solidFill>
                  </a:rPr>
                  <a:t> = unlikely to be due to chance</a:t>
                </a:r>
              </a:p>
            </p:txBody>
          </p:sp>
        </mc:Choice>
        <mc:Fallback xmlns="">
          <p:sp>
            <p:nvSpPr>
              <p:cNvPr id="3" name="Content Placeholder 2">
                <a:extLst>
                  <a:ext uri="{FF2B5EF4-FFF2-40B4-BE49-F238E27FC236}">
                    <a16:creationId xmlns:a16="http://schemas.microsoft.com/office/drawing/2014/main" id="{9C37AF2F-7CE2-3A81-8B30-428B5A68179A}"/>
                  </a:ext>
                </a:extLst>
              </p:cNvPr>
              <p:cNvSpPr>
                <a:spLocks noGrp="1" noRot="1" noChangeAspect="1" noMove="1" noResize="1" noEditPoints="1" noAdjustHandles="1" noChangeArrowheads="1" noChangeShapeType="1" noTextEdit="1"/>
              </p:cNvSpPr>
              <p:nvPr>
                <p:ph idx="1"/>
              </p:nvPr>
            </p:nvSpPr>
            <p:spPr>
              <a:xfrm>
                <a:off x="354013" y="1089025"/>
                <a:ext cx="8604636" cy="5768975"/>
              </a:xfrm>
              <a:blipFill>
                <a:blip r:embed="rId2"/>
                <a:stretch>
                  <a:fillRect l="-637"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D7270AD-42F6-1915-DB02-4F954B545897}"/>
              </a:ext>
            </a:extLst>
          </p:cNvPr>
          <p:cNvSpPr>
            <a:spLocks noGrp="1"/>
          </p:cNvSpPr>
          <p:nvPr>
            <p:ph type="sldNum" sz="quarter" idx="11"/>
          </p:nvPr>
        </p:nvSpPr>
        <p:spPr/>
        <p:txBody>
          <a:bodyPr/>
          <a:lstStyle/>
          <a:p>
            <a:pPr>
              <a:defRPr/>
            </a:pPr>
            <a:endParaRPr lang="en-GB" dirty="0"/>
          </a:p>
          <a:p>
            <a:pPr>
              <a:defRPr/>
            </a:pPr>
            <a:fld id="{FC96386F-C149-48D8-92C5-2CFDBA85534B}" type="slidenum">
              <a:rPr lang="en-GB" smtClean="0"/>
              <a:pPr>
                <a:defRPr/>
              </a:pPr>
              <a:t>24</a:t>
            </a:fld>
            <a:endParaRPr lang="en-GB" dirty="0"/>
          </a:p>
        </p:txBody>
      </p:sp>
    </p:spTree>
    <p:extLst>
      <p:ext uri="{BB962C8B-B14F-4D97-AF65-F5344CB8AC3E}">
        <p14:creationId xmlns:p14="http://schemas.microsoft.com/office/powerpoint/2010/main" val="370214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CF57-EAC7-427E-8412-A75CE4E8DE82}"/>
              </a:ext>
            </a:extLst>
          </p:cNvPr>
          <p:cNvSpPr>
            <a:spLocks noGrp="1"/>
          </p:cNvSpPr>
          <p:nvPr>
            <p:ph type="title"/>
          </p:nvPr>
        </p:nvSpPr>
        <p:spPr/>
        <p:txBody>
          <a:bodyPr/>
          <a:lstStyle/>
          <a:p>
            <a:r>
              <a:rPr lang="en-US" b="0" u="none" dirty="0"/>
              <a:t>Some Vocabulary</a:t>
            </a:r>
            <a:endParaRPr lang="en-US" b="0" u="none" kern="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235EEC-CA93-4445-AB5C-7FF6D116874A}"/>
                  </a:ext>
                </a:extLst>
              </p:cNvPr>
              <p:cNvSpPr>
                <a:spLocks noGrp="1"/>
              </p:cNvSpPr>
              <p:nvPr>
                <p:ph idx="1"/>
              </p:nvPr>
            </p:nvSpPr>
            <p:spPr>
              <a:xfrm>
                <a:off x="354012" y="1089025"/>
                <a:ext cx="8486845" cy="5768975"/>
              </a:xfrm>
            </p:spPr>
            <p:txBody>
              <a:bodyPr/>
              <a:lstStyle/>
              <a:p>
                <a:r>
                  <a:rPr lang="en-US" dirty="0"/>
                  <a:t>In Probability, you learned about distributions</a:t>
                </a:r>
              </a:p>
              <a:p>
                <a:pPr lvl="1"/>
                <a:r>
                  <a:rPr lang="en-US" dirty="0">
                    <a:solidFill>
                      <a:schemeClr val="accent6"/>
                    </a:solidFill>
                  </a:rPr>
                  <a:t>E.g., </a:t>
                </a:r>
                <a:r>
                  <a:rPr lang="en-US" dirty="0">
                    <a:solidFill>
                      <a:srgbClr val="00B0F0"/>
                    </a:solidFill>
                  </a:rPr>
                  <a:t>normal</a:t>
                </a:r>
                <a:r>
                  <a:rPr lang="en-US" dirty="0"/>
                  <a:t> and </a:t>
                </a:r>
                <a:r>
                  <a:rPr lang="en-US" dirty="0">
                    <a:solidFill>
                      <a:srgbClr val="00B0F0"/>
                    </a:solidFill>
                  </a:rPr>
                  <a:t>binomial</a:t>
                </a:r>
                <a:endParaRPr lang="en-US" dirty="0"/>
              </a:p>
              <a:p>
                <a:endParaRPr lang="en-US" dirty="0"/>
              </a:p>
              <a:p>
                <a:r>
                  <a:rPr lang="en-US" dirty="0"/>
                  <a:t>These distributions are characterized by </a:t>
                </a:r>
                <a:r>
                  <a:rPr lang="en-US" dirty="0">
                    <a:solidFill>
                      <a:srgbClr val="00B0F0"/>
                    </a:solidFill>
                  </a:rPr>
                  <a:t>parameters</a:t>
                </a:r>
              </a:p>
              <a:p>
                <a:pPr lvl="1"/>
                <a:r>
                  <a:rPr lang="en-US" dirty="0"/>
                  <a:t>A binomial distribution has probability of success </a:t>
                </a:r>
                <a:r>
                  <a:rPr lang="en-US" i="1" dirty="0">
                    <a:solidFill>
                      <a:srgbClr val="FF0000"/>
                    </a:solidFill>
                  </a:rPr>
                  <a:t>p</a:t>
                </a:r>
                <a:endParaRPr lang="en-US" dirty="0">
                  <a:solidFill>
                    <a:srgbClr val="FF0000"/>
                  </a:solidFill>
                </a:endParaRPr>
              </a:p>
              <a:p>
                <a:pPr lvl="1"/>
                <a:r>
                  <a:rPr lang="en-US" dirty="0"/>
                  <a:t>A normal distribution has mean </a:t>
                </a:r>
                <a14:m>
                  <m:oMath xmlns:m="http://schemas.openxmlformats.org/officeDocument/2006/math">
                    <m:r>
                      <a:rPr lang="en-US" b="0" i="1" smtClean="0">
                        <a:solidFill>
                          <a:srgbClr val="FF0000"/>
                        </a:solidFill>
                        <a:latin typeface="Cambria Math" panose="02040503050406030204" pitchFamily="18" charset="0"/>
                      </a:rPr>
                      <m:t>𝜇</m:t>
                    </m:r>
                  </m:oMath>
                </a14:m>
                <a:r>
                  <a:rPr lang="en-US" dirty="0"/>
                  <a:t> and standard deviation </a:t>
                </a:r>
                <a14:m>
                  <m:oMath xmlns:m="http://schemas.openxmlformats.org/officeDocument/2006/math">
                    <m:r>
                      <a:rPr lang="en-US" b="0" i="1" smtClean="0">
                        <a:solidFill>
                          <a:srgbClr val="FF0000"/>
                        </a:solidFill>
                        <a:latin typeface="Cambria Math" panose="02040503050406030204" pitchFamily="18" charset="0"/>
                      </a:rPr>
                      <m:t>𝜎</m:t>
                    </m:r>
                  </m:oMath>
                </a14:m>
                <a:endParaRPr lang="en-US" dirty="0"/>
              </a:p>
            </p:txBody>
          </p:sp>
        </mc:Choice>
        <mc:Fallback xmlns="">
          <p:sp>
            <p:nvSpPr>
              <p:cNvPr id="3" name="Content Placeholder 2">
                <a:extLst>
                  <a:ext uri="{FF2B5EF4-FFF2-40B4-BE49-F238E27FC236}">
                    <a16:creationId xmlns:a16="http://schemas.microsoft.com/office/drawing/2014/main" id="{76235EEC-CA93-4445-AB5C-7FF6D116874A}"/>
                  </a:ext>
                </a:extLst>
              </p:cNvPr>
              <p:cNvSpPr>
                <a:spLocks noGrp="1" noRot="1" noChangeAspect="1" noMove="1" noResize="1" noEditPoints="1" noAdjustHandles="1" noChangeArrowheads="1" noChangeShapeType="1" noTextEdit="1"/>
              </p:cNvSpPr>
              <p:nvPr>
                <p:ph idx="1"/>
              </p:nvPr>
            </p:nvSpPr>
            <p:spPr>
              <a:xfrm>
                <a:off x="354012" y="1089025"/>
                <a:ext cx="8486845" cy="5768975"/>
              </a:xfrm>
              <a:blipFill>
                <a:blip r:embed="rId2"/>
                <a:stretch>
                  <a:fillRect l="-647"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E023DFD-C120-41B3-BF4A-F218DE12C2F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25</a:t>
            </a:fld>
            <a:endParaRPr lang="en-GB" dirty="0"/>
          </a:p>
        </p:txBody>
      </p:sp>
      <p:pic>
        <p:nvPicPr>
          <p:cNvPr id="6" name="Picture 5">
            <a:extLst>
              <a:ext uri="{FF2B5EF4-FFF2-40B4-BE49-F238E27FC236}">
                <a16:creationId xmlns:a16="http://schemas.microsoft.com/office/drawing/2014/main" id="{EC999F34-ACD7-4B8F-BED8-6B90F6727442}"/>
              </a:ext>
            </a:extLst>
          </p:cNvPr>
          <p:cNvPicPr>
            <a:picLocks noChangeAspect="1"/>
          </p:cNvPicPr>
          <p:nvPr/>
        </p:nvPicPr>
        <p:blipFill>
          <a:blip r:embed="rId3"/>
          <a:stretch>
            <a:fillRect/>
          </a:stretch>
        </p:blipFill>
        <p:spPr>
          <a:xfrm>
            <a:off x="1537548" y="3565253"/>
            <a:ext cx="2614466" cy="2619698"/>
          </a:xfrm>
          <a:prstGeom prst="rect">
            <a:avLst/>
          </a:prstGeom>
        </p:spPr>
      </p:pic>
      <p:pic>
        <p:nvPicPr>
          <p:cNvPr id="8" name="Picture 7">
            <a:extLst>
              <a:ext uri="{FF2B5EF4-FFF2-40B4-BE49-F238E27FC236}">
                <a16:creationId xmlns:a16="http://schemas.microsoft.com/office/drawing/2014/main" id="{95C3E37A-FE8F-4DE6-8356-359582B046EA}"/>
              </a:ext>
            </a:extLst>
          </p:cNvPr>
          <p:cNvPicPr>
            <a:picLocks noChangeAspect="1"/>
          </p:cNvPicPr>
          <p:nvPr/>
        </p:nvPicPr>
        <p:blipFill>
          <a:blip r:embed="rId4"/>
          <a:stretch>
            <a:fillRect/>
          </a:stretch>
        </p:blipFill>
        <p:spPr>
          <a:xfrm>
            <a:off x="4991986" y="3565253"/>
            <a:ext cx="2614466" cy="2619699"/>
          </a:xfrm>
          <a:prstGeom prst="rect">
            <a:avLst/>
          </a:prstGeom>
        </p:spPr>
      </p:pic>
    </p:spTree>
    <p:extLst>
      <p:ext uri="{BB962C8B-B14F-4D97-AF65-F5344CB8AC3E}">
        <p14:creationId xmlns:p14="http://schemas.microsoft.com/office/powerpoint/2010/main" val="304582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21FC-1FA7-3938-3A82-8BDCCF1FA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73788-57DD-E7DB-F8BD-35E804739169}"/>
              </a:ext>
            </a:extLst>
          </p:cNvPr>
          <p:cNvSpPr>
            <a:spLocks noGrp="1"/>
          </p:cNvSpPr>
          <p:nvPr>
            <p:ph type="title"/>
          </p:nvPr>
        </p:nvSpPr>
        <p:spPr/>
        <p:txBody>
          <a:bodyPr/>
          <a:lstStyle/>
          <a:p>
            <a:r>
              <a:rPr lang="en-US" b="0" dirty="0"/>
              <a:t>Some Vocabulary</a:t>
            </a:r>
            <a:endParaRPr lang="en-US" b="0" kern="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02CA02-B3C2-5E12-C791-C0B2CA79A19A}"/>
                  </a:ext>
                </a:extLst>
              </p:cNvPr>
              <p:cNvSpPr>
                <a:spLocks noGrp="1"/>
              </p:cNvSpPr>
              <p:nvPr>
                <p:ph idx="1"/>
              </p:nvPr>
            </p:nvSpPr>
            <p:spPr>
              <a:xfrm>
                <a:off x="354012" y="1089025"/>
                <a:ext cx="8486845" cy="5768975"/>
              </a:xfrm>
            </p:spPr>
            <p:txBody>
              <a:bodyPr/>
              <a:lstStyle/>
              <a:p>
                <a:r>
                  <a:rPr lang="en-US" dirty="0"/>
                  <a:t>In Probability, you learned about distributions</a:t>
                </a:r>
              </a:p>
              <a:p>
                <a:pPr lvl="1"/>
                <a:r>
                  <a:rPr lang="en-US" dirty="0">
                    <a:solidFill>
                      <a:schemeClr val="accent6"/>
                    </a:solidFill>
                  </a:rPr>
                  <a:t>E.g., </a:t>
                </a:r>
                <a:r>
                  <a:rPr lang="en-US" dirty="0">
                    <a:solidFill>
                      <a:srgbClr val="00B0F0"/>
                    </a:solidFill>
                  </a:rPr>
                  <a:t>normal</a:t>
                </a:r>
                <a:r>
                  <a:rPr lang="en-US" dirty="0"/>
                  <a:t> and </a:t>
                </a:r>
                <a:r>
                  <a:rPr lang="en-US" dirty="0">
                    <a:solidFill>
                      <a:srgbClr val="00B0F0"/>
                    </a:solidFill>
                  </a:rPr>
                  <a:t>binomial</a:t>
                </a:r>
                <a:endParaRPr lang="en-US" dirty="0"/>
              </a:p>
              <a:p>
                <a:endParaRPr lang="en-US" dirty="0"/>
              </a:p>
              <a:p>
                <a:r>
                  <a:rPr lang="en-US" dirty="0"/>
                  <a:t>These distributions are characterized by </a:t>
                </a:r>
                <a:r>
                  <a:rPr lang="en-US" dirty="0">
                    <a:solidFill>
                      <a:srgbClr val="00B0F0"/>
                    </a:solidFill>
                  </a:rPr>
                  <a:t>parameters</a:t>
                </a:r>
              </a:p>
              <a:p>
                <a:pPr lvl="1"/>
                <a:r>
                  <a:rPr lang="en-US" dirty="0"/>
                  <a:t>E.g., the normal distribution has mean </a:t>
                </a:r>
                <a14:m>
                  <m:oMath xmlns:m="http://schemas.openxmlformats.org/officeDocument/2006/math">
                    <m:r>
                      <a:rPr lang="en-US" b="0" i="1" smtClean="0">
                        <a:solidFill>
                          <a:srgbClr val="FF0000"/>
                        </a:solidFill>
                        <a:latin typeface="Cambria Math" panose="02040503050406030204" pitchFamily="18" charset="0"/>
                      </a:rPr>
                      <m:t>𝜇</m:t>
                    </m:r>
                  </m:oMath>
                </a14:m>
                <a:r>
                  <a:rPr lang="en-US" dirty="0"/>
                  <a:t> and standard deviation </a:t>
                </a:r>
                <a14:m>
                  <m:oMath xmlns:m="http://schemas.openxmlformats.org/officeDocument/2006/math">
                    <m:r>
                      <a:rPr lang="en-US" b="0" i="1" smtClean="0">
                        <a:solidFill>
                          <a:srgbClr val="FF0000"/>
                        </a:solidFill>
                        <a:latin typeface="Cambria Math" panose="02040503050406030204" pitchFamily="18" charset="0"/>
                      </a:rPr>
                      <m:t>𝜎</m:t>
                    </m:r>
                  </m:oMath>
                </a14:m>
                <a:endParaRPr lang="en-US" dirty="0"/>
              </a:p>
            </p:txBody>
          </p:sp>
        </mc:Choice>
        <mc:Fallback xmlns="">
          <p:sp>
            <p:nvSpPr>
              <p:cNvPr id="3" name="Content Placeholder 2">
                <a:extLst>
                  <a:ext uri="{FF2B5EF4-FFF2-40B4-BE49-F238E27FC236}">
                    <a16:creationId xmlns:a16="http://schemas.microsoft.com/office/drawing/2014/main" id="{1502CA02-B3C2-5E12-C791-C0B2CA79A19A}"/>
                  </a:ext>
                </a:extLst>
              </p:cNvPr>
              <p:cNvSpPr>
                <a:spLocks noGrp="1" noRot="1" noChangeAspect="1" noMove="1" noResize="1" noEditPoints="1" noAdjustHandles="1" noChangeArrowheads="1" noChangeShapeType="1" noTextEdit="1"/>
              </p:cNvSpPr>
              <p:nvPr>
                <p:ph idx="1"/>
              </p:nvPr>
            </p:nvSpPr>
            <p:spPr>
              <a:xfrm>
                <a:off x="354012" y="1089025"/>
                <a:ext cx="8486845" cy="5768975"/>
              </a:xfrm>
              <a:blipFill>
                <a:blip r:embed="rId2"/>
                <a:stretch>
                  <a:fillRect l="-647"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2459559-4910-EFA2-CB64-0CC0AC30DB8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26</a:t>
            </a:fld>
            <a:endParaRPr lang="en-GB" dirty="0"/>
          </a:p>
        </p:txBody>
      </p:sp>
      <p:pic>
        <p:nvPicPr>
          <p:cNvPr id="8" name="Picture 7">
            <a:extLst>
              <a:ext uri="{FF2B5EF4-FFF2-40B4-BE49-F238E27FC236}">
                <a16:creationId xmlns:a16="http://schemas.microsoft.com/office/drawing/2014/main" id="{7EF6A70F-0326-3D11-C4FF-40172D8A650F}"/>
              </a:ext>
            </a:extLst>
          </p:cNvPr>
          <p:cNvPicPr>
            <a:picLocks noChangeAspect="1"/>
          </p:cNvPicPr>
          <p:nvPr/>
        </p:nvPicPr>
        <p:blipFill>
          <a:blip r:embed="rId3"/>
          <a:stretch>
            <a:fillRect/>
          </a:stretch>
        </p:blipFill>
        <p:spPr>
          <a:xfrm>
            <a:off x="2926879" y="3160884"/>
            <a:ext cx="3290241" cy="3296827"/>
          </a:xfrm>
          <a:prstGeom prst="rect">
            <a:avLst/>
          </a:prstGeom>
        </p:spPr>
      </p:pic>
      <p:cxnSp>
        <p:nvCxnSpPr>
          <p:cNvPr id="7" name="Straight Connector 6">
            <a:extLst>
              <a:ext uri="{FF2B5EF4-FFF2-40B4-BE49-F238E27FC236}">
                <a16:creationId xmlns:a16="http://schemas.microsoft.com/office/drawing/2014/main" id="{F548B111-6325-FAF0-AB70-A93383D61C59}"/>
              </a:ext>
            </a:extLst>
          </p:cNvPr>
          <p:cNvCxnSpPr>
            <a:cxnSpLocks/>
          </p:cNvCxnSpPr>
          <p:nvPr/>
        </p:nvCxnSpPr>
        <p:spPr bwMode="auto">
          <a:xfrm>
            <a:off x="4737099" y="3503692"/>
            <a:ext cx="0" cy="2609553"/>
          </a:xfrm>
          <a:prstGeom prst="line">
            <a:avLst/>
          </a:prstGeom>
          <a:solidFill>
            <a:schemeClr val="accent1"/>
          </a:solidFill>
          <a:ln w="9525" cap="flat" cmpd="sng" algn="ctr">
            <a:solidFill>
              <a:srgbClr val="FF0000"/>
            </a:solidFill>
            <a:prstDash val="dash"/>
            <a:round/>
            <a:headEnd type="none" w="med" len="med"/>
            <a:tailEnd type="none" w="med" len="med"/>
          </a:ln>
          <a:effectLst/>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6DDBC0-7BA0-8E55-2AEC-F98106563D88}"/>
                  </a:ext>
                </a:extLst>
              </p:cNvPr>
              <p:cNvSpPr txBox="1"/>
              <p:nvPr/>
            </p:nvSpPr>
            <p:spPr>
              <a:xfrm>
                <a:off x="4572000" y="6075946"/>
                <a:ext cx="381643"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1800" b="0" i="1" u="none">
                          <a:solidFill>
                            <a:srgbClr val="FF0000"/>
                          </a:solidFill>
                          <a:latin typeface="Cambria Math" panose="02040503050406030204" pitchFamily="18" charset="0"/>
                        </a:rPr>
                        <m:t>𝜇</m:t>
                      </m:r>
                    </m:oMath>
                  </m:oMathPara>
                </a14:m>
                <a:endParaRPr lang="en-US" sz="1800" b="0" u="none" dirty="0">
                  <a:cs typeface="Arial" pitchFamily="34" charset="0"/>
                </a:endParaRPr>
              </a:p>
            </p:txBody>
          </p:sp>
        </mc:Choice>
        <mc:Fallback xmlns="">
          <p:sp>
            <p:nvSpPr>
              <p:cNvPr id="11" name="TextBox 10">
                <a:extLst>
                  <a:ext uri="{FF2B5EF4-FFF2-40B4-BE49-F238E27FC236}">
                    <a16:creationId xmlns:a16="http://schemas.microsoft.com/office/drawing/2014/main" id="{1C6DDBC0-7BA0-8E55-2AEC-F98106563D88}"/>
                  </a:ext>
                </a:extLst>
              </p:cNvPr>
              <p:cNvSpPr txBox="1">
                <a:spLocks noRot="1" noChangeAspect="1" noMove="1" noResize="1" noEditPoints="1" noAdjustHandles="1" noChangeArrowheads="1" noChangeShapeType="1" noTextEdit="1"/>
              </p:cNvSpPr>
              <p:nvPr/>
            </p:nvSpPr>
            <p:spPr>
              <a:xfrm>
                <a:off x="4572000" y="6075946"/>
                <a:ext cx="381643" cy="369332"/>
              </a:xfrm>
              <a:prstGeom prst="rect">
                <a:avLst/>
              </a:prstGeom>
              <a:blipFill>
                <a:blip r:embed="rId4"/>
                <a:stretch>
                  <a:fillRect b="-6667"/>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433D4796-ED07-00D4-2226-2851A14336CB}"/>
              </a:ext>
            </a:extLst>
          </p:cNvPr>
          <p:cNvCxnSpPr>
            <a:cxnSpLocks/>
          </p:cNvCxnSpPr>
          <p:nvPr/>
        </p:nvCxnSpPr>
        <p:spPr bwMode="auto">
          <a:xfrm>
            <a:off x="4314065" y="4953000"/>
            <a:ext cx="829435" cy="0"/>
          </a:xfrm>
          <a:prstGeom prst="straightConnector1">
            <a:avLst/>
          </a:prstGeom>
          <a:solidFill>
            <a:schemeClr val="accent1"/>
          </a:solidFill>
          <a:ln w="9525" cap="flat" cmpd="sng" algn="ctr">
            <a:solidFill>
              <a:srgbClr val="00B0F0"/>
            </a:solidFill>
            <a:prstDash val="dash"/>
            <a:round/>
            <a:headEnd type="triangle" w="med" len="med"/>
            <a:tailEnd type="triangle" w="med" len="med"/>
          </a:ln>
          <a:effectLst/>
        </p:spPr>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C5D48D5-6478-FFAB-24B6-BFB4A7D4C698}"/>
                  </a:ext>
                </a:extLst>
              </p:cNvPr>
              <p:cNvSpPr txBox="1"/>
              <p:nvPr/>
            </p:nvSpPr>
            <p:spPr>
              <a:xfrm>
                <a:off x="5088028" y="4585255"/>
                <a:ext cx="389081"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00B0F0"/>
                          </a:solidFill>
                          <a:latin typeface="Cambria Math" panose="02040503050406030204" pitchFamily="18" charset="0"/>
                        </a:rPr>
                        <m:t>𝜎</m:t>
                      </m:r>
                    </m:oMath>
                  </m:oMathPara>
                </a14:m>
                <a:endParaRPr lang="en-US" sz="1800" b="0" u="none" dirty="0">
                  <a:solidFill>
                    <a:srgbClr val="00B0F0"/>
                  </a:solidFill>
                  <a:cs typeface="Arial" pitchFamily="34" charset="0"/>
                </a:endParaRPr>
              </a:p>
            </p:txBody>
          </p:sp>
        </mc:Choice>
        <mc:Fallback xmlns="">
          <p:sp>
            <p:nvSpPr>
              <p:cNvPr id="15" name="TextBox 14">
                <a:extLst>
                  <a:ext uri="{FF2B5EF4-FFF2-40B4-BE49-F238E27FC236}">
                    <a16:creationId xmlns:a16="http://schemas.microsoft.com/office/drawing/2014/main" id="{EC5D48D5-6478-FFAB-24B6-BFB4A7D4C698}"/>
                  </a:ext>
                </a:extLst>
              </p:cNvPr>
              <p:cNvSpPr txBox="1">
                <a:spLocks noRot="1" noChangeAspect="1" noMove="1" noResize="1" noEditPoints="1" noAdjustHandles="1" noChangeArrowheads="1" noChangeShapeType="1" noTextEdit="1"/>
              </p:cNvSpPr>
              <p:nvPr/>
            </p:nvSpPr>
            <p:spPr>
              <a:xfrm>
                <a:off x="5088028" y="4585255"/>
                <a:ext cx="389081"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7783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CF57-EAC7-427E-8412-A75CE4E8DE82}"/>
              </a:ext>
            </a:extLst>
          </p:cNvPr>
          <p:cNvSpPr>
            <a:spLocks noGrp="1"/>
          </p:cNvSpPr>
          <p:nvPr>
            <p:ph type="title"/>
          </p:nvPr>
        </p:nvSpPr>
        <p:spPr/>
        <p:txBody>
          <a:bodyPr/>
          <a:lstStyle/>
          <a:p>
            <a:r>
              <a:rPr lang="en-US" b="0" u="none" dirty="0"/>
              <a:t>Some Vocabulary</a:t>
            </a:r>
            <a:endParaRPr lang="en-US" b="0" u="none" kern="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235EEC-CA93-4445-AB5C-7FF6D116874A}"/>
                  </a:ext>
                </a:extLst>
              </p:cNvPr>
              <p:cNvSpPr>
                <a:spLocks noGrp="1"/>
              </p:cNvSpPr>
              <p:nvPr>
                <p:ph idx="1"/>
              </p:nvPr>
            </p:nvSpPr>
            <p:spPr>
              <a:xfrm>
                <a:off x="354012" y="1089025"/>
                <a:ext cx="8486845" cy="5768975"/>
              </a:xfrm>
            </p:spPr>
            <p:txBody>
              <a:bodyPr/>
              <a:lstStyle/>
              <a:p>
                <a:r>
                  <a:rPr lang="en-US" dirty="0"/>
                  <a:t>In Probability, you learned about distributions</a:t>
                </a:r>
              </a:p>
              <a:p>
                <a:pPr lvl="1"/>
                <a:r>
                  <a:rPr lang="en-US" dirty="0">
                    <a:solidFill>
                      <a:schemeClr val="accent6"/>
                    </a:solidFill>
                  </a:rPr>
                  <a:t>E.g., </a:t>
                </a:r>
                <a:r>
                  <a:rPr lang="en-US" dirty="0">
                    <a:solidFill>
                      <a:srgbClr val="00B0F0"/>
                    </a:solidFill>
                  </a:rPr>
                  <a:t>normal</a:t>
                </a:r>
                <a:r>
                  <a:rPr lang="en-US" dirty="0"/>
                  <a:t> and </a:t>
                </a:r>
                <a:r>
                  <a:rPr lang="en-US" dirty="0">
                    <a:solidFill>
                      <a:srgbClr val="00B0F0"/>
                    </a:solidFill>
                  </a:rPr>
                  <a:t>binomial</a:t>
                </a:r>
                <a:endParaRPr lang="en-US" dirty="0"/>
              </a:p>
              <a:p>
                <a:endParaRPr lang="en-US" dirty="0"/>
              </a:p>
              <a:p>
                <a:r>
                  <a:rPr lang="en-US" dirty="0"/>
                  <a:t>These distributions are characterized by </a:t>
                </a:r>
                <a:r>
                  <a:rPr lang="en-US" dirty="0">
                    <a:solidFill>
                      <a:srgbClr val="00B0F0"/>
                    </a:solidFill>
                  </a:rPr>
                  <a:t>parameters</a:t>
                </a:r>
              </a:p>
              <a:p>
                <a:pPr lvl="1"/>
                <a:r>
                  <a:rPr lang="en-US" dirty="0"/>
                  <a:t>E.g., the normal distribution has mean </a:t>
                </a:r>
                <a14:m>
                  <m:oMath xmlns:m="http://schemas.openxmlformats.org/officeDocument/2006/math">
                    <m:r>
                      <a:rPr lang="en-US" i="1">
                        <a:solidFill>
                          <a:srgbClr val="FF0000"/>
                        </a:solidFill>
                        <a:latin typeface="Cambria Math" panose="02040503050406030204" pitchFamily="18" charset="0"/>
                      </a:rPr>
                      <m:t>𝜇</m:t>
                    </m:r>
                  </m:oMath>
                </a14:m>
                <a:r>
                  <a:rPr lang="en-US" dirty="0"/>
                  <a:t> and standard deviation </a:t>
                </a:r>
                <a14:m>
                  <m:oMath xmlns:m="http://schemas.openxmlformats.org/officeDocument/2006/math">
                    <m:r>
                      <a:rPr lang="en-US" i="1">
                        <a:solidFill>
                          <a:srgbClr val="FF0000"/>
                        </a:solidFill>
                        <a:latin typeface="Cambria Math" panose="02040503050406030204" pitchFamily="18" charset="0"/>
                      </a:rPr>
                      <m:t>𝜎</m:t>
                    </m:r>
                  </m:oMath>
                </a14:m>
                <a:endParaRPr lang="en-US" dirty="0"/>
              </a:p>
              <a:p>
                <a:endParaRPr lang="en-US" dirty="0"/>
              </a:p>
              <a:p>
                <a:r>
                  <a:rPr lang="en-US" dirty="0"/>
                  <a:t> </a:t>
                </a:r>
                <a:r>
                  <a:rPr lang="en-US" dirty="0">
                    <a:solidFill>
                      <a:srgbClr val="00B0F0"/>
                    </a:solidFill>
                  </a:rPr>
                  <a:t>Population</a:t>
                </a:r>
                <a:r>
                  <a:rPr lang="en-US" dirty="0"/>
                  <a:t> parameters are generally unknown (b/c we generally don’t </a:t>
                </a:r>
              </a:p>
              <a:p>
                <a:pPr marL="0" indent="0">
                  <a:buNone/>
                </a:pPr>
                <a:r>
                  <a:rPr lang="en-US" dirty="0"/>
                  <a:t>      observe the full population)</a:t>
                </a:r>
              </a:p>
              <a:p>
                <a:endParaRPr lang="en-US" dirty="0"/>
              </a:p>
              <a:p>
                <a:r>
                  <a:rPr lang="en-US" dirty="0">
                    <a:solidFill>
                      <a:schemeClr val="accent6"/>
                    </a:solidFill>
                  </a:rPr>
                  <a:t> </a:t>
                </a:r>
                <a:r>
                  <a:rPr lang="en-US" dirty="0">
                    <a:solidFill>
                      <a:srgbClr val="00B0F0"/>
                    </a:solidFill>
                  </a:rPr>
                  <a:t>Statistics</a:t>
                </a:r>
                <a:r>
                  <a:rPr lang="en-US" dirty="0">
                    <a:solidFill>
                      <a:schemeClr val="accent6"/>
                    </a:solidFill>
                  </a:rPr>
                  <a:t>: what can we </a:t>
                </a:r>
                <a:r>
                  <a:rPr lang="en-US" dirty="0"/>
                  <a:t>learn about </a:t>
                </a:r>
                <a14:m>
                  <m:oMath xmlns:m="http://schemas.openxmlformats.org/officeDocument/2006/math">
                    <m:r>
                      <a:rPr lang="en-US" i="1">
                        <a:solidFill>
                          <a:srgbClr val="FF0000"/>
                        </a:solidFill>
                        <a:latin typeface="Cambria Math" panose="02040503050406030204" pitchFamily="18" charset="0"/>
                      </a:rPr>
                      <m:t>𝜇</m:t>
                    </m:r>
                  </m:oMath>
                </a14:m>
                <a:r>
                  <a:rPr lang="en-US" b="1" i="1" dirty="0">
                    <a:solidFill>
                      <a:srgbClr val="00B0F0"/>
                    </a:solidFill>
                    <a:latin typeface="Cambria Math" panose="02040503050406030204" pitchFamily="18" charset="0"/>
                    <a:ea typeface="Cambria Math" panose="02040503050406030204" pitchFamily="18" charset="0"/>
                  </a:rPr>
                  <a:t> </a:t>
                </a:r>
                <a:r>
                  <a:rPr lang="en-US" dirty="0"/>
                  <a:t>from a sample?</a:t>
                </a:r>
              </a:p>
              <a:p>
                <a:pPr lvl="1"/>
                <a:r>
                  <a:rPr lang="en-US" dirty="0"/>
                  <a:t>Can a sample of voters tell us which candidate will win?</a:t>
                </a:r>
              </a:p>
              <a:p>
                <a:pPr lvl="1"/>
                <a:r>
                  <a:rPr lang="en-US" dirty="0"/>
                  <a:t>Can samples of patients reveal which drug is more effective?</a:t>
                </a:r>
              </a:p>
              <a:p>
                <a:pPr lvl="1"/>
                <a:endParaRPr lang="en-US" dirty="0"/>
              </a:p>
              <a:p>
                <a:r>
                  <a:rPr lang="en-US" dirty="0"/>
                  <a:t>For statistics to work, the samples need to be </a:t>
                </a:r>
                <a:r>
                  <a:rPr lang="en-US" dirty="0">
                    <a:solidFill>
                      <a:srgbClr val="00B0F0"/>
                    </a:solidFill>
                  </a:rPr>
                  <a:t>representative</a:t>
                </a:r>
              </a:p>
            </p:txBody>
          </p:sp>
        </mc:Choice>
        <mc:Fallback xmlns="">
          <p:sp>
            <p:nvSpPr>
              <p:cNvPr id="3" name="Content Placeholder 2">
                <a:extLst>
                  <a:ext uri="{FF2B5EF4-FFF2-40B4-BE49-F238E27FC236}">
                    <a16:creationId xmlns:a16="http://schemas.microsoft.com/office/drawing/2014/main" id="{76235EEC-CA93-4445-AB5C-7FF6D116874A}"/>
                  </a:ext>
                </a:extLst>
              </p:cNvPr>
              <p:cNvSpPr>
                <a:spLocks noGrp="1" noRot="1" noChangeAspect="1" noMove="1" noResize="1" noEditPoints="1" noAdjustHandles="1" noChangeArrowheads="1" noChangeShapeType="1" noTextEdit="1"/>
              </p:cNvSpPr>
              <p:nvPr>
                <p:ph idx="1"/>
              </p:nvPr>
            </p:nvSpPr>
            <p:spPr>
              <a:xfrm>
                <a:off x="354012" y="1089025"/>
                <a:ext cx="8486845" cy="5768975"/>
              </a:xfrm>
              <a:blipFill>
                <a:blip r:embed="rId2"/>
                <a:stretch>
                  <a:fillRect l="-647" t="-529" r="-4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E023DFD-C120-41B3-BF4A-F218DE12C2F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27</a:t>
            </a:fld>
            <a:endParaRPr lang="en-GB" dirty="0"/>
          </a:p>
        </p:txBody>
      </p:sp>
    </p:spTree>
    <p:extLst>
      <p:ext uri="{BB962C8B-B14F-4D97-AF65-F5344CB8AC3E}">
        <p14:creationId xmlns:p14="http://schemas.microsoft.com/office/powerpoint/2010/main" val="293896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2D74-05B1-4A4C-8255-12D3C8479D82}"/>
              </a:ext>
            </a:extLst>
          </p:cNvPr>
          <p:cNvSpPr>
            <a:spLocks noGrp="1"/>
          </p:cNvSpPr>
          <p:nvPr>
            <p:ph type="title"/>
          </p:nvPr>
        </p:nvSpPr>
        <p:spPr/>
        <p:txBody>
          <a:bodyPr/>
          <a:lstStyle/>
          <a:p>
            <a:r>
              <a:rPr lang="en-US" dirty="0"/>
              <a:t>Sample vs Population Examples</a:t>
            </a:r>
          </a:p>
        </p:txBody>
      </p:sp>
      <p:sp>
        <p:nvSpPr>
          <p:cNvPr id="4" name="Slide Number Placeholder 3">
            <a:extLst>
              <a:ext uri="{FF2B5EF4-FFF2-40B4-BE49-F238E27FC236}">
                <a16:creationId xmlns:a16="http://schemas.microsoft.com/office/drawing/2014/main" id="{947F9770-41F2-4D17-B0D0-066386B69391}"/>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28</a:t>
            </a:fld>
            <a:endParaRPr lang="en-GB"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35D1E7E3-AE49-C957-99CB-CF9311461650}"/>
                  </a:ext>
                </a:extLst>
              </p:cNvPr>
              <p:cNvGraphicFramePr>
                <a:graphicFrameLocks noGrp="1"/>
              </p:cNvGraphicFramePr>
              <p:nvPr>
                <p:extLst>
                  <p:ext uri="{D42A27DB-BD31-4B8C-83A1-F6EECF244321}">
                    <p14:modId xmlns:p14="http://schemas.microsoft.com/office/powerpoint/2010/main" val="2273630331"/>
                  </p:ext>
                </p:extLst>
              </p:nvPr>
            </p:nvGraphicFramePr>
            <p:xfrm>
              <a:off x="52129" y="1510619"/>
              <a:ext cx="9005778" cy="3471126"/>
            </p:xfrm>
            <a:graphic>
              <a:graphicData uri="http://schemas.openxmlformats.org/drawingml/2006/table">
                <a:tbl>
                  <a:tblPr firstRow="1" bandRow="1">
                    <a:tableStyleId>{2D5ABB26-0587-4C30-8999-92F81FD0307C}</a:tableStyleId>
                  </a:tblPr>
                  <a:tblGrid>
                    <a:gridCol w="2703304">
                      <a:extLst>
                        <a:ext uri="{9D8B030D-6E8A-4147-A177-3AD203B41FA5}">
                          <a16:colId xmlns:a16="http://schemas.microsoft.com/office/drawing/2014/main" val="20000"/>
                        </a:ext>
                      </a:extLst>
                    </a:gridCol>
                    <a:gridCol w="1989700">
                      <a:extLst>
                        <a:ext uri="{9D8B030D-6E8A-4147-A177-3AD203B41FA5}">
                          <a16:colId xmlns:a16="http://schemas.microsoft.com/office/drawing/2014/main" val="20001"/>
                        </a:ext>
                      </a:extLst>
                    </a:gridCol>
                    <a:gridCol w="2297017">
                      <a:extLst>
                        <a:ext uri="{9D8B030D-6E8A-4147-A177-3AD203B41FA5}">
                          <a16:colId xmlns:a16="http://schemas.microsoft.com/office/drawing/2014/main" val="20002"/>
                        </a:ext>
                      </a:extLst>
                    </a:gridCol>
                    <a:gridCol w="2015757">
                      <a:extLst>
                        <a:ext uri="{9D8B030D-6E8A-4147-A177-3AD203B41FA5}">
                          <a16:colId xmlns:a16="http://schemas.microsoft.com/office/drawing/2014/main" val="299999348"/>
                        </a:ext>
                      </a:extLst>
                    </a:gridCol>
                  </a:tblGrid>
                  <a:tr h="484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u="none" dirty="0">
                              <a:solidFill>
                                <a:srgbClr val="0070C0"/>
                              </a:solidFill>
                              <a:latin typeface="Arial" panose="020B0604020202020204" pitchFamily="34" charset="0"/>
                              <a:cs typeface="Arial" panose="020B0604020202020204" pitchFamily="34" charset="0"/>
                            </a:rPr>
                            <a:t>Question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Population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Sample</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Statistic</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752913">
                    <a:tc>
                      <a:txBody>
                        <a:bodyPr/>
                        <a:lstStyle/>
                        <a:p>
                          <a:pPr marL="287338" indent="-287338"/>
                          <a:r>
                            <a:rPr lang="en-US" sz="1400" i="0" dirty="0">
                              <a:latin typeface="Arial" panose="020B0604020202020204" pitchFamily="34" charset="0"/>
                              <a:cs typeface="Arial" panose="020B0604020202020204" pitchFamily="34" charset="0"/>
                            </a:rPr>
                            <a:t>Unemployment rate?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US labor force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Household survey</a:t>
                          </a:r>
                        </a:p>
                      </a:txBody>
                      <a:tcPr marL="82768" marR="82768" marT="41384" marB="41384">
                        <a:lnT w="12700" cap="flat" cmpd="sng" algn="ctr">
                          <a:solidFill>
                            <a:scrgbClr r="0" g="0" b="0"/>
                          </a:solidFill>
                          <a:prstDash val="solid"/>
                          <a:round/>
                          <a:headEnd type="none" w="med" len="med"/>
                          <a:tailEnd type="none" w="med" len="med"/>
                        </a:lnT>
                      </a:tcPr>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latin typeface="Arial" panose="020B0604020202020204" pitchFamily="34" charset="0"/>
                              <a:cs typeface="Arial" panose="020B0604020202020204" pitchFamily="34" charset="0"/>
                            </a:rPr>
                            <a:t>=rate</a:t>
                          </a:r>
                        </a:p>
                      </a:txBody>
                      <a:tcPr marL="82768" marR="82768" marT="41384" marB="41384">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1"/>
                      </a:ext>
                    </a:extLst>
                  </a:tr>
                  <a:tr h="744672">
                    <a:tc>
                      <a:txBody>
                        <a:bodyPr/>
                        <a:lstStyle/>
                        <a:p>
                          <a:pPr marL="0" indent="0"/>
                          <a:r>
                            <a:rPr lang="en-US" sz="1400" i="0" dirty="0">
                              <a:latin typeface="Arial" panose="020B0604020202020204" pitchFamily="34" charset="0"/>
                              <a:cs typeface="Arial" panose="020B0604020202020204" pitchFamily="34" charset="0"/>
                            </a:rPr>
                            <a:t>Annual stock return?</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t>
                          </a:r>
                          <a:r>
                            <a:rPr lang="en-US" sz="1400" i="0" baseline="0" dirty="0">
                              <a:latin typeface="Arial" panose="020B0604020202020204" pitchFamily="34" charset="0"/>
                              <a:cs typeface="Arial" panose="020B0604020202020204" pitchFamily="34" charset="0"/>
                            </a:rPr>
                            <a:t>returns</a:t>
                          </a:r>
                          <a:endParaRPr lang="en-US" sz="1400" i="0" dirty="0">
                            <a:latin typeface="Arial" panose="020B0604020202020204" pitchFamily="34" charset="0"/>
                            <a:cs typeface="Arial" panose="020B0604020202020204" pitchFamily="34" charset="0"/>
                          </a:endParaRP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latin typeface="Arial" panose="020B0604020202020204" pitchFamily="34" charset="0"/>
                              <a:cs typeface="Arial" panose="020B0604020202020204" pitchFamily="34" charset="0"/>
                            </a:rPr>
                            <a:t>=return</a:t>
                          </a:r>
                        </a:p>
                        <a:p>
                          <a:endParaRPr lang="en-US" sz="1400" i="0" dirty="0">
                            <a:latin typeface="Arial" panose="020B0604020202020204" pitchFamily="34" charset="0"/>
                            <a:cs typeface="Arial" panose="020B0604020202020204" pitchFamily="34" charset="0"/>
                          </a:endParaRPr>
                        </a:p>
                      </a:txBody>
                      <a:tcPr marL="82768" marR="82768" marT="41384" marB="41384"/>
                    </a:tc>
                    <a:extLst>
                      <a:ext uri="{0D108BD9-81ED-4DB2-BD59-A6C34878D82A}">
                        <a16:rowId xmlns:a16="http://schemas.microsoft.com/office/drawing/2014/main" val="10002"/>
                      </a:ext>
                    </a:extLst>
                  </a:tr>
                  <a:tr h="744672">
                    <a:tc>
                      <a:txBody>
                        <a:bodyPr/>
                        <a:lstStyle/>
                        <a:p>
                          <a:pPr marL="0" indent="0"/>
                          <a:r>
                            <a:rPr lang="en-US" sz="1400" i="0" dirty="0">
                              <a:solidFill>
                                <a:schemeClr val="tx1"/>
                              </a:solidFill>
                              <a:latin typeface="Arial" panose="020B0604020202020204" pitchFamily="34" charset="0"/>
                              <a:cs typeface="Arial" panose="020B0604020202020204" pitchFamily="34" charset="0"/>
                            </a:rPr>
                            <a:t>Female patent success rate?</a:t>
                          </a:r>
                        </a:p>
                      </a:txBody>
                      <a:tcPr marL="82768" marR="82768" marT="41384" marB="41384"/>
                    </a:tc>
                    <a:tc>
                      <a:txBody>
                        <a:bodyPr/>
                        <a:lstStyle/>
                        <a:p>
                          <a:r>
                            <a:rPr lang="en-US" sz="1400" i="0" dirty="0">
                              <a:solidFill>
                                <a:schemeClr val="tx1"/>
                              </a:solidFill>
                              <a:latin typeface="Arial" panose="020B0604020202020204" pitchFamily="34" charset="0"/>
                              <a:cs typeface="Arial" panose="020B0604020202020204" pitchFamily="34" charset="0"/>
                            </a:rPr>
                            <a:t>All applications</a:t>
                          </a:r>
                        </a:p>
                      </a:txBody>
                      <a:tcPr marL="82768" marR="82768" marT="41384" marB="41384"/>
                    </a:tc>
                    <a:tc>
                      <a:txBody>
                        <a:bodyPr/>
                        <a:lstStyle/>
                        <a:p>
                          <a:r>
                            <a:rPr lang="en-US" sz="1400" i="0" dirty="0">
                              <a:solidFill>
                                <a:schemeClr val="tx1"/>
                              </a:solidFill>
                              <a:latin typeface="Arial" panose="020B0604020202020204" pitchFamily="34" charset="0"/>
                              <a:cs typeface="Arial" panose="020B0604020202020204" pitchFamily="34" charset="0"/>
                            </a:rPr>
                            <a:t>Last 5 years</a:t>
                          </a:r>
                        </a:p>
                      </a:txBody>
                      <a:tcPr marL="82768" marR="82768" marT="41384" marB="41384"/>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solidFill>
                                <a:schemeClr val="tx1"/>
                              </a:solidFill>
                              <a:latin typeface="Arial" panose="020B0604020202020204" pitchFamily="34" charset="0"/>
                              <a:cs typeface="Arial" panose="020B0604020202020204" pitchFamily="34" charset="0"/>
                            </a:rPr>
                            <a:t>=female success </a:t>
                          </a:r>
                          <a:br>
                            <a:rPr lang="en-US" sz="1400" i="0" dirty="0">
                              <a:solidFill>
                                <a:schemeClr val="tx1"/>
                              </a:solidFill>
                              <a:latin typeface="Arial" panose="020B0604020202020204" pitchFamily="34" charset="0"/>
                              <a:cs typeface="Arial" panose="020B0604020202020204" pitchFamily="34" charset="0"/>
                            </a:rPr>
                          </a:br>
                          <a:r>
                            <a:rPr lang="en-US" sz="1400" i="0" dirty="0">
                              <a:solidFill>
                                <a:schemeClr val="tx1"/>
                              </a:solidFill>
                              <a:latin typeface="Arial" panose="020B0604020202020204" pitchFamily="34" charset="0"/>
                              <a:cs typeface="Arial" panose="020B0604020202020204" pitchFamily="34" charset="0"/>
                            </a:rPr>
                            <a:t>    rate</a:t>
                          </a:r>
                        </a:p>
                      </a:txBody>
                      <a:tcPr marL="82768" marR="82768" marT="41384" marB="41384"/>
                    </a:tc>
                    <a:extLst>
                      <a:ext uri="{0D108BD9-81ED-4DB2-BD59-A6C34878D82A}">
                        <a16:rowId xmlns:a16="http://schemas.microsoft.com/office/drawing/2014/main" val="990663651"/>
                      </a:ext>
                    </a:extLst>
                  </a:tr>
                  <a:tr h="744672">
                    <a:tc>
                      <a:txBody>
                        <a:bodyPr/>
                        <a:lstStyle/>
                        <a:p>
                          <a:pPr marL="0" indent="0"/>
                          <a:r>
                            <a:rPr lang="en-US" sz="1400" i="0" dirty="0">
                              <a:solidFill>
                                <a:schemeClr val="tx1"/>
                              </a:solidFill>
                              <a:latin typeface="Arial" panose="020B0604020202020204" pitchFamily="34" charset="0"/>
                              <a:cs typeface="Arial" panose="020B0604020202020204" pitchFamily="34" charset="0"/>
                            </a:rPr>
                            <a:t>Will A win the election?</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chemeClr val="tx1"/>
                              </a:solidFill>
                              <a:latin typeface="Arial" panose="020B0604020202020204" pitchFamily="34" charset="0"/>
                              <a:cs typeface="Arial" panose="020B0604020202020204" pitchFamily="34" charset="0"/>
                            </a:rPr>
                            <a:t>Actual voters on election day</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chemeClr val="tx1"/>
                              </a:solidFill>
                              <a:latin typeface="Arial" panose="020B0604020202020204" pitchFamily="34" charset="0"/>
                              <a:cs typeface="Arial" panose="020B0604020202020204" pitchFamily="34" charset="0"/>
                            </a:rPr>
                            <a:t>Likely voter survey</a:t>
                          </a:r>
                        </a:p>
                      </a:txBody>
                      <a:tcPr marL="82768" marR="82768" marT="41384" marB="41384">
                        <a:lnB w="12700" cap="flat" cmpd="sng" algn="ctr">
                          <a:solidFill>
                            <a:scrgbClr r="0" g="0" b="0"/>
                          </a:solidFill>
                          <a:prstDash val="solid"/>
                          <a:round/>
                          <a:headEnd type="none" w="med" len="med"/>
                          <a:tailEnd type="none" w="med" len="med"/>
                        </a:lnB>
                      </a:tcPr>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solidFill>
                                <a:schemeClr val="tx1"/>
                              </a:solidFill>
                              <a:latin typeface="Arial" panose="020B0604020202020204" pitchFamily="34" charset="0"/>
                              <a:cs typeface="Arial" panose="020B0604020202020204" pitchFamily="34" charset="0"/>
                            </a:rPr>
                            <a:t>=vote for A</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2751794278"/>
                      </a:ext>
                    </a:extLst>
                  </a:tr>
                </a:tbl>
              </a:graphicData>
            </a:graphic>
          </p:graphicFrame>
        </mc:Choice>
        <mc:Fallback xmlns="">
          <p:graphicFrame>
            <p:nvGraphicFramePr>
              <p:cNvPr id="6" name="Table 5">
                <a:extLst>
                  <a:ext uri="{FF2B5EF4-FFF2-40B4-BE49-F238E27FC236}">
                    <a16:creationId xmlns:a16="http://schemas.microsoft.com/office/drawing/2014/main" id="{35D1E7E3-AE49-C957-99CB-CF9311461650}"/>
                  </a:ext>
                </a:extLst>
              </p:cNvPr>
              <p:cNvGraphicFramePr>
                <a:graphicFrameLocks noGrp="1"/>
              </p:cNvGraphicFramePr>
              <p:nvPr>
                <p:extLst>
                  <p:ext uri="{D42A27DB-BD31-4B8C-83A1-F6EECF244321}">
                    <p14:modId xmlns:p14="http://schemas.microsoft.com/office/powerpoint/2010/main" val="2273630331"/>
                  </p:ext>
                </p:extLst>
              </p:nvPr>
            </p:nvGraphicFramePr>
            <p:xfrm>
              <a:off x="52129" y="1510619"/>
              <a:ext cx="9005778" cy="3471126"/>
            </p:xfrm>
            <a:graphic>
              <a:graphicData uri="http://schemas.openxmlformats.org/drawingml/2006/table">
                <a:tbl>
                  <a:tblPr firstRow="1" bandRow="1">
                    <a:tableStyleId>{2D5ABB26-0587-4C30-8999-92F81FD0307C}</a:tableStyleId>
                  </a:tblPr>
                  <a:tblGrid>
                    <a:gridCol w="2703304">
                      <a:extLst>
                        <a:ext uri="{9D8B030D-6E8A-4147-A177-3AD203B41FA5}">
                          <a16:colId xmlns:a16="http://schemas.microsoft.com/office/drawing/2014/main" val="20000"/>
                        </a:ext>
                      </a:extLst>
                    </a:gridCol>
                    <a:gridCol w="1989700">
                      <a:extLst>
                        <a:ext uri="{9D8B030D-6E8A-4147-A177-3AD203B41FA5}">
                          <a16:colId xmlns:a16="http://schemas.microsoft.com/office/drawing/2014/main" val="20001"/>
                        </a:ext>
                      </a:extLst>
                    </a:gridCol>
                    <a:gridCol w="2297017">
                      <a:extLst>
                        <a:ext uri="{9D8B030D-6E8A-4147-A177-3AD203B41FA5}">
                          <a16:colId xmlns:a16="http://schemas.microsoft.com/office/drawing/2014/main" val="20002"/>
                        </a:ext>
                      </a:extLst>
                    </a:gridCol>
                    <a:gridCol w="2015757">
                      <a:extLst>
                        <a:ext uri="{9D8B030D-6E8A-4147-A177-3AD203B41FA5}">
                          <a16:colId xmlns:a16="http://schemas.microsoft.com/office/drawing/2014/main" val="299999348"/>
                        </a:ext>
                      </a:extLst>
                    </a:gridCol>
                  </a:tblGrid>
                  <a:tr h="484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u="none" dirty="0">
                              <a:solidFill>
                                <a:srgbClr val="0070C0"/>
                              </a:solidFill>
                              <a:latin typeface="Arial" panose="020B0604020202020204" pitchFamily="34" charset="0"/>
                              <a:cs typeface="Arial" panose="020B0604020202020204" pitchFamily="34" charset="0"/>
                            </a:rPr>
                            <a:t>Question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Population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Sample</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Statistic</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752913">
                    <a:tc>
                      <a:txBody>
                        <a:bodyPr/>
                        <a:lstStyle/>
                        <a:p>
                          <a:pPr marL="287338" indent="-287338"/>
                          <a:r>
                            <a:rPr lang="en-US" sz="1400" i="0" dirty="0">
                              <a:latin typeface="Arial" panose="020B0604020202020204" pitchFamily="34" charset="0"/>
                              <a:cs typeface="Arial" panose="020B0604020202020204" pitchFamily="34" charset="0"/>
                            </a:rPr>
                            <a:t>Unemployment rate?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US labor force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Household survey</a:t>
                          </a:r>
                        </a:p>
                      </a:txBody>
                      <a:tcPr marL="82768" marR="82768" marT="41384" marB="41384">
                        <a:lnT w="12700" cap="flat" cmpd="sng" algn="ctr">
                          <a:solidFill>
                            <a:scrgbClr r="0" g="0" b="0"/>
                          </a:solidFill>
                          <a:prstDash val="solid"/>
                          <a:round/>
                          <a:headEnd type="none" w="med" len="med"/>
                          <a:tailEnd type="none" w="med" len="med"/>
                        </a:lnT>
                      </a:tcPr>
                    </a:tc>
                    <a:tc>
                      <a:txBody>
                        <a:bodyPr/>
                        <a:lstStyle/>
                        <a:p>
                          <a:endParaRPr lang="en-US"/>
                        </a:p>
                      </a:txBody>
                      <a:tcPr marL="82768" marR="82768" marT="41384" marB="41384">
                        <a:lnT w="12700" cap="flat" cmpd="sng" algn="ctr">
                          <a:solidFill>
                            <a:scrgbClr r="0" g="0" b="0"/>
                          </a:solidFill>
                          <a:prstDash val="solid"/>
                          <a:round/>
                          <a:headEnd type="none" w="med" len="med"/>
                          <a:tailEnd type="none" w="med" len="med"/>
                        </a:lnT>
                        <a:blipFill>
                          <a:blip r:embed="rId2"/>
                          <a:stretch>
                            <a:fillRect l="-346526" t="-66129" r="-302" b="-296774"/>
                          </a:stretch>
                        </a:blipFill>
                      </a:tcPr>
                    </a:tc>
                    <a:extLst>
                      <a:ext uri="{0D108BD9-81ED-4DB2-BD59-A6C34878D82A}">
                        <a16:rowId xmlns:a16="http://schemas.microsoft.com/office/drawing/2014/main" val="10001"/>
                      </a:ext>
                    </a:extLst>
                  </a:tr>
                  <a:tr h="744672">
                    <a:tc>
                      <a:txBody>
                        <a:bodyPr/>
                        <a:lstStyle/>
                        <a:p>
                          <a:pPr marL="0" indent="0"/>
                          <a:r>
                            <a:rPr lang="en-US" sz="1400" i="0" dirty="0">
                              <a:latin typeface="Arial" panose="020B0604020202020204" pitchFamily="34" charset="0"/>
                              <a:cs typeface="Arial" panose="020B0604020202020204" pitchFamily="34" charset="0"/>
                            </a:rPr>
                            <a:t>Annual stock return?</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t>
                          </a:r>
                          <a:r>
                            <a:rPr lang="en-US" sz="1400" i="0" baseline="0" dirty="0">
                              <a:latin typeface="Arial" panose="020B0604020202020204" pitchFamily="34" charset="0"/>
                              <a:cs typeface="Arial" panose="020B0604020202020204" pitchFamily="34" charset="0"/>
                            </a:rPr>
                            <a:t>returns</a:t>
                          </a:r>
                          <a:endParaRPr lang="en-US" sz="1400" i="0" dirty="0">
                            <a:latin typeface="Arial" panose="020B0604020202020204" pitchFamily="34" charset="0"/>
                            <a:cs typeface="Arial" panose="020B0604020202020204" pitchFamily="34" charset="0"/>
                          </a:endParaRP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endParaRPr lang="en-US"/>
                        </a:p>
                      </a:txBody>
                      <a:tcPr marL="82768" marR="82768" marT="41384" marB="41384">
                        <a:blipFill>
                          <a:blip r:embed="rId2"/>
                          <a:stretch>
                            <a:fillRect l="-346526" t="-168852" r="-302" b="-201639"/>
                          </a:stretch>
                        </a:blipFill>
                      </a:tcPr>
                    </a:tc>
                    <a:extLst>
                      <a:ext uri="{0D108BD9-81ED-4DB2-BD59-A6C34878D82A}">
                        <a16:rowId xmlns:a16="http://schemas.microsoft.com/office/drawing/2014/main" val="10002"/>
                      </a:ext>
                    </a:extLst>
                  </a:tr>
                  <a:tr h="744672">
                    <a:tc>
                      <a:txBody>
                        <a:bodyPr/>
                        <a:lstStyle/>
                        <a:p>
                          <a:pPr marL="0" indent="0"/>
                          <a:r>
                            <a:rPr lang="en-US" sz="1400" i="0" dirty="0">
                              <a:solidFill>
                                <a:schemeClr val="tx1"/>
                              </a:solidFill>
                              <a:latin typeface="Arial" panose="020B0604020202020204" pitchFamily="34" charset="0"/>
                              <a:cs typeface="Arial" panose="020B0604020202020204" pitchFamily="34" charset="0"/>
                            </a:rPr>
                            <a:t>Female patent success rate?</a:t>
                          </a:r>
                        </a:p>
                      </a:txBody>
                      <a:tcPr marL="82768" marR="82768" marT="41384" marB="41384"/>
                    </a:tc>
                    <a:tc>
                      <a:txBody>
                        <a:bodyPr/>
                        <a:lstStyle/>
                        <a:p>
                          <a:r>
                            <a:rPr lang="en-US" sz="1400" i="0" dirty="0">
                              <a:solidFill>
                                <a:schemeClr val="tx1"/>
                              </a:solidFill>
                              <a:latin typeface="Arial" panose="020B0604020202020204" pitchFamily="34" charset="0"/>
                              <a:cs typeface="Arial" panose="020B0604020202020204" pitchFamily="34" charset="0"/>
                            </a:rPr>
                            <a:t>All applications</a:t>
                          </a:r>
                        </a:p>
                      </a:txBody>
                      <a:tcPr marL="82768" marR="82768" marT="41384" marB="41384"/>
                    </a:tc>
                    <a:tc>
                      <a:txBody>
                        <a:bodyPr/>
                        <a:lstStyle/>
                        <a:p>
                          <a:r>
                            <a:rPr lang="en-US" sz="1400" i="0" dirty="0">
                              <a:solidFill>
                                <a:schemeClr val="tx1"/>
                              </a:solidFill>
                              <a:latin typeface="Arial" panose="020B0604020202020204" pitchFamily="34" charset="0"/>
                              <a:cs typeface="Arial" panose="020B0604020202020204" pitchFamily="34" charset="0"/>
                            </a:rPr>
                            <a:t>Last 5 years</a:t>
                          </a:r>
                        </a:p>
                      </a:txBody>
                      <a:tcPr marL="82768" marR="82768" marT="41384" marB="41384"/>
                    </a:tc>
                    <a:tc>
                      <a:txBody>
                        <a:bodyPr/>
                        <a:lstStyle/>
                        <a:p>
                          <a:endParaRPr lang="en-US"/>
                        </a:p>
                      </a:txBody>
                      <a:tcPr marL="82768" marR="82768" marT="41384" marB="41384">
                        <a:blipFill>
                          <a:blip r:embed="rId2"/>
                          <a:stretch>
                            <a:fillRect l="-346526" t="-266667" r="-302" b="-100000"/>
                          </a:stretch>
                        </a:blipFill>
                      </a:tcPr>
                    </a:tc>
                    <a:extLst>
                      <a:ext uri="{0D108BD9-81ED-4DB2-BD59-A6C34878D82A}">
                        <a16:rowId xmlns:a16="http://schemas.microsoft.com/office/drawing/2014/main" val="990663651"/>
                      </a:ext>
                    </a:extLst>
                  </a:tr>
                  <a:tr h="744672">
                    <a:tc>
                      <a:txBody>
                        <a:bodyPr/>
                        <a:lstStyle/>
                        <a:p>
                          <a:pPr marL="0" indent="0"/>
                          <a:r>
                            <a:rPr lang="en-US" sz="1400" i="0" dirty="0">
                              <a:solidFill>
                                <a:schemeClr val="tx1"/>
                              </a:solidFill>
                              <a:latin typeface="Arial" panose="020B0604020202020204" pitchFamily="34" charset="0"/>
                              <a:cs typeface="Arial" panose="020B0604020202020204" pitchFamily="34" charset="0"/>
                            </a:rPr>
                            <a:t>Will A win the election?</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chemeClr val="tx1"/>
                              </a:solidFill>
                              <a:latin typeface="Arial" panose="020B0604020202020204" pitchFamily="34" charset="0"/>
                              <a:cs typeface="Arial" panose="020B0604020202020204" pitchFamily="34" charset="0"/>
                            </a:rPr>
                            <a:t>Actual voters on election day</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chemeClr val="tx1"/>
                              </a:solidFill>
                              <a:latin typeface="Arial" panose="020B0604020202020204" pitchFamily="34" charset="0"/>
                              <a:cs typeface="Arial" panose="020B0604020202020204" pitchFamily="34" charset="0"/>
                            </a:rPr>
                            <a:t>Likely voter survey</a:t>
                          </a:r>
                        </a:p>
                      </a:txBody>
                      <a:tcPr marL="82768" marR="82768" marT="41384" marB="41384">
                        <a:lnB w="12700" cap="flat" cmpd="sng" algn="ctr">
                          <a:solidFill>
                            <a:scrgbClr r="0" g="0" b="0"/>
                          </a:solidFill>
                          <a:prstDash val="solid"/>
                          <a:round/>
                          <a:headEnd type="none" w="med" len="med"/>
                          <a:tailEnd type="none" w="med" len="med"/>
                        </a:lnB>
                      </a:tcPr>
                    </a:tc>
                    <a:tc>
                      <a:txBody>
                        <a:bodyPr/>
                        <a:lstStyle/>
                        <a:p>
                          <a:endParaRPr lang="en-US"/>
                        </a:p>
                      </a:txBody>
                      <a:tcPr marL="82768" marR="82768" marT="41384" marB="41384">
                        <a:lnB w="12700" cap="flat" cmpd="sng" algn="ctr">
                          <a:solidFill>
                            <a:scrgbClr r="0" g="0" b="0"/>
                          </a:solidFill>
                          <a:prstDash val="solid"/>
                          <a:round/>
                          <a:headEnd type="none" w="med" len="med"/>
                          <a:tailEnd type="none" w="med" len="med"/>
                        </a:lnB>
                        <a:blipFill>
                          <a:blip r:embed="rId2"/>
                          <a:stretch>
                            <a:fillRect l="-346526" t="-369672" r="-302" b="-820"/>
                          </a:stretch>
                        </a:blipFill>
                      </a:tcPr>
                    </a:tc>
                    <a:extLst>
                      <a:ext uri="{0D108BD9-81ED-4DB2-BD59-A6C34878D82A}">
                        <a16:rowId xmlns:a16="http://schemas.microsoft.com/office/drawing/2014/main" val="2751794278"/>
                      </a:ext>
                    </a:extLst>
                  </a:tr>
                </a:tbl>
              </a:graphicData>
            </a:graphic>
          </p:graphicFrame>
        </mc:Fallback>
      </mc:AlternateContent>
    </p:spTree>
    <p:extLst>
      <p:ext uri="{BB962C8B-B14F-4D97-AF65-F5344CB8AC3E}">
        <p14:creationId xmlns:p14="http://schemas.microsoft.com/office/powerpoint/2010/main" val="1021670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4A018-C7C4-E449-191B-0B5BFC8EC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0436D-5FFC-A612-468F-EE04C7D61C31}"/>
              </a:ext>
            </a:extLst>
          </p:cNvPr>
          <p:cNvSpPr>
            <a:spLocks noGrp="1"/>
          </p:cNvSpPr>
          <p:nvPr>
            <p:ph type="title"/>
          </p:nvPr>
        </p:nvSpPr>
        <p:spPr/>
        <p:txBody>
          <a:bodyPr/>
          <a:lstStyle/>
          <a:p>
            <a:r>
              <a:rPr lang="en-US" dirty="0"/>
              <a:t>Sample vs Population Examples</a:t>
            </a:r>
          </a:p>
        </p:txBody>
      </p:sp>
      <p:sp>
        <p:nvSpPr>
          <p:cNvPr id="4" name="Slide Number Placeholder 3">
            <a:extLst>
              <a:ext uri="{FF2B5EF4-FFF2-40B4-BE49-F238E27FC236}">
                <a16:creationId xmlns:a16="http://schemas.microsoft.com/office/drawing/2014/main" id="{7BD45013-E541-A209-E250-D0ECF6FC82EC}"/>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29</a:t>
            </a:fld>
            <a:endParaRPr lang="en-GB"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1D7158B-114C-5390-C77E-1E7A5BE24BE7}"/>
                  </a:ext>
                </a:extLst>
              </p:cNvPr>
              <p:cNvGraphicFramePr>
                <a:graphicFrameLocks noGrp="1"/>
              </p:cNvGraphicFramePr>
              <p:nvPr>
                <p:extLst>
                  <p:ext uri="{D42A27DB-BD31-4B8C-83A1-F6EECF244321}">
                    <p14:modId xmlns:p14="http://schemas.microsoft.com/office/powerpoint/2010/main" val="2289286874"/>
                  </p:ext>
                </p:extLst>
              </p:nvPr>
            </p:nvGraphicFramePr>
            <p:xfrm>
              <a:off x="52129" y="1510619"/>
              <a:ext cx="9005778" cy="3471126"/>
            </p:xfrm>
            <a:graphic>
              <a:graphicData uri="http://schemas.openxmlformats.org/drawingml/2006/table">
                <a:tbl>
                  <a:tblPr firstRow="1" bandRow="1">
                    <a:tableStyleId>{2D5ABB26-0587-4C30-8999-92F81FD0307C}</a:tableStyleId>
                  </a:tblPr>
                  <a:tblGrid>
                    <a:gridCol w="2703304">
                      <a:extLst>
                        <a:ext uri="{9D8B030D-6E8A-4147-A177-3AD203B41FA5}">
                          <a16:colId xmlns:a16="http://schemas.microsoft.com/office/drawing/2014/main" val="20000"/>
                        </a:ext>
                      </a:extLst>
                    </a:gridCol>
                    <a:gridCol w="1989700">
                      <a:extLst>
                        <a:ext uri="{9D8B030D-6E8A-4147-A177-3AD203B41FA5}">
                          <a16:colId xmlns:a16="http://schemas.microsoft.com/office/drawing/2014/main" val="20001"/>
                        </a:ext>
                      </a:extLst>
                    </a:gridCol>
                    <a:gridCol w="2297017">
                      <a:extLst>
                        <a:ext uri="{9D8B030D-6E8A-4147-A177-3AD203B41FA5}">
                          <a16:colId xmlns:a16="http://schemas.microsoft.com/office/drawing/2014/main" val="20002"/>
                        </a:ext>
                      </a:extLst>
                    </a:gridCol>
                    <a:gridCol w="2015757">
                      <a:extLst>
                        <a:ext uri="{9D8B030D-6E8A-4147-A177-3AD203B41FA5}">
                          <a16:colId xmlns:a16="http://schemas.microsoft.com/office/drawing/2014/main" val="299999348"/>
                        </a:ext>
                      </a:extLst>
                    </a:gridCol>
                  </a:tblGrid>
                  <a:tr h="484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u="none" dirty="0">
                              <a:solidFill>
                                <a:srgbClr val="0070C0"/>
                              </a:solidFill>
                              <a:latin typeface="Arial" panose="020B0604020202020204" pitchFamily="34" charset="0"/>
                              <a:cs typeface="Arial" panose="020B0604020202020204" pitchFamily="34" charset="0"/>
                            </a:rPr>
                            <a:t>Question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Population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Sample</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Statistic</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752913">
                    <a:tc>
                      <a:txBody>
                        <a:bodyPr/>
                        <a:lstStyle/>
                        <a:p>
                          <a:pPr marL="287338" indent="-287338"/>
                          <a:r>
                            <a:rPr lang="en-US" sz="1400" i="0" dirty="0">
                              <a:latin typeface="Arial" panose="020B0604020202020204" pitchFamily="34" charset="0"/>
                              <a:cs typeface="Arial" panose="020B0604020202020204" pitchFamily="34" charset="0"/>
                            </a:rPr>
                            <a:t>Unemployment rate?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US labor force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Household survey</a:t>
                          </a:r>
                        </a:p>
                      </a:txBody>
                      <a:tcPr marL="82768" marR="82768" marT="41384" marB="41384">
                        <a:lnT w="12700" cap="flat" cmpd="sng" algn="ctr">
                          <a:solidFill>
                            <a:scrgbClr r="0" g="0" b="0"/>
                          </a:solidFill>
                          <a:prstDash val="solid"/>
                          <a:round/>
                          <a:headEnd type="none" w="med" len="med"/>
                          <a:tailEnd type="none" w="med" len="med"/>
                        </a:lnT>
                      </a:tcPr>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latin typeface="Arial" panose="020B0604020202020204" pitchFamily="34" charset="0"/>
                              <a:cs typeface="Arial" panose="020B0604020202020204" pitchFamily="34" charset="0"/>
                            </a:rPr>
                            <a:t>=rate</a:t>
                          </a:r>
                        </a:p>
                      </a:txBody>
                      <a:tcPr marL="82768" marR="82768" marT="41384" marB="41384">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1"/>
                      </a:ext>
                    </a:extLst>
                  </a:tr>
                  <a:tr h="744672">
                    <a:tc>
                      <a:txBody>
                        <a:bodyPr/>
                        <a:lstStyle/>
                        <a:p>
                          <a:pPr marL="0" indent="0"/>
                          <a:r>
                            <a:rPr lang="en-US" sz="1400" i="0" dirty="0">
                              <a:latin typeface="Arial" panose="020B0604020202020204" pitchFamily="34" charset="0"/>
                              <a:cs typeface="Arial" panose="020B0604020202020204" pitchFamily="34" charset="0"/>
                            </a:rPr>
                            <a:t>Annual stock return?</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t>
                          </a:r>
                          <a:r>
                            <a:rPr lang="en-US" sz="1400" i="0" baseline="0" dirty="0">
                              <a:latin typeface="Arial" panose="020B0604020202020204" pitchFamily="34" charset="0"/>
                              <a:cs typeface="Arial" panose="020B0604020202020204" pitchFamily="34" charset="0"/>
                            </a:rPr>
                            <a:t>returns</a:t>
                          </a:r>
                          <a:endParaRPr lang="en-US" sz="1400" i="0" dirty="0">
                            <a:latin typeface="Arial" panose="020B0604020202020204" pitchFamily="34" charset="0"/>
                            <a:cs typeface="Arial" panose="020B0604020202020204" pitchFamily="34" charset="0"/>
                          </a:endParaRP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latin typeface="Arial" panose="020B0604020202020204" pitchFamily="34" charset="0"/>
                              <a:cs typeface="Arial" panose="020B0604020202020204" pitchFamily="34" charset="0"/>
                            </a:rPr>
                            <a:t>=return</a:t>
                          </a:r>
                        </a:p>
                        <a:p>
                          <a:endParaRPr lang="en-US" sz="1400" i="0" dirty="0">
                            <a:latin typeface="Arial" panose="020B0604020202020204" pitchFamily="34" charset="0"/>
                            <a:cs typeface="Arial" panose="020B0604020202020204" pitchFamily="34" charset="0"/>
                          </a:endParaRPr>
                        </a:p>
                      </a:txBody>
                      <a:tcPr marL="82768" marR="82768" marT="41384" marB="41384"/>
                    </a:tc>
                    <a:extLst>
                      <a:ext uri="{0D108BD9-81ED-4DB2-BD59-A6C34878D82A}">
                        <a16:rowId xmlns:a16="http://schemas.microsoft.com/office/drawing/2014/main" val="10002"/>
                      </a:ext>
                    </a:extLst>
                  </a:tr>
                  <a:tr h="744672">
                    <a:tc>
                      <a:txBody>
                        <a:bodyPr/>
                        <a:lstStyle/>
                        <a:p>
                          <a:pPr marL="0" indent="0"/>
                          <a:r>
                            <a:rPr lang="en-US" sz="1400" i="0" dirty="0">
                              <a:latin typeface="Arial" panose="020B0604020202020204" pitchFamily="34" charset="0"/>
                              <a:cs typeface="Arial" panose="020B0604020202020204" pitchFamily="34" charset="0"/>
                            </a:rPr>
                            <a:t>Female patent success rate?</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applications</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latin typeface="Arial" panose="020B0604020202020204" pitchFamily="34" charset="0"/>
                              <a:cs typeface="Arial" panose="020B0604020202020204" pitchFamily="34" charset="0"/>
                            </a:rPr>
                            <a:t>=female success </a:t>
                          </a:r>
                          <a:br>
                            <a:rPr lang="en-US" sz="1400" i="0" dirty="0">
                              <a:latin typeface="Arial" panose="020B0604020202020204" pitchFamily="34" charset="0"/>
                              <a:cs typeface="Arial" panose="020B0604020202020204" pitchFamily="34" charset="0"/>
                            </a:rPr>
                          </a:br>
                          <a:r>
                            <a:rPr lang="en-US" sz="1400" i="0" dirty="0">
                              <a:latin typeface="Arial" panose="020B0604020202020204" pitchFamily="34" charset="0"/>
                              <a:cs typeface="Arial" panose="020B0604020202020204" pitchFamily="34" charset="0"/>
                            </a:rPr>
                            <a:t>    rate</a:t>
                          </a:r>
                        </a:p>
                      </a:txBody>
                      <a:tcPr marL="82768" marR="82768" marT="41384" marB="41384"/>
                    </a:tc>
                    <a:extLst>
                      <a:ext uri="{0D108BD9-81ED-4DB2-BD59-A6C34878D82A}">
                        <a16:rowId xmlns:a16="http://schemas.microsoft.com/office/drawing/2014/main" val="990663651"/>
                      </a:ext>
                    </a:extLst>
                  </a:tr>
                  <a:tr h="744672">
                    <a:tc>
                      <a:txBody>
                        <a:bodyPr/>
                        <a:lstStyle/>
                        <a:p>
                          <a:pPr marL="0" indent="0"/>
                          <a:r>
                            <a:rPr lang="en-US" sz="1400" i="0" dirty="0">
                              <a:solidFill>
                                <a:srgbClr val="FF0000"/>
                              </a:solidFill>
                              <a:latin typeface="Arial" panose="020B0604020202020204" pitchFamily="34" charset="0"/>
                              <a:cs typeface="Arial" panose="020B0604020202020204" pitchFamily="34" charset="0"/>
                            </a:rPr>
                            <a:t>Will A win the election?</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rgbClr val="FF0000"/>
                              </a:solidFill>
                              <a:latin typeface="Arial" panose="020B0604020202020204" pitchFamily="34" charset="0"/>
                              <a:cs typeface="Arial" panose="020B0604020202020204" pitchFamily="34" charset="0"/>
                            </a:rPr>
                            <a:t>Actual voters on election day</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rgbClr val="FF0000"/>
                              </a:solidFill>
                              <a:latin typeface="Arial" panose="020B0604020202020204" pitchFamily="34" charset="0"/>
                              <a:cs typeface="Arial" panose="020B0604020202020204" pitchFamily="34" charset="0"/>
                            </a:rPr>
                            <a:t>Likely voter survey</a:t>
                          </a:r>
                        </a:p>
                      </a:txBody>
                      <a:tcPr marL="82768" marR="82768" marT="41384" marB="41384">
                        <a:lnB w="12700" cap="flat" cmpd="sng" algn="ctr">
                          <a:solidFill>
                            <a:scrgbClr r="0" g="0" b="0"/>
                          </a:solidFill>
                          <a:prstDash val="solid"/>
                          <a:round/>
                          <a:headEnd type="none" w="med" len="med"/>
                          <a:tailEnd type="none" w="med" len="med"/>
                        </a:lnB>
                      </a:tcPr>
                    </a:tc>
                    <a:tc>
                      <a:txBody>
                        <a:bodyPr/>
                        <a:lstStyle/>
                        <a:p>
                          <a14:m>
                            <m:oMath xmlns:m="http://schemas.openxmlformats.org/officeDocument/2006/math">
                              <m:r>
                                <a:rPr lang="en-US" sz="1400" i="1" dirty="0" smtClean="0">
                                  <a:solidFill>
                                    <a:srgbClr val="00B0F0"/>
                                  </a:solidFill>
                                  <a:latin typeface="Cambria Math" panose="02040503050406030204" pitchFamily="18" charset="0"/>
                                  <a:cs typeface="Arial" panose="020B0604020202020204" pitchFamily="34" charset="0"/>
                                </a:rPr>
                                <m:t>𝑥</m:t>
                              </m:r>
                            </m:oMath>
                          </a14:m>
                          <a:r>
                            <a:rPr lang="en-US" sz="1400" i="0" dirty="0">
                              <a:solidFill>
                                <a:srgbClr val="FF0000"/>
                              </a:solidFill>
                              <a:latin typeface="Arial" panose="020B0604020202020204" pitchFamily="34" charset="0"/>
                              <a:cs typeface="Arial" panose="020B0604020202020204" pitchFamily="34" charset="0"/>
                            </a:rPr>
                            <a:t>=vote for A</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2751794278"/>
                      </a:ext>
                    </a:extLst>
                  </a:tr>
                </a:tbl>
              </a:graphicData>
            </a:graphic>
          </p:graphicFrame>
        </mc:Choice>
        <mc:Fallback xmlns="">
          <p:graphicFrame>
            <p:nvGraphicFramePr>
              <p:cNvPr id="5" name="Table 4">
                <a:extLst>
                  <a:ext uri="{FF2B5EF4-FFF2-40B4-BE49-F238E27FC236}">
                    <a16:creationId xmlns:a16="http://schemas.microsoft.com/office/drawing/2014/main" id="{11D7158B-114C-5390-C77E-1E7A5BE24BE7}"/>
                  </a:ext>
                </a:extLst>
              </p:cNvPr>
              <p:cNvGraphicFramePr>
                <a:graphicFrameLocks noGrp="1"/>
              </p:cNvGraphicFramePr>
              <p:nvPr>
                <p:extLst>
                  <p:ext uri="{D42A27DB-BD31-4B8C-83A1-F6EECF244321}">
                    <p14:modId xmlns:p14="http://schemas.microsoft.com/office/powerpoint/2010/main" val="2289286874"/>
                  </p:ext>
                </p:extLst>
              </p:nvPr>
            </p:nvGraphicFramePr>
            <p:xfrm>
              <a:off x="52129" y="1510619"/>
              <a:ext cx="9005778" cy="3471126"/>
            </p:xfrm>
            <a:graphic>
              <a:graphicData uri="http://schemas.openxmlformats.org/drawingml/2006/table">
                <a:tbl>
                  <a:tblPr firstRow="1" bandRow="1">
                    <a:tableStyleId>{2D5ABB26-0587-4C30-8999-92F81FD0307C}</a:tableStyleId>
                  </a:tblPr>
                  <a:tblGrid>
                    <a:gridCol w="2703304">
                      <a:extLst>
                        <a:ext uri="{9D8B030D-6E8A-4147-A177-3AD203B41FA5}">
                          <a16:colId xmlns:a16="http://schemas.microsoft.com/office/drawing/2014/main" val="20000"/>
                        </a:ext>
                      </a:extLst>
                    </a:gridCol>
                    <a:gridCol w="1989700">
                      <a:extLst>
                        <a:ext uri="{9D8B030D-6E8A-4147-A177-3AD203B41FA5}">
                          <a16:colId xmlns:a16="http://schemas.microsoft.com/office/drawing/2014/main" val="20001"/>
                        </a:ext>
                      </a:extLst>
                    </a:gridCol>
                    <a:gridCol w="2297017">
                      <a:extLst>
                        <a:ext uri="{9D8B030D-6E8A-4147-A177-3AD203B41FA5}">
                          <a16:colId xmlns:a16="http://schemas.microsoft.com/office/drawing/2014/main" val="20002"/>
                        </a:ext>
                      </a:extLst>
                    </a:gridCol>
                    <a:gridCol w="2015757">
                      <a:extLst>
                        <a:ext uri="{9D8B030D-6E8A-4147-A177-3AD203B41FA5}">
                          <a16:colId xmlns:a16="http://schemas.microsoft.com/office/drawing/2014/main" val="299999348"/>
                        </a:ext>
                      </a:extLst>
                    </a:gridCol>
                  </a:tblGrid>
                  <a:tr h="484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u="none" dirty="0">
                              <a:solidFill>
                                <a:srgbClr val="0070C0"/>
                              </a:solidFill>
                              <a:latin typeface="Arial" panose="020B0604020202020204" pitchFamily="34" charset="0"/>
                              <a:cs typeface="Arial" panose="020B0604020202020204" pitchFamily="34" charset="0"/>
                            </a:rPr>
                            <a:t>Question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Population</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Sample</a:t>
                          </a:r>
                        </a:p>
                      </a:txBody>
                      <a:tcPr marL="82768" marR="82768" marT="41384" marB="41384">
                        <a:lnB w="12700" cap="flat" cmpd="sng" algn="ctr">
                          <a:solidFill>
                            <a:scrgbClr r="0" g="0" b="0"/>
                          </a:solidFill>
                          <a:prstDash val="solid"/>
                          <a:round/>
                          <a:headEnd type="none" w="med" len="med"/>
                          <a:tailEnd type="none" w="med" len="med"/>
                        </a:lnB>
                      </a:tcPr>
                    </a:tc>
                    <a:tc>
                      <a:txBody>
                        <a:bodyPr/>
                        <a:lstStyle/>
                        <a:p>
                          <a:pPr algn="l"/>
                          <a:r>
                            <a:rPr lang="en-US" sz="1400" b="1" u="none" dirty="0">
                              <a:solidFill>
                                <a:srgbClr val="0070C0"/>
                              </a:solidFill>
                              <a:latin typeface="Arial" panose="020B0604020202020204" pitchFamily="34" charset="0"/>
                              <a:cs typeface="Arial" panose="020B0604020202020204" pitchFamily="34" charset="0"/>
                            </a:rPr>
                            <a:t>Statistic</a:t>
                          </a:r>
                        </a:p>
                      </a:txBody>
                      <a:tcPr marL="82768" marR="82768" marT="41384" marB="41384">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752913">
                    <a:tc>
                      <a:txBody>
                        <a:bodyPr/>
                        <a:lstStyle/>
                        <a:p>
                          <a:pPr marL="287338" indent="-287338"/>
                          <a:r>
                            <a:rPr lang="en-US" sz="1400" i="0" dirty="0">
                              <a:latin typeface="Arial" panose="020B0604020202020204" pitchFamily="34" charset="0"/>
                              <a:cs typeface="Arial" panose="020B0604020202020204" pitchFamily="34" charset="0"/>
                            </a:rPr>
                            <a:t>Unemployment rate?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US labor force</a:t>
                          </a:r>
                        </a:p>
                      </a:txBody>
                      <a:tcPr marL="82768" marR="82768" marT="41384" marB="41384">
                        <a:lnT w="12700" cap="flat" cmpd="sng" algn="ctr">
                          <a:solidFill>
                            <a:scrgbClr r="0" g="0" b="0"/>
                          </a:solidFill>
                          <a:prstDash val="solid"/>
                          <a:round/>
                          <a:headEnd type="none" w="med" len="med"/>
                          <a:tailEnd type="none" w="med" len="med"/>
                        </a:lnT>
                      </a:tcPr>
                    </a:tc>
                    <a:tc>
                      <a:txBody>
                        <a:bodyPr/>
                        <a:lstStyle/>
                        <a:p>
                          <a:r>
                            <a:rPr lang="en-US" sz="1400" i="0" dirty="0">
                              <a:latin typeface="Arial" panose="020B0604020202020204" pitchFamily="34" charset="0"/>
                              <a:cs typeface="Arial" panose="020B0604020202020204" pitchFamily="34" charset="0"/>
                            </a:rPr>
                            <a:t>Household survey</a:t>
                          </a:r>
                        </a:p>
                      </a:txBody>
                      <a:tcPr marL="82768" marR="82768" marT="41384" marB="41384">
                        <a:lnT w="12700" cap="flat" cmpd="sng" algn="ctr">
                          <a:solidFill>
                            <a:scrgbClr r="0" g="0" b="0"/>
                          </a:solidFill>
                          <a:prstDash val="solid"/>
                          <a:round/>
                          <a:headEnd type="none" w="med" len="med"/>
                          <a:tailEnd type="none" w="med" len="med"/>
                        </a:lnT>
                      </a:tcPr>
                    </a:tc>
                    <a:tc>
                      <a:txBody>
                        <a:bodyPr/>
                        <a:lstStyle/>
                        <a:p>
                          <a:endParaRPr lang="en-US"/>
                        </a:p>
                      </a:txBody>
                      <a:tcPr marL="82768" marR="82768" marT="41384" marB="41384">
                        <a:lnT w="12700" cap="flat" cmpd="sng" algn="ctr">
                          <a:solidFill>
                            <a:scrgbClr r="0" g="0" b="0"/>
                          </a:solidFill>
                          <a:prstDash val="solid"/>
                          <a:round/>
                          <a:headEnd type="none" w="med" len="med"/>
                          <a:tailEnd type="none" w="med" len="med"/>
                        </a:lnT>
                        <a:blipFill>
                          <a:blip r:embed="rId2"/>
                          <a:stretch>
                            <a:fillRect l="-346526" t="-66129" r="-302" b="-296774"/>
                          </a:stretch>
                        </a:blipFill>
                      </a:tcPr>
                    </a:tc>
                    <a:extLst>
                      <a:ext uri="{0D108BD9-81ED-4DB2-BD59-A6C34878D82A}">
                        <a16:rowId xmlns:a16="http://schemas.microsoft.com/office/drawing/2014/main" val="10001"/>
                      </a:ext>
                    </a:extLst>
                  </a:tr>
                  <a:tr h="744672">
                    <a:tc>
                      <a:txBody>
                        <a:bodyPr/>
                        <a:lstStyle/>
                        <a:p>
                          <a:pPr marL="0" indent="0"/>
                          <a:r>
                            <a:rPr lang="en-US" sz="1400" i="0" dirty="0">
                              <a:latin typeface="Arial" panose="020B0604020202020204" pitchFamily="34" charset="0"/>
                              <a:cs typeface="Arial" panose="020B0604020202020204" pitchFamily="34" charset="0"/>
                            </a:rPr>
                            <a:t>Annual stock return?</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t>
                          </a:r>
                          <a:r>
                            <a:rPr lang="en-US" sz="1400" i="0" baseline="0" dirty="0">
                              <a:latin typeface="Arial" panose="020B0604020202020204" pitchFamily="34" charset="0"/>
                              <a:cs typeface="Arial" panose="020B0604020202020204" pitchFamily="34" charset="0"/>
                            </a:rPr>
                            <a:t>returns</a:t>
                          </a:r>
                          <a:endParaRPr lang="en-US" sz="1400" i="0" dirty="0">
                            <a:latin typeface="Arial" panose="020B0604020202020204" pitchFamily="34" charset="0"/>
                            <a:cs typeface="Arial" panose="020B0604020202020204" pitchFamily="34" charset="0"/>
                          </a:endParaRP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endParaRPr lang="en-US"/>
                        </a:p>
                      </a:txBody>
                      <a:tcPr marL="82768" marR="82768" marT="41384" marB="41384">
                        <a:blipFill>
                          <a:blip r:embed="rId2"/>
                          <a:stretch>
                            <a:fillRect l="-346526" t="-168852" r="-302" b="-201639"/>
                          </a:stretch>
                        </a:blipFill>
                      </a:tcPr>
                    </a:tc>
                    <a:extLst>
                      <a:ext uri="{0D108BD9-81ED-4DB2-BD59-A6C34878D82A}">
                        <a16:rowId xmlns:a16="http://schemas.microsoft.com/office/drawing/2014/main" val="10002"/>
                      </a:ext>
                    </a:extLst>
                  </a:tr>
                  <a:tr h="744672">
                    <a:tc>
                      <a:txBody>
                        <a:bodyPr/>
                        <a:lstStyle/>
                        <a:p>
                          <a:pPr marL="0" indent="0"/>
                          <a:r>
                            <a:rPr lang="en-US" sz="1400" i="0" dirty="0">
                              <a:latin typeface="Arial" panose="020B0604020202020204" pitchFamily="34" charset="0"/>
                              <a:cs typeface="Arial" panose="020B0604020202020204" pitchFamily="34" charset="0"/>
                            </a:rPr>
                            <a:t>Female patent success rate?</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All applications</a:t>
                          </a:r>
                        </a:p>
                      </a:txBody>
                      <a:tcPr marL="82768" marR="82768" marT="41384" marB="41384"/>
                    </a:tc>
                    <a:tc>
                      <a:txBody>
                        <a:bodyPr/>
                        <a:lstStyle/>
                        <a:p>
                          <a:r>
                            <a:rPr lang="en-US" sz="1400" i="0" dirty="0">
                              <a:latin typeface="Arial" panose="020B0604020202020204" pitchFamily="34" charset="0"/>
                              <a:cs typeface="Arial" panose="020B0604020202020204" pitchFamily="34" charset="0"/>
                            </a:rPr>
                            <a:t>Last 5 years</a:t>
                          </a:r>
                        </a:p>
                      </a:txBody>
                      <a:tcPr marL="82768" marR="82768" marT="41384" marB="41384"/>
                    </a:tc>
                    <a:tc>
                      <a:txBody>
                        <a:bodyPr/>
                        <a:lstStyle/>
                        <a:p>
                          <a:endParaRPr lang="en-US"/>
                        </a:p>
                      </a:txBody>
                      <a:tcPr marL="82768" marR="82768" marT="41384" marB="41384">
                        <a:blipFill>
                          <a:blip r:embed="rId2"/>
                          <a:stretch>
                            <a:fillRect l="-346526" t="-266667" r="-302" b="-100000"/>
                          </a:stretch>
                        </a:blipFill>
                      </a:tcPr>
                    </a:tc>
                    <a:extLst>
                      <a:ext uri="{0D108BD9-81ED-4DB2-BD59-A6C34878D82A}">
                        <a16:rowId xmlns:a16="http://schemas.microsoft.com/office/drawing/2014/main" val="990663651"/>
                      </a:ext>
                    </a:extLst>
                  </a:tr>
                  <a:tr h="744672">
                    <a:tc>
                      <a:txBody>
                        <a:bodyPr/>
                        <a:lstStyle/>
                        <a:p>
                          <a:pPr marL="0" indent="0"/>
                          <a:r>
                            <a:rPr lang="en-US" sz="1400" i="0" dirty="0">
                              <a:solidFill>
                                <a:srgbClr val="FF0000"/>
                              </a:solidFill>
                              <a:latin typeface="Arial" panose="020B0604020202020204" pitchFamily="34" charset="0"/>
                              <a:cs typeface="Arial" panose="020B0604020202020204" pitchFamily="34" charset="0"/>
                            </a:rPr>
                            <a:t>Will A win the election?</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rgbClr val="FF0000"/>
                              </a:solidFill>
                              <a:latin typeface="Arial" panose="020B0604020202020204" pitchFamily="34" charset="0"/>
                              <a:cs typeface="Arial" panose="020B0604020202020204" pitchFamily="34" charset="0"/>
                            </a:rPr>
                            <a:t>Actual voters on election day</a:t>
                          </a:r>
                        </a:p>
                      </a:txBody>
                      <a:tcPr marL="82768" marR="82768" marT="41384" marB="41384">
                        <a:lnB w="12700" cap="flat" cmpd="sng" algn="ctr">
                          <a:solidFill>
                            <a:scrgbClr r="0" g="0" b="0"/>
                          </a:solidFill>
                          <a:prstDash val="solid"/>
                          <a:round/>
                          <a:headEnd type="none" w="med" len="med"/>
                          <a:tailEnd type="none" w="med" len="med"/>
                        </a:lnB>
                      </a:tcPr>
                    </a:tc>
                    <a:tc>
                      <a:txBody>
                        <a:bodyPr/>
                        <a:lstStyle/>
                        <a:p>
                          <a:r>
                            <a:rPr lang="en-US" sz="1400" i="0" dirty="0">
                              <a:solidFill>
                                <a:srgbClr val="FF0000"/>
                              </a:solidFill>
                              <a:latin typeface="Arial" panose="020B0604020202020204" pitchFamily="34" charset="0"/>
                              <a:cs typeface="Arial" panose="020B0604020202020204" pitchFamily="34" charset="0"/>
                            </a:rPr>
                            <a:t>Likely voter survey</a:t>
                          </a:r>
                        </a:p>
                      </a:txBody>
                      <a:tcPr marL="82768" marR="82768" marT="41384" marB="41384">
                        <a:lnB w="12700" cap="flat" cmpd="sng" algn="ctr">
                          <a:solidFill>
                            <a:scrgbClr r="0" g="0" b="0"/>
                          </a:solidFill>
                          <a:prstDash val="solid"/>
                          <a:round/>
                          <a:headEnd type="none" w="med" len="med"/>
                          <a:tailEnd type="none" w="med" len="med"/>
                        </a:lnB>
                      </a:tcPr>
                    </a:tc>
                    <a:tc>
                      <a:txBody>
                        <a:bodyPr/>
                        <a:lstStyle/>
                        <a:p>
                          <a:endParaRPr lang="en-US"/>
                        </a:p>
                      </a:txBody>
                      <a:tcPr marL="82768" marR="82768" marT="41384" marB="41384">
                        <a:lnB w="12700" cap="flat" cmpd="sng" algn="ctr">
                          <a:solidFill>
                            <a:scrgbClr r="0" g="0" b="0"/>
                          </a:solidFill>
                          <a:prstDash val="solid"/>
                          <a:round/>
                          <a:headEnd type="none" w="med" len="med"/>
                          <a:tailEnd type="none" w="med" len="med"/>
                        </a:lnB>
                        <a:blipFill>
                          <a:blip r:embed="rId2"/>
                          <a:stretch>
                            <a:fillRect l="-346526" t="-369672" r="-302" b="-820"/>
                          </a:stretch>
                        </a:blipFill>
                      </a:tcPr>
                    </a:tc>
                    <a:extLst>
                      <a:ext uri="{0D108BD9-81ED-4DB2-BD59-A6C34878D82A}">
                        <a16:rowId xmlns:a16="http://schemas.microsoft.com/office/drawing/2014/main" val="2751794278"/>
                      </a:ext>
                    </a:extLst>
                  </a:tr>
                </a:tbl>
              </a:graphicData>
            </a:graphic>
          </p:graphicFrame>
        </mc:Fallback>
      </mc:AlternateContent>
    </p:spTree>
    <p:extLst>
      <p:ext uri="{BB962C8B-B14F-4D97-AF65-F5344CB8AC3E}">
        <p14:creationId xmlns:p14="http://schemas.microsoft.com/office/powerpoint/2010/main" val="4025241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C7EE-8207-4E78-AC87-CEA73A17D9E9}"/>
              </a:ext>
            </a:extLst>
          </p:cNvPr>
          <p:cNvSpPr>
            <a:spLocks noGrp="1"/>
          </p:cNvSpPr>
          <p:nvPr>
            <p:ph type="title"/>
          </p:nvPr>
        </p:nvSpPr>
        <p:spPr/>
        <p:txBody>
          <a:bodyPr/>
          <a:lstStyle/>
          <a:p>
            <a:r>
              <a:rPr lang="en-US" dirty="0"/>
              <a:t>Example 1: Election Polling</a:t>
            </a:r>
          </a:p>
        </p:txBody>
      </p:sp>
      <p:sp>
        <p:nvSpPr>
          <p:cNvPr id="3" name="Slide Number Placeholder 2">
            <a:extLst>
              <a:ext uri="{FF2B5EF4-FFF2-40B4-BE49-F238E27FC236}">
                <a16:creationId xmlns:a16="http://schemas.microsoft.com/office/drawing/2014/main" id="{2D4E6BB1-B92A-4AA3-B081-F131193ADD1A}"/>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30</a:t>
            </a:fld>
            <a:endParaRPr lang="en-GB" dirty="0"/>
          </a:p>
        </p:txBody>
      </p:sp>
    </p:spTree>
    <p:extLst>
      <p:ext uri="{BB962C8B-B14F-4D97-AF65-F5344CB8AC3E}">
        <p14:creationId xmlns:p14="http://schemas.microsoft.com/office/powerpoint/2010/main" val="2315197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697C7-DEDA-49B2-86DB-7F31E15F8EBA}"/>
              </a:ext>
            </a:extLst>
          </p:cNvPr>
          <p:cNvSpPr>
            <a:spLocks noGrp="1"/>
          </p:cNvSpPr>
          <p:nvPr>
            <p:ph type="title"/>
          </p:nvPr>
        </p:nvSpPr>
        <p:spPr/>
        <p:txBody>
          <a:bodyPr/>
          <a:lstStyle/>
          <a:p>
            <a:r>
              <a:rPr lang="en-US" dirty="0"/>
              <a:t>Election Polling</a:t>
            </a:r>
          </a:p>
        </p:txBody>
      </p:sp>
      <p:sp>
        <p:nvSpPr>
          <p:cNvPr id="3" name="Content Placeholder 2">
            <a:extLst>
              <a:ext uri="{FF2B5EF4-FFF2-40B4-BE49-F238E27FC236}">
                <a16:creationId xmlns:a16="http://schemas.microsoft.com/office/drawing/2014/main" id="{60C7BA2E-4AFF-4142-A9DB-587CAD9EC3DF}"/>
              </a:ext>
            </a:extLst>
          </p:cNvPr>
          <p:cNvSpPr>
            <a:spLocks noGrp="1"/>
          </p:cNvSpPr>
          <p:nvPr>
            <p:ph idx="1"/>
          </p:nvPr>
        </p:nvSpPr>
        <p:spPr/>
        <p:txBody>
          <a:bodyPr/>
          <a:lstStyle/>
          <a:p>
            <a:r>
              <a:rPr lang="en-US" dirty="0"/>
              <a:t>Will candidate A win the upcoming election?</a:t>
            </a:r>
          </a:p>
          <a:p>
            <a:endParaRPr lang="en-US" dirty="0"/>
          </a:p>
          <a:p>
            <a:r>
              <a:rPr lang="en-US" dirty="0"/>
              <a:t>Fox News asks 1,100 likely voters: “Will you vote for A?”</a:t>
            </a:r>
          </a:p>
          <a:p>
            <a:endParaRPr lang="en-US" dirty="0"/>
          </a:p>
          <a:p>
            <a:endParaRPr lang="en-US" dirty="0"/>
          </a:p>
          <a:p>
            <a:endParaRPr lang="en-US" dirty="0"/>
          </a:p>
          <a:p>
            <a:endParaRPr lang="en-US" dirty="0"/>
          </a:p>
          <a:p>
            <a:endParaRPr lang="en-US" dirty="0"/>
          </a:p>
          <a:p>
            <a:pPr marL="0" indent="0">
              <a:buNone/>
            </a:pPr>
            <a:endParaRPr lang="en-US" dirty="0"/>
          </a:p>
          <a:p>
            <a:endParaRPr lang="en-US" dirty="0">
              <a:solidFill>
                <a:schemeClr val="accent6"/>
              </a:solidFill>
            </a:endParaRPr>
          </a:p>
          <a:p>
            <a:r>
              <a:rPr lang="en-US" dirty="0">
                <a:solidFill>
                  <a:schemeClr val="accent6"/>
                </a:solidFill>
              </a:rPr>
              <a:t>We want to know: Is A’s </a:t>
            </a:r>
            <a:r>
              <a:rPr lang="en-US" dirty="0">
                <a:solidFill>
                  <a:srgbClr val="FF0000"/>
                </a:solidFill>
              </a:rPr>
              <a:t>true </a:t>
            </a:r>
            <a:r>
              <a:rPr lang="en-US" dirty="0">
                <a:solidFill>
                  <a:schemeClr val="accent6"/>
                </a:solidFill>
              </a:rPr>
              <a:t>support (</a:t>
            </a:r>
            <a:r>
              <a:rPr lang="en-US" dirty="0">
                <a:solidFill>
                  <a:srgbClr val="FF0000"/>
                </a:solidFill>
              </a:rPr>
              <a:t>in the population</a:t>
            </a:r>
            <a:r>
              <a:rPr lang="en-US" dirty="0">
                <a:solidFill>
                  <a:schemeClr val="accent6"/>
                </a:solidFill>
              </a:rPr>
              <a:t>) above 50%? </a:t>
            </a:r>
          </a:p>
          <a:p>
            <a:endParaRPr lang="en-US" dirty="0">
              <a:solidFill>
                <a:srgbClr val="FF0000"/>
              </a:solidFill>
            </a:endParaRPr>
          </a:p>
          <a:p>
            <a:r>
              <a:rPr lang="en-US" dirty="0">
                <a:solidFill>
                  <a:schemeClr val="accent6"/>
                </a:solidFill>
              </a:rPr>
              <a:t> How could we possibly figure that out?</a:t>
            </a:r>
          </a:p>
          <a:p>
            <a:endParaRPr lang="en-US" dirty="0">
              <a:solidFill>
                <a:srgbClr val="FF0000"/>
              </a:solidFill>
            </a:endParaRPr>
          </a:p>
          <a:p>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6B262062-EA61-4604-901B-F1845DB5971C}"/>
              </a:ext>
            </a:extLst>
          </p:cNvPr>
          <p:cNvSpPr>
            <a:spLocks noGrp="1"/>
          </p:cNvSpPr>
          <p:nvPr>
            <p:ph type="sldNum" sz="quarter" idx="11"/>
          </p:nvPr>
        </p:nvSpPr>
        <p:spPr>
          <a:xfrm>
            <a:off x="8589963" y="6287122"/>
            <a:ext cx="495300" cy="476250"/>
          </a:xfrm>
        </p:spPr>
        <p:txBody>
          <a:bodyPr/>
          <a:lstStyle/>
          <a:p>
            <a:pPr>
              <a:defRPr/>
            </a:pPr>
            <a:endParaRPr lang="en-GB"/>
          </a:p>
          <a:p>
            <a:pPr>
              <a:defRPr/>
            </a:pPr>
            <a:fld id="{FC96386F-C149-48D8-92C5-2CFDBA85534B}" type="slidenum">
              <a:rPr lang="en-GB" smtClean="0"/>
              <a:pPr>
                <a:defRPr/>
              </a:pPr>
              <a:t>31</a:t>
            </a:fld>
            <a:endParaRPr lang="en-GB" dirty="0"/>
          </a:p>
        </p:txBody>
      </p:sp>
      <p:sp>
        <p:nvSpPr>
          <p:cNvPr id="5" name="Oval 4">
            <a:extLst>
              <a:ext uri="{FF2B5EF4-FFF2-40B4-BE49-F238E27FC236}">
                <a16:creationId xmlns:a16="http://schemas.microsoft.com/office/drawing/2014/main" id="{0C479FC1-81D4-4D24-816D-D1902FACAC9D}"/>
              </a:ext>
            </a:extLst>
          </p:cNvPr>
          <p:cNvSpPr/>
          <p:nvPr/>
        </p:nvSpPr>
        <p:spPr bwMode="auto">
          <a:xfrm>
            <a:off x="1924581" y="2741795"/>
            <a:ext cx="3859994" cy="1621483"/>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169BEE5-C98E-4437-B252-2697033149C5}"/>
              </a:ext>
            </a:extLst>
          </p:cNvPr>
          <p:cNvSpPr txBox="1"/>
          <p:nvPr/>
        </p:nvSpPr>
        <p:spPr>
          <a:xfrm>
            <a:off x="2983887" y="2816296"/>
            <a:ext cx="1861825" cy="369332"/>
          </a:xfrm>
          <a:prstGeom prst="rect">
            <a:avLst/>
          </a:prstGeom>
          <a:noFill/>
        </p:spPr>
        <p:txBody>
          <a:bodyPr wrap="square" rtlCol="0">
            <a:spAutoFit/>
          </a:bodyPr>
          <a:lstStyle/>
          <a:p>
            <a:pPr algn="ctr"/>
            <a:r>
              <a:rPr lang="en-US" sz="1800" b="0" u="none" dirty="0">
                <a:latin typeface="Arial" pitchFamily="34" charset="0"/>
                <a:cs typeface="Arial" pitchFamily="34" charset="0"/>
              </a:rPr>
              <a:t>All Voters</a:t>
            </a:r>
          </a:p>
        </p:txBody>
      </p:sp>
      <p:grpSp>
        <p:nvGrpSpPr>
          <p:cNvPr id="9" name="Group 8">
            <a:extLst>
              <a:ext uri="{FF2B5EF4-FFF2-40B4-BE49-F238E27FC236}">
                <a16:creationId xmlns:a16="http://schemas.microsoft.com/office/drawing/2014/main" id="{1CBB8094-56A6-4BF2-832A-771B84542980}"/>
              </a:ext>
            </a:extLst>
          </p:cNvPr>
          <p:cNvGrpSpPr/>
          <p:nvPr/>
        </p:nvGrpSpPr>
        <p:grpSpPr>
          <a:xfrm>
            <a:off x="3171492" y="3260129"/>
            <a:ext cx="1366172" cy="1063256"/>
            <a:chOff x="3914800" y="3500710"/>
            <a:chExt cx="1366172" cy="1063256"/>
          </a:xfrm>
        </p:grpSpPr>
        <p:sp>
          <p:nvSpPr>
            <p:cNvPr id="7" name="Oval 6">
              <a:extLst>
                <a:ext uri="{FF2B5EF4-FFF2-40B4-BE49-F238E27FC236}">
                  <a16:creationId xmlns:a16="http://schemas.microsoft.com/office/drawing/2014/main" id="{2D34A916-6BF5-4A5C-9C8C-D0931062E8FE}"/>
                </a:ext>
              </a:extLst>
            </p:cNvPr>
            <p:cNvSpPr/>
            <p:nvPr/>
          </p:nvSpPr>
          <p:spPr bwMode="auto">
            <a:xfrm>
              <a:off x="3934687" y="3500710"/>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sng" strike="noStrike" cap="none" normalizeH="0" baseline="0" dirty="0">
                <a:ln>
                  <a:noFill/>
                </a:ln>
                <a:solidFill>
                  <a:srgbClr val="00B0F0"/>
                </a:solidFill>
                <a:effectLst/>
                <a:latin typeface="Arial" panose="020B0604020202020204" pitchFamily="34" charset="0"/>
              </a:endParaRPr>
            </a:p>
          </p:txBody>
        </p:sp>
        <p:sp>
          <p:nvSpPr>
            <p:cNvPr id="8" name="TextBox 7">
              <a:extLst>
                <a:ext uri="{FF2B5EF4-FFF2-40B4-BE49-F238E27FC236}">
                  <a16:creationId xmlns:a16="http://schemas.microsoft.com/office/drawing/2014/main" id="{7F75F36E-AF60-4345-A04B-DDC88D6C70B7}"/>
                </a:ext>
              </a:extLst>
            </p:cNvPr>
            <p:cNvSpPr txBox="1"/>
            <p:nvPr/>
          </p:nvSpPr>
          <p:spPr>
            <a:xfrm>
              <a:off x="3914800" y="3554150"/>
              <a:ext cx="1366172" cy="923330"/>
            </a:xfrm>
            <a:prstGeom prst="rect">
              <a:avLst/>
            </a:prstGeom>
            <a:noFill/>
          </p:spPr>
          <p:txBody>
            <a:bodyPr wrap="square" rtlCol="0">
              <a:spAutoFit/>
            </a:bodyPr>
            <a:lstStyle/>
            <a:p>
              <a:pPr algn="ctr"/>
              <a:r>
                <a:rPr lang="en-US" sz="1800" b="0" u="none" dirty="0">
                  <a:solidFill>
                    <a:srgbClr val="00B0F0"/>
                  </a:solidFill>
                  <a:latin typeface="Arial" pitchFamily="34" charset="0"/>
                  <a:cs typeface="Arial" pitchFamily="34" charset="0"/>
                </a:rPr>
                <a:t>Polled </a:t>
              </a:r>
              <a:br>
                <a:rPr lang="en-US" sz="1800" b="0" u="none" dirty="0">
                  <a:solidFill>
                    <a:srgbClr val="00B0F0"/>
                  </a:solidFill>
                  <a:latin typeface="Arial" pitchFamily="34" charset="0"/>
                  <a:cs typeface="Arial" pitchFamily="34" charset="0"/>
                </a:rPr>
              </a:br>
              <a:r>
                <a:rPr lang="en-US" sz="1800" b="0" u="none" dirty="0">
                  <a:solidFill>
                    <a:srgbClr val="00B0F0"/>
                  </a:solidFill>
                  <a:latin typeface="Arial" pitchFamily="34" charset="0"/>
                  <a:cs typeface="Arial" pitchFamily="34" charset="0"/>
                </a:rPr>
                <a:t>by Fox</a:t>
              </a:r>
            </a:p>
            <a:p>
              <a:pPr algn="ctr"/>
              <a:r>
                <a:rPr lang="en-US" sz="1800" b="0" u="none" dirty="0">
                  <a:solidFill>
                    <a:srgbClr val="00B0F0"/>
                  </a:solidFill>
                  <a:latin typeface="Arial" pitchFamily="34" charset="0"/>
                  <a:cs typeface="Arial" pitchFamily="34" charset="0"/>
                </a:rPr>
                <a:t>News</a:t>
              </a:r>
            </a:p>
          </p:txBody>
        </p:sp>
      </p:grpSp>
      <p:sp>
        <p:nvSpPr>
          <p:cNvPr id="10" name="Freeform: Shape 9">
            <a:extLst>
              <a:ext uri="{FF2B5EF4-FFF2-40B4-BE49-F238E27FC236}">
                <a16:creationId xmlns:a16="http://schemas.microsoft.com/office/drawing/2014/main" id="{4ABB1B2A-E6F7-402F-B51D-513C39098214}"/>
              </a:ext>
            </a:extLst>
          </p:cNvPr>
          <p:cNvSpPr/>
          <p:nvPr/>
        </p:nvSpPr>
        <p:spPr bwMode="auto">
          <a:xfrm>
            <a:off x="4534786" y="2787129"/>
            <a:ext cx="2312581" cy="907685"/>
          </a:xfrm>
          <a:custGeom>
            <a:avLst/>
            <a:gdLst>
              <a:gd name="connsiteX0" fmla="*/ 0 w 2312581"/>
              <a:gd name="connsiteY0" fmla="*/ 907685 h 907685"/>
              <a:gd name="connsiteX1" fmla="*/ 1435395 w 2312581"/>
              <a:gd name="connsiteY1" fmla="*/ 30499 h 907685"/>
              <a:gd name="connsiteX2" fmla="*/ 2312581 w 2312581"/>
              <a:gd name="connsiteY2" fmla="*/ 195304 h 907685"/>
            </a:gdLst>
            <a:ahLst/>
            <a:cxnLst>
              <a:cxn ang="0">
                <a:pos x="connsiteX0" y="connsiteY0"/>
              </a:cxn>
              <a:cxn ang="0">
                <a:pos x="connsiteX1" y="connsiteY1"/>
              </a:cxn>
              <a:cxn ang="0">
                <a:pos x="connsiteX2" y="connsiteY2"/>
              </a:cxn>
            </a:cxnLst>
            <a:rect l="l" t="t" r="r" b="b"/>
            <a:pathLst>
              <a:path w="2312581" h="907685">
                <a:moveTo>
                  <a:pt x="0" y="907685"/>
                </a:moveTo>
                <a:cubicBezTo>
                  <a:pt x="524982" y="528457"/>
                  <a:pt x="1049965" y="149229"/>
                  <a:pt x="1435395" y="30499"/>
                </a:cubicBezTo>
                <a:cubicBezTo>
                  <a:pt x="1820825" y="-88231"/>
                  <a:pt x="2201825" y="176697"/>
                  <a:pt x="2312581" y="195304"/>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a:p>
        </p:txBody>
      </p:sp>
      <p:sp>
        <p:nvSpPr>
          <p:cNvPr id="11" name="TextBox 10">
            <a:extLst>
              <a:ext uri="{FF2B5EF4-FFF2-40B4-BE49-F238E27FC236}">
                <a16:creationId xmlns:a16="http://schemas.microsoft.com/office/drawing/2014/main" id="{C74CF910-6B70-4DC9-8FAB-FE46F0934CAE}"/>
              </a:ext>
            </a:extLst>
          </p:cNvPr>
          <p:cNvSpPr txBox="1"/>
          <p:nvPr/>
        </p:nvSpPr>
        <p:spPr>
          <a:xfrm>
            <a:off x="6841948" y="2952371"/>
            <a:ext cx="2041554" cy="1477328"/>
          </a:xfrm>
          <a:prstGeom prst="rect">
            <a:avLst/>
          </a:prstGeom>
          <a:noFill/>
        </p:spPr>
        <p:txBody>
          <a:bodyPr wrap="square" rtlCol="0">
            <a:spAutoFit/>
          </a:bodyPr>
          <a:lstStyle/>
          <a:p>
            <a:r>
              <a:rPr lang="en-US" sz="1800" b="0" u="none" dirty="0">
                <a:solidFill>
                  <a:srgbClr val="00B0F0"/>
                </a:solidFill>
              </a:rPr>
              <a:t>51 percent say they will vote for candidate A</a:t>
            </a:r>
          </a:p>
          <a:p>
            <a:endParaRPr lang="en-US" sz="1800" b="0" u="none" dirty="0">
              <a:solidFill>
                <a:srgbClr val="00B0F0"/>
              </a:solidFill>
            </a:endParaRPr>
          </a:p>
          <a:p>
            <a:pPr algn="ctr"/>
            <a:endParaRPr lang="en-US" sz="1800" b="0" u="none" dirty="0">
              <a:solidFill>
                <a:srgbClr val="00B0F0"/>
              </a:solidFill>
              <a:latin typeface="Arial" pitchFamily="34" charset="0"/>
              <a:cs typeface="Arial" pitchFamily="34" charset="0"/>
            </a:endParaRPr>
          </a:p>
        </p:txBody>
      </p:sp>
    </p:spTree>
    <p:extLst>
      <p:ext uri="{BB962C8B-B14F-4D97-AF65-F5344CB8AC3E}">
        <p14:creationId xmlns:p14="http://schemas.microsoft.com/office/powerpoint/2010/main" val="155918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p:bldP spid="10" grpId="0" animBg="1"/>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893A4-2B94-450D-A702-38B7CE5CA503}"/>
              </a:ext>
            </a:extLst>
          </p:cNvPr>
          <p:cNvSpPr>
            <a:spLocks noGrp="1"/>
          </p:cNvSpPr>
          <p:nvPr>
            <p:ph type="title"/>
          </p:nvPr>
        </p:nvSpPr>
        <p:spPr/>
        <p:txBody>
          <a:bodyPr/>
          <a:lstStyle/>
          <a:p>
            <a:r>
              <a:rPr lang="en-US" dirty="0"/>
              <a:t>Polling Confidence Interval</a:t>
            </a:r>
          </a:p>
        </p:txBody>
      </p:sp>
      <p:sp>
        <p:nvSpPr>
          <p:cNvPr id="3" name="Slide Number Placeholder 2">
            <a:extLst>
              <a:ext uri="{FF2B5EF4-FFF2-40B4-BE49-F238E27FC236}">
                <a16:creationId xmlns:a16="http://schemas.microsoft.com/office/drawing/2014/main" id="{177FB6EA-5EBF-4CD4-879C-636B00DCD625}"/>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32</a:t>
            </a:fld>
            <a:endParaRPr lang="en-GB" dirty="0"/>
          </a:p>
        </p:txBody>
      </p:sp>
    </p:spTree>
    <p:extLst>
      <p:ext uri="{BB962C8B-B14F-4D97-AF65-F5344CB8AC3E}">
        <p14:creationId xmlns:p14="http://schemas.microsoft.com/office/powerpoint/2010/main" val="4050853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91D4-8B80-4523-B1DA-521674D87C9A}"/>
              </a:ext>
            </a:extLst>
          </p:cNvPr>
          <p:cNvSpPr>
            <a:spLocks noGrp="1"/>
          </p:cNvSpPr>
          <p:nvPr>
            <p:ph type="title"/>
          </p:nvPr>
        </p:nvSpPr>
        <p:spPr/>
        <p:txBody>
          <a:bodyPr/>
          <a:lstStyle/>
          <a:p>
            <a:r>
              <a:rPr lang="en-US" dirty="0"/>
              <a:t>Technical Summary of Fox Poll</a:t>
            </a:r>
          </a:p>
        </p:txBody>
      </p:sp>
      <p:sp>
        <p:nvSpPr>
          <p:cNvPr id="3" name="Content Placeholder 2">
            <a:extLst>
              <a:ext uri="{FF2B5EF4-FFF2-40B4-BE49-F238E27FC236}">
                <a16:creationId xmlns:a16="http://schemas.microsoft.com/office/drawing/2014/main" id="{D0CD8862-A479-45DA-A8F6-DB2792B1C3A4}"/>
              </a:ext>
            </a:extLst>
          </p:cNvPr>
          <p:cNvSpPr>
            <a:spLocks noGrp="1"/>
          </p:cNvSpPr>
          <p:nvPr>
            <p:ph idx="1"/>
          </p:nvPr>
        </p:nvSpPr>
        <p:spPr>
          <a:xfrm>
            <a:off x="354013" y="1089025"/>
            <a:ext cx="3005875" cy="5768975"/>
          </a:xfrm>
        </p:spPr>
        <p:txBody>
          <a:bodyPr/>
          <a:lstStyle/>
          <a:p>
            <a:endParaRPr lang="en-US" dirty="0"/>
          </a:p>
          <a:p>
            <a:r>
              <a:rPr lang="en-US" dirty="0"/>
              <a:t>Random Variable</a:t>
            </a:r>
          </a:p>
          <a:p>
            <a:pPr marL="0" indent="0">
              <a:buNone/>
              <a:tabLst>
                <a:tab pos="287338" algn="l"/>
              </a:tabLst>
            </a:pPr>
            <a:r>
              <a:rPr lang="en-US" dirty="0"/>
              <a:t>	</a:t>
            </a:r>
            <a:endParaRPr lang="en-US" dirty="0">
              <a:solidFill>
                <a:schemeClr val="bg1">
                  <a:lumMod val="50000"/>
                </a:schemeClr>
              </a:solidFill>
            </a:endParaRPr>
          </a:p>
          <a:p>
            <a:pPr>
              <a:tabLst>
                <a:tab pos="287338" algn="l"/>
              </a:tabLst>
            </a:pPr>
            <a:r>
              <a:rPr lang="en-US" dirty="0">
                <a:solidFill>
                  <a:schemeClr val="accent6"/>
                </a:solidFill>
              </a:rPr>
              <a:t>Distribution</a:t>
            </a:r>
          </a:p>
          <a:p>
            <a:pPr>
              <a:tabLst>
                <a:tab pos="287338" algn="l"/>
              </a:tabLst>
            </a:pPr>
            <a:endParaRPr lang="en-US" dirty="0">
              <a:solidFill>
                <a:schemeClr val="accent6"/>
              </a:solidFill>
            </a:endParaRPr>
          </a:p>
          <a:p>
            <a:pPr>
              <a:tabLst>
                <a:tab pos="287338" algn="l"/>
              </a:tabLst>
            </a:pPr>
            <a:r>
              <a:rPr lang="en-US" dirty="0">
                <a:solidFill>
                  <a:schemeClr val="accent6"/>
                </a:solidFill>
              </a:rPr>
              <a:t>Population</a:t>
            </a:r>
          </a:p>
          <a:p>
            <a:pPr>
              <a:tabLst>
                <a:tab pos="287338" algn="l"/>
              </a:tabLst>
            </a:pPr>
            <a:endParaRPr lang="en-US" dirty="0">
              <a:solidFill>
                <a:schemeClr val="accent6"/>
              </a:solidFill>
            </a:endParaRPr>
          </a:p>
          <a:p>
            <a:pPr>
              <a:tabLst>
                <a:tab pos="287338" algn="l"/>
              </a:tabLst>
            </a:pPr>
            <a:r>
              <a:rPr lang="en-US" dirty="0">
                <a:solidFill>
                  <a:schemeClr val="accent6"/>
                </a:solidFill>
              </a:rPr>
              <a:t>Sample</a:t>
            </a:r>
          </a:p>
          <a:p>
            <a:pPr>
              <a:tabLst>
                <a:tab pos="287338" algn="l"/>
              </a:tabLst>
            </a:pPr>
            <a:endParaRPr lang="en-US" dirty="0">
              <a:solidFill>
                <a:schemeClr val="accent6"/>
              </a:solidFill>
            </a:endParaRPr>
          </a:p>
          <a:p>
            <a:pPr>
              <a:tabLst>
                <a:tab pos="287338" algn="l"/>
              </a:tabLst>
            </a:pPr>
            <a:r>
              <a:rPr lang="en-US" dirty="0">
                <a:solidFill>
                  <a:schemeClr val="accent6"/>
                </a:solidFill>
              </a:rPr>
              <a:t>Parameter of interest </a:t>
            </a:r>
            <a:br>
              <a:rPr lang="en-US" dirty="0">
                <a:solidFill>
                  <a:schemeClr val="accent6"/>
                </a:solidFill>
              </a:rPr>
            </a:br>
            <a:endParaRPr lang="en-US" dirty="0">
              <a:solidFill>
                <a:schemeClr val="accent6"/>
              </a:solidFill>
            </a:endParaRPr>
          </a:p>
          <a:p>
            <a:pPr>
              <a:spcBef>
                <a:spcPts val="3000"/>
              </a:spcBef>
              <a:tabLst>
                <a:tab pos="287338" algn="l"/>
              </a:tabLst>
            </a:pPr>
            <a:r>
              <a:rPr lang="en-US" dirty="0">
                <a:solidFill>
                  <a:schemeClr val="accent6"/>
                </a:solidFill>
              </a:rPr>
              <a:t>Test statistic</a:t>
            </a:r>
          </a:p>
          <a:p>
            <a:pPr>
              <a:tabLst>
                <a:tab pos="287338" algn="l"/>
              </a:tabLst>
            </a:pPr>
            <a:endParaRPr lang="en-US" dirty="0">
              <a:solidFill>
                <a:schemeClr val="accent6"/>
              </a:solidFill>
            </a:endParaRPr>
          </a:p>
          <a:p>
            <a:pPr>
              <a:tabLst>
                <a:tab pos="287338" algn="l"/>
              </a:tabLst>
            </a:pPr>
            <a:endParaRPr lang="en-US" dirty="0">
              <a:solidFill>
                <a:schemeClr val="accent6"/>
              </a:solidFill>
            </a:endParaRPr>
          </a:p>
        </p:txBody>
      </p:sp>
      <p:sp>
        <p:nvSpPr>
          <p:cNvPr id="4" name="Slide Number Placeholder 3">
            <a:extLst>
              <a:ext uri="{FF2B5EF4-FFF2-40B4-BE49-F238E27FC236}">
                <a16:creationId xmlns:a16="http://schemas.microsoft.com/office/drawing/2014/main" id="{0D66C76D-3002-40FC-A6C0-21B8EF5BFCA1}"/>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33</a:t>
            </a:fld>
            <a:endParaRPr lang="en-GB" dirty="0"/>
          </a:p>
        </p:txBody>
      </p:sp>
      <p:grpSp>
        <p:nvGrpSpPr>
          <p:cNvPr id="10" name="Group 9">
            <a:extLst>
              <a:ext uri="{FF2B5EF4-FFF2-40B4-BE49-F238E27FC236}">
                <a16:creationId xmlns:a16="http://schemas.microsoft.com/office/drawing/2014/main" id="{B6434B40-E6EC-47F1-83A0-94F55CF874C4}"/>
              </a:ext>
            </a:extLst>
          </p:cNvPr>
          <p:cNvGrpSpPr/>
          <p:nvPr/>
        </p:nvGrpSpPr>
        <p:grpSpPr>
          <a:xfrm>
            <a:off x="3556595" y="1255044"/>
            <a:ext cx="4874256" cy="778868"/>
            <a:chOff x="3556591" y="998538"/>
            <a:chExt cx="4874256" cy="778868"/>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D30243-0B16-4342-9E2F-0349282EEBA8}"/>
                    </a:ext>
                  </a:extLst>
                </p:cNvPr>
                <p:cNvSpPr txBox="1"/>
                <p:nvPr/>
              </p:nvSpPr>
              <p:spPr>
                <a:xfrm>
                  <a:off x="3556591" y="998538"/>
                  <a:ext cx="4572000" cy="77886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b="0" i="1" u="none" smtClean="0">
                                <a:solidFill>
                                  <a:srgbClr val="00B0F0"/>
                                </a:solidFill>
                                <a:latin typeface="Cambria Math" panose="02040503050406030204" pitchFamily="18" charset="0"/>
                                <a:cs typeface="Helvetica" pitchFamily="34" charset="0"/>
                              </a:rPr>
                            </m:ctrlPr>
                          </m:sSubPr>
                          <m:e>
                            <m:r>
                              <a:rPr lang="en-US" sz="2000" b="0" i="1" u="none" smtClean="0">
                                <a:solidFill>
                                  <a:srgbClr val="00B0F0"/>
                                </a:solidFill>
                                <a:latin typeface="Cambria Math" panose="02040503050406030204" pitchFamily="18" charset="0"/>
                                <a:cs typeface="Helvetica" pitchFamily="34" charset="0"/>
                              </a:rPr>
                              <m:t>𝑥</m:t>
                            </m:r>
                          </m:e>
                          <m:sub>
                            <m:r>
                              <a:rPr lang="en-US" sz="2000" b="0" i="1" u="none">
                                <a:solidFill>
                                  <a:srgbClr val="00B0F0"/>
                                </a:solidFill>
                                <a:latin typeface="Cambria Math" panose="02040503050406030204" pitchFamily="18" charset="0"/>
                                <a:cs typeface="Helvetica" pitchFamily="34" charset="0"/>
                              </a:rPr>
                              <m:t>𝑖</m:t>
                            </m:r>
                          </m:sub>
                        </m:sSub>
                        <m:r>
                          <a:rPr lang="en-US" sz="2000" b="0" i="1" u="none">
                            <a:solidFill>
                              <a:schemeClr val="tx1"/>
                            </a:solidFill>
                            <a:latin typeface="Cambria Math" panose="02040503050406030204" pitchFamily="18" charset="0"/>
                            <a:cs typeface="Helvetica" pitchFamily="34" charset="0"/>
                          </a:rPr>
                          <m:t>=</m:t>
                        </m:r>
                        <m:d>
                          <m:dPr>
                            <m:begChr m:val="{"/>
                            <m:endChr m:val=""/>
                            <m:ctrlPr>
                              <a:rPr lang="en-US" sz="2000" b="0" i="1" u="none">
                                <a:solidFill>
                                  <a:schemeClr val="tx1"/>
                                </a:solidFill>
                                <a:latin typeface="Cambria Math" panose="02040503050406030204" pitchFamily="18" charset="0"/>
                                <a:cs typeface="Helvetica" pitchFamily="34" charset="0"/>
                              </a:rPr>
                            </m:ctrlPr>
                          </m:dPr>
                          <m:e>
                            <m:m>
                              <m:mPr>
                                <m:mcs>
                                  <m:mc>
                                    <m:mcPr>
                                      <m:count m:val="1"/>
                                      <m:mcJc m:val="center"/>
                                    </m:mcPr>
                                  </m:mc>
                                </m:mcs>
                                <m:ctrlPr>
                                  <a:rPr lang="en-US" sz="2000" b="0" i="1" u="none">
                                    <a:solidFill>
                                      <a:schemeClr val="tx1"/>
                                    </a:solidFill>
                                    <a:latin typeface="Cambria Math" panose="02040503050406030204" pitchFamily="18" charset="0"/>
                                    <a:cs typeface="Helvetica" pitchFamily="34" charset="0"/>
                                  </a:rPr>
                                </m:ctrlPr>
                              </m:mPr>
                              <m:mr>
                                <m:e>
                                  <m:r>
                                    <m:rPr>
                                      <m:brk m:alnAt="7"/>
                                    </m:rPr>
                                    <a:rPr lang="en-US" sz="2000" b="0" i="1" u="none" smtClean="0">
                                      <a:solidFill>
                                        <a:schemeClr val="tx1"/>
                                      </a:solidFill>
                                      <a:latin typeface="Cambria Math" panose="02040503050406030204" pitchFamily="18" charset="0"/>
                                      <a:cs typeface="Helvetica" pitchFamily="34" charset="0"/>
                                    </a:rPr>
                                    <m:t>1</m:t>
                                  </m:r>
                                  <m:r>
                                    <a:rPr lang="en-US" sz="2000" b="0" i="1" u="none" smtClean="0">
                                      <a:solidFill>
                                        <a:schemeClr val="tx1"/>
                                      </a:solidFill>
                                      <a:latin typeface="Cambria Math" panose="02040503050406030204" pitchFamily="18" charset="0"/>
                                      <a:cs typeface="Helvetica" pitchFamily="34" charset="0"/>
                                    </a:rPr>
                                    <m:t> </m:t>
                                  </m:r>
                                </m:e>
                              </m:mr>
                              <m:mr>
                                <m:e>
                                  <m:r>
                                    <a:rPr lang="en-US" sz="2000" b="0" i="1" u="none" smtClean="0">
                                      <a:solidFill>
                                        <a:schemeClr val="tx1"/>
                                      </a:solidFill>
                                      <a:latin typeface="Cambria Math" panose="02040503050406030204" pitchFamily="18" charset="0"/>
                                      <a:cs typeface="Helvetica" pitchFamily="34" charset="0"/>
                                    </a:rPr>
                                    <m:t>0</m:t>
                                  </m:r>
                                </m:e>
                              </m:mr>
                            </m:m>
                          </m:e>
                        </m:d>
                      </m:oMath>
                    </m:oMathPara>
                  </a14:m>
                  <a:endParaRPr lang="en-US" b="0" i="1" u="none" dirty="0">
                    <a:latin typeface="Arial" panose="020B0604020202020204" pitchFamily="34" charset="0"/>
                  </a:endParaRPr>
                </a:p>
              </p:txBody>
            </p:sp>
          </mc:Choice>
          <mc:Fallback xmlns="">
            <p:sp>
              <p:nvSpPr>
                <p:cNvPr id="7" name="TextBox 6">
                  <a:extLst>
                    <a:ext uri="{FF2B5EF4-FFF2-40B4-BE49-F238E27FC236}">
                      <a16:creationId xmlns:a16="http://schemas.microsoft.com/office/drawing/2014/main" id="{7DD30243-0B16-4342-9E2F-0349282EEBA8}"/>
                    </a:ext>
                  </a:extLst>
                </p:cNvPr>
                <p:cNvSpPr txBox="1">
                  <a:spLocks noRot="1" noChangeAspect="1" noMove="1" noResize="1" noEditPoints="1" noAdjustHandles="1" noChangeArrowheads="1" noChangeShapeType="1" noTextEdit="1"/>
                </p:cNvSpPr>
                <p:nvPr/>
              </p:nvSpPr>
              <p:spPr>
                <a:xfrm>
                  <a:off x="3556591" y="998538"/>
                  <a:ext cx="4572000" cy="778868"/>
                </a:xfrm>
                <a:prstGeom prst="rect">
                  <a:avLst/>
                </a:prstGeom>
                <a:blipFill>
                  <a:blip r:embed="rId2"/>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6224235-12DF-4781-A384-F02EDB4DD0A4}"/>
                </a:ext>
              </a:extLst>
            </p:cNvPr>
            <p:cNvSpPr txBox="1"/>
            <p:nvPr/>
          </p:nvSpPr>
          <p:spPr>
            <a:xfrm>
              <a:off x="4488678" y="1072674"/>
              <a:ext cx="3942169" cy="369332"/>
            </a:xfrm>
            <a:prstGeom prst="rect">
              <a:avLst/>
            </a:prstGeom>
            <a:noFill/>
          </p:spPr>
          <p:txBody>
            <a:bodyPr wrap="none" rtlCol="0">
              <a:spAutoFit/>
            </a:bodyPr>
            <a:lstStyle/>
            <a:p>
              <a:r>
                <a:rPr lang="en-US" sz="1800" b="0" u="none" dirty="0">
                  <a:latin typeface="Arial" pitchFamily="34" charset="0"/>
                  <a:cs typeface="Arial" pitchFamily="34" charset="0"/>
                </a:rPr>
                <a:t>If individual </a:t>
              </a:r>
              <a:r>
                <a:rPr lang="en-US" sz="1800" b="0" i="1" u="none" dirty="0" err="1">
                  <a:latin typeface="Arial" pitchFamily="34" charset="0"/>
                  <a:cs typeface="Arial" pitchFamily="34" charset="0"/>
                </a:rPr>
                <a:t>i</a:t>
              </a:r>
              <a:r>
                <a:rPr lang="en-US" sz="1800" b="0" u="none" dirty="0">
                  <a:latin typeface="Arial" pitchFamily="34" charset="0"/>
                  <a:cs typeface="Arial" pitchFamily="34" charset="0"/>
                </a:rPr>
                <a:t> expresses support for A</a:t>
              </a:r>
            </a:p>
          </p:txBody>
        </p:sp>
        <p:sp>
          <p:nvSpPr>
            <p:cNvPr id="9" name="TextBox 8">
              <a:extLst>
                <a:ext uri="{FF2B5EF4-FFF2-40B4-BE49-F238E27FC236}">
                  <a16:creationId xmlns:a16="http://schemas.microsoft.com/office/drawing/2014/main" id="{ECB405F5-C2BA-4782-B393-B9C2EAA11521}"/>
                </a:ext>
              </a:extLst>
            </p:cNvPr>
            <p:cNvSpPr txBox="1"/>
            <p:nvPr/>
          </p:nvSpPr>
          <p:spPr>
            <a:xfrm>
              <a:off x="4488678" y="1367411"/>
              <a:ext cx="697627" cy="369332"/>
            </a:xfrm>
            <a:prstGeom prst="rect">
              <a:avLst/>
            </a:prstGeom>
            <a:noFill/>
          </p:spPr>
          <p:txBody>
            <a:bodyPr wrap="none" rtlCol="0">
              <a:spAutoFit/>
            </a:bodyPr>
            <a:lstStyle/>
            <a:p>
              <a:r>
                <a:rPr lang="en-US" sz="1800" b="0" u="none" dirty="0">
                  <a:latin typeface="Arial" pitchFamily="34" charset="0"/>
                  <a:cs typeface="Arial" pitchFamily="34" charset="0"/>
                </a:rPr>
                <a:t>If not</a:t>
              </a:r>
            </a:p>
          </p:txBody>
        </p:sp>
      </p:gr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D3CA7D2-1776-4F35-9E1D-4BE96EA6737A}"/>
                  </a:ext>
                </a:extLst>
              </p:cNvPr>
              <p:cNvSpPr txBox="1">
                <a:spLocks/>
              </p:cNvSpPr>
              <p:nvPr/>
            </p:nvSpPr>
            <p:spPr bwMode="auto">
              <a:xfrm>
                <a:off x="3556591" y="1089025"/>
                <a:ext cx="5233396" cy="5678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000">
                    <a:solidFill>
                      <a:schemeClr val="accent2"/>
                    </a:solidFill>
                    <a:latin typeface="Arial" pitchFamily="34" charset="0"/>
                    <a:ea typeface="+mn-ea"/>
                    <a:cs typeface="Arial" pitchFamily="34" charset="0"/>
                  </a:defRPr>
                </a:lvl1pPr>
                <a:lvl2pPr marL="742950" indent="-28575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2pPr>
                <a:lvl3pPr marL="11430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3pPr>
                <a:lvl4pPr marL="16002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4pPr>
                <a:lvl5pPr marL="20574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5pPr>
                <a:lvl6pPr marL="2514600" indent="-228600" algn="l" rtl="0" eaLnBrk="1" fontAlgn="base" hangingPunct="1">
                  <a:spcBef>
                    <a:spcPct val="20000"/>
                  </a:spcBef>
                  <a:spcAft>
                    <a:spcPct val="0"/>
                  </a:spcAft>
                  <a:buChar char="»"/>
                  <a:defRPr sz="2000">
                    <a:solidFill>
                      <a:schemeClr val="accent2"/>
                    </a:solidFill>
                    <a:latin typeface="+mn-lt"/>
                    <a:cs typeface="+mn-cs"/>
                  </a:defRPr>
                </a:lvl6pPr>
                <a:lvl7pPr marL="2971800" indent="-228600" algn="l" rtl="0" eaLnBrk="1" fontAlgn="base" hangingPunct="1">
                  <a:spcBef>
                    <a:spcPct val="20000"/>
                  </a:spcBef>
                  <a:spcAft>
                    <a:spcPct val="0"/>
                  </a:spcAft>
                  <a:buChar char="»"/>
                  <a:defRPr sz="2000">
                    <a:solidFill>
                      <a:schemeClr val="accent2"/>
                    </a:solidFill>
                    <a:latin typeface="+mn-lt"/>
                    <a:cs typeface="+mn-cs"/>
                  </a:defRPr>
                </a:lvl7pPr>
                <a:lvl8pPr marL="3429000" indent="-228600" algn="l" rtl="0" eaLnBrk="1" fontAlgn="base" hangingPunct="1">
                  <a:spcBef>
                    <a:spcPct val="20000"/>
                  </a:spcBef>
                  <a:spcAft>
                    <a:spcPct val="0"/>
                  </a:spcAft>
                  <a:buChar char="»"/>
                  <a:defRPr sz="2000">
                    <a:solidFill>
                      <a:schemeClr val="accent2"/>
                    </a:solidFill>
                    <a:latin typeface="+mn-lt"/>
                    <a:cs typeface="+mn-cs"/>
                  </a:defRPr>
                </a:lvl8pPr>
                <a:lvl9pPr marL="3886200" indent="-228600" algn="l" rtl="0" eaLnBrk="1" fontAlgn="base" hangingPunct="1">
                  <a:spcBef>
                    <a:spcPct val="20000"/>
                  </a:spcBef>
                  <a:spcAft>
                    <a:spcPct val="0"/>
                  </a:spcAft>
                  <a:buChar char="»"/>
                  <a:defRPr sz="2000">
                    <a:solidFill>
                      <a:schemeClr val="accent2"/>
                    </a:solidFill>
                    <a:latin typeface="+mn-lt"/>
                    <a:cs typeface="+mn-cs"/>
                  </a:defRPr>
                </a:lvl9pPr>
              </a:lstStyle>
              <a:p>
                <a:endParaRPr lang="en-US" b="0" u="none" kern="0" dirty="0">
                  <a:solidFill>
                    <a:schemeClr val="tx1"/>
                  </a:solidFill>
                </a:endParaRPr>
              </a:p>
              <a:p>
                <a:endParaRPr lang="en-US" b="0" u="none" kern="0" dirty="0">
                  <a:solidFill>
                    <a:schemeClr val="tx1"/>
                  </a:solidFill>
                </a:endParaRPr>
              </a:p>
              <a:p>
                <a:pPr marL="0" indent="0">
                  <a:buNone/>
                </a:pPr>
                <a:endParaRPr lang="en-US" b="0" u="none" kern="0" dirty="0">
                  <a:solidFill>
                    <a:schemeClr val="tx1"/>
                  </a:solidFill>
                </a:endParaRPr>
              </a:p>
              <a:p>
                <a:pPr marL="0" indent="0">
                  <a:buNone/>
                </a:pPr>
                <a:r>
                  <a:rPr lang="en-US" b="0" u="none" kern="0" dirty="0">
                    <a:solidFill>
                      <a:schemeClr val="tx1"/>
                    </a:solidFill>
                  </a:rPr>
                  <a:t>Bivariate</a:t>
                </a:r>
              </a:p>
              <a:p>
                <a:pPr marL="0" indent="0">
                  <a:buNone/>
                </a:pPr>
                <a:endParaRPr lang="en-US" b="0" u="none" kern="0" dirty="0">
                  <a:solidFill>
                    <a:schemeClr val="tx1"/>
                  </a:solidFill>
                </a:endParaRPr>
              </a:p>
              <a:p>
                <a:pPr marL="0" indent="0">
                  <a:buNone/>
                </a:pPr>
                <a:r>
                  <a:rPr lang="en-US" b="0" u="none" kern="0" dirty="0">
                    <a:solidFill>
                      <a:schemeClr val="tx1"/>
                    </a:solidFill>
                  </a:rPr>
                  <a:t>All registered voters</a:t>
                </a:r>
              </a:p>
              <a:p>
                <a:pPr marL="0" indent="0">
                  <a:buNone/>
                </a:pPr>
                <a:endParaRPr lang="en-US" b="0" u="none" kern="0" dirty="0">
                  <a:solidFill>
                    <a:schemeClr val="tx1"/>
                  </a:solidFill>
                </a:endParaRPr>
              </a:p>
              <a:p>
                <a:pPr marL="0" indent="0">
                  <a:buNone/>
                </a:pPr>
                <a:r>
                  <a:rPr lang="en-US" b="0" u="none" kern="0" dirty="0">
                    <a:solidFill>
                      <a:schemeClr val="tx1"/>
                    </a:solidFill>
                    <a:ea typeface="Cambria Math" panose="02040503050406030204" pitchFamily="18" charset="0"/>
                  </a:rPr>
                  <a:t>A random sample of </a:t>
                </a:r>
                <a14:m>
                  <m:oMath xmlns:m="http://schemas.openxmlformats.org/officeDocument/2006/math">
                    <m:r>
                      <a:rPr lang="en-US" b="0" i="1" u="none" kern="0" dirty="0" smtClean="0">
                        <a:solidFill>
                          <a:srgbClr val="00B0F0"/>
                        </a:solidFill>
                        <a:latin typeface="Cambria Math" panose="02040503050406030204" pitchFamily="18" charset="0"/>
                        <a:ea typeface="Cambria Math" panose="02040503050406030204" pitchFamily="18" charset="0"/>
                      </a:rPr>
                      <m:t>𝑁</m:t>
                    </m:r>
                    <m:r>
                      <a:rPr lang="en-US" b="0" i="1" u="none" kern="0" dirty="0" smtClean="0">
                        <a:solidFill>
                          <a:srgbClr val="00B0F0"/>
                        </a:solidFill>
                        <a:latin typeface="Cambria Math" panose="02040503050406030204" pitchFamily="18" charset="0"/>
                        <a:ea typeface="Cambria Math" panose="02040503050406030204" pitchFamily="18" charset="0"/>
                      </a:rPr>
                      <m:t>=</m:t>
                    </m:r>
                    <m:r>
                      <a:rPr lang="en-US" b="0" i="1" u="none" kern="0" dirty="0" smtClean="0">
                        <a:solidFill>
                          <a:srgbClr val="00B0F0"/>
                        </a:solidFill>
                        <a:latin typeface="Cambria Math" panose="02040503050406030204" pitchFamily="18" charset="0"/>
                        <a:ea typeface="Cambria Math" panose="02040503050406030204" pitchFamily="18" charset="0"/>
                      </a:rPr>
                      <m:t>1</m:t>
                    </m:r>
                    <m:r>
                      <a:rPr lang="en-US" b="0" i="1" u="none" kern="0" dirty="0" smtClean="0">
                        <a:solidFill>
                          <a:srgbClr val="00B0F0"/>
                        </a:solidFill>
                        <a:latin typeface="Cambria Math" panose="02040503050406030204" pitchFamily="18" charset="0"/>
                        <a:ea typeface="Cambria Math" panose="02040503050406030204" pitchFamily="18" charset="0"/>
                      </a:rPr>
                      <m:t>,</m:t>
                    </m:r>
                    <m:r>
                      <a:rPr lang="en-US" b="0" i="1" u="none" kern="0" dirty="0" smtClean="0">
                        <a:solidFill>
                          <a:srgbClr val="00B0F0"/>
                        </a:solidFill>
                        <a:latin typeface="Cambria Math" panose="02040503050406030204" pitchFamily="18" charset="0"/>
                        <a:ea typeface="Cambria Math" panose="02040503050406030204" pitchFamily="18" charset="0"/>
                      </a:rPr>
                      <m:t>100</m:t>
                    </m:r>
                  </m:oMath>
                </a14:m>
                <a:r>
                  <a:rPr lang="en-US" b="0" u="none" kern="0" dirty="0">
                    <a:solidFill>
                      <a:srgbClr val="00B0F0"/>
                    </a:solidFill>
                    <a:ea typeface="Cambria Math" panose="02040503050406030204" pitchFamily="18" charset="0"/>
                  </a:rPr>
                  <a:t> </a:t>
                </a:r>
                <a:r>
                  <a:rPr lang="en-US" b="0" u="none" kern="0" dirty="0">
                    <a:solidFill>
                      <a:schemeClr val="tx1"/>
                    </a:solidFill>
                    <a:ea typeface="Cambria Math" panose="02040503050406030204" pitchFamily="18" charset="0"/>
                  </a:rPr>
                  <a:t>likely voters</a:t>
                </a:r>
                <a:endParaRPr lang="en-US" b="0" u="none" kern="0" dirty="0">
                  <a:solidFill>
                    <a:schemeClr val="bg1">
                      <a:lumMod val="50000"/>
                    </a:schemeClr>
                  </a:solidFill>
                </a:endParaRPr>
              </a:p>
              <a:p>
                <a:pPr marL="0" indent="0">
                  <a:buFontTx/>
                  <a:buNone/>
                  <a:tabLst>
                    <a:tab pos="287338" algn="l"/>
                  </a:tabLst>
                </a:pPr>
                <a:endParaRPr lang="en-US" b="0" u="none" kern="0" dirty="0">
                  <a:solidFill>
                    <a:schemeClr val="tx1"/>
                  </a:solidFill>
                </a:endParaRPr>
              </a:p>
              <a:p>
                <a:pPr marL="0" indent="0">
                  <a:buFontTx/>
                  <a:buNone/>
                  <a:tabLst>
                    <a:tab pos="287338" algn="l"/>
                  </a:tabLst>
                </a:pPr>
                <a14:m>
                  <m:oMath xmlns:m="http://schemas.openxmlformats.org/officeDocument/2006/math">
                    <m:r>
                      <a:rPr lang="en-US" i="1" u="none">
                        <a:solidFill>
                          <a:srgbClr val="FF0000"/>
                        </a:solidFill>
                        <a:latin typeface="Cambria Math" panose="02040503050406030204" pitchFamily="18" charset="0"/>
                      </a:rPr>
                      <m:t>𝜇</m:t>
                    </m:r>
                  </m:oMath>
                </a14:m>
                <a:r>
                  <a:rPr lang="en-US" b="0" u="none" dirty="0">
                    <a:solidFill>
                      <a:schemeClr val="tx1"/>
                    </a:solidFill>
                    <a:ea typeface="Cambria Math" panose="02040503050406030204" pitchFamily="18" charset="0"/>
                  </a:rPr>
                  <a:t>, true share of voters favoring candidate A in the </a:t>
                </a:r>
                <a:r>
                  <a:rPr lang="en-US" b="0" u="none" dirty="0">
                    <a:solidFill>
                      <a:srgbClr val="FF0000"/>
                    </a:solidFill>
                    <a:ea typeface="Cambria Math" panose="02040503050406030204" pitchFamily="18" charset="0"/>
                  </a:rPr>
                  <a:t>population</a:t>
                </a:r>
              </a:p>
              <a:p>
                <a:pPr marL="0" indent="0">
                  <a:buFontTx/>
                  <a:buNone/>
                  <a:tabLst>
                    <a:tab pos="287338" algn="l"/>
                  </a:tabLst>
                </a:pPr>
                <a:endParaRPr lang="en-US" b="0" u="none" kern="0" dirty="0">
                  <a:solidFill>
                    <a:schemeClr val="tx1"/>
                  </a:solidFill>
                  <a:ea typeface="Cambria Math" panose="02040503050406030204" pitchFamily="18" charset="0"/>
                </a:endParaRPr>
              </a:p>
              <a:p>
                <a:pPr marL="0" indent="0">
                  <a:buFontTx/>
                  <a:buNone/>
                  <a:tabLst>
                    <a:tab pos="287338" algn="l"/>
                  </a:tabLst>
                </a:pPr>
                <a14:m>
                  <m:oMath xmlns:m="http://schemas.openxmlformats.org/officeDocument/2006/math">
                    <m:bar>
                      <m:barPr>
                        <m:pos m:val="top"/>
                        <m:ctrlPr>
                          <a:rPr lang="en-US" b="0" i="1" u="none">
                            <a:solidFill>
                              <a:srgbClr val="00B0F0"/>
                            </a:solidFill>
                            <a:latin typeface="Cambria Math" panose="02040503050406030204" pitchFamily="18" charset="0"/>
                          </a:rPr>
                        </m:ctrlPr>
                      </m:barPr>
                      <m:e>
                        <m:r>
                          <a:rPr lang="en-US" b="0" i="1" u="none">
                            <a:solidFill>
                              <a:srgbClr val="00B0F0"/>
                            </a:solidFill>
                            <a:latin typeface="Cambria Math" panose="02040503050406030204" pitchFamily="18" charset="0"/>
                          </a:rPr>
                          <m:t>𝑥</m:t>
                        </m:r>
                      </m:e>
                    </m:bar>
                    <m:r>
                      <a:rPr lang="en-US" b="0" i="1" u="none">
                        <a:solidFill>
                          <a:srgbClr val="00B0F0"/>
                        </a:solidFill>
                        <a:latin typeface="Cambria Math" panose="02040503050406030204" pitchFamily="18" charset="0"/>
                      </a:rPr>
                      <m:t> </m:t>
                    </m:r>
                  </m:oMath>
                </a14:m>
                <a:r>
                  <a:rPr lang="en-US" b="0" u="none" kern="0" dirty="0">
                    <a:solidFill>
                      <a:schemeClr val="tx1"/>
                    </a:solidFill>
                    <a:ea typeface="Cambria Math" panose="02040503050406030204" pitchFamily="18" charset="0"/>
                  </a:rPr>
                  <a:t>=share voting for A in the </a:t>
                </a:r>
                <a:r>
                  <a:rPr lang="en-US" b="0" u="none" kern="0" dirty="0">
                    <a:solidFill>
                      <a:srgbClr val="00B0F0"/>
                    </a:solidFill>
                    <a:ea typeface="Cambria Math" panose="02040503050406030204" pitchFamily="18" charset="0"/>
                  </a:rPr>
                  <a:t>sample</a:t>
                </a:r>
                <a:r>
                  <a:rPr lang="en-US" b="0" u="none" kern="0" dirty="0">
                    <a:solidFill>
                      <a:schemeClr val="tx1"/>
                    </a:solidFill>
                    <a:ea typeface="Cambria Math" panose="02040503050406030204" pitchFamily="18" charset="0"/>
                  </a:rPr>
                  <a:t>, </a:t>
                </a:r>
                <a:br>
                  <a:rPr lang="en-US" b="0" u="none" kern="0" dirty="0">
                    <a:solidFill>
                      <a:schemeClr val="tx1"/>
                    </a:solidFill>
                    <a:ea typeface="Cambria Math" panose="02040503050406030204" pitchFamily="18" charset="0"/>
                  </a:rPr>
                </a:br>
                <a14:m>
                  <m:oMathPara xmlns:m="http://schemas.openxmlformats.org/officeDocument/2006/math">
                    <m:oMathParaPr>
                      <m:jc m:val="centerGroup"/>
                    </m:oMathParaPr>
                    <m:oMath xmlns:m="http://schemas.openxmlformats.org/officeDocument/2006/math">
                      <m:bar>
                        <m:barPr>
                          <m:pos m:val="top"/>
                          <m:ctrlPr>
                            <a:rPr lang="en-US" sz="2000" b="0" i="1" u="none" smtClean="0">
                              <a:solidFill>
                                <a:srgbClr val="00B0F0"/>
                              </a:solidFill>
                              <a:latin typeface="Cambria Math" panose="02040503050406030204" pitchFamily="18" charset="0"/>
                            </a:rPr>
                          </m:ctrlPr>
                        </m:barPr>
                        <m:e>
                          <m:r>
                            <a:rPr lang="en-US" sz="2000" b="0" i="1" u="none">
                              <a:solidFill>
                                <a:srgbClr val="00B0F0"/>
                              </a:solidFill>
                              <a:latin typeface="Cambria Math" panose="02040503050406030204" pitchFamily="18" charset="0"/>
                            </a:rPr>
                            <m:t>𝑥</m:t>
                          </m:r>
                        </m:e>
                      </m:bar>
                      <m:r>
                        <a:rPr lang="en-US" sz="2000" b="0" i="1" u="none">
                          <a:solidFill>
                            <a:schemeClr val="tx1"/>
                          </a:solidFill>
                          <a:latin typeface="Cambria Math" panose="02040503050406030204" pitchFamily="18" charset="0"/>
                        </a:rPr>
                        <m:t>=</m:t>
                      </m:r>
                      <m:f>
                        <m:fPr>
                          <m:ctrlPr>
                            <a:rPr lang="en-US" sz="2000" b="0" i="1" u="none" smtClean="0">
                              <a:solidFill>
                                <a:schemeClr val="tx1"/>
                              </a:solidFill>
                              <a:latin typeface="Cambria Math" panose="02040503050406030204" pitchFamily="18" charset="0"/>
                            </a:rPr>
                          </m:ctrlPr>
                        </m:fPr>
                        <m:num>
                          <m:nary>
                            <m:naryPr>
                              <m:chr m:val="∑"/>
                              <m:limLoc m:val="subSup"/>
                              <m:ctrlPr>
                                <a:rPr lang="en-US" b="0" i="1" u="none">
                                  <a:solidFill>
                                    <a:schemeClr val="tx1"/>
                                  </a:solidFill>
                                  <a:latin typeface="Cambria Math" panose="02040503050406030204" pitchFamily="18" charset="0"/>
                                </a:rPr>
                              </m:ctrlPr>
                            </m:naryPr>
                            <m:sub>
                              <m:r>
                                <m:rPr>
                                  <m:brk m:alnAt="25"/>
                                </m:rPr>
                                <a:rPr lang="en-US" b="0" i="1" u="none">
                                  <a:solidFill>
                                    <a:schemeClr val="tx1"/>
                                  </a:solidFill>
                                  <a:latin typeface="Cambria Math" panose="02040503050406030204" pitchFamily="18" charset="0"/>
                                </a:rPr>
                                <m:t>𝑖</m:t>
                              </m:r>
                              <m:r>
                                <a:rPr lang="en-US" b="0" i="1" u="none">
                                  <a:solidFill>
                                    <a:schemeClr val="tx1"/>
                                  </a:solidFill>
                                  <a:latin typeface="Cambria Math" panose="02040503050406030204" pitchFamily="18" charset="0"/>
                                </a:rPr>
                                <m:t>=</m:t>
                              </m:r>
                              <m:r>
                                <a:rPr lang="en-US" b="0" i="1" u="none">
                                  <a:solidFill>
                                    <a:schemeClr val="tx1"/>
                                  </a:solidFill>
                                  <a:latin typeface="Cambria Math" panose="02040503050406030204" pitchFamily="18" charset="0"/>
                                </a:rPr>
                                <m:t>1</m:t>
                              </m:r>
                            </m:sub>
                            <m:sup>
                              <m:r>
                                <a:rPr lang="en-US" b="0" i="1" u="none">
                                  <a:solidFill>
                                    <a:schemeClr val="tx1"/>
                                  </a:solidFill>
                                  <a:latin typeface="Cambria Math" panose="02040503050406030204" pitchFamily="18" charset="0"/>
                                </a:rPr>
                                <m:t>𝑁</m:t>
                              </m:r>
                            </m:sup>
                            <m:e>
                              <m:sSub>
                                <m:sSubPr>
                                  <m:ctrlPr>
                                    <a:rPr lang="en-US" b="0" i="1" u="none" smtClean="0">
                                      <a:solidFill>
                                        <a:srgbClr val="00B0F0"/>
                                      </a:solidFill>
                                      <a:latin typeface="Cambria Math" panose="02040503050406030204" pitchFamily="18" charset="0"/>
                                    </a:rPr>
                                  </m:ctrlPr>
                                </m:sSubPr>
                                <m:e>
                                  <m:r>
                                    <a:rPr lang="en-US" b="0" i="1" u="none">
                                      <a:solidFill>
                                        <a:srgbClr val="00B0F0"/>
                                      </a:solidFill>
                                      <a:latin typeface="Cambria Math" panose="02040503050406030204" pitchFamily="18" charset="0"/>
                                    </a:rPr>
                                    <m:t>𝑥</m:t>
                                  </m:r>
                                </m:e>
                                <m:sub>
                                  <m:r>
                                    <a:rPr lang="en-US" b="0" i="1" u="none">
                                      <a:solidFill>
                                        <a:srgbClr val="00B0F0"/>
                                      </a:solidFill>
                                      <a:latin typeface="Cambria Math" panose="02040503050406030204" pitchFamily="18" charset="0"/>
                                    </a:rPr>
                                    <m:t>𝑖</m:t>
                                  </m:r>
                                </m:sub>
                              </m:sSub>
                            </m:e>
                          </m:nary>
                        </m:num>
                        <m:den>
                          <m:r>
                            <a:rPr lang="en-US" sz="2000" b="0" i="1" u="none" smtClean="0">
                              <a:solidFill>
                                <a:srgbClr val="00B0F0"/>
                              </a:solidFill>
                              <a:latin typeface="Cambria Math" panose="02040503050406030204" pitchFamily="18" charset="0"/>
                            </a:rPr>
                            <m:t>𝑁</m:t>
                          </m:r>
                        </m:den>
                      </m:f>
                    </m:oMath>
                  </m:oMathPara>
                </a14:m>
                <a:endParaRPr lang="en-US" b="0" i="1" u="none" kern="0" dirty="0">
                  <a:solidFill>
                    <a:schemeClr val="tx1"/>
                  </a:solidFill>
                  <a:ea typeface="Cambria Math" panose="02040503050406030204" pitchFamily="18" charset="0"/>
                </a:endParaRPr>
              </a:p>
            </p:txBody>
          </p:sp>
        </mc:Choice>
        <mc:Fallback xmlns="">
          <p:sp>
            <p:nvSpPr>
              <p:cNvPr id="13" name="Content Placeholder 2">
                <a:extLst>
                  <a:ext uri="{FF2B5EF4-FFF2-40B4-BE49-F238E27FC236}">
                    <a16:creationId xmlns:a16="http://schemas.microsoft.com/office/drawing/2014/main" id="{7D3CA7D2-1776-4F35-9E1D-4BE96EA6737A}"/>
                  </a:ext>
                </a:extLst>
              </p:cNvPr>
              <p:cNvSpPr txBox="1">
                <a:spLocks noRot="1" noChangeAspect="1" noMove="1" noResize="1" noEditPoints="1" noAdjustHandles="1" noChangeArrowheads="1" noChangeShapeType="1" noTextEdit="1"/>
              </p:cNvSpPr>
              <p:nvPr/>
            </p:nvSpPr>
            <p:spPr bwMode="auto">
              <a:xfrm>
                <a:off x="3556591" y="1089025"/>
                <a:ext cx="5233396" cy="5678488"/>
              </a:xfrm>
              <a:prstGeom prst="rect">
                <a:avLst/>
              </a:prstGeom>
              <a:blipFill>
                <a:blip r:embed="rId3"/>
                <a:stretch>
                  <a:fillRect l="-1164"/>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4001629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FA63-ABE2-437E-A62A-45251FC575BB}"/>
              </a:ext>
            </a:extLst>
          </p:cNvPr>
          <p:cNvSpPr>
            <a:spLocks noGrp="1"/>
          </p:cNvSpPr>
          <p:nvPr>
            <p:ph type="title"/>
          </p:nvPr>
        </p:nvSpPr>
        <p:spPr/>
        <p:txBody>
          <a:bodyPr/>
          <a:lstStyle/>
          <a:p>
            <a:r>
              <a:rPr lang="en-US" dirty="0"/>
              <a:t>Confidence Interval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E2BE4D-D8F4-41A0-A800-D56E6A99D321}"/>
                  </a:ext>
                </a:extLst>
              </p:cNvPr>
              <p:cNvSpPr>
                <a:spLocks noGrp="1"/>
              </p:cNvSpPr>
              <p:nvPr>
                <p:ph idx="1"/>
              </p:nvPr>
            </p:nvSpPr>
            <p:spPr/>
            <p:txBody>
              <a:bodyPr/>
              <a:lstStyle/>
              <a:p>
                <a:r>
                  <a:rPr lang="en-US" dirty="0">
                    <a:solidFill>
                      <a:schemeClr val="accent6"/>
                    </a:solidFill>
                  </a:rPr>
                  <a:t>To see if Fox’s 51% is “meaningfully” above 50%, we need some way of knowing how poll results (</a:t>
                </a:r>
                <a14:m>
                  <m:oMath xmlns:m="http://schemas.openxmlformats.org/officeDocument/2006/math">
                    <m:acc>
                      <m:accPr>
                        <m:chr m:val="̅"/>
                        <m:ctrlPr>
                          <a:rPr lang="en-US" b="0" i="1" smtClean="0">
                            <a:solidFill>
                              <a:srgbClr val="00B0F0"/>
                            </a:solidFill>
                            <a:latin typeface="Cambria Math" panose="02040503050406030204" pitchFamily="18" charset="0"/>
                          </a:rPr>
                        </m:ctrlPr>
                      </m:accPr>
                      <m:e>
                        <m:r>
                          <a:rPr lang="en-US" b="0" i="1" smtClean="0">
                            <a:solidFill>
                              <a:srgbClr val="00B0F0"/>
                            </a:solidFill>
                            <a:latin typeface="Cambria Math" panose="02040503050406030204" pitchFamily="18" charset="0"/>
                          </a:rPr>
                          <m:t>𝑥</m:t>
                        </m:r>
                      </m:e>
                    </m:acc>
                  </m:oMath>
                </a14:m>
                <a:r>
                  <a:rPr lang="en-US" dirty="0">
                    <a:solidFill>
                      <a:schemeClr val="accent6"/>
                    </a:solidFill>
                  </a:rPr>
                  <a:t>) might vary across polls (i.e., </a:t>
                </a:r>
                <a:r>
                  <a:rPr lang="en-US" dirty="0">
                    <a:solidFill>
                      <a:srgbClr val="00B0F0"/>
                    </a:solidFill>
                  </a:rPr>
                  <a:t>samples</a:t>
                </a:r>
                <a:r>
                  <a:rPr lang="en-US" dirty="0">
                    <a:solidFill>
                      <a:schemeClr val="accent6"/>
                    </a:solidFill>
                  </a:rPr>
                  <a:t>)</a:t>
                </a:r>
              </a:p>
              <a:p>
                <a:endParaRPr lang="en-US" dirty="0">
                  <a:solidFill>
                    <a:schemeClr val="accent6"/>
                  </a:solidFill>
                </a:endParaRPr>
              </a:p>
              <a:p>
                <a:r>
                  <a:rPr lang="en-US" dirty="0">
                    <a:solidFill>
                      <a:schemeClr val="accent6"/>
                    </a:solidFill>
                  </a:rPr>
                  <a:t>That is, we need to know how poll results (</a:t>
                </a:r>
                <a14:m>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chemeClr val="accent6"/>
                    </a:solidFill>
                  </a:rPr>
                  <a:t>) are </a:t>
                </a:r>
                <a:r>
                  <a:rPr lang="en-US" dirty="0">
                    <a:solidFill>
                      <a:srgbClr val="00B0F0"/>
                    </a:solidFill>
                  </a:rPr>
                  <a:t>distributed</a:t>
                </a:r>
              </a:p>
              <a:p>
                <a:pPr marL="0" indent="0">
                  <a:buNone/>
                </a:pPr>
                <a:endParaRPr lang="en-US" dirty="0"/>
              </a:p>
              <a:p>
                <a:r>
                  <a:rPr lang="en-US" dirty="0"/>
                  <a:t>A famous result, the </a:t>
                </a:r>
                <a:r>
                  <a:rPr lang="en-US" dirty="0">
                    <a:solidFill>
                      <a:srgbClr val="00B0F0"/>
                    </a:solidFill>
                  </a:rPr>
                  <a:t>Central Limit Theorem</a:t>
                </a:r>
                <a:r>
                  <a:rPr lang="en-US" dirty="0"/>
                  <a:t>, gives us the answer!</a:t>
                </a:r>
              </a:p>
              <a:p>
                <a:pPr marL="800100" lvl="2" indent="0">
                  <a:buNone/>
                </a:pPr>
                <a:r>
                  <a:rPr lang="en-US" sz="1800" u="sng" dirty="0">
                    <a:solidFill>
                      <a:schemeClr val="tx1"/>
                    </a:solidFill>
                  </a:rPr>
                  <a:t>Stat Speak</a:t>
                </a:r>
                <a:r>
                  <a:rPr lang="en-US" sz="1800" dirty="0">
                    <a:solidFill>
                      <a:schemeClr val="tx1"/>
                    </a:solidFill>
                  </a:rPr>
                  <a:t>: no matter the distribution of </a:t>
                </a:r>
                <a14:m>
                  <m:oMath xmlns:m="http://schemas.openxmlformats.org/officeDocument/2006/math">
                    <m:r>
                      <a:rPr lang="en-US" sz="1800" i="1" dirty="0" smtClean="0">
                        <a:solidFill>
                          <a:srgbClr val="00B0F0"/>
                        </a:solidFill>
                        <a:latin typeface="Cambria Math" panose="02040503050406030204" pitchFamily="18" charset="0"/>
                      </a:rPr>
                      <m:t>𝑥</m:t>
                    </m:r>
                  </m:oMath>
                </a14:m>
                <a:r>
                  <a:rPr lang="en-US" sz="1800" dirty="0">
                    <a:solidFill>
                      <a:schemeClr val="tx1"/>
                    </a:solidFill>
                  </a:rPr>
                  <a:t>, as long as underlying sample sizes are large (i.e., </a:t>
                </a:r>
                <a14:m>
                  <m:oMath xmlns:m="http://schemas.openxmlformats.org/officeDocument/2006/math">
                    <m:r>
                      <a:rPr lang="en-US" sz="1800" i="1" dirty="0">
                        <a:solidFill>
                          <a:schemeClr val="tx1"/>
                        </a:solidFill>
                        <a:latin typeface="Cambria Math" panose="02040503050406030204" pitchFamily="18" charset="0"/>
                      </a:rPr>
                      <m:t>𝑁</m:t>
                    </m:r>
                    <m:r>
                      <a:rPr lang="en-US" sz="1800" i="1" dirty="0">
                        <a:solidFill>
                          <a:schemeClr val="tx1"/>
                        </a:solidFill>
                        <a:latin typeface="Cambria Math" panose="02040503050406030204" pitchFamily="18" charset="0"/>
                        <a:ea typeface="Cambria Math" panose="02040503050406030204" pitchFamily="18" charset="0"/>
                      </a:rPr>
                      <m:t>≥30</m:t>
                    </m:r>
                  </m:oMath>
                </a14:m>
                <a:r>
                  <a:rPr lang="en-US" sz="1800" dirty="0">
                    <a:solidFill>
                      <a:schemeClr val="tx1"/>
                    </a:solidFill>
                  </a:rPr>
                  <a:t>), the averages of the samples (</a:t>
                </a:r>
                <a14:m>
                  <m:oMath xmlns:m="http://schemas.openxmlformats.org/officeDocument/2006/math">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oMath>
                </a14:m>
                <a:r>
                  <a:rPr lang="en-US" sz="1800" dirty="0">
                    <a:solidFill>
                      <a:schemeClr val="tx1"/>
                    </a:solidFill>
                  </a:rPr>
                  <a:t>) follow a </a:t>
                </a:r>
                <a:r>
                  <a:rPr lang="en-US" sz="1800" dirty="0">
                    <a:solidFill>
                      <a:srgbClr val="00B0F0"/>
                    </a:solidFill>
                  </a:rPr>
                  <a:t>normal distribution</a:t>
                </a:r>
                <a:r>
                  <a:rPr lang="en-US" sz="1800" dirty="0">
                    <a:solidFill>
                      <a:schemeClr val="tx1"/>
                    </a:solidFill>
                  </a:rPr>
                  <a:t> with mean equal to the true population mean </a:t>
                </a:r>
                <a14:m>
                  <m:oMath xmlns:m="http://schemas.openxmlformats.org/officeDocument/2006/math">
                    <m:r>
                      <a:rPr lang="en-US" sz="1800" i="1">
                        <a:solidFill>
                          <a:srgbClr val="FF0000"/>
                        </a:solidFill>
                        <a:latin typeface="Cambria Math" panose="02040503050406030204" pitchFamily="18" charset="0"/>
                      </a:rPr>
                      <m:t>𝜇</m:t>
                    </m:r>
                  </m:oMath>
                </a14:m>
                <a:r>
                  <a:rPr lang="en-US" sz="1800" dirty="0">
                    <a:solidFill>
                      <a:schemeClr val="tx1"/>
                    </a:solidFill>
                  </a:rPr>
                  <a:t> and standard error equal to </a:t>
                </a:r>
                <a14:m>
                  <m:oMath xmlns:m="http://schemas.openxmlformats.org/officeDocument/2006/math">
                    <m:f>
                      <m:fPr>
                        <m:ctrlPr>
                          <a:rPr lang="en-US" sz="1800" i="1">
                            <a:latin typeface="Cambria Math" panose="02040503050406030204" pitchFamily="18" charset="0"/>
                          </a:rPr>
                        </m:ctrlPr>
                      </m:fPr>
                      <m:num>
                        <m:r>
                          <a:rPr lang="en-US" sz="1800" i="1">
                            <a:solidFill>
                              <a:srgbClr val="FF0000"/>
                            </a:solidFill>
                            <a:latin typeface="Cambria Math" panose="02040503050406030204" pitchFamily="18" charset="0"/>
                          </a:rPr>
                          <m:t>𝜎</m:t>
                        </m:r>
                      </m:num>
                      <m:den>
                        <m:rad>
                          <m:radPr>
                            <m:degHide m:val="on"/>
                            <m:ctrlPr>
                              <a:rPr lang="en-US" sz="1800" i="1" smtClean="0">
                                <a:solidFill>
                                  <a:schemeClr val="accent6"/>
                                </a:solidFill>
                                <a:latin typeface="Cambria Math" panose="02040503050406030204" pitchFamily="18" charset="0"/>
                              </a:rPr>
                            </m:ctrlPr>
                          </m:radPr>
                          <m:deg/>
                          <m:e>
                            <m:r>
                              <a:rPr lang="en-US" sz="1800" i="1">
                                <a:solidFill>
                                  <a:schemeClr val="accent6"/>
                                </a:solidFill>
                                <a:latin typeface="Cambria Math" panose="02040503050406030204" pitchFamily="18" charset="0"/>
                              </a:rPr>
                              <m:t>𝑁</m:t>
                            </m:r>
                          </m:e>
                        </m:rad>
                      </m:den>
                    </m:f>
                  </m:oMath>
                </a14:m>
                <a:r>
                  <a:rPr lang="en-US" sz="1800" dirty="0">
                    <a:solidFill>
                      <a:schemeClr val="tx1"/>
                    </a:solidFill>
                  </a:rPr>
                  <a:t>, where </a:t>
                </a:r>
                <a14:m>
                  <m:oMath xmlns:m="http://schemas.openxmlformats.org/officeDocument/2006/math">
                    <m:r>
                      <a:rPr lang="en-US" sz="1800" i="1">
                        <a:solidFill>
                          <a:srgbClr val="FF0000"/>
                        </a:solidFill>
                        <a:latin typeface="Cambria Math" panose="02040503050406030204" pitchFamily="18" charset="0"/>
                      </a:rPr>
                      <m:t>𝜎</m:t>
                    </m:r>
                  </m:oMath>
                </a14:m>
                <a:r>
                  <a:rPr lang="en-US" sz="1800" dirty="0">
                    <a:solidFill>
                      <a:schemeClr val="tx1"/>
                    </a:solidFill>
                  </a:rPr>
                  <a:t> is true population standard deviation</a:t>
                </a:r>
                <a:r>
                  <a:rPr lang="en-US" sz="1800" dirty="0"/>
                  <a:t> </a:t>
                </a:r>
              </a:p>
              <a:p>
                <a:pPr marL="400050" lvl="1" indent="0">
                  <a:buNone/>
                </a:pPr>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4AE2BE4D-D8F4-41A0-A800-D56E6A99D321}"/>
                  </a:ext>
                </a:extLst>
              </p:cNvPr>
              <p:cNvSpPr>
                <a:spLocks noGrp="1" noRot="1" noChangeAspect="1" noMove="1" noResize="1" noEditPoints="1" noAdjustHandles="1" noChangeArrowheads="1" noChangeShapeType="1" noTextEdit="1"/>
              </p:cNvSpPr>
              <p:nvPr>
                <p:ph idx="1"/>
              </p:nvPr>
            </p:nvSpPr>
            <p:spPr>
              <a:blipFill>
                <a:blip r:embed="rId2"/>
                <a:stretch>
                  <a:fillRect l="-650" t="-529" r="-28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4517393-088F-49A0-B30C-CC3E6F43448A}"/>
              </a:ext>
            </a:extLst>
          </p:cNvPr>
          <p:cNvSpPr>
            <a:spLocks noGrp="1"/>
          </p:cNvSpPr>
          <p:nvPr>
            <p:ph type="sldNum" sz="quarter" idx="11"/>
          </p:nvPr>
        </p:nvSpPr>
        <p:spPr/>
        <p:txBody>
          <a:bodyPr/>
          <a:lstStyle/>
          <a:p>
            <a:pPr>
              <a:defRPr/>
            </a:pPr>
            <a:endParaRPr lang="en-GB" dirty="0"/>
          </a:p>
          <a:p>
            <a:pPr>
              <a:defRPr/>
            </a:pPr>
            <a:fld id="{FC96386F-C149-48D8-92C5-2CFDBA85534B}" type="slidenum">
              <a:rPr lang="en-GB" smtClean="0"/>
              <a:pPr>
                <a:defRPr/>
              </a:pPr>
              <a:t>34</a:t>
            </a:fld>
            <a:endParaRPr lang="en-GB" dirty="0"/>
          </a:p>
        </p:txBody>
      </p:sp>
    </p:spTree>
    <p:extLst>
      <p:ext uri="{BB962C8B-B14F-4D97-AF65-F5344CB8AC3E}">
        <p14:creationId xmlns:p14="http://schemas.microsoft.com/office/powerpoint/2010/main" val="78552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BAF8-3470-1357-BC3F-8D4F0E910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E1B7D-F574-E454-30DF-381B1A955ADA}"/>
              </a:ext>
            </a:extLst>
          </p:cNvPr>
          <p:cNvSpPr>
            <a:spLocks noGrp="1"/>
          </p:cNvSpPr>
          <p:nvPr>
            <p:ph type="title"/>
          </p:nvPr>
        </p:nvSpPr>
        <p:spPr/>
        <p:txBody>
          <a:bodyPr/>
          <a:lstStyle/>
          <a:p>
            <a:r>
              <a:rPr lang="en-US" dirty="0"/>
              <a:t>Confidence Interval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0C8B0A-21F8-488D-7898-7D5A3526B255}"/>
                  </a:ext>
                </a:extLst>
              </p:cNvPr>
              <p:cNvSpPr>
                <a:spLocks noGrp="1"/>
              </p:cNvSpPr>
              <p:nvPr>
                <p:ph idx="1"/>
              </p:nvPr>
            </p:nvSpPr>
            <p:spPr/>
            <p:txBody>
              <a:bodyPr/>
              <a:lstStyle/>
              <a:p>
                <a:r>
                  <a:rPr lang="en-US" dirty="0">
                    <a:solidFill>
                      <a:schemeClr val="accent6"/>
                    </a:solidFill>
                  </a:rPr>
                  <a:t>To see if Fox’s 51% is “meaningfully” above 50%, we need some way of knowing how poll results (</a:t>
                </a:r>
                <a14:m>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chemeClr val="accent6"/>
                    </a:solidFill>
                  </a:rPr>
                  <a:t>) might vary across polls (i.e., </a:t>
                </a:r>
                <a:r>
                  <a:rPr lang="en-US" dirty="0">
                    <a:solidFill>
                      <a:srgbClr val="00B0F0"/>
                    </a:solidFill>
                  </a:rPr>
                  <a:t>samples</a:t>
                </a:r>
                <a:r>
                  <a:rPr lang="en-US" dirty="0">
                    <a:solidFill>
                      <a:schemeClr val="accent6"/>
                    </a:solidFill>
                  </a:rPr>
                  <a:t>)</a:t>
                </a:r>
              </a:p>
              <a:p>
                <a:endParaRPr lang="en-US" dirty="0">
                  <a:solidFill>
                    <a:schemeClr val="accent6"/>
                  </a:solidFill>
                </a:endParaRPr>
              </a:p>
              <a:p>
                <a:r>
                  <a:rPr lang="en-US" dirty="0">
                    <a:solidFill>
                      <a:schemeClr val="accent6"/>
                    </a:solidFill>
                  </a:rPr>
                  <a:t>That is, we need to know how poll results (</a:t>
                </a:r>
                <a14:m>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chemeClr val="accent6"/>
                    </a:solidFill>
                  </a:rPr>
                  <a:t>) are </a:t>
                </a:r>
                <a:r>
                  <a:rPr lang="en-US" dirty="0">
                    <a:solidFill>
                      <a:srgbClr val="00B0F0"/>
                    </a:solidFill>
                  </a:rPr>
                  <a:t>distributed</a:t>
                </a:r>
              </a:p>
              <a:p>
                <a:endParaRPr lang="en-US" dirty="0">
                  <a:solidFill>
                    <a:srgbClr val="00B0F0"/>
                  </a:solidFill>
                </a:endParaRPr>
              </a:p>
              <a:p>
                <a:r>
                  <a:rPr lang="en-US" dirty="0"/>
                  <a:t>A famous result, the </a:t>
                </a:r>
                <a:r>
                  <a:rPr lang="en-US" dirty="0">
                    <a:solidFill>
                      <a:srgbClr val="00B0F0"/>
                    </a:solidFill>
                  </a:rPr>
                  <a:t>Central Limit Theorem</a:t>
                </a:r>
                <a:r>
                  <a:rPr lang="en-US" dirty="0"/>
                  <a:t>, gives us the answer!</a:t>
                </a:r>
              </a:p>
              <a:p>
                <a:pPr marL="800100" lvl="2" indent="0">
                  <a:buNone/>
                </a:pPr>
                <a:r>
                  <a:rPr lang="en-US" sz="1800" u="sng" dirty="0">
                    <a:solidFill>
                      <a:schemeClr val="bg1">
                        <a:lumMod val="65000"/>
                      </a:schemeClr>
                    </a:solidFill>
                  </a:rPr>
                  <a:t>Stat Speak</a:t>
                </a:r>
                <a:r>
                  <a:rPr lang="en-US" sz="1800" dirty="0">
                    <a:solidFill>
                      <a:schemeClr val="bg1">
                        <a:lumMod val="65000"/>
                      </a:schemeClr>
                    </a:solidFill>
                  </a:rPr>
                  <a:t>: no matter the distribution of </a:t>
                </a:r>
                <a14:m>
                  <m:oMath xmlns:m="http://schemas.openxmlformats.org/officeDocument/2006/math">
                    <m:r>
                      <a:rPr lang="en-US" sz="1800" i="1" dirty="0">
                        <a:solidFill>
                          <a:schemeClr val="bg1">
                            <a:lumMod val="65000"/>
                          </a:schemeClr>
                        </a:solidFill>
                        <a:latin typeface="Cambria Math" panose="02040503050406030204" pitchFamily="18" charset="0"/>
                      </a:rPr>
                      <m:t>𝑥</m:t>
                    </m:r>
                  </m:oMath>
                </a14:m>
                <a:r>
                  <a:rPr lang="en-US" sz="1800" dirty="0">
                    <a:solidFill>
                      <a:schemeClr val="bg1">
                        <a:lumMod val="65000"/>
                      </a:schemeClr>
                    </a:solidFill>
                  </a:rPr>
                  <a:t>, as long as underlying sample sizes are large (i.e., </a:t>
                </a:r>
                <a14:m>
                  <m:oMath xmlns:m="http://schemas.openxmlformats.org/officeDocument/2006/math">
                    <m:r>
                      <a:rPr lang="en-US" sz="1800" i="1" dirty="0">
                        <a:solidFill>
                          <a:schemeClr val="bg1">
                            <a:lumMod val="65000"/>
                          </a:schemeClr>
                        </a:solidFill>
                        <a:latin typeface="Cambria Math" panose="02040503050406030204" pitchFamily="18" charset="0"/>
                      </a:rPr>
                      <m:t>𝑁</m:t>
                    </m:r>
                    <m:r>
                      <a:rPr lang="en-US" sz="1800" i="1" dirty="0">
                        <a:solidFill>
                          <a:schemeClr val="bg1">
                            <a:lumMod val="65000"/>
                          </a:schemeClr>
                        </a:solidFill>
                        <a:latin typeface="Cambria Math" panose="02040503050406030204" pitchFamily="18" charset="0"/>
                        <a:ea typeface="Cambria Math" panose="02040503050406030204" pitchFamily="18" charset="0"/>
                      </a:rPr>
                      <m:t>≥30</m:t>
                    </m:r>
                  </m:oMath>
                </a14:m>
                <a:r>
                  <a:rPr lang="en-US" sz="1800" dirty="0">
                    <a:solidFill>
                      <a:schemeClr val="bg1">
                        <a:lumMod val="65000"/>
                      </a:schemeClr>
                    </a:solidFill>
                  </a:rPr>
                  <a:t>), the averages of the samples follow a normal distribution with mean equal to the true population mean </a:t>
                </a:r>
                <a14:m>
                  <m:oMath xmlns:m="http://schemas.openxmlformats.org/officeDocument/2006/math">
                    <m:r>
                      <a:rPr lang="en-US" sz="1800" i="1">
                        <a:solidFill>
                          <a:schemeClr val="bg1">
                            <a:lumMod val="65000"/>
                          </a:schemeClr>
                        </a:solidFill>
                        <a:latin typeface="Cambria Math" panose="02040503050406030204" pitchFamily="18" charset="0"/>
                      </a:rPr>
                      <m:t>𝜇</m:t>
                    </m:r>
                  </m:oMath>
                </a14:m>
                <a:r>
                  <a:rPr lang="en-US" sz="1800" dirty="0">
                    <a:solidFill>
                      <a:schemeClr val="bg1">
                        <a:lumMod val="65000"/>
                      </a:schemeClr>
                    </a:solidFill>
                  </a:rPr>
                  <a:t> and standard error equal to </a:t>
                </a:r>
                <a14:m>
                  <m:oMath xmlns:m="http://schemas.openxmlformats.org/officeDocument/2006/math">
                    <m:f>
                      <m:fPr>
                        <m:ctrlPr>
                          <a:rPr lang="en-US" sz="1800" i="1">
                            <a:solidFill>
                              <a:schemeClr val="bg1">
                                <a:lumMod val="65000"/>
                              </a:schemeClr>
                            </a:solidFill>
                            <a:latin typeface="Cambria Math" panose="02040503050406030204" pitchFamily="18" charset="0"/>
                          </a:rPr>
                        </m:ctrlPr>
                      </m:fPr>
                      <m:num>
                        <m:r>
                          <a:rPr lang="en-US" sz="1800" i="1">
                            <a:solidFill>
                              <a:schemeClr val="bg1">
                                <a:lumMod val="65000"/>
                              </a:schemeClr>
                            </a:solidFill>
                            <a:latin typeface="Cambria Math" panose="02040503050406030204" pitchFamily="18" charset="0"/>
                          </a:rPr>
                          <m:t>𝜎</m:t>
                        </m:r>
                      </m:num>
                      <m:den>
                        <m:rad>
                          <m:radPr>
                            <m:degHide m:val="on"/>
                            <m:ctrlPr>
                              <a:rPr lang="en-US" sz="1800" i="1" smtClean="0">
                                <a:solidFill>
                                  <a:schemeClr val="bg1">
                                    <a:lumMod val="65000"/>
                                  </a:schemeClr>
                                </a:solidFill>
                                <a:latin typeface="Cambria Math" panose="02040503050406030204" pitchFamily="18" charset="0"/>
                              </a:rPr>
                            </m:ctrlPr>
                          </m:radPr>
                          <m:deg/>
                          <m:e>
                            <m:r>
                              <a:rPr lang="en-US" sz="1800" i="1">
                                <a:solidFill>
                                  <a:schemeClr val="bg1">
                                    <a:lumMod val="65000"/>
                                  </a:schemeClr>
                                </a:solidFill>
                                <a:latin typeface="Cambria Math" panose="02040503050406030204" pitchFamily="18" charset="0"/>
                              </a:rPr>
                              <m:t>𝑁</m:t>
                            </m:r>
                          </m:e>
                        </m:rad>
                      </m:den>
                    </m:f>
                  </m:oMath>
                </a14:m>
                <a:r>
                  <a:rPr lang="en-US" sz="1800" dirty="0">
                    <a:solidFill>
                      <a:schemeClr val="bg1">
                        <a:lumMod val="65000"/>
                      </a:schemeClr>
                    </a:solidFill>
                  </a:rPr>
                  <a:t>, where </a:t>
                </a:r>
                <a14:m>
                  <m:oMath xmlns:m="http://schemas.openxmlformats.org/officeDocument/2006/math">
                    <m:r>
                      <a:rPr lang="en-US" sz="1800" i="1">
                        <a:solidFill>
                          <a:schemeClr val="bg1">
                            <a:lumMod val="65000"/>
                          </a:schemeClr>
                        </a:solidFill>
                        <a:latin typeface="Cambria Math" panose="02040503050406030204" pitchFamily="18" charset="0"/>
                      </a:rPr>
                      <m:t>𝜎</m:t>
                    </m:r>
                  </m:oMath>
                </a14:m>
                <a:r>
                  <a:rPr lang="en-US" sz="1800" dirty="0">
                    <a:solidFill>
                      <a:schemeClr val="bg1">
                        <a:lumMod val="65000"/>
                      </a:schemeClr>
                    </a:solidFill>
                  </a:rPr>
                  <a:t> is true population standard deviation </a:t>
                </a:r>
              </a:p>
              <a:p>
                <a:pPr marL="800100" lvl="2" indent="0">
                  <a:buNone/>
                </a:pPr>
                <a:r>
                  <a:rPr lang="en-US" sz="1800" u="sng" dirty="0">
                    <a:solidFill>
                      <a:schemeClr val="tx1"/>
                    </a:solidFill>
                  </a:rPr>
                  <a:t>Translation</a:t>
                </a:r>
                <a:r>
                  <a:rPr lang="en-US" sz="1800" dirty="0">
                    <a:solidFill>
                      <a:schemeClr val="tx1"/>
                    </a:solidFill>
                  </a:rPr>
                  <a:t>: If you conducted a large number of polls like the Fox poll, their findings (all the </a:t>
                </a:r>
                <a14:m>
                  <m:oMath xmlns:m="http://schemas.openxmlformats.org/officeDocument/2006/math">
                    <m:acc>
                      <m:accPr>
                        <m:chr m:val="̅"/>
                        <m:ctrlPr>
                          <a:rPr lang="en-US" sz="1800" b="0" i="1" smtClean="0">
                            <a:solidFill>
                              <a:srgbClr val="00B0F0"/>
                            </a:solidFill>
                            <a:latin typeface="Cambria Math" panose="02040503050406030204" pitchFamily="18" charset="0"/>
                          </a:rPr>
                        </m:ctrlPr>
                      </m:accPr>
                      <m:e>
                        <m:r>
                          <a:rPr lang="en-US" sz="1800" b="0" i="1" smtClean="0">
                            <a:solidFill>
                              <a:srgbClr val="00B0F0"/>
                            </a:solidFill>
                            <a:latin typeface="Cambria Math" panose="02040503050406030204" pitchFamily="18" charset="0"/>
                          </a:rPr>
                          <m:t>𝑥</m:t>
                        </m:r>
                      </m:e>
                    </m:acc>
                  </m:oMath>
                </a14:m>
                <a:r>
                  <a:rPr lang="en-US" sz="1800" dirty="0">
                    <a:solidFill>
                      <a:schemeClr val="tx1"/>
                    </a:solidFill>
                  </a:rPr>
                  <a:t>) would be normally distributed and centered around the true support for candidate A. This distribution will tighten as the poll standard deviation falls or the number of people surveyed in each poll rises</a:t>
                </a:r>
                <a:endParaRPr lang="en-US" sz="1800" dirty="0"/>
              </a:p>
              <a:p>
                <a:pPr marL="400050" lvl="1" indent="0">
                  <a:buNone/>
                </a:pPr>
                <a:endParaRPr lang="en-US" dirty="0">
                  <a:solidFill>
                    <a:schemeClr val="tx1"/>
                  </a:solidFill>
                </a:endParaRPr>
              </a:p>
              <a:p>
                <a:r>
                  <a:rPr lang="en-US" dirty="0"/>
                  <a:t>This is SUPER POWERFUL!!</a:t>
                </a:r>
              </a:p>
              <a:p>
                <a:pPr marL="400050" lvl="1" indent="0">
                  <a:buNone/>
                </a:pPr>
                <a:endParaRPr lang="en-US" dirty="0">
                  <a:solidFill>
                    <a:schemeClr val="tx1"/>
                  </a:solidFill>
                </a:endParaRPr>
              </a:p>
              <a:p>
                <a:pPr marL="400050" lvl="1" indent="0">
                  <a:buNone/>
                </a:pPr>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B90C8B0A-21F8-488D-7898-7D5A3526B255}"/>
                  </a:ext>
                </a:extLst>
              </p:cNvPr>
              <p:cNvSpPr>
                <a:spLocks noGrp="1" noRot="1" noChangeAspect="1" noMove="1" noResize="1" noEditPoints="1" noAdjustHandles="1" noChangeArrowheads="1" noChangeShapeType="1" noTextEdit="1"/>
              </p:cNvSpPr>
              <p:nvPr>
                <p:ph idx="1"/>
              </p:nvPr>
            </p:nvSpPr>
            <p:spPr>
              <a:blipFill>
                <a:blip r:embed="rId2"/>
                <a:stretch>
                  <a:fillRect l="-650" t="-529"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CDD85F6-8F74-EF73-4EE1-620B8DF26528}"/>
              </a:ext>
            </a:extLst>
          </p:cNvPr>
          <p:cNvSpPr>
            <a:spLocks noGrp="1"/>
          </p:cNvSpPr>
          <p:nvPr>
            <p:ph type="sldNum" sz="quarter" idx="11"/>
          </p:nvPr>
        </p:nvSpPr>
        <p:spPr/>
        <p:txBody>
          <a:bodyPr/>
          <a:lstStyle/>
          <a:p>
            <a:pPr>
              <a:defRPr/>
            </a:pPr>
            <a:endParaRPr lang="en-GB" dirty="0"/>
          </a:p>
          <a:p>
            <a:pPr>
              <a:defRPr/>
            </a:pPr>
            <a:fld id="{FC96386F-C149-48D8-92C5-2CFDBA85534B}" type="slidenum">
              <a:rPr lang="en-GB" smtClean="0"/>
              <a:pPr>
                <a:defRPr/>
              </a:pPr>
              <a:t>35</a:t>
            </a:fld>
            <a:endParaRPr lang="en-GB" dirty="0"/>
          </a:p>
        </p:txBody>
      </p:sp>
    </p:spTree>
    <p:extLst>
      <p:ext uri="{BB962C8B-B14F-4D97-AF65-F5344CB8AC3E}">
        <p14:creationId xmlns:p14="http://schemas.microsoft.com/office/powerpoint/2010/main" val="4077515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138F-3AEB-479E-8D51-5FC9398E841D}"/>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C3D0E8EF-C1A3-424E-A204-82875AE3B960}"/>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36</a:t>
            </a:fld>
            <a:endParaRPr lang="en-GB" dirty="0"/>
          </a:p>
        </p:txBody>
      </p:sp>
      <p:grpSp>
        <p:nvGrpSpPr>
          <p:cNvPr id="25" name="Group 24">
            <a:extLst>
              <a:ext uri="{FF2B5EF4-FFF2-40B4-BE49-F238E27FC236}">
                <a16:creationId xmlns:a16="http://schemas.microsoft.com/office/drawing/2014/main" id="{35E63875-D41C-45D3-B76C-9BA79A87D41E}"/>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0D66EC95-1258-4392-A425-9A5BADA51847}"/>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D938BB87-3601-42DB-8EB9-2750C8D0E52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084B1C8-7FE3-4C76-A3F2-3F5A0265DFAF}"/>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2CA0274-FF41-47F9-A011-D1422CE18EFD}"/>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29" name="TextBox 28">
                <a:extLst>
                  <a:ext uri="{FF2B5EF4-FFF2-40B4-BE49-F238E27FC236}">
                    <a16:creationId xmlns:a16="http://schemas.microsoft.com/office/drawing/2014/main" id="{A2CA0274-FF41-47F9-A011-D1422CE18EFD}"/>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98B49AD-EFC5-4433-A1A2-3401D5DB0CC2}"/>
                  </a:ext>
                </a:extLst>
              </p:cNvPr>
              <p:cNvSpPr txBox="1"/>
              <p:nvPr/>
            </p:nvSpPr>
            <p:spPr>
              <a:xfrm>
                <a:off x="7448408" y="2301768"/>
                <a:ext cx="1473288" cy="391261"/>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a:latin typeface="Cambria Math" panose="02040503050406030204" pitchFamily="18" charset="0"/>
                              </a:rPr>
                              <m:t>𝑁</m:t>
                            </m:r>
                          </m:e>
                        </m:rad>
                      </m:den>
                    </m:f>
                  </m:oMath>
                </a14:m>
                <a:r>
                  <a:rPr lang="en-US" sz="1200" b="0" u="none" dirty="0">
                    <a:cs typeface="Arial" panose="020B0604020202020204" pitchFamily="34" charset="0"/>
                  </a:rPr>
                  <a:t> </a:t>
                </a:r>
              </a:p>
            </p:txBody>
          </p:sp>
        </mc:Choice>
        <mc:Fallback xmlns="">
          <p:sp>
            <p:nvSpPr>
              <p:cNvPr id="30" name="TextBox 29">
                <a:extLst>
                  <a:ext uri="{FF2B5EF4-FFF2-40B4-BE49-F238E27FC236}">
                    <a16:creationId xmlns:a16="http://schemas.microsoft.com/office/drawing/2014/main" id="{698B49AD-EFC5-4433-A1A2-3401D5DB0CC2}"/>
                  </a:ext>
                </a:extLst>
              </p:cNvPr>
              <p:cNvSpPr txBox="1">
                <a:spLocks noRot="1" noChangeAspect="1" noMove="1" noResize="1" noEditPoints="1" noAdjustHandles="1" noChangeArrowheads="1" noChangeShapeType="1" noTextEdit="1"/>
              </p:cNvSpPr>
              <p:nvPr/>
            </p:nvSpPr>
            <p:spPr>
              <a:xfrm>
                <a:off x="7448408" y="2301768"/>
                <a:ext cx="1473288" cy="391261"/>
              </a:xfrm>
              <a:prstGeom prst="rect">
                <a:avLst/>
              </a:prstGeom>
              <a:blipFill>
                <a:blip r:embed="rId4"/>
                <a:stretch>
                  <a:fillRect/>
                </a:stretch>
              </a:blipFill>
            </p:spPr>
            <p:txBody>
              <a:bodyPr/>
              <a:lstStyle/>
              <a:p>
                <a:r>
                  <a:rPr lang="en-US">
                    <a:noFill/>
                  </a:rPr>
                  <a:t> </a:t>
                </a:r>
              </a:p>
            </p:txBody>
          </p:sp>
        </mc:Fallback>
      </mc:AlternateContent>
      <p:sp>
        <p:nvSpPr>
          <p:cNvPr id="31" name="Freeform: Shape 30">
            <a:extLst>
              <a:ext uri="{FF2B5EF4-FFF2-40B4-BE49-F238E27FC236}">
                <a16:creationId xmlns:a16="http://schemas.microsoft.com/office/drawing/2014/main" id="{43C62105-84D9-405A-9708-7173AFD89C89}"/>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32" name="TextBox 31">
            <a:extLst>
              <a:ext uri="{FF2B5EF4-FFF2-40B4-BE49-F238E27FC236}">
                <a16:creationId xmlns:a16="http://schemas.microsoft.com/office/drawing/2014/main" id="{D1FA6314-0BA4-4753-A2BE-7CD755075977}"/>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79ACB68-48E1-4AF4-ACF5-01789EE10F95}"/>
                  </a:ext>
                </a:extLst>
              </p:cNvPr>
              <p:cNvSpPr txBox="1"/>
              <p:nvPr/>
            </p:nvSpPr>
            <p:spPr>
              <a:xfrm>
                <a:off x="4738988" y="1660261"/>
                <a:ext cx="3827461" cy="66518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smtClean="0">
                        <a:solidFill>
                          <a:schemeClr val="tx1"/>
                        </a:solidFill>
                        <a:latin typeface="Cambria Math" panose="02040503050406030204" pitchFamily="18" charset="0"/>
                        <a:cs typeface="Arial" panose="020B0604020202020204" pitchFamily="34" charset="0"/>
                      </a:rPr>
                      <m:t>,</m:t>
                    </m:r>
                    <m:r>
                      <a:rPr lang="en-US" sz="1600" b="0" i="1" u="none" dirty="0">
                        <a:solidFill>
                          <a:schemeClr val="tx1"/>
                        </a:solidFill>
                        <a:latin typeface="Cambria Math" panose="02040503050406030204" pitchFamily="18" charset="0"/>
                      </a:rPr>
                      <m:t> </m:t>
                    </m:r>
                    <m:f>
                      <m:fPr>
                        <m:ctrlPr>
                          <a:rPr lang="en-US" sz="1600" b="0" i="1" u="none" dirty="0" smtClean="0">
                            <a:solidFill>
                              <a:schemeClr val="tx1"/>
                            </a:solidFill>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35" name="TextBox 34">
                <a:extLst>
                  <a:ext uri="{FF2B5EF4-FFF2-40B4-BE49-F238E27FC236}">
                    <a16:creationId xmlns:a16="http://schemas.microsoft.com/office/drawing/2014/main" id="{A79ACB68-48E1-4AF4-ACF5-01789EE10F95}"/>
                  </a:ext>
                </a:extLst>
              </p:cNvPr>
              <p:cNvSpPr txBox="1">
                <a:spLocks noRot="1" noChangeAspect="1" noMove="1" noResize="1" noEditPoints="1" noAdjustHandles="1" noChangeArrowheads="1" noChangeShapeType="1" noTextEdit="1"/>
              </p:cNvSpPr>
              <p:nvPr/>
            </p:nvSpPr>
            <p:spPr>
              <a:xfrm>
                <a:off x="4738988" y="1660261"/>
                <a:ext cx="3827461" cy="665182"/>
              </a:xfrm>
              <a:prstGeom prst="rect">
                <a:avLst/>
              </a:prstGeom>
              <a:blipFill>
                <a:blip r:embed="rId5"/>
                <a:stretch>
                  <a:fillRect t="-2752" b="-4587"/>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95BD125D-A0C4-41D5-9A24-FC6282C626A7}"/>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BC5E1-339E-43E4-B660-D1FC1C6DE530}"/>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539DCDC-24C8-43AC-AA16-393648F42E71}"/>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65917DD1-4936-4FA8-B39F-3AC14EEB91C1}"/>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D8D46CBE-06FE-4128-AA3E-FB08A876D8D5}"/>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46B661EC-AD36-4395-93CA-2B631BBE1B7A}"/>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F105FE7E-6AE2-42C8-8B19-3C9EAFF835F4}"/>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5791CC8E-FD88-49FC-8FD1-00D9A02F6A61}"/>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A38CD76-686C-4252-8384-AF97D19BA3ED}"/>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933AB19-C447-4AB5-AE0F-6C61DB7A1A98}"/>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2565545-D720-46BD-9599-DDC185B99C9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934F4FAD-01D2-4E7A-BACF-55F5E25316BF}"/>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2301F8E0-E202-4F5B-BBAF-EB4041A79E5D}"/>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5D190C29-D51E-41A6-81CA-04704854E610}"/>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412BB62F-0028-47CD-8408-A119CE74B04A}"/>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8CFF29DB-F7C6-4B8D-A028-B95310B3E651}"/>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E145417C-2EDA-427E-924E-96454BA2AF32}"/>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680660AA-B62D-4E71-BF37-2D1C3D9303A5}"/>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F4927BC-2765-4D77-A6C8-D336405E3322}"/>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8E4BB10-B4F7-4DE9-BB7E-663C4592E5E9}"/>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A1F78A6-0241-48B0-B1C3-4C20F762BAA7}"/>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7A1F78A6-0241-48B0-B1C3-4C20F762BAA7}"/>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BAF2DBC-FFE8-480E-9655-624D7D1A7AAE}"/>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EDA4ACF5-B890-4BC0-9104-005EE7FDD495}"/>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2EAEFE65-DCE6-44F3-873A-EBCAAEBCA961}"/>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0CC415B7-7093-4B7B-BEA7-529AF41251E2}"/>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p:grpSp>
        <p:nvGrpSpPr>
          <p:cNvPr id="47" name="Group 46">
            <a:extLst>
              <a:ext uri="{FF2B5EF4-FFF2-40B4-BE49-F238E27FC236}">
                <a16:creationId xmlns:a16="http://schemas.microsoft.com/office/drawing/2014/main" id="{DBB51D7C-DBD9-4AA9-93F0-BA366EFADA82}"/>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86234E90-9B24-4DD5-9CE4-34E382E96C96}"/>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2B7A84A1-7343-4BE4-8C7B-C103E8280C52}"/>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AD78E157-0148-4271-A448-A973F6C01A81}"/>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8E763FF-360F-4758-9588-D79382497D6D}"/>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9C0A1F85-7058-4FE1-A041-BD22FF4B1F59}"/>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C0CA4449-155A-4D42-9A6D-342189746818}"/>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212B40FC-F0A4-4620-AD65-7D1028CFCE5A}"/>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16B70CD1-5535-40B7-81BB-F3D20C1DCF5C}"/>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C4B86A41-C2CB-4FA3-826E-36EDEA7A096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8E6C0F15-277D-4C9C-A89E-B72AB15232B3}"/>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E29714-0E07-FEFC-3367-C68C02A8A4C2}"/>
                  </a:ext>
                </a:extLst>
              </p:cNvPr>
              <p:cNvSpPr txBox="1"/>
              <p:nvPr/>
            </p:nvSpPr>
            <p:spPr>
              <a:xfrm>
                <a:off x="986614" y="4820456"/>
                <a:ext cx="3820336" cy="1771767"/>
              </a:xfrm>
              <a:prstGeom prst="rect">
                <a:avLst/>
              </a:prstGeom>
              <a:solidFill>
                <a:schemeClr val="accent3">
                  <a:lumMod val="95000"/>
                </a:schemeClr>
              </a:solidFill>
              <a:ln w="3175">
                <a:solidFill>
                  <a:srgbClr val="EB971B"/>
                </a:solidFill>
              </a:ln>
            </p:spPr>
            <p:txBody>
              <a:bodyPr wrap="square" rtlCol="0">
                <a:spAutoFit/>
              </a:bodyPr>
              <a:lstStyle/>
              <a:p>
                <a:r>
                  <a:rPr lang="en-US" sz="1200" b="0" dirty="0">
                    <a:solidFill>
                      <a:schemeClr val="accent6"/>
                    </a:solidFill>
                    <a:cs typeface="Arial" panose="020B0604020202020204" pitchFamily="34" charset="0"/>
                  </a:rPr>
                  <a:t>Vocabulary</a:t>
                </a:r>
                <a:r>
                  <a:rPr lang="en-US" sz="1200" b="0" u="none" dirty="0">
                    <a:solidFill>
                      <a:schemeClr val="accent6"/>
                    </a:solidFill>
                    <a:cs typeface="Arial" panose="020B0604020202020204" pitchFamily="34" charset="0"/>
                  </a:rPr>
                  <a:t>: The spread of </a:t>
                </a:r>
                <a:r>
                  <a:rPr lang="en-US" sz="1200" b="0" i="1" u="none" dirty="0">
                    <a:solidFill>
                      <a:schemeClr val="accent6"/>
                    </a:solidFill>
                    <a:cs typeface="Arial" panose="020B0604020202020204" pitchFamily="34" charset="0"/>
                  </a:rPr>
                  <a:t>individual observations</a:t>
                </a:r>
                <a:r>
                  <a:rPr lang="en-US" sz="1200" b="0" u="none" dirty="0">
                    <a:solidFill>
                      <a:schemeClr val="accent6"/>
                    </a:solidFill>
                    <a:cs typeface="Arial" panose="020B0604020202020204" pitchFamily="34" charset="0"/>
                  </a:rPr>
                  <a:t> (</a:t>
                </a:r>
                <a14:m>
                  <m:oMath xmlns:m="http://schemas.openxmlformats.org/officeDocument/2006/math">
                    <m:sSub>
                      <m:sSubPr>
                        <m:ctrlPr>
                          <a:rPr lang="en-US" sz="1200" b="0" i="1" u="none" smtClean="0">
                            <a:solidFill>
                              <a:srgbClr val="00B0F0"/>
                            </a:solidFill>
                            <a:latin typeface="Cambria Math" panose="02040503050406030204" pitchFamily="18" charset="0"/>
                            <a:cs typeface="Arial" panose="020B0604020202020204" pitchFamily="34" charset="0"/>
                          </a:rPr>
                        </m:ctrlPr>
                      </m:sSubPr>
                      <m:e>
                        <m:r>
                          <a:rPr lang="en-US" sz="1200" b="0" i="1" u="none" smtClean="0">
                            <a:solidFill>
                              <a:srgbClr val="00B0F0"/>
                            </a:solidFill>
                            <a:latin typeface="Cambria Math" panose="02040503050406030204" pitchFamily="18" charset="0"/>
                            <a:cs typeface="Arial" panose="020B0604020202020204" pitchFamily="34" charset="0"/>
                          </a:rPr>
                          <m:t>𝑥</m:t>
                        </m:r>
                      </m:e>
                      <m:sub>
                        <m:r>
                          <a:rPr lang="en-US" sz="1200" b="0" i="1" u="none" smtClean="0">
                            <a:solidFill>
                              <a:srgbClr val="00B0F0"/>
                            </a:solidFill>
                            <a:latin typeface="Cambria Math" panose="02040503050406030204" pitchFamily="18" charset="0"/>
                            <a:cs typeface="Arial" panose="020B0604020202020204" pitchFamily="34" charset="0"/>
                          </a:rPr>
                          <m:t>𝑖</m:t>
                        </m:r>
                      </m:sub>
                    </m:sSub>
                  </m:oMath>
                </a14:m>
                <a:r>
                  <a:rPr lang="en-US" sz="1200" b="0" u="none" dirty="0">
                    <a:solidFill>
                      <a:schemeClr val="accent6"/>
                    </a:solidFill>
                    <a:cs typeface="Arial" panose="020B0604020202020204" pitchFamily="34" charset="0"/>
                  </a:rPr>
                  <a:t>) in a population or sample is called a standard </a:t>
                </a:r>
                <a:r>
                  <a:rPr lang="en-US" sz="1200" b="0" dirty="0">
                    <a:solidFill>
                      <a:schemeClr val="accent6"/>
                    </a:solidFill>
                    <a:cs typeface="Arial" panose="020B0604020202020204" pitchFamily="34" charset="0"/>
                  </a:rPr>
                  <a:t>deviation</a:t>
                </a:r>
                <a:r>
                  <a:rPr lang="en-US" sz="1200" b="0" u="none" dirty="0">
                    <a:solidFill>
                      <a:schemeClr val="accent6"/>
                    </a:solidFill>
                    <a:cs typeface="Arial" panose="020B0604020202020204" pitchFamily="34" charset="0"/>
                  </a:rPr>
                  <a:t> (</a:t>
                </a:r>
                <a14:m>
                  <m:oMath xmlns:m="http://schemas.openxmlformats.org/officeDocument/2006/math">
                    <m:r>
                      <a:rPr lang="en-US" sz="1200" b="0" i="1" u="none" smtClean="0">
                        <a:solidFill>
                          <a:schemeClr val="accent6"/>
                        </a:solidFill>
                        <a:latin typeface="Cambria Math" panose="02040503050406030204" pitchFamily="18" charset="0"/>
                        <a:cs typeface="Arial" panose="020B0604020202020204" pitchFamily="34" charset="0"/>
                      </a:rPr>
                      <m:t>𝜎</m:t>
                    </m:r>
                  </m:oMath>
                </a14:m>
                <a:r>
                  <a:rPr lang="en-US" sz="1200" b="0" u="none" dirty="0">
                    <a:solidFill>
                      <a:schemeClr val="accent6"/>
                    </a:solidFill>
                    <a:cs typeface="Arial" panose="020B0604020202020204" pitchFamily="34" charset="0"/>
                  </a:rPr>
                  <a:t>). The spread of </a:t>
                </a:r>
                <a:r>
                  <a:rPr lang="en-US" sz="1200" b="0" i="1" u="none" dirty="0">
                    <a:solidFill>
                      <a:schemeClr val="accent6"/>
                    </a:solidFill>
                    <a:cs typeface="Arial" panose="020B0604020202020204" pitchFamily="34" charset="0"/>
                  </a:rPr>
                  <a:t>means</a:t>
                </a:r>
                <a:r>
                  <a:rPr lang="en-US" sz="1200" b="0" u="none" dirty="0">
                    <a:solidFill>
                      <a:schemeClr val="accent6"/>
                    </a:solidFill>
                    <a:cs typeface="Arial" panose="020B0604020202020204" pitchFamily="34" charset="0"/>
                  </a:rPr>
                  <a:t> of sample observations (</a:t>
                </a:r>
                <a14:m>
                  <m:oMath xmlns:m="http://schemas.openxmlformats.org/officeDocument/2006/math">
                    <m:acc>
                      <m:accPr>
                        <m:chr m:val="̅"/>
                        <m:ctrlPr>
                          <a:rPr lang="en-US" sz="1200" b="0" i="1" u="none" dirty="0">
                            <a:solidFill>
                              <a:srgbClr val="00B0F0"/>
                            </a:solidFill>
                            <a:latin typeface="Cambria Math" panose="02040503050406030204" pitchFamily="18" charset="0"/>
                            <a:cs typeface="Arial" panose="020B0604020202020204" pitchFamily="34" charset="0"/>
                          </a:rPr>
                        </m:ctrlPr>
                      </m:accPr>
                      <m:e>
                        <m:r>
                          <m:rPr>
                            <m:sty m:val="p"/>
                          </m:rPr>
                          <a:rPr lang="en-US" sz="1200" b="0" u="none" dirty="0">
                            <a:solidFill>
                              <a:srgbClr val="00B0F0"/>
                            </a:solidFill>
                            <a:latin typeface="Cambria Math" panose="02040503050406030204" pitchFamily="18" charset="0"/>
                            <a:cs typeface="Arial" panose="020B0604020202020204" pitchFamily="34" charset="0"/>
                          </a:rPr>
                          <m:t>x</m:t>
                        </m:r>
                      </m:e>
                    </m:acc>
                  </m:oMath>
                </a14:m>
                <a:r>
                  <a:rPr lang="en-US" sz="1200" b="0" u="none" dirty="0">
                    <a:solidFill>
                      <a:schemeClr val="accent6"/>
                    </a:solidFill>
                    <a:cs typeface="Arial" panose="020B0604020202020204" pitchFamily="34" charset="0"/>
                  </a:rPr>
                  <a:t>) is called a standard </a:t>
                </a:r>
                <a:r>
                  <a:rPr lang="en-US" sz="1200" b="0" dirty="0">
                    <a:solidFill>
                      <a:schemeClr val="accent6"/>
                    </a:solidFill>
                    <a:cs typeface="Arial" panose="020B0604020202020204" pitchFamily="34" charset="0"/>
                  </a:rPr>
                  <a:t>error</a:t>
                </a:r>
                <a:r>
                  <a:rPr lang="en-US" sz="1200" b="0" u="none" dirty="0">
                    <a:solidFill>
                      <a:schemeClr val="accent6"/>
                    </a:solidFill>
                    <a:cs typeface="Arial" panose="020B0604020202020204" pitchFamily="34" charset="0"/>
                  </a:rPr>
                  <a:t>, </a:t>
                </a:r>
                <a14:m>
                  <m:oMath xmlns:m="http://schemas.openxmlformats.org/officeDocument/2006/math">
                    <m:r>
                      <a:rPr lang="en-US" sz="1200" b="0" i="1" u="none" dirty="0">
                        <a:solidFill>
                          <a:srgbClr val="EB971B"/>
                        </a:solidFill>
                        <a:latin typeface="Cambria Math" panose="02040503050406030204" pitchFamily="18" charset="0"/>
                        <a:cs typeface="Arial" panose="020B0604020202020204" pitchFamily="34" charset="0"/>
                      </a:rPr>
                      <m:t>𝑆𝑡𝑑</m:t>
                    </m:r>
                    <m:r>
                      <a:rPr lang="en-US" sz="1200" b="0" i="1" u="none" dirty="0">
                        <a:solidFill>
                          <a:srgbClr val="EB971B"/>
                        </a:solidFill>
                        <a:latin typeface="Cambria Math" panose="02040503050406030204" pitchFamily="18" charset="0"/>
                        <a:cs typeface="Arial" panose="020B0604020202020204" pitchFamily="34" charset="0"/>
                      </a:rPr>
                      <m:t> </m:t>
                    </m:r>
                    <m:r>
                      <a:rPr lang="en-US" sz="1200" b="0" i="1" u="none" dirty="0">
                        <a:solidFill>
                          <a:srgbClr val="EB971B"/>
                        </a:solidFill>
                        <a:latin typeface="Cambria Math" panose="02040503050406030204" pitchFamily="18" charset="0"/>
                        <a:cs typeface="Arial" panose="020B0604020202020204" pitchFamily="34" charset="0"/>
                      </a:rPr>
                      <m:t>𝐸𝑟𝑟</m:t>
                    </m:r>
                    <m:d>
                      <m:dPr>
                        <m:ctrlPr>
                          <a:rPr lang="en-US" sz="1200" b="0" i="1" u="none" dirty="0">
                            <a:solidFill>
                              <a:srgbClr val="EB971B"/>
                            </a:solidFill>
                            <a:latin typeface="Cambria Math" panose="02040503050406030204" pitchFamily="18" charset="0"/>
                            <a:cs typeface="Arial" panose="020B0604020202020204" pitchFamily="34" charset="0"/>
                          </a:rPr>
                        </m:ctrlPr>
                      </m:dPr>
                      <m:e>
                        <m:acc>
                          <m:accPr>
                            <m:chr m:val="̅"/>
                            <m:ctrlPr>
                              <a:rPr lang="en-US" sz="1200" b="0" i="1" u="none" dirty="0">
                                <a:solidFill>
                                  <a:srgbClr val="00B0F0"/>
                                </a:solidFill>
                                <a:latin typeface="Cambria Math" panose="02040503050406030204" pitchFamily="18" charset="0"/>
                                <a:cs typeface="Arial" panose="020B0604020202020204" pitchFamily="34" charset="0"/>
                              </a:rPr>
                            </m:ctrlPr>
                          </m:accPr>
                          <m:e>
                            <m:r>
                              <m:rPr>
                                <m:sty m:val="p"/>
                              </m:rPr>
                              <a:rPr lang="en-US" sz="1200" b="0" u="none" dirty="0">
                                <a:solidFill>
                                  <a:srgbClr val="00B0F0"/>
                                </a:solidFill>
                                <a:latin typeface="Cambria Math" panose="02040503050406030204" pitchFamily="18" charset="0"/>
                                <a:cs typeface="Arial" panose="020B0604020202020204" pitchFamily="34" charset="0"/>
                              </a:rPr>
                              <m:t>x</m:t>
                            </m:r>
                          </m:e>
                        </m:acc>
                      </m:e>
                    </m:d>
                  </m:oMath>
                </a14:m>
                <a:r>
                  <a:rPr lang="en-US" sz="1200" b="0" u="none" dirty="0">
                    <a:solidFill>
                      <a:schemeClr val="accent6"/>
                    </a:solidFill>
                    <a:cs typeface="Arial" panose="020B0604020202020204" pitchFamily="34" charset="0"/>
                  </a:rPr>
                  <a:t>, and it is equal to </a:t>
                </a:r>
                <a14:m>
                  <m:oMath xmlns:m="http://schemas.openxmlformats.org/officeDocument/2006/math">
                    <m:r>
                      <a:rPr lang="en-US" sz="1200" b="0" i="1" u="none">
                        <a:solidFill>
                          <a:srgbClr val="FF0000"/>
                        </a:solidFill>
                        <a:latin typeface="Cambria Math" panose="02040503050406030204" pitchFamily="18" charset="0"/>
                      </a:rPr>
                      <m:t>𝜎</m:t>
                    </m:r>
                    <m:r>
                      <a:rPr lang="en-US" sz="1200" b="0" i="1" u="none" smtClean="0">
                        <a:solidFill>
                          <a:srgbClr val="FF0000"/>
                        </a:solidFill>
                        <a:latin typeface="Cambria Math" panose="02040503050406030204" pitchFamily="18" charset="0"/>
                      </a:rPr>
                      <m:t>/</m:t>
                    </m:r>
                    <m:rad>
                      <m:radPr>
                        <m:degHide m:val="on"/>
                        <m:ctrlPr>
                          <a:rPr lang="en-US" sz="1200" b="0" i="1" u="none">
                            <a:solidFill>
                              <a:schemeClr val="accent6"/>
                            </a:solidFill>
                            <a:latin typeface="Cambria Math" panose="02040503050406030204" pitchFamily="18" charset="0"/>
                          </a:rPr>
                        </m:ctrlPr>
                      </m:radPr>
                      <m:deg/>
                      <m:e>
                        <m:r>
                          <a:rPr lang="en-US" sz="1200" b="0" i="1" u="none">
                            <a:solidFill>
                              <a:schemeClr val="accent6"/>
                            </a:solidFill>
                            <a:latin typeface="Cambria Math" panose="02040503050406030204" pitchFamily="18" charset="0"/>
                          </a:rPr>
                          <m:t>𝑁</m:t>
                        </m:r>
                      </m:e>
                    </m:rad>
                  </m:oMath>
                </a14:m>
                <a:r>
                  <a:rPr lang="en-US" sz="1200" b="0" u="none" dirty="0">
                    <a:solidFill>
                      <a:schemeClr val="accent6"/>
                    </a:solidFill>
                    <a:cs typeface="Arial" panose="020B0604020202020204" pitchFamily="34" charset="0"/>
                  </a:rPr>
                  <a:t>. Dividing </a:t>
                </a:r>
                <a14:m>
                  <m:oMath xmlns:m="http://schemas.openxmlformats.org/officeDocument/2006/math">
                    <m:r>
                      <a:rPr lang="en-US" sz="1200" b="0" i="1" u="none">
                        <a:solidFill>
                          <a:srgbClr val="FF0000"/>
                        </a:solidFill>
                        <a:latin typeface="Cambria Math" panose="02040503050406030204" pitchFamily="18" charset="0"/>
                      </a:rPr>
                      <m:t>𝜎</m:t>
                    </m:r>
                  </m:oMath>
                </a14:m>
                <a:r>
                  <a:rPr lang="en-US" sz="1200" b="0" u="none" dirty="0">
                    <a:solidFill>
                      <a:schemeClr val="accent6"/>
                    </a:solidFill>
                    <a:cs typeface="Arial" panose="020B0604020202020204" pitchFamily="34" charset="0"/>
                  </a:rPr>
                  <a:t> by </a:t>
                </a:r>
                <a14:m>
                  <m:oMath xmlns:m="http://schemas.openxmlformats.org/officeDocument/2006/math">
                    <m:rad>
                      <m:radPr>
                        <m:degHide m:val="on"/>
                        <m:ctrlPr>
                          <a:rPr lang="en-US" sz="1200" b="0" i="1" u="none">
                            <a:solidFill>
                              <a:schemeClr val="accent6"/>
                            </a:solidFill>
                            <a:latin typeface="Cambria Math" panose="02040503050406030204" pitchFamily="18" charset="0"/>
                          </a:rPr>
                        </m:ctrlPr>
                      </m:radPr>
                      <m:deg/>
                      <m:e>
                        <m:r>
                          <a:rPr lang="en-US" sz="1200" b="0" i="1" u="none">
                            <a:solidFill>
                              <a:schemeClr val="accent6"/>
                            </a:solidFill>
                            <a:latin typeface="Cambria Math" panose="02040503050406030204" pitchFamily="18" charset="0"/>
                          </a:rPr>
                          <m:t>𝑁</m:t>
                        </m:r>
                      </m:e>
                    </m:rad>
                  </m:oMath>
                </a14:m>
                <a:r>
                  <a:rPr lang="en-US" sz="1200" b="0" u="none" dirty="0">
                    <a:solidFill>
                      <a:schemeClr val="accent6"/>
                    </a:solidFill>
                    <a:cs typeface="Arial" panose="020B0604020202020204" pitchFamily="34" charset="0"/>
                  </a:rPr>
                  <a:t> accounts for </a:t>
                </a:r>
                <a:r>
                  <a:rPr lang="en-US" sz="1200" b="0" i="1" u="none" dirty="0">
                    <a:solidFill>
                      <a:schemeClr val="accent6"/>
                    </a:solidFill>
                    <a:cs typeface="Arial" panose="020B0604020202020204" pitchFamily="34" charset="0"/>
                  </a:rPr>
                  <a:t>means</a:t>
                </a:r>
                <a:r>
                  <a:rPr lang="en-US" sz="1200" b="0" u="none" dirty="0">
                    <a:solidFill>
                      <a:schemeClr val="accent6"/>
                    </a:solidFill>
                    <a:cs typeface="Arial" panose="020B0604020202020204" pitchFamily="34" charset="0"/>
                  </a:rPr>
                  <a:t> being more compressed than their underlying </a:t>
                </a:r>
                <a:r>
                  <a:rPr lang="en-US" sz="1200" b="0" i="1" u="none" dirty="0">
                    <a:solidFill>
                      <a:schemeClr val="accent6"/>
                    </a:solidFill>
                    <a:cs typeface="Arial" panose="020B0604020202020204" pitchFamily="34" charset="0"/>
                  </a:rPr>
                  <a:t>observations</a:t>
                </a:r>
                <a:r>
                  <a:rPr lang="en-US" sz="1200" b="0" u="none" dirty="0">
                    <a:solidFill>
                      <a:schemeClr val="accent6"/>
                    </a:solidFill>
                    <a:cs typeface="Arial" panose="020B0604020202020204" pitchFamily="34" charset="0"/>
                  </a:rPr>
                  <a:t>. If you want to see the math, look at next (hidden) slide for the derivation. </a:t>
                </a:r>
                <a:r>
                  <a:rPr lang="en-US" sz="1200" b="0" u="none" dirty="0">
                    <a:solidFill>
                      <a:schemeClr val="bg1">
                        <a:lumMod val="50000"/>
                      </a:schemeClr>
                    </a:solidFill>
                    <a:cs typeface="Arial" panose="020B0604020202020204" pitchFamily="34" charset="0"/>
                  </a:rPr>
                  <a:t>(If not, feel free to ignore!)</a:t>
                </a:r>
              </a:p>
            </p:txBody>
          </p:sp>
        </mc:Choice>
        <mc:Fallback xmlns="">
          <p:sp>
            <p:nvSpPr>
              <p:cNvPr id="6" name="TextBox 5">
                <a:extLst>
                  <a:ext uri="{FF2B5EF4-FFF2-40B4-BE49-F238E27FC236}">
                    <a16:creationId xmlns:a16="http://schemas.microsoft.com/office/drawing/2014/main" id="{90E29714-0E07-FEFC-3367-C68C02A8A4C2}"/>
                  </a:ext>
                </a:extLst>
              </p:cNvPr>
              <p:cNvSpPr txBox="1">
                <a:spLocks noRot="1" noChangeAspect="1" noMove="1" noResize="1" noEditPoints="1" noAdjustHandles="1" noChangeArrowheads="1" noChangeShapeType="1" noTextEdit="1"/>
              </p:cNvSpPr>
              <p:nvPr/>
            </p:nvSpPr>
            <p:spPr>
              <a:xfrm>
                <a:off x="986614" y="4820456"/>
                <a:ext cx="3820336" cy="1771767"/>
              </a:xfrm>
              <a:prstGeom prst="rect">
                <a:avLst/>
              </a:prstGeom>
              <a:blipFill>
                <a:blip r:embed="rId12"/>
                <a:stretch>
                  <a:fillRect l="-159" t="-687" r="-796" b="-1375"/>
                </a:stretch>
              </a:blipFill>
              <a:ln w="3175">
                <a:solidFill>
                  <a:srgbClr val="EB971B"/>
                </a:solidFill>
              </a:ln>
            </p:spPr>
            <p:txBody>
              <a:bodyPr/>
              <a:lstStyle/>
              <a:p>
                <a:r>
                  <a:rPr lang="en-US">
                    <a:noFill/>
                  </a:rPr>
                  <a:t> </a:t>
                </a:r>
              </a:p>
            </p:txBody>
          </p:sp>
        </mc:Fallback>
      </mc:AlternateContent>
      <p:sp>
        <p:nvSpPr>
          <p:cNvPr id="7" name="Oval 6">
            <a:extLst>
              <a:ext uri="{FF2B5EF4-FFF2-40B4-BE49-F238E27FC236}">
                <a16:creationId xmlns:a16="http://schemas.microsoft.com/office/drawing/2014/main" id="{47057B98-300C-BE41-E749-E1372B1BF035}"/>
              </a:ext>
            </a:extLst>
          </p:cNvPr>
          <p:cNvSpPr/>
          <p:nvPr/>
        </p:nvSpPr>
        <p:spPr bwMode="auto">
          <a:xfrm>
            <a:off x="8571433" y="2508793"/>
            <a:ext cx="273482" cy="232655"/>
          </a:xfrm>
          <a:prstGeom prst="ellipse">
            <a:avLst/>
          </a:pr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p>
        </p:txBody>
      </p:sp>
      <p:sp>
        <p:nvSpPr>
          <p:cNvPr id="19" name="Freeform: Shape 18">
            <a:extLst>
              <a:ext uri="{FF2B5EF4-FFF2-40B4-BE49-F238E27FC236}">
                <a16:creationId xmlns:a16="http://schemas.microsoft.com/office/drawing/2014/main" id="{8CC5E273-A25A-4964-1636-0FE7B8C43E97}"/>
              </a:ext>
            </a:extLst>
          </p:cNvPr>
          <p:cNvSpPr/>
          <p:nvPr/>
        </p:nvSpPr>
        <p:spPr bwMode="auto">
          <a:xfrm>
            <a:off x="4882812" y="2718816"/>
            <a:ext cx="3755219" cy="2829243"/>
          </a:xfrm>
          <a:custGeom>
            <a:avLst/>
            <a:gdLst>
              <a:gd name="connsiteX0" fmla="*/ 3998976 w 3998976"/>
              <a:gd name="connsiteY0" fmla="*/ 0 h 2829243"/>
              <a:gd name="connsiteX1" fmla="*/ 1853184 w 3998976"/>
              <a:gd name="connsiteY1" fmla="*/ 2401824 h 2829243"/>
              <a:gd name="connsiteX2" fmla="*/ 0 w 3998976"/>
              <a:gd name="connsiteY2" fmla="*/ 2816352 h 2829243"/>
            </a:gdLst>
            <a:ahLst/>
            <a:cxnLst>
              <a:cxn ang="0">
                <a:pos x="connsiteX0" y="connsiteY0"/>
              </a:cxn>
              <a:cxn ang="0">
                <a:pos x="connsiteX1" y="connsiteY1"/>
              </a:cxn>
              <a:cxn ang="0">
                <a:pos x="connsiteX2" y="connsiteY2"/>
              </a:cxn>
            </a:cxnLst>
            <a:rect l="l" t="t" r="r" b="b"/>
            <a:pathLst>
              <a:path w="3998976" h="2829243">
                <a:moveTo>
                  <a:pt x="3998976" y="0"/>
                </a:moveTo>
                <a:cubicBezTo>
                  <a:pt x="3259328" y="966216"/>
                  <a:pt x="2519680" y="1932432"/>
                  <a:pt x="1853184" y="2401824"/>
                </a:cubicBezTo>
                <a:cubicBezTo>
                  <a:pt x="1186688" y="2871216"/>
                  <a:pt x="593344" y="2843784"/>
                  <a:pt x="0" y="2816352"/>
                </a:cubicBezTo>
              </a:path>
            </a:pathLst>
          </a:custGeom>
          <a:noFill/>
          <a:ln w="3175" cap="flat" cmpd="sng" algn="ctr">
            <a:solidFill>
              <a:srgbClr val="EB971B"/>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402512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0" grpId="0"/>
      <p:bldP spid="31" grpId="0" animBg="1"/>
      <p:bldP spid="32" grpId="0"/>
      <p:bldP spid="35" grpId="0"/>
      <p:bldP spid="24" grpId="0" animBg="1"/>
      <p:bldP spid="37" grpId="0" animBg="1"/>
      <p:bldP spid="40" grpId="0" animBg="1"/>
      <p:bldP spid="41" grpId="0" animBg="1"/>
      <p:bldP spid="43" grpId="0" animBg="1"/>
      <p:bldP spid="46" grpId="0" animBg="1"/>
      <p:bldP spid="42" grpId="0" animBg="1"/>
      <p:bldP spid="44" grpId="0" animBg="1"/>
      <p:bldP spid="45" grpId="0"/>
      <p:bldP spid="6" grpId="0" animBg="1"/>
      <p:bldP spid="7" grpId="0" animBg="1"/>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A49A-A899-EC35-763B-32AB2D3BA90B}"/>
              </a:ext>
            </a:extLst>
          </p:cNvPr>
          <p:cNvSpPr>
            <a:spLocks noGrp="1"/>
          </p:cNvSpPr>
          <p:nvPr>
            <p:ph type="title"/>
          </p:nvPr>
        </p:nvSpPr>
        <p:spPr/>
        <p:txBody>
          <a:bodyPr/>
          <a:lstStyle/>
          <a:p>
            <a:r>
              <a:rPr lang="en-US" dirty="0"/>
              <a:t>Standard “Deviation” vs Standard “Error”</a:t>
            </a:r>
            <a:br>
              <a:rPr lang="en-US" dirty="0"/>
            </a:br>
            <a:r>
              <a:rPr lang="en-US" sz="1400" dirty="0"/>
              <a:t>(Optional Slide)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A3BD44-6212-BDE8-CDE1-462B92788BDF}"/>
                  </a:ext>
                </a:extLst>
              </p:cNvPr>
              <p:cNvSpPr>
                <a:spLocks noGrp="1"/>
              </p:cNvSpPr>
              <p:nvPr>
                <p:ph idx="1"/>
              </p:nvPr>
            </p:nvSpPr>
            <p:spPr/>
            <p:txBody>
              <a:bodyPr/>
              <a:lstStyle/>
              <a:p>
                <a:r>
                  <a:rPr lang="en-US" sz="1800" dirty="0"/>
                  <a:t>By convention,</a:t>
                </a:r>
              </a:p>
              <a:p>
                <a:pPr lvl="1"/>
                <a:r>
                  <a:rPr lang="en-US" sz="1800" dirty="0"/>
                  <a:t>“standard </a:t>
                </a:r>
                <a:r>
                  <a:rPr lang="en-US" sz="1800" u="sng" dirty="0"/>
                  <a:t>deviation</a:t>
                </a:r>
                <a:r>
                  <a:rPr lang="en-US" sz="1800" dirty="0"/>
                  <a:t>” refers to the spread of data </a:t>
                </a:r>
                <a:r>
                  <a:rPr lang="en-US" sz="1800" u="sng" dirty="0"/>
                  <a:t>points</a:t>
                </a:r>
              </a:p>
              <a:p>
                <a:pPr lvl="1"/>
                <a:r>
                  <a:rPr lang="en-US" sz="1800" dirty="0"/>
                  <a:t>“standard </a:t>
                </a:r>
                <a:r>
                  <a:rPr lang="en-US" sz="1800" u="sng" dirty="0"/>
                  <a:t>error</a:t>
                </a:r>
                <a:r>
                  <a:rPr lang="en-US" sz="1800" dirty="0"/>
                  <a:t>” refers to the spread of an </a:t>
                </a:r>
                <a:r>
                  <a:rPr lang="en-US" sz="1800" u="sng" dirty="0"/>
                  <a:t>estimate</a:t>
                </a:r>
                <a:r>
                  <a:rPr lang="en-US" sz="1800" dirty="0"/>
                  <a:t>, such as means (</a:t>
                </a:r>
                <a14:m>
                  <m:oMath xmlns:m="http://schemas.openxmlformats.org/officeDocument/2006/math">
                    <m:acc>
                      <m:accPr>
                        <m:chr m:val="̅"/>
                        <m:ctrlPr>
                          <a:rPr lang="en-US" sz="1800" b="0" i="1" smtClean="0">
                            <a:solidFill>
                              <a:srgbClr val="00B0F0"/>
                            </a:solidFill>
                            <a:latin typeface="Cambria Math" panose="02040503050406030204" pitchFamily="18" charset="0"/>
                          </a:rPr>
                        </m:ctrlPr>
                      </m:accPr>
                      <m:e>
                        <m:r>
                          <a:rPr lang="en-US" sz="1800" b="0" i="1" smtClean="0">
                            <a:solidFill>
                              <a:srgbClr val="00B0F0"/>
                            </a:solidFill>
                            <a:latin typeface="Cambria Math" panose="02040503050406030204" pitchFamily="18" charset="0"/>
                          </a:rPr>
                          <m:t>𝑥</m:t>
                        </m:r>
                      </m:e>
                    </m:acc>
                  </m:oMath>
                </a14:m>
                <a:r>
                  <a:rPr lang="en-US" sz="1800" dirty="0"/>
                  <a:t> in this slide deck) or regression coefficients (</a:t>
                </a:r>
                <a14:m>
                  <m:oMath xmlns:m="http://schemas.openxmlformats.org/officeDocument/2006/math">
                    <m:acc>
                      <m:accPr>
                        <m:chr m:val="̂"/>
                        <m:ctrlPr>
                          <a:rPr lang="en-US" sz="1800" b="0" i="1" smtClean="0">
                            <a:solidFill>
                              <a:srgbClr val="00B0F0"/>
                            </a:solidFill>
                            <a:latin typeface="Cambria Math" panose="02040503050406030204" pitchFamily="18" charset="0"/>
                          </a:rPr>
                        </m:ctrlPr>
                      </m:accPr>
                      <m:e>
                        <m:r>
                          <a:rPr lang="en-US" sz="1800" b="0" i="1" smtClean="0">
                            <a:solidFill>
                              <a:srgbClr val="00B0F0"/>
                            </a:solidFill>
                            <a:latin typeface="Cambria Math" panose="02040503050406030204" pitchFamily="18" charset="0"/>
                          </a:rPr>
                          <m:t>𝛽</m:t>
                        </m:r>
                      </m:e>
                    </m:acc>
                  </m:oMath>
                </a14:m>
                <a:r>
                  <a:rPr lang="en-US" sz="1800" dirty="0"/>
                  <a:t> in slide deck 3)</a:t>
                </a:r>
              </a:p>
              <a:p>
                <a:pPr lvl="1"/>
                <a:endParaRPr lang="en-US" sz="1800" dirty="0"/>
              </a:p>
              <a:p>
                <a:r>
                  <a:rPr lang="en-US" sz="1800" dirty="0"/>
                  <a:t>Intuition</a:t>
                </a:r>
              </a:p>
              <a:p>
                <a:pPr lvl="1"/>
                <a:r>
                  <a:rPr lang="en-US" sz="1800" dirty="0"/>
                  <a:t>Repeated samples of size </a:t>
                </a:r>
                <a14:m>
                  <m:oMath xmlns:m="http://schemas.openxmlformats.org/officeDocument/2006/math">
                    <m:r>
                      <a:rPr lang="en-US" sz="1800" b="0" i="1" smtClean="0">
                        <a:solidFill>
                          <a:srgbClr val="00B0F0"/>
                        </a:solidFill>
                        <a:latin typeface="Cambria Math" panose="02040503050406030204" pitchFamily="18" charset="0"/>
                      </a:rPr>
                      <m:t>𝑁</m:t>
                    </m:r>
                  </m:oMath>
                </a14:m>
                <a:r>
                  <a:rPr lang="en-US" sz="1800" dirty="0"/>
                  <a:t> yield different </a:t>
                </a:r>
                <a14:m>
                  <m:oMath xmlns:m="http://schemas.openxmlformats.org/officeDocument/2006/math">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oMath>
                </a14:m>
                <a:endParaRPr lang="en-US" sz="1800" dirty="0"/>
              </a:p>
              <a:p>
                <a:pPr lvl="1"/>
                <a:r>
                  <a:rPr lang="en-US" sz="1800" dirty="0"/>
                  <a:t>The scatter of these </a:t>
                </a:r>
                <a14:m>
                  <m:oMath xmlns:m="http://schemas.openxmlformats.org/officeDocument/2006/math">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oMath>
                </a14:m>
                <a:r>
                  <a:rPr lang="en-US" sz="1800" dirty="0"/>
                  <a:t> is not random, but rather the “error” associated with using </a:t>
                </a:r>
                <a14:m>
                  <m:oMath xmlns:m="http://schemas.openxmlformats.org/officeDocument/2006/math">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oMath>
                </a14:m>
                <a:r>
                  <a:rPr lang="en-US" sz="1800" dirty="0"/>
                  <a:t> to estimate </a:t>
                </a:r>
                <a14:m>
                  <m:oMath xmlns:m="http://schemas.openxmlformats.org/officeDocument/2006/math">
                    <m:r>
                      <a:rPr lang="en-US" sz="1800" b="0" i="1" smtClean="0">
                        <a:solidFill>
                          <a:srgbClr val="FF0000"/>
                        </a:solidFill>
                        <a:latin typeface="Cambria Math" panose="02040503050406030204" pitchFamily="18" charset="0"/>
                      </a:rPr>
                      <m:t>𝜇</m:t>
                    </m:r>
                  </m:oMath>
                </a14:m>
                <a:endParaRPr lang="en-US" sz="1800" dirty="0"/>
              </a:p>
              <a:p>
                <a:pPr lvl="1"/>
                <a:r>
                  <a:rPr lang="en-US" sz="1800" dirty="0"/>
                  <a:t>The </a:t>
                </a:r>
                <a14:m>
                  <m:oMath xmlns:m="http://schemas.openxmlformats.org/officeDocument/2006/math">
                    <m:r>
                      <a:rPr lang="en-US" sz="1800" b="0" i="1" smtClean="0">
                        <a:solidFill>
                          <a:srgbClr val="EB971B"/>
                        </a:solidFill>
                        <a:latin typeface="Cambria Math" panose="02040503050406030204" pitchFamily="18" charset="0"/>
                      </a:rPr>
                      <m:t>𝑆𝑡𝑑</m:t>
                    </m:r>
                    <m:r>
                      <a:rPr lang="en-US" sz="1800" b="0" i="1" smtClean="0">
                        <a:solidFill>
                          <a:srgbClr val="EB971B"/>
                        </a:solidFill>
                        <a:latin typeface="Cambria Math" panose="02040503050406030204" pitchFamily="18" charset="0"/>
                      </a:rPr>
                      <m:t> </m:t>
                    </m:r>
                    <m:r>
                      <a:rPr lang="en-US" sz="1800" b="0" i="1" smtClean="0">
                        <a:solidFill>
                          <a:srgbClr val="EB971B"/>
                        </a:solidFill>
                        <a:latin typeface="Cambria Math" panose="02040503050406030204" pitchFamily="18" charset="0"/>
                      </a:rPr>
                      <m:t>𝐸𝑟𝑟</m:t>
                    </m:r>
                    <m:d>
                      <m:dPr>
                        <m:ctrlPr>
                          <a:rPr lang="en-US" sz="1800" b="0" i="1" smtClean="0">
                            <a:latin typeface="Cambria Math" panose="02040503050406030204" pitchFamily="18" charset="0"/>
                          </a:rPr>
                        </m:ctrlPr>
                      </m:dPr>
                      <m:e>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e>
                    </m:d>
                  </m:oMath>
                </a14:m>
                <a:r>
                  <a:rPr lang="en-US" sz="1800" dirty="0"/>
                  <a:t> of </a:t>
                </a:r>
                <a14:m>
                  <m:oMath xmlns:m="http://schemas.openxmlformats.org/officeDocument/2006/math">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oMath>
                </a14:m>
                <a:r>
                  <a:rPr lang="en-US" sz="1800" dirty="0"/>
                  <a:t> gives the typical size of that estimation error</a:t>
                </a:r>
              </a:p>
              <a:p>
                <a:pPr lvl="1"/>
                <a:endParaRPr lang="en-US" sz="1800" dirty="0"/>
              </a:p>
              <a:p>
                <a:r>
                  <a:rPr lang="en-US" sz="1800" dirty="0"/>
                  <a:t>Math</a:t>
                </a:r>
              </a:p>
              <a:p>
                <a:pPr marL="0" indent="0" algn="ctr">
                  <a:buNone/>
                </a:pPr>
                <a14:m>
                  <m:oMath xmlns:m="http://schemas.openxmlformats.org/officeDocument/2006/math">
                    <m:r>
                      <a:rPr lang="en-US" sz="1800" i="1" dirty="0">
                        <a:solidFill>
                          <a:schemeClr val="accent6"/>
                        </a:solidFill>
                        <a:latin typeface="Cambria Math" panose="02040503050406030204" pitchFamily="18" charset="0"/>
                      </a:rPr>
                      <m:t>𝑉𝑎𝑟</m:t>
                    </m:r>
                    <m:d>
                      <m:dPr>
                        <m:ctrlPr>
                          <a:rPr lang="en-US" sz="1800" i="1" dirty="0">
                            <a:solidFill>
                              <a:schemeClr val="accent6"/>
                            </a:solidFill>
                            <a:latin typeface="Cambria Math" panose="02040503050406030204" pitchFamily="18" charset="0"/>
                          </a:rPr>
                        </m:ctrlPr>
                      </m:dPr>
                      <m:e>
                        <m:acc>
                          <m:accPr>
                            <m:chr m:val="̅"/>
                            <m:ctrlPr>
                              <a:rPr lang="en-US" sz="1800" i="1" dirty="0">
                                <a:solidFill>
                                  <a:srgbClr val="00B0F0"/>
                                </a:solidFill>
                                <a:latin typeface="Cambria Math" panose="02040503050406030204" pitchFamily="18" charset="0"/>
                              </a:rPr>
                            </m:ctrlPr>
                          </m:accPr>
                          <m:e>
                            <m:r>
                              <m:rPr>
                                <m:sty m:val="p"/>
                              </m:rPr>
                              <a:rPr lang="en-US" sz="1800" dirty="0">
                                <a:solidFill>
                                  <a:srgbClr val="00B0F0"/>
                                </a:solidFill>
                                <a:latin typeface="Cambria Math" panose="02040503050406030204" pitchFamily="18" charset="0"/>
                              </a:rPr>
                              <m:t>x</m:t>
                            </m:r>
                          </m:e>
                        </m:acc>
                      </m:e>
                    </m:d>
                    <m:r>
                      <a:rPr lang="en-US" sz="1800" dirty="0">
                        <a:solidFill>
                          <a:schemeClr val="accent6"/>
                        </a:solidFill>
                        <a:latin typeface="Cambria Math" panose="02040503050406030204" pitchFamily="18" charset="0"/>
                      </a:rPr>
                      <m:t>=</m:t>
                    </m:r>
                  </m:oMath>
                </a14:m>
                <a:r>
                  <a:rPr lang="en-US" sz="1800" dirty="0">
                    <a:solidFill>
                      <a:schemeClr val="accent6"/>
                    </a:solidFill>
                  </a:rPr>
                  <a:t> </a:t>
                </a:r>
                <a14:m>
                  <m:oMath xmlns:m="http://schemas.openxmlformats.org/officeDocument/2006/math">
                    <m:r>
                      <a:rPr lang="en-US" sz="1800" i="1" dirty="0">
                        <a:solidFill>
                          <a:schemeClr val="accent6"/>
                        </a:solidFill>
                        <a:latin typeface="Cambria Math" panose="02040503050406030204" pitchFamily="18" charset="0"/>
                      </a:rPr>
                      <m:t>𝑉𝑎𝑟</m:t>
                    </m:r>
                    <m:d>
                      <m:dPr>
                        <m:ctrlPr>
                          <a:rPr lang="en-US" sz="1800" i="1" dirty="0">
                            <a:solidFill>
                              <a:schemeClr val="accent6"/>
                            </a:solidFill>
                            <a:latin typeface="Cambria Math" panose="02040503050406030204" pitchFamily="18" charset="0"/>
                          </a:rPr>
                        </m:ctrlPr>
                      </m:dPr>
                      <m:e>
                        <m:f>
                          <m:fPr>
                            <m:ctrlPr>
                              <a:rPr lang="en-US" sz="1800" i="1" dirty="0">
                                <a:solidFill>
                                  <a:schemeClr val="accent6"/>
                                </a:solidFill>
                                <a:latin typeface="Cambria Math" panose="02040503050406030204" pitchFamily="18" charset="0"/>
                              </a:rPr>
                            </m:ctrlPr>
                          </m:fPr>
                          <m:num>
                            <m:nary>
                              <m:naryPr>
                                <m:chr m:val="∑"/>
                                <m:limLoc m:val="subSup"/>
                                <m:supHide m:val="on"/>
                                <m:ctrlPr>
                                  <a:rPr lang="en-US" sz="1800" i="1" dirty="0">
                                    <a:solidFill>
                                      <a:schemeClr val="accent6"/>
                                    </a:solidFill>
                                    <a:latin typeface="Cambria Math" panose="02040503050406030204" pitchFamily="18" charset="0"/>
                                  </a:rPr>
                                </m:ctrlPr>
                              </m:naryPr>
                              <m:sub>
                                <m:r>
                                  <m:rPr>
                                    <m:brk m:alnAt="9"/>
                                  </m:rPr>
                                  <a:rPr lang="en-US" sz="1800" i="1" dirty="0">
                                    <a:solidFill>
                                      <a:schemeClr val="accent6"/>
                                    </a:solidFill>
                                    <a:latin typeface="Cambria Math" panose="02040503050406030204" pitchFamily="18" charset="0"/>
                                  </a:rPr>
                                  <m:t>𝑖</m:t>
                                </m:r>
                              </m:sub>
                              <m:sup/>
                              <m:e>
                                <m:sSub>
                                  <m:sSubPr>
                                    <m:ctrlPr>
                                      <a:rPr lang="en-US" sz="1800" i="1" dirty="0">
                                        <a:solidFill>
                                          <a:srgbClr val="00B0F0"/>
                                        </a:solidFill>
                                        <a:latin typeface="Cambria Math" panose="02040503050406030204" pitchFamily="18" charset="0"/>
                                      </a:rPr>
                                    </m:ctrlPr>
                                  </m:sSubPr>
                                  <m:e>
                                    <m:r>
                                      <a:rPr lang="en-US" sz="1800" i="1" dirty="0">
                                        <a:solidFill>
                                          <a:srgbClr val="00B0F0"/>
                                        </a:solidFill>
                                        <a:latin typeface="Cambria Math" panose="02040503050406030204" pitchFamily="18" charset="0"/>
                                      </a:rPr>
                                      <m:t>𝑥</m:t>
                                    </m:r>
                                  </m:e>
                                  <m:sub>
                                    <m:r>
                                      <a:rPr lang="en-US" sz="1800" i="1" dirty="0">
                                        <a:solidFill>
                                          <a:srgbClr val="00B0F0"/>
                                        </a:solidFill>
                                        <a:latin typeface="Cambria Math" panose="02040503050406030204" pitchFamily="18" charset="0"/>
                                      </a:rPr>
                                      <m:t>𝑖</m:t>
                                    </m:r>
                                  </m:sub>
                                </m:sSub>
                              </m:e>
                            </m:nary>
                          </m:num>
                          <m:den>
                            <m:r>
                              <a:rPr lang="en-US" sz="1800" b="0" i="1" dirty="0" smtClean="0">
                                <a:solidFill>
                                  <a:schemeClr val="accent6"/>
                                </a:solidFill>
                                <a:latin typeface="Cambria Math" panose="02040503050406030204" pitchFamily="18" charset="0"/>
                              </a:rPr>
                              <m:t>𝑁</m:t>
                            </m:r>
                          </m:den>
                        </m:f>
                      </m:e>
                    </m:d>
                    <m:r>
                      <a:rPr lang="en-US" sz="1800" i="1" dirty="0">
                        <a:solidFill>
                          <a:schemeClr val="accent6"/>
                        </a:solidFill>
                        <a:latin typeface="Cambria Math" panose="02040503050406030204" pitchFamily="18" charset="0"/>
                      </a:rPr>
                      <m:t>=</m:t>
                    </m:r>
                    <m:f>
                      <m:fPr>
                        <m:ctrlPr>
                          <a:rPr lang="en-US" sz="1800" i="1" dirty="0">
                            <a:solidFill>
                              <a:schemeClr val="accent6"/>
                            </a:solidFill>
                            <a:latin typeface="Cambria Math" panose="02040503050406030204" pitchFamily="18" charset="0"/>
                          </a:rPr>
                        </m:ctrlPr>
                      </m:fPr>
                      <m:num>
                        <m:r>
                          <a:rPr lang="en-US" sz="1800" i="1" dirty="0">
                            <a:solidFill>
                              <a:schemeClr val="accent6"/>
                            </a:solidFill>
                            <a:latin typeface="Cambria Math" panose="02040503050406030204" pitchFamily="18" charset="0"/>
                          </a:rPr>
                          <m:t>1</m:t>
                        </m:r>
                      </m:num>
                      <m:den>
                        <m:sSup>
                          <m:sSupPr>
                            <m:ctrlPr>
                              <a:rPr lang="en-US" sz="1800" i="1" dirty="0">
                                <a:solidFill>
                                  <a:schemeClr val="accent6"/>
                                </a:solidFill>
                                <a:latin typeface="Cambria Math" panose="02040503050406030204" pitchFamily="18" charset="0"/>
                              </a:rPr>
                            </m:ctrlPr>
                          </m:sSupPr>
                          <m:e>
                            <m:r>
                              <a:rPr lang="en-US" sz="1800" i="1" dirty="0">
                                <a:solidFill>
                                  <a:schemeClr val="accent6"/>
                                </a:solidFill>
                                <a:latin typeface="Cambria Math" panose="02040503050406030204" pitchFamily="18" charset="0"/>
                              </a:rPr>
                              <m:t>𝑁</m:t>
                            </m:r>
                          </m:e>
                          <m:sup>
                            <m:r>
                              <a:rPr lang="en-US" sz="1800" i="1" dirty="0">
                                <a:solidFill>
                                  <a:schemeClr val="accent6"/>
                                </a:solidFill>
                                <a:latin typeface="Cambria Math" panose="02040503050406030204" pitchFamily="18" charset="0"/>
                              </a:rPr>
                              <m:t>2</m:t>
                            </m:r>
                          </m:sup>
                        </m:sSup>
                      </m:den>
                    </m:f>
                    <m:r>
                      <a:rPr lang="en-US" sz="1800" i="1" dirty="0">
                        <a:solidFill>
                          <a:schemeClr val="accent6"/>
                        </a:solidFill>
                        <a:latin typeface="Cambria Math" panose="02040503050406030204" pitchFamily="18" charset="0"/>
                      </a:rPr>
                      <m:t>𝑉𝑎𝑟</m:t>
                    </m:r>
                  </m:oMath>
                </a14:m>
                <a:r>
                  <a:rPr lang="en-US" sz="1800" dirty="0">
                    <a:solidFill>
                      <a:schemeClr val="accent6"/>
                    </a:solidFill>
                  </a:rPr>
                  <a:t>(</a:t>
                </a:r>
                <a14:m>
                  <m:oMath xmlns:m="http://schemas.openxmlformats.org/officeDocument/2006/math">
                    <m:nary>
                      <m:naryPr>
                        <m:chr m:val="∑"/>
                        <m:limLoc m:val="subSup"/>
                        <m:supHide m:val="on"/>
                        <m:ctrlPr>
                          <a:rPr lang="en-US" sz="1800" i="1" dirty="0">
                            <a:solidFill>
                              <a:schemeClr val="accent6"/>
                            </a:solidFill>
                            <a:latin typeface="Cambria Math" panose="02040503050406030204" pitchFamily="18" charset="0"/>
                          </a:rPr>
                        </m:ctrlPr>
                      </m:naryPr>
                      <m:sub>
                        <m:r>
                          <m:rPr>
                            <m:brk m:alnAt="9"/>
                          </m:rPr>
                          <a:rPr lang="en-US" sz="1800" i="1" dirty="0">
                            <a:solidFill>
                              <a:schemeClr val="accent6"/>
                            </a:solidFill>
                            <a:latin typeface="Cambria Math" panose="02040503050406030204" pitchFamily="18" charset="0"/>
                          </a:rPr>
                          <m:t>𝑖</m:t>
                        </m:r>
                      </m:sub>
                      <m:sup/>
                      <m:e>
                        <m:sSub>
                          <m:sSubPr>
                            <m:ctrlPr>
                              <a:rPr lang="en-US" sz="1800" i="1" dirty="0">
                                <a:solidFill>
                                  <a:srgbClr val="00B0F0"/>
                                </a:solidFill>
                                <a:latin typeface="Cambria Math" panose="02040503050406030204" pitchFamily="18" charset="0"/>
                              </a:rPr>
                            </m:ctrlPr>
                          </m:sSubPr>
                          <m:e>
                            <m:r>
                              <a:rPr lang="en-US" sz="1800" i="1" dirty="0">
                                <a:solidFill>
                                  <a:srgbClr val="00B0F0"/>
                                </a:solidFill>
                                <a:latin typeface="Cambria Math" panose="02040503050406030204" pitchFamily="18" charset="0"/>
                              </a:rPr>
                              <m:t>𝑥</m:t>
                            </m:r>
                          </m:e>
                          <m:sub>
                            <m:r>
                              <a:rPr lang="en-US" sz="1800" i="1" dirty="0">
                                <a:solidFill>
                                  <a:srgbClr val="00B0F0"/>
                                </a:solidFill>
                                <a:latin typeface="Cambria Math" panose="02040503050406030204" pitchFamily="18" charset="0"/>
                              </a:rPr>
                              <m:t>𝑖</m:t>
                            </m:r>
                          </m:sub>
                        </m:sSub>
                      </m:e>
                    </m:nary>
                    <m:r>
                      <a:rPr lang="en-US" sz="1800" dirty="0">
                        <a:solidFill>
                          <a:schemeClr val="accent6"/>
                        </a:solidFill>
                        <a:latin typeface="Cambria Math" panose="02040503050406030204" pitchFamily="18" charset="0"/>
                      </a:rPr>
                      <m:t>)</m:t>
                    </m:r>
                    <m:r>
                      <a:rPr lang="en-US" sz="1800" b="0" i="0" dirty="0" smtClean="0">
                        <a:solidFill>
                          <a:schemeClr val="accent6"/>
                        </a:solidFill>
                        <a:latin typeface="Cambria Math" panose="02040503050406030204" pitchFamily="18" charset="0"/>
                      </a:rPr>
                      <m:t>=</m:t>
                    </m:r>
                    <m:f>
                      <m:fPr>
                        <m:ctrlPr>
                          <a:rPr lang="en-US" sz="1800" i="1" dirty="0">
                            <a:solidFill>
                              <a:schemeClr val="accent6"/>
                            </a:solidFill>
                            <a:latin typeface="Cambria Math" panose="02040503050406030204" pitchFamily="18" charset="0"/>
                          </a:rPr>
                        </m:ctrlPr>
                      </m:fPr>
                      <m:num>
                        <m:nary>
                          <m:naryPr>
                            <m:chr m:val="∑"/>
                            <m:limLoc m:val="subSup"/>
                            <m:supHide m:val="on"/>
                            <m:ctrlPr>
                              <a:rPr lang="en-US" sz="1800" i="1" dirty="0">
                                <a:solidFill>
                                  <a:schemeClr val="accent6"/>
                                </a:solidFill>
                                <a:latin typeface="Cambria Math" panose="02040503050406030204" pitchFamily="18" charset="0"/>
                              </a:rPr>
                            </m:ctrlPr>
                          </m:naryPr>
                          <m:sub>
                            <m:r>
                              <m:rPr>
                                <m:brk m:alnAt="9"/>
                              </m:rPr>
                              <a:rPr lang="en-US" sz="1800" i="1" dirty="0">
                                <a:solidFill>
                                  <a:schemeClr val="accent6"/>
                                </a:solidFill>
                                <a:latin typeface="Cambria Math" panose="02040503050406030204" pitchFamily="18" charset="0"/>
                              </a:rPr>
                              <m:t>𝑖</m:t>
                            </m:r>
                          </m:sub>
                          <m:sup/>
                          <m:e>
                            <m:sSup>
                              <m:sSupPr>
                                <m:ctrlPr>
                                  <a:rPr lang="en-US" sz="1800" i="1" dirty="0">
                                    <a:solidFill>
                                      <a:srgbClr val="FF0000"/>
                                    </a:solidFill>
                                    <a:latin typeface="Cambria Math" panose="02040503050406030204" pitchFamily="18" charset="0"/>
                                  </a:rPr>
                                </m:ctrlPr>
                              </m:sSupPr>
                              <m:e>
                                <m:r>
                                  <a:rPr lang="en-US" sz="1800" i="1" dirty="0">
                                    <a:solidFill>
                                      <a:srgbClr val="FF0000"/>
                                    </a:solidFill>
                                    <a:latin typeface="Cambria Math" panose="02040503050406030204" pitchFamily="18" charset="0"/>
                                  </a:rPr>
                                  <m:t>𝜎</m:t>
                                </m:r>
                              </m:e>
                              <m:sup>
                                <m:r>
                                  <a:rPr lang="en-US" sz="1800" i="1" dirty="0">
                                    <a:solidFill>
                                      <a:srgbClr val="FF0000"/>
                                    </a:solidFill>
                                    <a:latin typeface="Cambria Math" panose="02040503050406030204" pitchFamily="18" charset="0"/>
                                  </a:rPr>
                                  <m:t>2</m:t>
                                </m:r>
                              </m:sup>
                            </m:sSup>
                          </m:e>
                        </m:nary>
                      </m:num>
                      <m:den>
                        <m:sSup>
                          <m:sSupPr>
                            <m:ctrlPr>
                              <a:rPr lang="en-US" sz="1800" i="1" dirty="0">
                                <a:solidFill>
                                  <a:schemeClr val="accent6"/>
                                </a:solidFill>
                                <a:latin typeface="Cambria Math" panose="02040503050406030204" pitchFamily="18" charset="0"/>
                              </a:rPr>
                            </m:ctrlPr>
                          </m:sSupPr>
                          <m:e>
                            <m:r>
                              <a:rPr lang="en-US" sz="1800" i="1" dirty="0">
                                <a:solidFill>
                                  <a:schemeClr val="accent6"/>
                                </a:solidFill>
                                <a:latin typeface="Cambria Math" panose="02040503050406030204" pitchFamily="18" charset="0"/>
                              </a:rPr>
                              <m:t>𝑁</m:t>
                            </m:r>
                          </m:e>
                          <m:sup>
                            <m:r>
                              <a:rPr lang="en-US" sz="1800" i="1" dirty="0">
                                <a:solidFill>
                                  <a:schemeClr val="accent6"/>
                                </a:solidFill>
                                <a:latin typeface="Cambria Math" panose="02040503050406030204" pitchFamily="18" charset="0"/>
                              </a:rPr>
                              <m:t>2</m:t>
                            </m:r>
                          </m:sup>
                        </m:sSup>
                      </m:den>
                    </m:f>
                    <m:r>
                      <a:rPr lang="en-US" sz="1800" dirty="0">
                        <a:solidFill>
                          <a:schemeClr val="accent6"/>
                        </a:solidFill>
                        <a:latin typeface="Cambria Math" panose="02040503050406030204" pitchFamily="18" charset="0"/>
                      </a:rPr>
                      <m:t>=</m:t>
                    </m:r>
                    <m:f>
                      <m:fPr>
                        <m:ctrlPr>
                          <a:rPr lang="en-US" sz="1800" i="1" dirty="0">
                            <a:solidFill>
                              <a:schemeClr val="accent6"/>
                            </a:solidFill>
                            <a:latin typeface="Cambria Math" panose="02040503050406030204" pitchFamily="18" charset="0"/>
                          </a:rPr>
                        </m:ctrlPr>
                      </m:fPr>
                      <m:num>
                        <m:r>
                          <a:rPr lang="en-US" sz="1800" i="1" dirty="0">
                            <a:solidFill>
                              <a:schemeClr val="accent6"/>
                            </a:solidFill>
                            <a:latin typeface="Cambria Math" panose="02040503050406030204" pitchFamily="18" charset="0"/>
                          </a:rPr>
                          <m:t>𝑛</m:t>
                        </m:r>
                        <m:sSup>
                          <m:sSupPr>
                            <m:ctrlPr>
                              <a:rPr lang="en-US" sz="1800" i="1" dirty="0">
                                <a:solidFill>
                                  <a:srgbClr val="FF0000"/>
                                </a:solidFill>
                                <a:latin typeface="Cambria Math" panose="02040503050406030204" pitchFamily="18" charset="0"/>
                              </a:rPr>
                            </m:ctrlPr>
                          </m:sSupPr>
                          <m:e>
                            <m:r>
                              <a:rPr lang="en-US" sz="1800" i="1" dirty="0">
                                <a:solidFill>
                                  <a:srgbClr val="FF0000"/>
                                </a:solidFill>
                                <a:latin typeface="Cambria Math" panose="02040503050406030204" pitchFamily="18" charset="0"/>
                              </a:rPr>
                              <m:t>𝜎</m:t>
                            </m:r>
                          </m:e>
                          <m:sup>
                            <m:r>
                              <a:rPr lang="en-US" sz="1800" i="1" dirty="0">
                                <a:solidFill>
                                  <a:srgbClr val="FF0000"/>
                                </a:solidFill>
                                <a:latin typeface="Cambria Math" panose="02040503050406030204" pitchFamily="18" charset="0"/>
                              </a:rPr>
                              <m:t>2</m:t>
                            </m:r>
                          </m:sup>
                        </m:sSup>
                      </m:num>
                      <m:den>
                        <m:sSup>
                          <m:sSupPr>
                            <m:ctrlPr>
                              <a:rPr lang="en-US" sz="1800" i="1" dirty="0">
                                <a:solidFill>
                                  <a:schemeClr val="accent6"/>
                                </a:solidFill>
                                <a:latin typeface="Cambria Math" panose="02040503050406030204" pitchFamily="18" charset="0"/>
                              </a:rPr>
                            </m:ctrlPr>
                          </m:sSupPr>
                          <m:e>
                            <m:r>
                              <a:rPr lang="en-US" sz="1800" i="1" dirty="0">
                                <a:solidFill>
                                  <a:schemeClr val="accent6"/>
                                </a:solidFill>
                                <a:latin typeface="Cambria Math" panose="02040503050406030204" pitchFamily="18" charset="0"/>
                              </a:rPr>
                              <m:t>𝑁</m:t>
                            </m:r>
                          </m:e>
                          <m:sup>
                            <m:r>
                              <a:rPr lang="en-US" sz="1800" i="1" dirty="0">
                                <a:solidFill>
                                  <a:schemeClr val="accent6"/>
                                </a:solidFill>
                                <a:latin typeface="Cambria Math" panose="02040503050406030204" pitchFamily="18" charset="0"/>
                              </a:rPr>
                              <m:t>2</m:t>
                            </m:r>
                          </m:sup>
                        </m:sSup>
                      </m:den>
                    </m:f>
                    <m:r>
                      <a:rPr lang="en-US" sz="1800" i="1" dirty="0">
                        <a:solidFill>
                          <a:schemeClr val="accent6"/>
                        </a:solidFill>
                        <a:latin typeface="Cambria Math" panose="02040503050406030204" pitchFamily="18" charset="0"/>
                      </a:rPr>
                      <m:t>=</m:t>
                    </m:r>
                  </m:oMath>
                </a14:m>
                <a:r>
                  <a:rPr lang="en-US" sz="1800" dirty="0">
                    <a:solidFill>
                      <a:schemeClr val="accent6"/>
                    </a:solidFill>
                  </a:rPr>
                  <a:t> </a:t>
                </a:r>
                <a14:m>
                  <m:oMath xmlns:m="http://schemas.openxmlformats.org/officeDocument/2006/math">
                    <m:f>
                      <m:fPr>
                        <m:ctrlPr>
                          <a:rPr lang="en-US" sz="1800" i="1" dirty="0">
                            <a:solidFill>
                              <a:schemeClr val="accent6"/>
                            </a:solidFill>
                            <a:latin typeface="Cambria Math" panose="02040503050406030204" pitchFamily="18" charset="0"/>
                          </a:rPr>
                        </m:ctrlPr>
                      </m:fPr>
                      <m:num>
                        <m:sSup>
                          <m:sSupPr>
                            <m:ctrlPr>
                              <a:rPr lang="en-US" sz="1800" i="1" dirty="0">
                                <a:solidFill>
                                  <a:srgbClr val="FF0000"/>
                                </a:solidFill>
                                <a:latin typeface="Cambria Math" panose="02040503050406030204" pitchFamily="18" charset="0"/>
                              </a:rPr>
                            </m:ctrlPr>
                          </m:sSupPr>
                          <m:e>
                            <m:r>
                              <a:rPr lang="en-US" sz="1800" i="1" dirty="0">
                                <a:solidFill>
                                  <a:srgbClr val="FF0000"/>
                                </a:solidFill>
                                <a:latin typeface="Cambria Math" panose="02040503050406030204" pitchFamily="18" charset="0"/>
                              </a:rPr>
                              <m:t>𝜎</m:t>
                            </m:r>
                          </m:e>
                          <m:sup>
                            <m:r>
                              <a:rPr lang="en-US" sz="1800" i="1" dirty="0">
                                <a:solidFill>
                                  <a:srgbClr val="FF0000"/>
                                </a:solidFill>
                                <a:latin typeface="Cambria Math" panose="02040503050406030204" pitchFamily="18" charset="0"/>
                              </a:rPr>
                              <m:t>2</m:t>
                            </m:r>
                          </m:sup>
                        </m:sSup>
                      </m:num>
                      <m:den>
                        <m:r>
                          <a:rPr lang="en-US" sz="1800" i="1" dirty="0">
                            <a:solidFill>
                              <a:schemeClr val="accent6"/>
                            </a:solidFill>
                            <a:latin typeface="Cambria Math" panose="02040503050406030204" pitchFamily="18" charset="0"/>
                          </a:rPr>
                          <m:t>𝑁</m:t>
                        </m:r>
                      </m:den>
                    </m:f>
                  </m:oMath>
                </a14:m>
                <a:r>
                  <a:rPr lang="en-US" sz="1800" dirty="0">
                    <a:solidFill>
                      <a:schemeClr val="accent6"/>
                    </a:solidFill>
                  </a:rPr>
                  <a:t> </a:t>
                </a:r>
              </a:p>
              <a:p>
                <a:pPr marL="0" indent="0" algn="ctr">
                  <a:buNone/>
                </a:pPr>
                <a14:m>
                  <m:oMath xmlns:m="http://schemas.openxmlformats.org/officeDocument/2006/math">
                    <m:r>
                      <a:rPr lang="en-US" sz="1800" i="1" dirty="0">
                        <a:solidFill>
                          <a:srgbClr val="EB971B"/>
                        </a:solidFill>
                        <a:latin typeface="Cambria Math" panose="02040503050406030204" pitchFamily="18" charset="0"/>
                      </a:rPr>
                      <m:t>𝑆𝑡𝑑</m:t>
                    </m:r>
                    <m:r>
                      <a:rPr lang="en-US" sz="1800" i="1" dirty="0">
                        <a:solidFill>
                          <a:srgbClr val="EB971B"/>
                        </a:solidFill>
                        <a:latin typeface="Cambria Math" panose="02040503050406030204" pitchFamily="18" charset="0"/>
                      </a:rPr>
                      <m:t> </m:t>
                    </m:r>
                    <m:r>
                      <a:rPr lang="en-US" sz="1800" i="1" dirty="0">
                        <a:solidFill>
                          <a:srgbClr val="EB971B"/>
                        </a:solidFill>
                        <a:latin typeface="Cambria Math" panose="02040503050406030204" pitchFamily="18" charset="0"/>
                      </a:rPr>
                      <m:t>𝐸𝑟𝑟</m:t>
                    </m:r>
                    <m:d>
                      <m:dPr>
                        <m:ctrlPr>
                          <a:rPr lang="en-US" sz="1800" i="1" dirty="0">
                            <a:solidFill>
                              <a:srgbClr val="EB971B"/>
                            </a:solidFill>
                            <a:latin typeface="Cambria Math" panose="02040503050406030204" pitchFamily="18" charset="0"/>
                          </a:rPr>
                        </m:ctrlPr>
                      </m:dPr>
                      <m:e>
                        <m:acc>
                          <m:accPr>
                            <m:chr m:val="̅"/>
                            <m:ctrlPr>
                              <a:rPr lang="en-US" sz="1800" i="1" dirty="0">
                                <a:solidFill>
                                  <a:srgbClr val="00B0F0"/>
                                </a:solidFill>
                                <a:latin typeface="Cambria Math" panose="02040503050406030204" pitchFamily="18" charset="0"/>
                              </a:rPr>
                            </m:ctrlPr>
                          </m:accPr>
                          <m:e>
                            <m:r>
                              <m:rPr>
                                <m:sty m:val="p"/>
                              </m:rPr>
                              <a:rPr lang="en-US" sz="1800" dirty="0">
                                <a:solidFill>
                                  <a:srgbClr val="00B0F0"/>
                                </a:solidFill>
                                <a:latin typeface="Cambria Math" panose="02040503050406030204" pitchFamily="18" charset="0"/>
                              </a:rPr>
                              <m:t>x</m:t>
                            </m:r>
                          </m:e>
                        </m:acc>
                      </m:e>
                    </m:d>
                    <m:r>
                      <a:rPr lang="en-US" sz="1800" dirty="0">
                        <a:solidFill>
                          <a:srgbClr val="00B0F0"/>
                        </a:solidFill>
                        <a:latin typeface="Cambria Math" panose="02040503050406030204" pitchFamily="18" charset="0"/>
                      </a:rPr>
                      <m:t>=</m:t>
                    </m:r>
                    <m:rad>
                      <m:radPr>
                        <m:degHide m:val="on"/>
                        <m:ctrlPr>
                          <a:rPr lang="en-US" sz="1800" i="1">
                            <a:solidFill>
                              <a:schemeClr val="accent6"/>
                            </a:solidFill>
                            <a:latin typeface="Cambria Math" panose="02040503050406030204" pitchFamily="18" charset="0"/>
                          </a:rPr>
                        </m:ctrlPr>
                      </m:radPr>
                      <m:deg/>
                      <m:e>
                        <m:r>
                          <a:rPr lang="en-US" sz="1800" i="1" dirty="0">
                            <a:solidFill>
                              <a:schemeClr val="accent6"/>
                            </a:solidFill>
                            <a:latin typeface="Cambria Math" panose="02040503050406030204" pitchFamily="18" charset="0"/>
                          </a:rPr>
                          <m:t>𝑉𝑎𝑟</m:t>
                        </m:r>
                        <m:d>
                          <m:dPr>
                            <m:ctrlPr>
                              <a:rPr lang="en-US" sz="1800" i="1" dirty="0">
                                <a:solidFill>
                                  <a:schemeClr val="accent6"/>
                                </a:solidFill>
                                <a:latin typeface="Cambria Math" panose="02040503050406030204" pitchFamily="18" charset="0"/>
                              </a:rPr>
                            </m:ctrlPr>
                          </m:dPr>
                          <m:e>
                            <m:acc>
                              <m:accPr>
                                <m:chr m:val="̅"/>
                                <m:ctrlPr>
                                  <a:rPr lang="en-US" sz="1800" i="1" dirty="0">
                                    <a:solidFill>
                                      <a:srgbClr val="00B0F0"/>
                                    </a:solidFill>
                                    <a:latin typeface="Cambria Math" panose="02040503050406030204" pitchFamily="18" charset="0"/>
                                  </a:rPr>
                                </m:ctrlPr>
                              </m:accPr>
                              <m:e>
                                <m:r>
                                  <m:rPr>
                                    <m:sty m:val="p"/>
                                  </m:rPr>
                                  <a:rPr lang="en-US" sz="1800" dirty="0">
                                    <a:solidFill>
                                      <a:srgbClr val="00B0F0"/>
                                    </a:solidFill>
                                    <a:latin typeface="Cambria Math" panose="02040503050406030204" pitchFamily="18" charset="0"/>
                                  </a:rPr>
                                  <m:t>x</m:t>
                                </m:r>
                              </m:e>
                            </m:acc>
                          </m:e>
                        </m:d>
                      </m:e>
                    </m:rad>
                    <m:r>
                      <a:rPr lang="en-US" sz="1800">
                        <a:solidFill>
                          <a:schemeClr val="accent6"/>
                        </a:solidFill>
                        <a:latin typeface="Cambria Math" panose="02040503050406030204" pitchFamily="18" charset="0"/>
                      </a:rPr>
                      <m:t>=</m:t>
                    </m:r>
                    <m:r>
                      <m:rPr>
                        <m:nor/>
                      </m:rPr>
                      <a:rPr lang="en-US" sz="1800" i="0" dirty="0">
                        <a:solidFill>
                          <a:schemeClr val="accent6"/>
                        </a:solidFill>
                        <a:latin typeface="Cambria Math" panose="02040503050406030204" pitchFamily="18" charset="0"/>
                      </a:rPr>
                      <m:t>=</m:t>
                    </m:r>
                    <m:rad>
                      <m:radPr>
                        <m:degHide m:val="on"/>
                        <m:ctrlPr>
                          <a:rPr lang="en-US" sz="1800" i="1" dirty="0">
                            <a:solidFill>
                              <a:schemeClr val="accent6"/>
                            </a:solidFill>
                            <a:latin typeface="Cambria Math" panose="02040503050406030204" pitchFamily="18" charset="0"/>
                          </a:rPr>
                        </m:ctrlPr>
                      </m:radPr>
                      <m:deg/>
                      <m:e>
                        <m:f>
                          <m:fPr>
                            <m:ctrlPr>
                              <a:rPr lang="en-US" sz="1800" i="1" dirty="0">
                                <a:solidFill>
                                  <a:schemeClr val="accent6"/>
                                </a:solidFill>
                                <a:latin typeface="Cambria Math" panose="02040503050406030204" pitchFamily="18" charset="0"/>
                              </a:rPr>
                            </m:ctrlPr>
                          </m:fPr>
                          <m:num>
                            <m:sSup>
                              <m:sSupPr>
                                <m:ctrlPr>
                                  <a:rPr lang="en-US" sz="1800" i="1" dirty="0">
                                    <a:solidFill>
                                      <a:schemeClr val="accent6"/>
                                    </a:solidFill>
                                    <a:latin typeface="Cambria Math" panose="02040503050406030204" pitchFamily="18" charset="0"/>
                                  </a:rPr>
                                </m:ctrlPr>
                              </m:sSupPr>
                              <m:e>
                                <m:r>
                                  <a:rPr lang="en-US" sz="1800" i="1" dirty="0">
                                    <a:solidFill>
                                      <a:srgbClr val="FF0000"/>
                                    </a:solidFill>
                                    <a:latin typeface="Cambria Math" panose="02040503050406030204" pitchFamily="18" charset="0"/>
                                  </a:rPr>
                                  <m:t>𝜎</m:t>
                                </m:r>
                              </m:e>
                              <m:sup>
                                <m:r>
                                  <a:rPr lang="en-US" sz="1800" i="1" dirty="0" smtClean="0">
                                    <a:solidFill>
                                      <a:srgbClr val="FF0000"/>
                                    </a:solidFill>
                                    <a:latin typeface="Cambria Math" panose="02040503050406030204" pitchFamily="18" charset="0"/>
                                  </a:rPr>
                                  <m:t>2</m:t>
                                </m:r>
                              </m:sup>
                            </m:sSup>
                          </m:num>
                          <m:den>
                            <m:r>
                              <a:rPr lang="en-US" sz="1800" i="1" dirty="0">
                                <a:solidFill>
                                  <a:schemeClr val="accent6"/>
                                </a:solidFill>
                                <a:latin typeface="Cambria Math" panose="02040503050406030204" pitchFamily="18" charset="0"/>
                              </a:rPr>
                              <m:t>𝑁</m:t>
                            </m:r>
                          </m:den>
                        </m:f>
                      </m:e>
                    </m:rad>
                    <m:r>
                      <a:rPr lang="en-US" sz="1800" i="1" dirty="0">
                        <a:solidFill>
                          <a:schemeClr val="accent6"/>
                        </a:solidFill>
                        <a:latin typeface="Cambria Math" panose="02040503050406030204" pitchFamily="18" charset="0"/>
                      </a:rPr>
                      <m:t>=</m:t>
                    </m:r>
                    <m:f>
                      <m:fPr>
                        <m:ctrlPr>
                          <a:rPr lang="en-US" sz="1800" i="1">
                            <a:solidFill>
                              <a:schemeClr val="accent6"/>
                            </a:solidFill>
                            <a:latin typeface="Cambria Math" panose="02040503050406030204" pitchFamily="18" charset="0"/>
                          </a:rPr>
                        </m:ctrlPr>
                      </m:fPr>
                      <m:num>
                        <m:r>
                          <a:rPr lang="en-US" sz="1800" i="1">
                            <a:solidFill>
                              <a:srgbClr val="FF0000"/>
                            </a:solidFill>
                            <a:latin typeface="Cambria Math" panose="02040503050406030204" pitchFamily="18" charset="0"/>
                          </a:rPr>
                          <m:t>𝜎</m:t>
                        </m:r>
                      </m:num>
                      <m:den>
                        <m:rad>
                          <m:radPr>
                            <m:degHide m:val="on"/>
                            <m:ctrlPr>
                              <a:rPr lang="en-US" sz="1800" i="1">
                                <a:solidFill>
                                  <a:schemeClr val="accent6"/>
                                </a:solidFill>
                                <a:latin typeface="Cambria Math" panose="02040503050406030204" pitchFamily="18" charset="0"/>
                              </a:rPr>
                            </m:ctrlPr>
                          </m:radPr>
                          <m:deg/>
                          <m:e>
                            <m:r>
                              <a:rPr lang="en-US" sz="1800" i="1">
                                <a:solidFill>
                                  <a:schemeClr val="accent6"/>
                                </a:solidFill>
                                <a:latin typeface="Cambria Math" panose="02040503050406030204" pitchFamily="18" charset="0"/>
                              </a:rPr>
                              <m:t>𝑁</m:t>
                            </m:r>
                          </m:e>
                        </m:rad>
                      </m:den>
                    </m:f>
                  </m:oMath>
                </a14:m>
                <a:r>
                  <a:rPr lang="en-US" sz="1600" dirty="0">
                    <a:solidFill>
                      <a:schemeClr val="accent6"/>
                    </a:solidFill>
                  </a:rPr>
                  <a:t> </a:t>
                </a:r>
                <a:endParaRPr lang="en-US" sz="1800" dirty="0">
                  <a:solidFill>
                    <a:schemeClr val="accent6"/>
                  </a:solidFill>
                </a:endParaRPr>
              </a:p>
              <a:p>
                <a:endParaRPr lang="en-US" sz="1800" dirty="0"/>
              </a:p>
            </p:txBody>
          </p:sp>
        </mc:Choice>
        <mc:Fallback xmlns="">
          <p:sp>
            <p:nvSpPr>
              <p:cNvPr id="3" name="Content Placeholder 2">
                <a:extLst>
                  <a:ext uri="{FF2B5EF4-FFF2-40B4-BE49-F238E27FC236}">
                    <a16:creationId xmlns:a16="http://schemas.microsoft.com/office/drawing/2014/main" id="{F4A3BD44-6212-BDE8-CDE1-462B92788BDF}"/>
                  </a:ext>
                </a:extLst>
              </p:cNvPr>
              <p:cNvSpPr>
                <a:spLocks noGrp="1" noRot="1" noChangeAspect="1" noMove="1" noResize="1" noEditPoints="1" noAdjustHandles="1" noChangeArrowheads="1" noChangeShapeType="1" noTextEdit="1"/>
              </p:cNvSpPr>
              <p:nvPr>
                <p:ph idx="1"/>
              </p:nvPr>
            </p:nvSpPr>
            <p:spPr>
              <a:blipFill>
                <a:blip r:embed="rId2"/>
                <a:stretch>
                  <a:fillRect l="-434" t="-634"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CD79833-2377-4964-8F47-28EF6A21A0A1}"/>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37</a:t>
            </a:fld>
            <a:endParaRPr lang="en-GB" dirty="0"/>
          </a:p>
        </p:txBody>
      </p:sp>
      <p:sp>
        <p:nvSpPr>
          <p:cNvPr id="5" name="TextBox 4">
            <a:extLst>
              <a:ext uri="{FF2B5EF4-FFF2-40B4-BE49-F238E27FC236}">
                <a16:creationId xmlns:a16="http://schemas.microsoft.com/office/drawing/2014/main" id="{1611ABAC-96BA-2DF1-2DB5-89B14E9A1B20}"/>
              </a:ext>
            </a:extLst>
          </p:cNvPr>
          <p:cNvSpPr txBox="1"/>
          <p:nvPr/>
        </p:nvSpPr>
        <p:spPr>
          <a:xfrm>
            <a:off x="4479760" y="4658094"/>
            <a:ext cx="743279" cy="338554"/>
          </a:xfrm>
          <a:prstGeom prst="rect">
            <a:avLst/>
          </a:prstGeom>
          <a:noFill/>
        </p:spPr>
        <p:txBody>
          <a:bodyPr wrap="square" rtlCol="0">
            <a:spAutoFit/>
          </a:bodyPr>
          <a:lstStyle/>
          <a:p>
            <a:pPr algn="ctr"/>
            <a:r>
              <a:rPr lang="en-US" sz="800" b="0" u="none" dirty="0">
                <a:solidFill>
                  <a:schemeClr val="bg1">
                    <a:lumMod val="50000"/>
                  </a:schemeClr>
                </a:solidFill>
                <a:latin typeface="Arial" pitchFamily="34" charset="0"/>
                <a:cs typeface="Arial" pitchFamily="34" charset="0"/>
              </a:rPr>
              <a:t>apply rules of variance</a:t>
            </a:r>
          </a:p>
        </p:txBody>
      </p:sp>
      <p:sp>
        <p:nvSpPr>
          <p:cNvPr id="6" name="TextBox 5">
            <a:extLst>
              <a:ext uri="{FF2B5EF4-FFF2-40B4-BE49-F238E27FC236}">
                <a16:creationId xmlns:a16="http://schemas.microsoft.com/office/drawing/2014/main" id="{7DEEB7F0-093A-6C26-0A82-47FAB450574C}"/>
              </a:ext>
            </a:extLst>
          </p:cNvPr>
          <p:cNvSpPr txBox="1"/>
          <p:nvPr/>
        </p:nvSpPr>
        <p:spPr>
          <a:xfrm>
            <a:off x="2993664" y="4658094"/>
            <a:ext cx="1006863" cy="338554"/>
          </a:xfrm>
          <a:prstGeom prst="rect">
            <a:avLst/>
          </a:prstGeom>
          <a:noFill/>
        </p:spPr>
        <p:txBody>
          <a:bodyPr wrap="square" rtlCol="0">
            <a:spAutoFit/>
          </a:bodyPr>
          <a:lstStyle/>
          <a:p>
            <a:pPr algn="ctr"/>
            <a:r>
              <a:rPr lang="en-US" sz="800" b="0" u="none" dirty="0">
                <a:solidFill>
                  <a:schemeClr val="bg1">
                    <a:lumMod val="50000"/>
                  </a:schemeClr>
                </a:solidFill>
                <a:latin typeface="Arial" pitchFamily="34" charset="0"/>
                <a:cs typeface="Arial" pitchFamily="34" charset="0"/>
              </a:rPr>
              <a:t>Sub in definition of mean</a:t>
            </a:r>
          </a:p>
        </p:txBody>
      </p:sp>
      <p:sp>
        <p:nvSpPr>
          <p:cNvPr id="7" name="Freeform: Shape 6">
            <a:extLst>
              <a:ext uri="{FF2B5EF4-FFF2-40B4-BE49-F238E27FC236}">
                <a16:creationId xmlns:a16="http://schemas.microsoft.com/office/drawing/2014/main" id="{DF4AEB8E-1E57-3CD9-B943-A449E7D2C4EC}"/>
              </a:ext>
            </a:extLst>
          </p:cNvPr>
          <p:cNvSpPr/>
          <p:nvPr/>
        </p:nvSpPr>
        <p:spPr bwMode="auto">
          <a:xfrm>
            <a:off x="5251450" y="4380677"/>
            <a:ext cx="1264601" cy="737423"/>
          </a:xfrm>
          <a:custGeom>
            <a:avLst/>
            <a:gdLst>
              <a:gd name="csX0" fmla="*/ 0 w 1264601"/>
              <a:gd name="csY0" fmla="*/ 737423 h 737423"/>
              <a:gd name="csX1" fmla="*/ 679450 w 1264601"/>
              <a:gd name="csY1" fmla="*/ 19873 h 737423"/>
              <a:gd name="csX2" fmla="*/ 1257300 w 1264601"/>
              <a:gd name="csY2" fmla="*/ 235773 h 737423"/>
              <a:gd name="csX3" fmla="*/ 952500 w 1264601"/>
              <a:gd name="csY3" fmla="*/ 610423 h 737423"/>
            </a:gdLst>
            <a:ahLst/>
            <a:cxnLst>
              <a:cxn ang="0">
                <a:pos x="csX0" y="csY0"/>
              </a:cxn>
              <a:cxn ang="0">
                <a:pos x="csX1" y="csY1"/>
              </a:cxn>
              <a:cxn ang="0">
                <a:pos x="csX2" y="csY2"/>
              </a:cxn>
              <a:cxn ang="0">
                <a:pos x="csX3" y="csY3"/>
              </a:cxn>
            </a:cxnLst>
            <a:rect l="l" t="t" r="r" b="b"/>
            <a:pathLst>
              <a:path w="1264601" h="737423">
                <a:moveTo>
                  <a:pt x="0" y="737423"/>
                </a:moveTo>
                <a:cubicBezTo>
                  <a:pt x="234950" y="420452"/>
                  <a:pt x="469900" y="103481"/>
                  <a:pt x="679450" y="19873"/>
                </a:cubicBezTo>
                <a:cubicBezTo>
                  <a:pt x="889000" y="-63735"/>
                  <a:pt x="1211792" y="137348"/>
                  <a:pt x="1257300" y="235773"/>
                </a:cubicBezTo>
                <a:cubicBezTo>
                  <a:pt x="1302808" y="334198"/>
                  <a:pt x="1127654" y="472310"/>
                  <a:pt x="952500" y="610423"/>
                </a:cubicBezTo>
              </a:path>
            </a:pathLst>
          </a:custGeom>
          <a:noFill/>
          <a:ln w="9525" cap="flat" cmpd="sng" algn="ctr">
            <a:solidFill>
              <a:srgbClr val="FF0000"/>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3BE511C-F2AF-8CC2-4F69-D678F2036CE1}"/>
                  </a:ext>
                </a:extLst>
              </p:cNvPr>
              <p:cNvSpPr txBox="1"/>
              <p:nvPr/>
            </p:nvSpPr>
            <p:spPr>
              <a:xfrm>
                <a:off x="6429210" y="4410834"/>
                <a:ext cx="1393990" cy="461665"/>
              </a:xfrm>
              <a:prstGeom prst="rect">
                <a:avLst/>
              </a:prstGeom>
              <a:noFill/>
            </p:spPr>
            <p:txBody>
              <a:bodyPr wrap="square" rtlCol="0">
                <a:spAutoFit/>
              </a:bodyPr>
              <a:lstStyle/>
              <a:p>
                <a:pPr algn="ctr"/>
                <a:r>
                  <a:rPr lang="en-US" sz="800" b="0" u="none" dirty="0">
                    <a:solidFill>
                      <a:schemeClr val="bg1">
                        <a:lumMod val="50000"/>
                      </a:schemeClr>
                    </a:solidFill>
                    <a:cs typeface="Arial" pitchFamily="34" charset="0"/>
                  </a:rPr>
                  <a:t>By definition, the variance of the population observations</a:t>
                </a:r>
                <a:r>
                  <a:rPr lang="en-US" sz="800" u="none" dirty="0">
                    <a:solidFill>
                      <a:srgbClr val="00B0F0"/>
                    </a:solidFill>
                  </a:rPr>
                  <a:t> </a:t>
                </a:r>
                <a14:m>
                  <m:oMath xmlns:m="http://schemas.openxmlformats.org/officeDocument/2006/math">
                    <m:sSub>
                      <m:sSubPr>
                        <m:ctrlPr>
                          <a:rPr lang="en-US" sz="800" i="1" u="none" dirty="0">
                            <a:solidFill>
                              <a:srgbClr val="00B0F0"/>
                            </a:solidFill>
                            <a:latin typeface="Cambria Math" panose="02040503050406030204" pitchFamily="18" charset="0"/>
                          </a:rPr>
                        </m:ctrlPr>
                      </m:sSubPr>
                      <m:e>
                        <m:r>
                          <a:rPr lang="en-US" sz="800" i="1" u="none" dirty="0">
                            <a:solidFill>
                              <a:srgbClr val="00B0F0"/>
                            </a:solidFill>
                            <a:latin typeface="Cambria Math" panose="02040503050406030204" pitchFamily="18" charset="0"/>
                          </a:rPr>
                          <m:t>𝑥</m:t>
                        </m:r>
                      </m:e>
                      <m:sub>
                        <m:r>
                          <a:rPr lang="en-US" sz="800" i="1" u="none" dirty="0">
                            <a:solidFill>
                              <a:srgbClr val="00B0F0"/>
                            </a:solidFill>
                            <a:latin typeface="Cambria Math" panose="02040503050406030204" pitchFamily="18" charset="0"/>
                          </a:rPr>
                          <m:t>𝑖</m:t>
                        </m:r>
                      </m:sub>
                    </m:sSub>
                    <m:r>
                      <a:rPr lang="en-US" sz="800" b="1" i="1" u="none" dirty="0" smtClean="0">
                        <a:solidFill>
                          <a:srgbClr val="00B0F0"/>
                        </a:solidFill>
                        <a:latin typeface="Cambria Math" panose="02040503050406030204" pitchFamily="18" charset="0"/>
                      </a:rPr>
                      <m:t> </m:t>
                    </m:r>
                  </m:oMath>
                </a14:m>
                <a:r>
                  <a:rPr lang="en-US" sz="800" b="0" u="none" dirty="0">
                    <a:solidFill>
                      <a:schemeClr val="bg1">
                        <a:lumMod val="50000"/>
                      </a:schemeClr>
                    </a:solidFill>
                    <a:cs typeface="Arial" pitchFamily="34" charset="0"/>
                  </a:rPr>
                  <a:t> is </a:t>
                </a:r>
                <a14:m>
                  <m:oMath xmlns:m="http://schemas.openxmlformats.org/officeDocument/2006/math">
                    <m:sSup>
                      <m:sSupPr>
                        <m:ctrlPr>
                          <a:rPr lang="en-US" sz="800" i="1" u="none" dirty="0">
                            <a:solidFill>
                              <a:srgbClr val="FF0000"/>
                            </a:solidFill>
                            <a:latin typeface="Cambria Math" panose="02040503050406030204" pitchFamily="18" charset="0"/>
                          </a:rPr>
                        </m:ctrlPr>
                      </m:sSupPr>
                      <m:e>
                        <m:r>
                          <a:rPr lang="en-US" sz="800" i="1" u="none" dirty="0">
                            <a:solidFill>
                              <a:srgbClr val="FF0000"/>
                            </a:solidFill>
                            <a:latin typeface="Cambria Math" panose="02040503050406030204" pitchFamily="18" charset="0"/>
                          </a:rPr>
                          <m:t>𝜎</m:t>
                        </m:r>
                      </m:e>
                      <m:sup>
                        <m:r>
                          <a:rPr lang="en-US" sz="800" i="1" u="none" dirty="0">
                            <a:solidFill>
                              <a:srgbClr val="FF0000"/>
                            </a:solidFill>
                            <a:latin typeface="Cambria Math" panose="02040503050406030204" pitchFamily="18" charset="0"/>
                          </a:rPr>
                          <m:t>2</m:t>
                        </m:r>
                      </m:sup>
                    </m:sSup>
                  </m:oMath>
                </a14:m>
                <a:endParaRPr lang="en-US" sz="800" b="0" u="none" dirty="0">
                  <a:solidFill>
                    <a:schemeClr val="bg1">
                      <a:lumMod val="50000"/>
                    </a:schemeClr>
                  </a:solidFill>
                  <a:cs typeface="Arial" pitchFamily="34" charset="0"/>
                </a:endParaRPr>
              </a:p>
            </p:txBody>
          </p:sp>
        </mc:Choice>
        <mc:Fallback xmlns="">
          <p:sp>
            <p:nvSpPr>
              <p:cNvPr id="8" name="TextBox 7">
                <a:extLst>
                  <a:ext uri="{FF2B5EF4-FFF2-40B4-BE49-F238E27FC236}">
                    <a16:creationId xmlns:a16="http://schemas.microsoft.com/office/drawing/2014/main" id="{03BE511C-F2AF-8CC2-4F69-D678F2036CE1}"/>
                  </a:ext>
                </a:extLst>
              </p:cNvPr>
              <p:cNvSpPr txBox="1">
                <a:spLocks noRot="1" noChangeAspect="1" noMove="1" noResize="1" noEditPoints="1" noAdjustHandles="1" noChangeArrowheads="1" noChangeShapeType="1" noTextEdit="1"/>
              </p:cNvSpPr>
              <p:nvPr/>
            </p:nvSpPr>
            <p:spPr>
              <a:xfrm>
                <a:off x="6429210" y="4410834"/>
                <a:ext cx="1393990" cy="461665"/>
              </a:xfrm>
              <a:prstGeom prst="rect">
                <a:avLst/>
              </a:prstGeom>
              <a:blipFill>
                <a:blip r:embed="rId3"/>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1274155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2D63-CB06-E91F-16B5-E6BAB5C3E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5DC-77F2-8AB3-2039-B6FB1867A679}"/>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46143016-0ADB-AA8F-B887-D0E39C9703B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38</a:t>
            </a:fld>
            <a:endParaRPr lang="en-GB" dirty="0"/>
          </a:p>
        </p:txBody>
      </p:sp>
      <p:grpSp>
        <p:nvGrpSpPr>
          <p:cNvPr id="25" name="Group 24">
            <a:extLst>
              <a:ext uri="{FF2B5EF4-FFF2-40B4-BE49-F238E27FC236}">
                <a16:creationId xmlns:a16="http://schemas.microsoft.com/office/drawing/2014/main" id="{8176B097-C231-AFC1-61DA-33C78525A18F}"/>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AFBBAAF7-0CEC-8579-A274-0ED9C79BC324}"/>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E6E14BE-C9AB-1916-A1B5-12D3563D461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87EDEE-AA1F-B04B-7C18-636BEF01A9DB}"/>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1F6F3F43-F3C9-6F62-DF76-5C1EEE67B57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18EA807-ECAC-0868-FC9A-DA714D9B2E25}"/>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4798F-7363-B034-21CE-2B842E3FB0B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20BBCE4-F7D7-CF45-6468-9AE9C50848DB}"/>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5D9B543C-C03D-20CC-5DA3-C92F2989EF8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32E79A5C-8C57-E212-C3CF-9CAC652629C2}"/>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680D9B1-E821-7A14-4DDE-96AA4C4B1F19}"/>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74C670DA-272F-5314-AE27-50FDE030E8C1}"/>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C444158E-426A-23DE-272A-95A9F73EDE83}"/>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8792862-D203-5BD7-D271-C55F586FB4B8}"/>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7FD91C6-C703-B671-AD04-441F41D2DB6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F42BEC1-3B8E-6F13-5E46-2F863CB1BD0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46BF0E60-D300-BB87-8E0C-C6E604575A89}"/>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4B694022-F82D-DB53-1639-4B399EDCFB9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2CDAC2E-51D5-387E-2059-9D11DDFDE451}"/>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E3144965-24B3-6FA7-F141-A0BF5F75309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3BDE38E-29AE-A2FB-3371-9EBF97F7ECB8}"/>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955C13B9-04BD-EF9A-5415-DDBBF08E5E13}"/>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A963C9DC-9962-FA3F-1D6B-306A2BE1D66F}"/>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B71114-8ED0-DF7A-A184-4BC88DB249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A7082D-66A1-0EB2-0121-F76E426F9523}"/>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CDBA26-2E20-F718-306B-26747738569B}"/>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739A8-FD15-8B36-0552-55C38C2094D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400543F-E27A-4CF5-F865-2D6531221B72}"/>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694A934B-E7C9-9B83-EF82-57F7295EF95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F3F52127-DF3A-1E81-9B56-FB69BA962ED3}"/>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C8148B-9EE6-3173-1E96-C024A7171413}"/>
                  </a:ext>
                </a:extLst>
              </p:cNvPr>
              <p:cNvSpPr txBox="1"/>
              <p:nvPr/>
            </p:nvSpPr>
            <p:spPr>
              <a:xfrm>
                <a:off x="5937192" y="4989876"/>
                <a:ext cx="3172527" cy="738664"/>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have a smaller </a:t>
                </a:r>
                <a14:m>
                  <m:oMath xmlns:m="http://schemas.openxmlformats.org/officeDocument/2006/math">
                    <m:r>
                      <a:rPr lang="en-US" sz="1400" b="0" i="1" u="none">
                        <a:solidFill>
                          <a:srgbClr val="EB971B"/>
                        </a:solidFill>
                        <a:latin typeface="Cambria Math" panose="02040503050406030204" pitchFamily="18" charset="0"/>
                        <a:cs typeface="Arial" panose="020B0604020202020204" pitchFamily="34" charset="0"/>
                      </a:rPr>
                      <m:t>𝑆𝑡𝑑</m:t>
                    </m:r>
                    <m:r>
                      <a:rPr lang="en-US" sz="1400" b="0" i="1" u="none">
                        <a:solidFill>
                          <a:srgbClr val="EB971B"/>
                        </a:solidFill>
                        <a:latin typeface="Cambria Math" panose="02040503050406030204" pitchFamily="18" charset="0"/>
                        <a:cs typeface="Arial" panose="020B0604020202020204" pitchFamily="34" charset="0"/>
                      </a:rPr>
                      <m:t> </m:t>
                    </m:r>
                    <m:r>
                      <a:rPr lang="en-US" sz="1400" b="0" i="1" u="none">
                        <a:solidFill>
                          <a:srgbClr val="EB971B"/>
                        </a:solidFill>
                        <a:latin typeface="Cambria Math" panose="02040503050406030204" pitchFamily="18" charset="0"/>
                        <a:cs typeface="Arial" panose="020B0604020202020204" pitchFamily="34" charset="0"/>
                      </a:rPr>
                      <m:t>𝐸𝑟𝑟</m:t>
                    </m:r>
                    <m:r>
                      <a:rPr lang="en-US" sz="1400" b="0" i="1" u="none" smtClean="0">
                        <a:solidFill>
                          <a:srgbClr val="EB971B"/>
                        </a:solidFill>
                        <a:latin typeface="Cambria Math" panose="02040503050406030204" pitchFamily="18" charset="0"/>
                        <a:cs typeface="Arial" panose="020B0604020202020204" pitchFamily="34" charset="0"/>
                      </a:rPr>
                      <m:t>(</m:t>
                    </m:r>
                    <m:acc>
                      <m:accPr>
                        <m:chr m:val="̅"/>
                        <m:ctrlPr>
                          <a:rPr lang="en-US" sz="1400" i="1" u="none">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𝑥</m:t>
                        </m:r>
                      </m:e>
                    </m:acc>
                    <m:r>
                      <a:rPr lang="en-US" sz="1400" b="0" i="1" u="none" smtClean="0">
                        <a:solidFill>
                          <a:srgbClr val="EB971B"/>
                        </a:solidFill>
                        <a:latin typeface="Cambria Math" panose="02040503050406030204" pitchFamily="18" charset="0"/>
                        <a:cs typeface="Arial" panose="020B0604020202020204" pitchFamily="34" charset="0"/>
                      </a:rPr>
                      <m:t>)</m:t>
                    </m:r>
                  </m:oMath>
                </a14:m>
                <a:endParaRPr lang="en-US" sz="1400" b="0" u="none" dirty="0">
                  <a:solidFill>
                    <a:srgbClr val="EB971B"/>
                  </a:solidFill>
                  <a:cs typeface="Arial" panose="020B0604020202020204" pitchFamily="34" charset="0"/>
                </a:endParaRPr>
              </a:p>
            </p:txBody>
          </p:sp>
        </mc:Choice>
        <mc:Fallback xmlns="">
          <p:sp>
            <p:nvSpPr>
              <p:cNvPr id="5" name="TextBox 4">
                <a:extLst>
                  <a:ext uri="{FF2B5EF4-FFF2-40B4-BE49-F238E27FC236}">
                    <a16:creationId xmlns:a16="http://schemas.microsoft.com/office/drawing/2014/main" id="{6BC8148B-9EE6-3173-1E96-C024A7171413}"/>
                  </a:ext>
                </a:extLst>
              </p:cNvPr>
              <p:cNvSpPr txBox="1">
                <a:spLocks noRot="1" noChangeAspect="1" noMove="1" noResize="1" noEditPoints="1" noAdjustHandles="1" noChangeArrowheads="1" noChangeShapeType="1" noTextEdit="1"/>
              </p:cNvSpPr>
              <p:nvPr/>
            </p:nvSpPr>
            <p:spPr>
              <a:xfrm>
                <a:off x="5937192" y="4989876"/>
                <a:ext cx="3172527" cy="738664"/>
              </a:xfrm>
              <a:prstGeom prst="rect">
                <a:avLst/>
              </a:prstGeom>
              <a:blipFill>
                <a:blip r:embed="rId12"/>
                <a:stretch>
                  <a:fillRect l="-576" t="-1639" r="-1152" b="-6557"/>
                </a:stretch>
              </a:blipFill>
              <a:ln w="3175">
                <a:solidFill>
                  <a:srgbClr val="FF0000"/>
                </a:solidFill>
              </a:ln>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8C461EB5-F4DA-18FD-BDD6-B717AAA9369A}"/>
              </a:ext>
            </a:extLst>
          </p:cNvPr>
          <p:cNvSpPr/>
          <p:nvPr/>
        </p:nvSpPr>
        <p:spPr bwMode="auto">
          <a:xfrm>
            <a:off x="8335773" y="2673626"/>
            <a:ext cx="730697" cy="2269616"/>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p:grpSp>
        <p:nvGrpSpPr>
          <p:cNvPr id="47" name="Group 46">
            <a:extLst>
              <a:ext uri="{FF2B5EF4-FFF2-40B4-BE49-F238E27FC236}">
                <a16:creationId xmlns:a16="http://schemas.microsoft.com/office/drawing/2014/main" id="{4DD1BBD1-E6AD-47AE-9166-A49BD2FCA96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EC34B1DF-AF92-4BEF-9938-2409D1CD473E}"/>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152B6C09-12B2-4CB0-AE03-C9B986AC88D8}"/>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D6F29E46-CB75-4776-B663-239A056304D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95FF6B5-B2B5-4F58-B24D-199A4013B420}"/>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114B4B13-EB1A-47BC-8803-59A522FC922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DBD1604-119D-4A37-A827-6DECD697F056}"/>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9974E6F5-6EA5-4DA3-AB39-1E5E9697D2F1}"/>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A828B1-9E65-46CF-AE86-10100FA708CB}"/>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38076C44-0A42-44DC-995E-EB1CBB10CCA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C9BF0FD6-E75C-4941-9B29-0D08E00AB007}"/>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078BC07-A81B-4552-94BA-464B96A5EF6F}"/>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8" name="TextBox 57">
                <a:extLst>
                  <a:ext uri="{FF2B5EF4-FFF2-40B4-BE49-F238E27FC236}">
                    <a16:creationId xmlns:a16="http://schemas.microsoft.com/office/drawing/2014/main" id="{8078BC07-A81B-4552-94BA-464B96A5EF6F}"/>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421F423-C8A2-4544-933F-DEE0E006B37F}"/>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9" name="TextBox 58">
                <a:extLst>
                  <a:ext uri="{FF2B5EF4-FFF2-40B4-BE49-F238E27FC236}">
                    <a16:creationId xmlns:a16="http://schemas.microsoft.com/office/drawing/2014/main" id="{4421F423-C8A2-4544-933F-DEE0E006B37F}"/>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5C33FB-6075-E1AE-7D53-759EA8AB2B4C}"/>
                  </a:ext>
                </a:extLst>
              </p:cNvPr>
              <p:cNvSpPr txBox="1"/>
              <p:nvPr/>
            </p:nvSpPr>
            <p:spPr>
              <a:xfrm>
                <a:off x="7448408" y="2301768"/>
                <a:ext cx="1473288" cy="391261"/>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a:latin typeface="Cambria Math" panose="02040503050406030204" pitchFamily="18" charset="0"/>
                              </a:rPr>
                              <m:t>𝑁</m:t>
                            </m:r>
                          </m:e>
                        </m:rad>
                      </m:den>
                    </m:f>
                  </m:oMath>
                </a14:m>
                <a:r>
                  <a:rPr lang="en-US" sz="1200" b="0" u="none" dirty="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E25C33FB-6075-E1AE-7D53-759EA8AB2B4C}"/>
                  </a:ext>
                </a:extLst>
              </p:cNvPr>
              <p:cNvSpPr txBox="1">
                <a:spLocks noRot="1" noChangeAspect="1" noMove="1" noResize="1" noEditPoints="1" noAdjustHandles="1" noChangeArrowheads="1" noChangeShapeType="1" noTextEdit="1"/>
              </p:cNvSpPr>
              <p:nvPr/>
            </p:nvSpPr>
            <p:spPr>
              <a:xfrm>
                <a:off x="7448408" y="2301768"/>
                <a:ext cx="1473288" cy="391261"/>
              </a:xfrm>
              <a:prstGeom prst="rect">
                <a:avLst/>
              </a:prstGeom>
              <a:blipFill>
                <a:blip r:embed="rId15"/>
                <a:stretch>
                  <a:fillRect/>
                </a:stretch>
              </a:blipFill>
            </p:spPr>
            <p:txBody>
              <a:bodyPr/>
              <a:lstStyle/>
              <a:p>
                <a:r>
                  <a:rPr lang="en-US">
                    <a:noFill/>
                  </a:rPr>
                  <a:t> </a:t>
                </a:r>
              </a:p>
            </p:txBody>
          </p:sp>
        </mc:Fallback>
      </mc:AlternateContent>
      <p:sp>
        <p:nvSpPr>
          <p:cNvPr id="19" name="Freeform: Shape 18">
            <a:extLst>
              <a:ext uri="{FF2B5EF4-FFF2-40B4-BE49-F238E27FC236}">
                <a16:creationId xmlns:a16="http://schemas.microsoft.com/office/drawing/2014/main" id="{6AF2677E-9CD9-5A14-470D-C343CFC2DE48}"/>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292011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BDA22-D297-9EBF-8557-D280C6AD4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720C8-7A8D-34D4-1383-BEE25AF9DEC4}"/>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B1705D67-2B8A-3DFC-5D4B-545FA8AD27B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39</a:t>
            </a:fld>
            <a:endParaRPr lang="en-GB" dirty="0"/>
          </a:p>
        </p:txBody>
      </p:sp>
      <p:grpSp>
        <p:nvGrpSpPr>
          <p:cNvPr id="25" name="Group 24">
            <a:extLst>
              <a:ext uri="{FF2B5EF4-FFF2-40B4-BE49-F238E27FC236}">
                <a16:creationId xmlns:a16="http://schemas.microsoft.com/office/drawing/2014/main" id="{08C0B7A8-227D-FD2E-F710-2F2EF3031675}"/>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6BDAA607-9935-6532-7CFA-7D31F919F5A5}"/>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99F3D9E3-1140-73D8-8161-8A97C752E7B2}"/>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9E88C12-DA54-2315-8F44-2BF2FA7B52A1}"/>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26B54DBF-1F4A-06AE-BCD5-7CBE9FD63E1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4421380D-61D9-1D75-DFF7-1CF9F77AE154}"/>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082B2BF3-581C-C705-07AC-EC448BB54D0D}"/>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881B8975-54E6-246C-5433-3C3B374E94D1}"/>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F3556962-7F6C-371A-1793-37EEA89955D6}"/>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E259A576-6912-F325-ACC6-D408D3108FF4}"/>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4C686155-7814-0A34-2297-58A4C2946278}"/>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D7D2F947-B70A-5338-1F85-81D2296AFF4F}"/>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E07046F9-5ED8-95AF-362C-373345A87EE9}"/>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830852F-3A95-5684-2387-0B79429F71BF}"/>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2C0EB67C-0F8D-0F9C-620D-8F7953437C87}"/>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C0C4BBC1-C4F9-9FF9-1805-3D7AB7339A1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782F4745-2C76-32F0-9750-EFD8D2659BE3}"/>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BF1207D3-CF45-7DD0-8046-6596A5D7CF35}"/>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03DFE676-27E9-E3E8-84A5-C5388AB91369}"/>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3D8D4908-E2EE-57DD-FCE2-9E59192FFD41}"/>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45A6DBAF-1D0A-61C7-9EEC-7F8ACDC5C5A7}"/>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517C352C-FD2F-C13D-B3F9-D56D60C27C15}"/>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18CFD4F5-AFFF-2000-0440-37ABE9BB9E54}"/>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C523210-ED04-8B9B-5D91-23EDFE595650}"/>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B322671-485E-C061-B1BA-16F0C151BED4}"/>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021099B-D2AB-0BA5-0A32-A9384DC7223C}"/>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8095EFF-E068-854F-830C-204D9F987B5B}"/>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260C0D65-4436-43A8-7877-5107500DC0E4}"/>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5D37A1DE-74F9-4876-15F0-B262DED9A1CC}"/>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E53E402A-729A-F989-DA71-82C9BB7A8749}"/>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214F8A-CAC7-AF9B-48DA-8660A6326B06}"/>
                  </a:ext>
                </a:extLst>
              </p:cNvPr>
              <p:cNvSpPr txBox="1"/>
              <p:nvPr/>
            </p:nvSpPr>
            <p:spPr>
              <a:xfrm>
                <a:off x="5937192" y="4989876"/>
                <a:ext cx="3172527" cy="1384995"/>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have a smaller </a:t>
                </a:r>
                <a14:m>
                  <m:oMath xmlns:m="http://schemas.openxmlformats.org/officeDocument/2006/math">
                    <m:r>
                      <a:rPr lang="en-US" sz="1400" b="0" i="1" u="none">
                        <a:solidFill>
                          <a:srgbClr val="EB971B"/>
                        </a:solidFill>
                        <a:latin typeface="Cambria Math" panose="02040503050406030204" pitchFamily="18" charset="0"/>
                        <a:cs typeface="Arial" panose="020B0604020202020204" pitchFamily="34" charset="0"/>
                      </a:rPr>
                      <m:t>𝑆𝑡𝑑</m:t>
                    </m:r>
                    <m:r>
                      <a:rPr lang="en-US" sz="1400" b="0" i="1" u="none">
                        <a:solidFill>
                          <a:srgbClr val="EB971B"/>
                        </a:solidFill>
                        <a:latin typeface="Cambria Math" panose="02040503050406030204" pitchFamily="18" charset="0"/>
                        <a:cs typeface="Arial" panose="020B0604020202020204" pitchFamily="34" charset="0"/>
                      </a:rPr>
                      <m:t> </m:t>
                    </m:r>
                    <m:r>
                      <a:rPr lang="en-US" sz="1400" b="0" i="1" u="none">
                        <a:solidFill>
                          <a:srgbClr val="EB971B"/>
                        </a:solidFill>
                        <a:latin typeface="Cambria Math" panose="02040503050406030204" pitchFamily="18" charset="0"/>
                        <a:cs typeface="Arial" panose="020B0604020202020204" pitchFamily="34" charset="0"/>
                      </a:rPr>
                      <m:t>𝐸𝑟𝑟</m:t>
                    </m:r>
                    <m:r>
                      <a:rPr lang="en-US" sz="1400" b="0" i="1" u="none">
                        <a:solidFill>
                          <a:srgbClr val="EB971B"/>
                        </a:solidFill>
                        <a:latin typeface="Cambria Math" panose="02040503050406030204" pitchFamily="18" charset="0"/>
                        <a:cs typeface="Arial" panose="020B0604020202020204" pitchFamily="34" charset="0"/>
                      </a:rPr>
                      <m:t>(</m:t>
                    </m:r>
                    <m:acc>
                      <m:accPr>
                        <m:chr m:val="̅"/>
                        <m:ctrlPr>
                          <a:rPr lang="en-US" sz="1400" i="1" u="none">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𝑥</m:t>
                        </m:r>
                      </m:e>
                    </m:acc>
                    <m:r>
                      <a:rPr lang="en-US" sz="1400" b="0" i="1" u="none">
                        <a:solidFill>
                          <a:srgbClr val="EB971B"/>
                        </a:solidFill>
                        <a:latin typeface="Cambria Math" panose="02040503050406030204" pitchFamily="18" charset="0"/>
                        <a:cs typeface="Arial" panose="020B0604020202020204" pitchFamily="34" charset="0"/>
                      </a:rPr>
                      <m:t>)</m:t>
                    </m:r>
                  </m:oMath>
                </a14:m>
                <a:endParaRPr lang="en-US" sz="1400" b="0" u="none" dirty="0">
                  <a:solidFill>
                    <a:schemeClr val="accent6"/>
                  </a:solidFill>
                  <a:cs typeface="Arial" panose="020B0604020202020204" pitchFamily="34" charset="0"/>
                </a:endParaRP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Note: larger poll size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a:t>
                </a:r>
                <a:r>
                  <a:rPr lang="en-US" sz="1400" b="0" u="none" dirty="0">
                    <a:solidFill>
                      <a:schemeClr val="accent6"/>
                    </a:solidFill>
                    <a:latin typeface="Wingdings 3" panose="05040102010807070707" pitchFamily="18" charset="2"/>
                    <a:cs typeface="Arial" panose="020B0604020202020204" pitchFamily="34" charset="0"/>
                  </a:rPr>
                  <a:t>g</a:t>
                </a:r>
                <a:r>
                  <a:rPr lang="en-US" sz="1400" b="0" u="none" dirty="0">
                    <a:solidFill>
                      <a:schemeClr val="accent6"/>
                    </a:solidFill>
                    <a:cs typeface="Arial" panose="020B0604020202020204" pitchFamily="34" charset="0"/>
                  </a:rPr>
                  <a:t> smaller </a:t>
                </a:r>
                <a14:m>
                  <m:oMath xmlns:m="http://schemas.openxmlformats.org/officeDocument/2006/math">
                    <m:r>
                      <a:rPr lang="en-US" sz="1400" b="0" i="1" u="none">
                        <a:solidFill>
                          <a:srgbClr val="EB971B"/>
                        </a:solidFill>
                        <a:latin typeface="Cambria Math" panose="02040503050406030204" pitchFamily="18" charset="0"/>
                        <a:cs typeface="Arial" panose="020B0604020202020204" pitchFamily="34" charset="0"/>
                      </a:rPr>
                      <m:t>𝑆𝑡𝑑</m:t>
                    </m:r>
                    <m:r>
                      <a:rPr lang="en-US" sz="1400" b="0" i="1" u="none">
                        <a:solidFill>
                          <a:srgbClr val="EB971B"/>
                        </a:solidFill>
                        <a:latin typeface="Cambria Math" panose="02040503050406030204" pitchFamily="18" charset="0"/>
                        <a:cs typeface="Arial" panose="020B0604020202020204" pitchFamily="34" charset="0"/>
                      </a:rPr>
                      <m:t> </m:t>
                    </m:r>
                    <m:r>
                      <a:rPr lang="en-US" sz="1400" b="0" i="1" u="none">
                        <a:solidFill>
                          <a:srgbClr val="EB971B"/>
                        </a:solidFill>
                        <a:latin typeface="Cambria Math" panose="02040503050406030204" pitchFamily="18" charset="0"/>
                        <a:cs typeface="Arial" panose="020B0604020202020204" pitchFamily="34" charset="0"/>
                      </a:rPr>
                      <m:t>𝐸𝑟𝑟</m:t>
                    </m:r>
                    <m:r>
                      <a:rPr lang="en-US" sz="1400" b="0" i="1" u="none">
                        <a:solidFill>
                          <a:srgbClr val="EB971B"/>
                        </a:solidFill>
                        <a:latin typeface="Cambria Math" panose="02040503050406030204" pitchFamily="18" charset="0"/>
                        <a:cs typeface="Arial" panose="020B0604020202020204" pitchFamily="34" charset="0"/>
                      </a:rPr>
                      <m:t>(</m:t>
                    </m:r>
                    <m:acc>
                      <m:accPr>
                        <m:chr m:val="̅"/>
                        <m:ctrlPr>
                          <a:rPr lang="en-US" sz="1400" i="1" u="none">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𝑥</m:t>
                        </m:r>
                      </m:e>
                    </m:acc>
                    <m:r>
                      <a:rPr lang="en-US" sz="1400" b="0" i="1" u="none">
                        <a:solidFill>
                          <a:srgbClr val="EB971B"/>
                        </a:solidFill>
                        <a:latin typeface="Cambria Math" panose="02040503050406030204" pitchFamily="18" charset="0"/>
                        <a:cs typeface="Arial" panose="020B0604020202020204" pitchFamily="34" charset="0"/>
                      </a:rPr>
                      <m:t>)</m:t>
                    </m:r>
                  </m:oMath>
                </a14:m>
                <a:endParaRPr lang="en-US" sz="1400" b="0" u="none" dirty="0">
                  <a:solidFill>
                    <a:schemeClr val="accent6"/>
                  </a:solidFill>
                  <a:cs typeface="Arial" panose="020B0604020202020204" pitchFamily="34" charset="0"/>
                </a:endParaRPr>
              </a:p>
            </p:txBody>
          </p:sp>
        </mc:Choice>
        <mc:Fallback xmlns="">
          <p:sp>
            <p:nvSpPr>
              <p:cNvPr id="5" name="TextBox 4">
                <a:extLst>
                  <a:ext uri="{FF2B5EF4-FFF2-40B4-BE49-F238E27FC236}">
                    <a16:creationId xmlns:a16="http://schemas.microsoft.com/office/drawing/2014/main" id="{F9214F8A-CAC7-AF9B-48DA-8660A6326B06}"/>
                  </a:ext>
                </a:extLst>
              </p:cNvPr>
              <p:cNvSpPr txBox="1">
                <a:spLocks noRot="1" noChangeAspect="1" noMove="1" noResize="1" noEditPoints="1" noAdjustHandles="1" noChangeArrowheads="1" noChangeShapeType="1" noTextEdit="1"/>
              </p:cNvSpPr>
              <p:nvPr/>
            </p:nvSpPr>
            <p:spPr>
              <a:xfrm>
                <a:off x="5937192" y="4989876"/>
                <a:ext cx="3172527" cy="1384995"/>
              </a:xfrm>
              <a:prstGeom prst="rect">
                <a:avLst/>
              </a:prstGeom>
              <a:blipFill>
                <a:blip r:embed="rId12"/>
                <a:stretch>
                  <a:fillRect l="-576" t="-877" r="-1152" b="-877"/>
                </a:stretch>
              </a:blipFill>
              <a:ln w="3175">
                <a:solidFill>
                  <a:srgbClr val="FF0000"/>
                </a:solidFill>
              </a:ln>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285E860A-0286-7837-B746-AE3B1DD049B5}"/>
              </a:ext>
            </a:extLst>
          </p:cNvPr>
          <p:cNvSpPr/>
          <p:nvPr/>
        </p:nvSpPr>
        <p:spPr bwMode="auto">
          <a:xfrm>
            <a:off x="8335773" y="2673626"/>
            <a:ext cx="730697" cy="2269616"/>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p:grpSp>
        <p:nvGrpSpPr>
          <p:cNvPr id="47" name="Group 46">
            <a:extLst>
              <a:ext uri="{FF2B5EF4-FFF2-40B4-BE49-F238E27FC236}">
                <a16:creationId xmlns:a16="http://schemas.microsoft.com/office/drawing/2014/main" id="{6AA71274-A995-BD6F-73E8-AE18B0EFC644}"/>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72042659-5DF8-0973-EB91-5B1438F2DF98}"/>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21716B9D-36AA-BE93-40E2-3370D911BDDD}"/>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A405A1C8-2DCD-83F0-34DE-6A27481F57A2}"/>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BDFA01A6-51CC-F0E5-8019-BB1AEFA026C2}"/>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D67874CA-1AFA-084F-A83A-6D3CF5F81680}"/>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907D0918-14FA-B64B-8D63-F80199936F90}"/>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2BA3589C-229B-F338-E84C-3FC98F99A1C3}"/>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90C40B37-4B5B-9D2A-37CA-C0EE2D2E795E}"/>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E9475BA2-17AB-E960-0CBF-04D0C67F04BE}"/>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EF8D4CC0-F8AC-AF91-0F98-964182CC5015}"/>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ABB900B-0596-1114-DE59-0F69104BDB35}"/>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8" name="TextBox 57">
                <a:extLst>
                  <a:ext uri="{FF2B5EF4-FFF2-40B4-BE49-F238E27FC236}">
                    <a16:creationId xmlns:a16="http://schemas.microsoft.com/office/drawing/2014/main" id="{6ABB900B-0596-1114-DE59-0F69104BDB35}"/>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4D39B8F-4B9B-4D33-B803-A535B90D8AF3}"/>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9" name="TextBox 58">
                <a:extLst>
                  <a:ext uri="{FF2B5EF4-FFF2-40B4-BE49-F238E27FC236}">
                    <a16:creationId xmlns:a16="http://schemas.microsoft.com/office/drawing/2014/main" id="{74D39B8F-4B9B-4D33-B803-A535B90D8AF3}"/>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41527EE-0D7D-3397-4087-9311B6DD222E}"/>
                  </a:ext>
                </a:extLst>
              </p:cNvPr>
              <p:cNvSpPr txBox="1"/>
              <p:nvPr/>
            </p:nvSpPr>
            <p:spPr>
              <a:xfrm>
                <a:off x="7448408" y="2301768"/>
                <a:ext cx="1473288" cy="391261"/>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a:latin typeface="Cambria Math" panose="02040503050406030204" pitchFamily="18" charset="0"/>
                              </a:rPr>
                              <m:t>𝑁</m:t>
                            </m:r>
                          </m:e>
                        </m:rad>
                      </m:den>
                    </m:f>
                  </m:oMath>
                </a14:m>
                <a:r>
                  <a:rPr lang="en-US" sz="1200" b="0" u="none" dirty="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F41527EE-0D7D-3397-4087-9311B6DD222E}"/>
                  </a:ext>
                </a:extLst>
              </p:cNvPr>
              <p:cNvSpPr txBox="1">
                <a:spLocks noRot="1" noChangeAspect="1" noMove="1" noResize="1" noEditPoints="1" noAdjustHandles="1" noChangeArrowheads="1" noChangeShapeType="1" noTextEdit="1"/>
              </p:cNvSpPr>
              <p:nvPr/>
            </p:nvSpPr>
            <p:spPr>
              <a:xfrm>
                <a:off x="7448408" y="2301768"/>
                <a:ext cx="1473288" cy="391261"/>
              </a:xfrm>
              <a:prstGeom prst="rect">
                <a:avLst/>
              </a:prstGeom>
              <a:blipFill>
                <a:blip r:embed="rId15"/>
                <a:stretch>
                  <a:fillRect/>
                </a:stretch>
              </a:blipFill>
            </p:spPr>
            <p:txBody>
              <a:bodyPr/>
              <a:lstStyle/>
              <a:p>
                <a:r>
                  <a:rPr lang="en-US">
                    <a:noFill/>
                  </a:rPr>
                  <a:t> </a:t>
                </a:r>
              </a:p>
            </p:txBody>
          </p:sp>
        </mc:Fallback>
      </mc:AlternateContent>
      <p:sp>
        <p:nvSpPr>
          <p:cNvPr id="20" name="Freeform: Shape 19">
            <a:extLst>
              <a:ext uri="{FF2B5EF4-FFF2-40B4-BE49-F238E27FC236}">
                <a16:creationId xmlns:a16="http://schemas.microsoft.com/office/drawing/2014/main" id="{3BB4E118-3F4E-CA57-32B2-18D4E4BA710A}"/>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1341963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2D63-CB06-E91F-16B5-E6BAB5C3E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5DC-77F2-8AB3-2039-B6FB1867A679}"/>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46143016-0ADB-AA8F-B887-D0E39C9703B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40</a:t>
            </a:fld>
            <a:endParaRPr lang="en-GB" dirty="0"/>
          </a:p>
        </p:txBody>
      </p:sp>
      <p:grpSp>
        <p:nvGrpSpPr>
          <p:cNvPr id="25" name="Group 24">
            <a:extLst>
              <a:ext uri="{FF2B5EF4-FFF2-40B4-BE49-F238E27FC236}">
                <a16:creationId xmlns:a16="http://schemas.microsoft.com/office/drawing/2014/main" id="{8176B097-C231-AFC1-61DA-33C78525A18F}"/>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AFBBAAF7-0CEC-8579-A274-0ED9C79BC324}"/>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E6E14BE-C9AB-1916-A1B5-12D3563D461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87EDEE-AA1F-B04B-7C18-636BEF01A9DB}"/>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1F6F3F43-F3C9-6F62-DF76-5C1EEE67B57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18EA807-ECAC-0868-FC9A-DA714D9B2E25}"/>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4798F-7363-B034-21CE-2B842E3FB0B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20BBCE4-F7D7-CF45-6468-9AE9C50848DB}"/>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5D9B543C-C03D-20CC-5DA3-C92F2989EF8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32E79A5C-8C57-E212-C3CF-9CAC652629C2}"/>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680D9B1-E821-7A14-4DDE-96AA4C4B1F19}"/>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74C670DA-272F-5314-AE27-50FDE030E8C1}"/>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C444158E-426A-23DE-272A-95A9F73EDE83}"/>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8792862-D203-5BD7-D271-C55F586FB4B8}"/>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7FD91C6-C703-B671-AD04-441F41D2DB6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F42BEC1-3B8E-6F13-5E46-2F863CB1BD0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46BF0E60-D300-BB87-8E0C-C6E604575A89}"/>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4B694022-F82D-DB53-1639-4B399EDCFB9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2CDAC2E-51D5-387E-2059-9D11DDFDE451}"/>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E3144965-24B3-6FA7-F141-A0BF5F75309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3BDE38E-29AE-A2FB-3371-9EBF97F7ECB8}"/>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955C13B9-04BD-EF9A-5415-DDBBF08E5E13}"/>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A963C9DC-9962-FA3F-1D6B-306A2BE1D66F}"/>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B71114-8ED0-DF7A-A184-4BC88DB249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A7082D-66A1-0EB2-0121-F76E426F9523}"/>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CDBA26-2E20-F718-306B-26747738569B}"/>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739A8-FD15-8B36-0552-55C38C2094D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400543F-E27A-4CF5-F865-2D6531221B72}"/>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694A934B-E7C9-9B83-EF82-57F7295EF95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F3F52127-DF3A-1E81-9B56-FB69BA962ED3}"/>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C8148B-9EE6-3173-1E96-C024A7171413}"/>
                  </a:ext>
                </a:extLst>
              </p:cNvPr>
              <p:cNvSpPr txBox="1"/>
              <p:nvPr/>
            </p:nvSpPr>
            <p:spPr>
              <a:xfrm>
                <a:off x="5937192" y="4989876"/>
                <a:ext cx="3172527" cy="738664"/>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survey more voters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higher)</a:t>
                </a:r>
              </a:p>
            </p:txBody>
          </p:sp>
        </mc:Choice>
        <mc:Fallback xmlns="">
          <p:sp>
            <p:nvSpPr>
              <p:cNvPr id="5" name="TextBox 4">
                <a:extLst>
                  <a:ext uri="{FF2B5EF4-FFF2-40B4-BE49-F238E27FC236}">
                    <a16:creationId xmlns:a16="http://schemas.microsoft.com/office/drawing/2014/main" id="{6BC8148B-9EE6-3173-1E96-C024A7171413}"/>
                  </a:ext>
                </a:extLst>
              </p:cNvPr>
              <p:cNvSpPr txBox="1">
                <a:spLocks noRot="1" noChangeAspect="1" noMove="1" noResize="1" noEditPoints="1" noAdjustHandles="1" noChangeArrowheads="1" noChangeShapeType="1" noTextEdit="1"/>
              </p:cNvSpPr>
              <p:nvPr/>
            </p:nvSpPr>
            <p:spPr>
              <a:xfrm>
                <a:off x="5937192" y="4989876"/>
                <a:ext cx="3172527" cy="738664"/>
              </a:xfrm>
              <a:prstGeom prst="rect">
                <a:avLst/>
              </a:prstGeom>
              <a:blipFill>
                <a:blip r:embed="rId12"/>
                <a:stretch>
                  <a:fillRect l="-576" t="-1639" b="-6557"/>
                </a:stretch>
              </a:blipFill>
              <a:ln w="3175">
                <a:solidFill>
                  <a:srgbClr val="FF0000"/>
                </a:solidFill>
              </a:ln>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8C461EB5-F4DA-18FD-BDD6-B717AAA9369A}"/>
              </a:ext>
            </a:extLst>
          </p:cNvPr>
          <p:cNvSpPr/>
          <p:nvPr/>
        </p:nvSpPr>
        <p:spPr bwMode="auto">
          <a:xfrm>
            <a:off x="8335773" y="2673626"/>
            <a:ext cx="730697" cy="2269616"/>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p:grpSp>
        <p:nvGrpSpPr>
          <p:cNvPr id="47" name="Group 46">
            <a:extLst>
              <a:ext uri="{FF2B5EF4-FFF2-40B4-BE49-F238E27FC236}">
                <a16:creationId xmlns:a16="http://schemas.microsoft.com/office/drawing/2014/main" id="{4DD1BBD1-E6AD-47AE-9166-A49BD2FCA96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EC34B1DF-AF92-4BEF-9938-2409D1CD473E}"/>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152B6C09-12B2-4CB0-AE03-C9B986AC88D8}"/>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D6F29E46-CB75-4776-B663-239A056304D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95FF6B5-B2B5-4F58-B24D-199A4013B420}"/>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114B4B13-EB1A-47BC-8803-59A522FC922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DBD1604-119D-4A37-A827-6DECD697F056}"/>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9974E6F5-6EA5-4DA3-AB39-1E5E9697D2F1}"/>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A828B1-9E65-46CF-AE86-10100FA708CB}"/>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38076C44-0A42-44DC-995E-EB1CBB10CCA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C9BF0FD6-E75C-4941-9B29-0D08E00AB007}"/>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BBC061B-46CF-406F-B18B-4D74F99EEE1F}"/>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8" name="TextBox 57">
                <a:extLst>
                  <a:ext uri="{FF2B5EF4-FFF2-40B4-BE49-F238E27FC236}">
                    <a16:creationId xmlns:a16="http://schemas.microsoft.com/office/drawing/2014/main" id="{8BBC061B-46CF-406F-B18B-4D74F99EEE1F}"/>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78C11F0-7DAA-4B54-8733-7625A0439F14}"/>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9" name="TextBox 58">
                <a:extLst>
                  <a:ext uri="{FF2B5EF4-FFF2-40B4-BE49-F238E27FC236}">
                    <a16:creationId xmlns:a16="http://schemas.microsoft.com/office/drawing/2014/main" id="{278C11F0-7DAA-4B54-8733-7625A0439F14}"/>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C1A2D8-4B80-6056-FB41-87AA550A1A97}"/>
                  </a:ext>
                </a:extLst>
              </p:cNvPr>
              <p:cNvSpPr txBox="1"/>
              <p:nvPr/>
            </p:nvSpPr>
            <p:spPr>
              <a:xfrm>
                <a:off x="7448408" y="2301768"/>
                <a:ext cx="1685013" cy="391967"/>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highlight>
                                  <a:srgbClr val="FFFF00"/>
                                </a:highlight>
                                <a:latin typeface="Cambria Math" panose="02040503050406030204" pitchFamily="18" charset="0"/>
                              </a:rPr>
                              <m:t>1100</m:t>
                            </m:r>
                          </m:e>
                        </m:rad>
                      </m:den>
                    </m:f>
                  </m:oMath>
                </a14:m>
                <a:r>
                  <a:rPr lang="en-US" sz="1200" b="0" u="none" dirty="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6C1A2D8-4B80-6056-FB41-87AA550A1A97}"/>
                  </a:ext>
                </a:extLst>
              </p:cNvPr>
              <p:cNvSpPr txBox="1">
                <a:spLocks noRot="1" noChangeAspect="1" noMove="1" noResize="1" noEditPoints="1" noAdjustHandles="1" noChangeArrowheads="1" noChangeShapeType="1" noTextEdit="1"/>
              </p:cNvSpPr>
              <p:nvPr/>
            </p:nvSpPr>
            <p:spPr>
              <a:xfrm>
                <a:off x="7448408" y="2301768"/>
                <a:ext cx="1685013" cy="391967"/>
              </a:xfrm>
              <a:prstGeom prst="rect">
                <a:avLst/>
              </a:prstGeom>
              <a:blipFill>
                <a:blip r:embed="rId16"/>
                <a:stretch>
                  <a:fillRect/>
                </a:stretch>
              </a:blipFill>
            </p:spPr>
            <p:txBody>
              <a:bodyPr/>
              <a:lstStyle/>
              <a:p>
                <a:r>
                  <a:rPr lang="en-US">
                    <a:noFill/>
                  </a:rPr>
                  <a:t> </a:t>
                </a:r>
              </a:p>
            </p:txBody>
          </p:sp>
        </mc:Fallback>
      </mc:AlternateContent>
      <p:sp>
        <p:nvSpPr>
          <p:cNvPr id="19" name="Freeform: Shape 18">
            <a:extLst>
              <a:ext uri="{FF2B5EF4-FFF2-40B4-BE49-F238E27FC236}">
                <a16:creationId xmlns:a16="http://schemas.microsoft.com/office/drawing/2014/main" id="{80F51B50-A917-927C-9186-A74421837C50}"/>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989442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2D63-CB06-E91F-16B5-E6BAB5C3E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5DC-77F2-8AB3-2039-B6FB1867A679}"/>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46143016-0ADB-AA8F-B887-D0E39C9703B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41</a:t>
            </a:fld>
            <a:endParaRPr lang="en-GB" dirty="0"/>
          </a:p>
        </p:txBody>
      </p:sp>
      <p:grpSp>
        <p:nvGrpSpPr>
          <p:cNvPr id="25" name="Group 24">
            <a:extLst>
              <a:ext uri="{FF2B5EF4-FFF2-40B4-BE49-F238E27FC236}">
                <a16:creationId xmlns:a16="http://schemas.microsoft.com/office/drawing/2014/main" id="{8176B097-C231-AFC1-61DA-33C78525A18F}"/>
              </a:ext>
            </a:extLst>
          </p:cNvPr>
          <p:cNvGrpSpPr>
            <a:grpSpLocks noChangeAspect="1"/>
          </p:cNvGrpSpPr>
          <p:nvPr/>
        </p:nvGrpSpPr>
        <p:grpSpPr>
          <a:xfrm>
            <a:off x="5886523" y="2183448"/>
            <a:ext cx="1514825" cy="1782841"/>
            <a:chOff x="3012869" y="4040949"/>
            <a:chExt cx="2157141" cy="1277082"/>
          </a:xfrm>
        </p:grpSpPr>
        <p:graphicFrame>
          <p:nvGraphicFramePr>
            <p:cNvPr id="26" name="Object 2">
              <a:extLst>
                <a:ext uri="{FF2B5EF4-FFF2-40B4-BE49-F238E27FC236}">
                  <a16:creationId xmlns:a16="http://schemas.microsoft.com/office/drawing/2014/main" id="{AFBBAAF7-0CEC-8579-A274-0ED9C79BC324}"/>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E6E14BE-C9AB-1916-A1B5-12D3563D461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87EDEE-AA1F-B04B-7C18-636BEF01A9DB}"/>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1F6F3F43-F3C9-6F62-DF76-5C1EEE67B57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18EA807-ECAC-0868-FC9A-DA714D9B2E25}"/>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4798F-7363-B034-21CE-2B842E3FB0B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20BBCE4-F7D7-CF45-6468-9AE9C50848DB}"/>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5D9B543C-C03D-20CC-5DA3-C92F2989EF8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32E79A5C-8C57-E212-C3CF-9CAC652629C2}"/>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680D9B1-E821-7A14-4DDE-96AA4C4B1F19}"/>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74C670DA-272F-5314-AE27-50FDE030E8C1}"/>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C444158E-426A-23DE-272A-95A9F73EDE83}"/>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8792862-D203-5BD7-D271-C55F586FB4B8}"/>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7FD91C6-C703-B671-AD04-441F41D2DB6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F42BEC1-3B8E-6F13-5E46-2F863CB1BD0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46BF0E60-D300-BB87-8E0C-C6E604575A89}"/>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4B694022-F82D-DB53-1639-4B399EDCFB9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2CDAC2E-51D5-387E-2059-9D11DDFDE451}"/>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E3144965-24B3-6FA7-F141-A0BF5F75309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3BDE38E-29AE-A2FB-3371-9EBF97F7ECB8}"/>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955C13B9-04BD-EF9A-5415-DDBBF08E5E13}"/>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A963C9DC-9962-FA3F-1D6B-306A2BE1D66F}"/>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B71114-8ED0-DF7A-A184-4BC88DB249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A7082D-66A1-0EB2-0121-F76E426F9523}"/>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CDBA26-2E20-F718-306B-26747738569B}"/>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739A8-FD15-8B36-0552-55C38C2094D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400543F-E27A-4CF5-F865-2D6531221B72}"/>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694A934B-E7C9-9B83-EF82-57F7295EF95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F3F52127-DF3A-1E81-9B56-FB69BA962ED3}"/>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C8148B-9EE6-3173-1E96-C024A7171413}"/>
                  </a:ext>
                </a:extLst>
              </p:cNvPr>
              <p:cNvSpPr txBox="1"/>
              <p:nvPr/>
            </p:nvSpPr>
            <p:spPr>
              <a:xfrm>
                <a:off x="5937192" y="4989876"/>
                <a:ext cx="3172527" cy="738664"/>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survey more voters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higher)</a:t>
                </a:r>
              </a:p>
            </p:txBody>
          </p:sp>
        </mc:Choice>
        <mc:Fallback xmlns="">
          <p:sp>
            <p:nvSpPr>
              <p:cNvPr id="5" name="TextBox 4">
                <a:extLst>
                  <a:ext uri="{FF2B5EF4-FFF2-40B4-BE49-F238E27FC236}">
                    <a16:creationId xmlns:a16="http://schemas.microsoft.com/office/drawing/2014/main" id="{6BC8148B-9EE6-3173-1E96-C024A7171413}"/>
                  </a:ext>
                </a:extLst>
              </p:cNvPr>
              <p:cNvSpPr txBox="1">
                <a:spLocks noRot="1" noChangeAspect="1" noMove="1" noResize="1" noEditPoints="1" noAdjustHandles="1" noChangeArrowheads="1" noChangeShapeType="1" noTextEdit="1"/>
              </p:cNvSpPr>
              <p:nvPr/>
            </p:nvSpPr>
            <p:spPr>
              <a:xfrm>
                <a:off x="5937192" y="4989876"/>
                <a:ext cx="3172527" cy="738664"/>
              </a:xfrm>
              <a:prstGeom prst="rect">
                <a:avLst/>
              </a:prstGeom>
              <a:blipFill>
                <a:blip r:embed="rId12"/>
                <a:stretch>
                  <a:fillRect l="-576" t="-1639" b="-6557"/>
                </a:stretch>
              </a:blipFill>
              <a:ln w="3175">
                <a:solidFill>
                  <a:srgbClr val="FF0000"/>
                </a:solidFill>
              </a:ln>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8C461EB5-F4DA-18FD-BDD6-B717AAA9369A}"/>
              </a:ext>
            </a:extLst>
          </p:cNvPr>
          <p:cNvSpPr/>
          <p:nvPr/>
        </p:nvSpPr>
        <p:spPr bwMode="auto">
          <a:xfrm>
            <a:off x="8335773" y="2673626"/>
            <a:ext cx="730697" cy="2269616"/>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p:grpSp>
        <p:nvGrpSpPr>
          <p:cNvPr id="47" name="Group 46">
            <a:extLst>
              <a:ext uri="{FF2B5EF4-FFF2-40B4-BE49-F238E27FC236}">
                <a16:creationId xmlns:a16="http://schemas.microsoft.com/office/drawing/2014/main" id="{4DD1BBD1-E6AD-47AE-9166-A49BD2FCA96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EC34B1DF-AF92-4BEF-9938-2409D1CD473E}"/>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152B6C09-12B2-4CB0-AE03-C9B986AC88D8}"/>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D6F29E46-CB75-4776-B663-239A056304D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95FF6B5-B2B5-4F58-B24D-199A4013B420}"/>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114B4B13-EB1A-47BC-8803-59A522FC922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DBD1604-119D-4A37-A827-6DECD697F056}"/>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9974E6F5-6EA5-4DA3-AB39-1E5E9697D2F1}"/>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A828B1-9E65-46CF-AE86-10100FA708CB}"/>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38076C44-0A42-44DC-995E-EB1CBB10CCA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C9BF0FD6-E75C-4941-9B29-0D08E00AB007}"/>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49444DD-5D5D-4516-B485-9551FCEAC6AB}"/>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9" name="TextBox 58">
                <a:extLst>
                  <a:ext uri="{FF2B5EF4-FFF2-40B4-BE49-F238E27FC236}">
                    <a16:creationId xmlns:a16="http://schemas.microsoft.com/office/drawing/2014/main" id="{449444DD-5D5D-4516-B485-9551FCEAC6AB}"/>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4E131F4-2C0B-4F8C-AF00-43FBC371A02D}"/>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dirty="0"/>
              </a:p>
            </p:txBody>
          </p:sp>
        </mc:Choice>
        <mc:Fallback xmlns="">
          <p:sp>
            <p:nvSpPr>
              <p:cNvPr id="58" name="TextBox 57">
                <a:extLst>
                  <a:ext uri="{FF2B5EF4-FFF2-40B4-BE49-F238E27FC236}">
                    <a16:creationId xmlns:a16="http://schemas.microsoft.com/office/drawing/2014/main" id="{34E131F4-2C0B-4F8C-AF00-43FBC371A02D}"/>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887EF25-7A96-1ED4-7B01-3548953C767E}"/>
                  </a:ext>
                </a:extLst>
              </p:cNvPr>
              <p:cNvSpPr txBox="1"/>
              <p:nvPr/>
            </p:nvSpPr>
            <p:spPr>
              <a:xfrm>
                <a:off x="7448408" y="2301768"/>
                <a:ext cx="1685013" cy="390428"/>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highlight>
                                  <a:srgbClr val="FFFF00"/>
                                </a:highlight>
                                <a:latin typeface="Cambria Math" panose="02040503050406030204" pitchFamily="18" charset="0"/>
                              </a:rPr>
                              <m:t>5000</m:t>
                            </m:r>
                          </m:e>
                        </m:rad>
                      </m:den>
                    </m:f>
                  </m:oMath>
                </a14:m>
                <a:r>
                  <a:rPr lang="en-US" sz="1200" b="0" u="none" dirty="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9887EF25-7A96-1ED4-7B01-3548953C767E}"/>
                  </a:ext>
                </a:extLst>
              </p:cNvPr>
              <p:cNvSpPr txBox="1">
                <a:spLocks noRot="1" noChangeAspect="1" noMove="1" noResize="1" noEditPoints="1" noAdjustHandles="1" noChangeArrowheads="1" noChangeShapeType="1" noTextEdit="1"/>
              </p:cNvSpPr>
              <p:nvPr/>
            </p:nvSpPr>
            <p:spPr>
              <a:xfrm>
                <a:off x="7448408" y="2301768"/>
                <a:ext cx="1685013" cy="390428"/>
              </a:xfrm>
              <a:prstGeom prst="rect">
                <a:avLst/>
              </a:prstGeom>
              <a:blipFill>
                <a:blip r:embed="rId16"/>
                <a:stretch>
                  <a:fillRect/>
                </a:stretch>
              </a:blipFill>
            </p:spPr>
            <p:txBody>
              <a:bodyPr/>
              <a:lstStyle/>
              <a:p>
                <a:r>
                  <a:rPr lang="en-US">
                    <a:noFill/>
                  </a:rPr>
                  <a:t> </a:t>
                </a:r>
              </a:p>
            </p:txBody>
          </p:sp>
        </mc:Fallback>
      </mc:AlternateContent>
      <p:sp>
        <p:nvSpPr>
          <p:cNvPr id="19" name="Freeform: Shape 18">
            <a:extLst>
              <a:ext uri="{FF2B5EF4-FFF2-40B4-BE49-F238E27FC236}">
                <a16:creationId xmlns:a16="http://schemas.microsoft.com/office/drawing/2014/main" id="{2A024433-1461-4BB9-6916-293C1A258EFA}"/>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451303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2D63-CB06-E91F-16B5-E6BAB5C3E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5DC-77F2-8AB3-2039-B6FB1867A679}"/>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46143016-0ADB-AA8F-B887-D0E39C9703B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42</a:t>
            </a:fld>
            <a:endParaRPr lang="en-GB" dirty="0"/>
          </a:p>
        </p:txBody>
      </p:sp>
      <p:grpSp>
        <p:nvGrpSpPr>
          <p:cNvPr id="25" name="Group 24">
            <a:extLst>
              <a:ext uri="{FF2B5EF4-FFF2-40B4-BE49-F238E27FC236}">
                <a16:creationId xmlns:a16="http://schemas.microsoft.com/office/drawing/2014/main" id="{8176B097-C231-AFC1-61DA-33C78525A18F}"/>
              </a:ext>
            </a:extLst>
          </p:cNvPr>
          <p:cNvGrpSpPr>
            <a:grpSpLocks noChangeAspect="1"/>
          </p:cNvGrpSpPr>
          <p:nvPr/>
        </p:nvGrpSpPr>
        <p:grpSpPr>
          <a:xfrm>
            <a:off x="6272606" y="2183448"/>
            <a:ext cx="791382" cy="1782841"/>
            <a:chOff x="3012869" y="4040949"/>
            <a:chExt cx="2157141" cy="1277082"/>
          </a:xfrm>
        </p:grpSpPr>
        <p:graphicFrame>
          <p:nvGraphicFramePr>
            <p:cNvPr id="26" name="Object 2">
              <a:extLst>
                <a:ext uri="{FF2B5EF4-FFF2-40B4-BE49-F238E27FC236}">
                  <a16:creationId xmlns:a16="http://schemas.microsoft.com/office/drawing/2014/main" id="{AFBBAAF7-0CEC-8579-A274-0ED9C79BC324}"/>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E6E14BE-C9AB-1916-A1B5-12D3563D461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87EDEE-AA1F-B04B-7C18-636BEF01A9DB}"/>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1F6F3F43-F3C9-6F62-DF76-5C1EEE67B57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18EA807-ECAC-0868-FC9A-DA714D9B2E25}"/>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4798F-7363-B034-21CE-2B842E3FB0B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20BBCE4-F7D7-CF45-6468-9AE9C50848DB}"/>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5D9B543C-C03D-20CC-5DA3-C92F2989EF8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32E79A5C-8C57-E212-C3CF-9CAC652629C2}"/>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680D9B1-E821-7A14-4DDE-96AA4C4B1F19}"/>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74C670DA-272F-5314-AE27-50FDE030E8C1}"/>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C444158E-426A-23DE-272A-95A9F73EDE83}"/>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8792862-D203-5BD7-D271-C55F586FB4B8}"/>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7FD91C6-C703-B671-AD04-441F41D2DB6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F42BEC1-3B8E-6F13-5E46-2F863CB1BD0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46BF0E60-D300-BB87-8E0C-C6E604575A89}"/>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4B694022-F82D-DB53-1639-4B399EDCFB9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2CDAC2E-51D5-387E-2059-9D11DDFDE451}"/>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E3144965-24B3-6FA7-F141-A0BF5F75309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3BDE38E-29AE-A2FB-3371-9EBF97F7ECB8}"/>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955C13B9-04BD-EF9A-5415-DDBBF08E5E13}"/>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A963C9DC-9962-FA3F-1D6B-306A2BE1D66F}"/>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B71114-8ED0-DF7A-A184-4BC88DB249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A7082D-66A1-0EB2-0121-F76E426F9523}"/>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CDBA26-2E20-F718-306B-26747738569B}"/>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739A8-FD15-8B36-0552-55C38C2094D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400543F-E27A-4CF5-F865-2D6531221B72}"/>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694A934B-E7C9-9B83-EF82-57F7295EF95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F3F52127-DF3A-1E81-9B56-FB69BA962ED3}"/>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C8148B-9EE6-3173-1E96-C024A7171413}"/>
                  </a:ext>
                </a:extLst>
              </p:cNvPr>
              <p:cNvSpPr txBox="1"/>
              <p:nvPr/>
            </p:nvSpPr>
            <p:spPr>
              <a:xfrm>
                <a:off x="5937192" y="4989876"/>
                <a:ext cx="3172527" cy="738664"/>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survey more voters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higher)</a:t>
                </a:r>
              </a:p>
            </p:txBody>
          </p:sp>
        </mc:Choice>
        <mc:Fallback xmlns="">
          <p:sp>
            <p:nvSpPr>
              <p:cNvPr id="5" name="TextBox 4">
                <a:extLst>
                  <a:ext uri="{FF2B5EF4-FFF2-40B4-BE49-F238E27FC236}">
                    <a16:creationId xmlns:a16="http://schemas.microsoft.com/office/drawing/2014/main" id="{6BC8148B-9EE6-3173-1E96-C024A7171413}"/>
                  </a:ext>
                </a:extLst>
              </p:cNvPr>
              <p:cNvSpPr txBox="1">
                <a:spLocks noRot="1" noChangeAspect="1" noMove="1" noResize="1" noEditPoints="1" noAdjustHandles="1" noChangeArrowheads="1" noChangeShapeType="1" noTextEdit="1"/>
              </p:cNvSpPr>
              <p:nvPr/>
            </p:nvSpPr>
            <p:spPr>
              <a:xfrm>
                <a:off x="5937192" y="4989876"/>
                <a:ext cx="3172527" cy="738664"/>
              </a:xfrm>
              <a:prstGeom prst="rect">
                <a:avLst/>
              </a:prstGeom>
              <a:blipFill>
                <a:blip r:embed="rId12"/>
                <a:stretch>
                  <a:fillRect l="-576" t="-1639" b="-6557"/>
                </a:stretch>
              </a:blipFill>
              <a:ln w="3175">
                <a:solidFill>
                  <a:srgbClr val="FF0000"/>
                </a:solidFill>
              </a:ln>
            </p:spPr>
            <p:txBody>
              <a:bodyPr/>
              <a:lstStyle/>
              <a:p>
                <a:r>
                  <a:rPr lang="en-US">
                    <a:noFill/>
                  </a:rPr>
                  <a:t> </a:t>
                </a:r>
              </a:p>
            </p:txBody>
          </p:sp>
        </mc:Fallback>
      </mc:AlternateContent>
      <p:sp>
        <p:nvSpPr>
          <p:cNvPr id="6" name="Freeform: Shape 5">
            <a:extLst>
              <a:ext uri="{FF2B5EF4-FFF2-40B4-BE49-F238E27FC236}">
                <a16:creationId xmlns:a16="http://schemas.microsoft.com/office/drawing/2014/main" id="{8C461EB5-F4DA-18FD-BDD6-B717AAA9369A}"/>
              </a:ext>
            </a:extLst>
          </p:cNvPr>
          <p:cNvSpPr/>
          <p:nvPr/>
        </p:nvSpPr>
        <p:spPr bwMode="auto">
          <a:xfrm>
            <a:off x="8335773" y="2736566"/>
            <a:ext cx="730697" cy="2206675"/>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p:grpSp>
        <p:nvGrpSpPr>
          <p:cNvPr id="47" name="Group 46">
            <a:extLst>
              <a:ext uri="{FF2B5EF4-FFF2-40B4-BE49-F238E27FC236}">
                <a16:creationId xmlns:a16="http://schemas.microsoft.com/office/drawing/2014/main" id="{4DD1BBD1-E6AD-47AE-9166-A49BD2FCA96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EC34B1DF-AF92-4BEF-9938-2409D1CD473E}"/>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152B6C09-12B2-4CB0-AE03-C9B986AC88D8}"/>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D6F29E46-CB75-4776-B663-239A056304D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95FF6B5-B2B5-4F58-B24D-199A4013B420}"/>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114B4B13-EB1A-47BC-8803-59A522FC922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DBD1604-119D-4A37-A827-6DECD697F056}"/>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9974E6F5-6EA5-4DA3-AB39-1E5E9697D2F1}"/>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A828B1-9E65-46CF-AE86-10100FA708CB}"/>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38076C44-0A42-44DC-995E-EB1CBB10CCA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C9BF0FD6-E75C-4941-9B29-0D08E00AB007}"/>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733834-E6A2-45DB-9A53-5CB10F0A56D4}"/>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9" name="TextBox 58">
                <a:extLst>
                  <a:ext uri="{FF2B5EF4-FFF2-40B4-BE49-F238E27FC236}">
                    <a16:creationId xmlns:a16="http://schemas.microsoft.com/office/drawing/2014/main" id="{ED733834-E6A2-45DB-9A53-5CB10F0A56D4}"/>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43D1795-101A-4B58-A07F-4EA491D2BF8F}"/>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8" name="TextBox 57">
                <a:extLst>
                  <a:ext uri="{FF2B5EF4-FFF2-40B4-BE49-F238E27FC236}">
                    <a16:creationId xmlns:a16="http://schemas.microsoft.com/office/drawing/2014/main" id="{443D1795-101A-4B58-A07F-4EA491D2BF8F}"/>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EFD9D0-7FA3-C2DA-25DB-2CDCD5C9FB5D}"/>
                  </a:ext>
                </a:extLst>
              </p:cNvPr>
              <p:cNvSpPr txBox="1"/>
              <p:nvPr/>
            </p:nvSpPr>
            <p:spPr>
              <a:xfrm>
                <a:off x="7448408" y="2301768"/>
                <a:ext cx="1787605" cy="400110"/>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highlight>
                                  <a:srgbClr val="FFFF00"/>
                                </a:highlight>
                                <a:latin typeface="Cambria Math" panose="02040503050406030204" pitchFamily="18" charset="0"/>
                              </a:rPr>
                              <m:t>10,000</m:t>
                            </m:r>
                          </m:e>
                        </m:rad>
                      </m:den>
                    </m:f>
                  </m:oMath>
                </a14:m>
                <a:r>
                  <a:rPr lang="en-US" sz="1200" b="0" u="none" dirty="0">
                    <a:cs typeface="Arial" panose="020B0604020202020204" pitchFamily="34" charset="0"/>
                  </a:rPr>
                  <a:t> </a:t>
                </a:r>
              </a:p>
            </p:txBody>
          </p:sp>
        </mc:Choice>
        <mc:Fallback xmlns="">
          <p:sp>
            <p:nvSpPr>
              <p:cNvPr id="7" name="TextBox 6">
                <a:extLst>
                  <a:ext uri="{FF2B5EF4-FFF2-40B4-BE49-F238E27FC236}">
                    <a16:creationId xmlns:a16="http://schemas.microsoft.com/office/drawing/2014/main" id="{9FEFD9D0-7FA3-C2DA-25DB-2CDCD5C9FB5D}"/>
                  </a:ext>
                </a:extLst>
              </p:cNvPr>
              <p:cNvSpPr txBox="1">
                <a:spLocks noRot="1" noChangeAspect="1" noMove="1" noResize="1" noEditPoints="1" noAdjustHandles="1" noChangeArrowheads="1" noChangeShapeType="1" noTextEdit="1"/>
              </p:cNvSpPr>
              <p:nvPr/>
            </p:nvSpPr>
            <p:spPr>
              <a:xfrm>
                <a:off x="7448408" y="2301768"/>
                <a:ext cx="1787605" cy="400110"/>
              </a:xfrm>
              <a:prstGeom prst="rect">
                <a:avLst/>
              </a:prstGeom>
              <a:blipFill>
                <a:blip r:embed="rId16"/>
                <a:stretch>
                  <a:fillRect/>
                </a:stretch>
              </a:blipFill>
            </p:spPr>
            <p:txBody>
              <a:bodyPr/>
              <a:lstStyle/>
              <a:p>
                <a:r>
                  <a:rPr lang="en-US">
                    <a:noFill/>
                  </a:rPr>
                  <a:t> </a:t>
                </a:r>
              </a:p>
            </p:txBody>
          </p:sp>
        </mc:Fallback>
      </mc:AlternateContent>
      <p:sp>
        <p:nvSpPr>
          <p:cNvPr id="19" name="Freeform: Shape 18">
            <a:extLst>
              <a:ext uri="{FF2B5EF4-FFF2-40B4-BE49-F238E27FC236}">
                <a16:creationId xmlns:a16="http://schemas.microsoft.com/office/drawing/2014/main" id="{4D4A7F1A-E01C-2247-3365-11239543B79C}"/>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7651501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2D63-CB06-E91F-16B5-E6BAB5C3E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5DC-77F2-8AB3-2039-B6FB1867A679}"/>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46143016-0ADB-AA8F-B887-D0E39C9703B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43</a:t>
            </a:fld>
            <a:endParaRPr lang="en-GB" dirty="0"/>
          </a:p>
        </p:txBody>
      </p:sp>
      <p:grpSp>
        <p:nvGrpSpPr>
          <p:cNvPr id="25" name="Group 24">
            <a:extLst>
              <a:ext uri="{FF2B5EF4-FFF2-40B4-BE49-F238E27FC236}">
                <a16:creationId xmlns:a16="http://schemas.microsoft.com/office/drawing/2014/main" id="{8176B097-C231-AFC1-61DA-33C78525A18F}"/>
              </a:ext>
            </a:extLst>
          </p:cNvPr>
          <p:cNvGrpSpPr>
            <a:grpSpLocks noChangeAspect="1"/>
          </p:cNvGrpSpPr>
          <p:nvPr/>
        </p:nvGrpSpPr>
        <p:grpSpPr>
          <a:xfrm>
            <a:off x="6272606" y="2183448"/>
            <a:ext cx="791382" cy="1782841"/>
            <a:chOff x="3012869" y="4040949"/>
            <a:chExt cx="2157141" cy="1277082"/>
          </a:xfrm>
        </p:grpSpPr>
        <p:graphicFrame>
          <p:nvGraphicFramePr>
            <p:cNvPr id="26" name="Object 2">
              <a:extLst>
                <a:ext uri="{FF2B5EF4-FFF2-40B4-BE49-F238E27FC236}">
                  <a16:creationId xmlns:a16="http://schemas.microsoft.com/office/drawing/2014/main" id="{AFBBAAF7-0CEC-8579-A274-0ED9C79BC324}"/>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E6E14BE-C9AB-1916-A1B5-12D3563D461F}"/>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87EDEE-AA1F-B04B-7C18-636BEF01A9DB}"/>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1F6F3F43-F3C9-6F62-DF76-5C1EEE67B579}"/>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18EA807-ECAC-0868-FC9A-DA714D9B2E25}"/>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D204798F-7363-B034-21CE-2B842E3FB0B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520BBCE4-F7D7-CF45-6468-9AE9C50848DB}"/>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5D9B543C-C03D-20CC-5DA3-C92F2989EF8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32E79A5C-8C57-E212-C3CF-9CAC652629C2}"/>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680D9B1-E821-7A14-4DDE-96AA4C4B1F19}"/>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74C670DA-272F-5314-AE27-50FDE030E8C1}"/>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C444158E-426A-23DE-272A-95A9F73EDE83}"/>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8792862-D203-5BD7-D271-C55F586FB4B8}"/>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97FD91C6-C703-B671-AD04-441F41D2DB6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FF42BEC1-3B8E-6F13-5E46-2F863CB1BD09}"/>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46BF0E60-D300-BB87-8E0C-C6E604575A89}"/>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4B694022-F82D-DB53-1639-4B399EDCFB9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2CDAC2E-51D5-387E-2059-9D11DDFDE451}"/>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E3144965-24B3-6FA7-F141-A0BF5F75309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3BDE38E-29AE-A2FB-3371-9EBF97F7ECB8}"/>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955C13B9-04BD-EF9A-5415-DDBBF08E5E13}"/>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A963C9DC-9962-FA3F-1D6B-306A2BE1D66F}"/>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B71114-8ED0-DF7A-A184-4BC88DB249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3A7082D-66A1-0EB2-0121-F76E426F9523}"/>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CDBA26-2E20-F718-306B-26747738569B}"/>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4C739A8-FD15-8B36-0552-55C38C2094D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400543F-E27A-4CF5-F865-2D6531221B72}"/>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694A934B-E7C9-9B83-EF82-57F7295EF95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F3F52127-DF3A-1E81-9B56-FB69BA962ED3}"/>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C8148B-9EE6-3173-1E96-C024A7171413}"/>
                  </a:ext>
                </a:extLst>
              </p:cNvPr>
              <p:cNvSpPr txBox="1"/>
              <p:nvPr/>
            </p:nvSpPr>
            <p:spPr>
              <a:xfrm>
                <a:off x="5937192" y="4989876"/>
                <a:ext cx="3172527" cy="1410130"/>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survey more voters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higher)</a:t>
                </a: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One way to get tight estimate of </a:t>
                </a:r>
                <a14:m>
                  <m:oMath xmlns:m="http://schemas.openxmlformats.org/officeDocument/2006/math">
                    <m:r>
                      <a:rPr lang="en-US" sz="1400" b="0" i="1" u="none">
                        <a:solidFill>
                          <a:srgbClr val="FF0000"/>
                        </a:solidFill>
                        <a:latin typeface="Cambria Math" panose="02040503050406030204" pitchFamily="18" charset="0"/>
                      </a:rPr>
                      <m:t>𝜇</m:t>
                    </m:r>
                  </m:oMath>
                </a14:m>
                <a:r>
                  <a:rPr lang="en-US" sz="1400" b="0" u="none" dirty="0">
                    <a:solidFill>
                      <a:schemeClr val="accent6"/>
                    </a:solidFill>
                    <a:cs typeface="Arial" panose="020B0604020202020204" pitchFamily="34" charset="0"/>
                  </a:rPr>
                  <a:t> is to run many very large polls</a:t>
                </a:r>
              </a:p>
            </p:txBody>
          </p:sp>
        </mc:Choice>
        <mc:Fallback xmlns="">
          <p:sp>
            <p:nvSpPr>
              <p:cNvPr id="5" name="TextBox 4">
                <a:extLst>
                  <a:ext uri="{FF2B5EF4-FFF2-40B4-BE49-F238E27FC236}">
                    <a16:creationId xmlns:a16="http://schemas.microsoft.com/office/drawing/2014/main" id="{6BC8148B-9EE6-3173-1E96-C024A7171413}"/>
                  </a:ext>
                </a:extLst>
              </p:cNvPr>
              <p:cNvSpPr txBox="1">
                <a:spLocks noRot="1" noChangeAspect="1" noMove="1" noResize="1" noEditPoints="1" noAdjustHandles="1" noChangeArrowheads="1" noChangeShapeType="1" noTextEdit="1"/>
              </p:cNvSpPr>
              <p:nvPr/>
            </p:nvSpPr>
            <p:spPr>
              <a:xfrm>
                <a:off x="5937192" y="4989876"/>
                <a:ext cx="3172527" cy="1410130"/>
              </a:xfrm>
              <a:prstGeom prst="rect">
                <a:avLst/>
              </a:prstGeom>
              <a:blipFill>
                <a:blip r:embed="rId12"/>
                <a:stretch>
                  <a:fillRect l="-576" t="-862" b="-1293"/>
                </a:stretch>
              </a:blipFill>
              <a:ln w="3175">
                <a:solidFill>
                  <a:srgbClr val="FF0000"/>
                </a:solidFill>
              </a:ln>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4DD1BBD1-E6AD-47AE-9166-A49BD2FCA96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EC34B1DF-AF92-4BEF-9938-2409D1CD473E}"/>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152B6C09-12B2-4CB0-AE03-C9B986AC88D8}"/>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D6F29E46-CB75-4776-B663-239A056304D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495FF6B5-B2B5-4F58-B24D-199A4013B420}"/>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114B4B13-EB1A-47BC-8803-59A522FC922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DBD1604-119D-4A37-A827-6DECD697F056}"/>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9974E6F5-6EA5-4DA3-AB39-1E5E9697D2F1}"/>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A828B1-9E65-46CF-AE86-10100FA708CB}"/>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38076C44-0A42-44DC-995E-EB1CBB10CCA6}"/>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C9BF0FD6-E75C-4941-9B29-0D08E00AB007}"/>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1FD5A13-BC5F-4C6B-B3DA-F8CF258066ED}"/>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a:t>
                </a:r>
                <a:r>
                  <a:rPr lang="en-US" sz="1600" b="0" u="none" dirty="0">
                    <a:solidFill>
                      <a:srgbClr val="FF0000"/>
                    </a:solidFill>
                    <a:cs typeface="Arial" panose="020B0604020202020204" pitchFamily="34" charset="0"/>
                  </a:rPr>
                  <a:t>true</a:t>
                </a:r>
                <a:r>
                  <a:rPr lang="en-US" sz="1600" b="0" u="none" dirty="0">
                    <a:cs typeface="Arial" panose="020B0604020202020204" pitchFamily="34" charset="0"/>
                  </a:rPr>
                  <a:t> support for candidate A</a:t>
                </a:r>
              </a:p>
            </p:txBody>
          </p:sp>
        </mc:Choice>
        <mc:Fallback xmlns="">
          <p:sp>
            <p:nvSpPr>
              <p:cNvPr id="59" name="TextBox 58">
                <a:extLst>
                  <a:ext uri="{FF2B5EF4-FFF2-40B4-BE49-F238E27FC236}">
                    <a16:creationId xmlns:a16="http://schemas.microsoft.com/office/drawing/2014/main" id="{31FD5A13-BC5F-4C6B-B3DA-F8CF258066ED}"/>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p:sp>
        <p:nvSpPr>
          <p:cNvPr id="20" name="Freeform: Shape 19">
            <a:extLst>
              <a:ext uri="{FF2B5EF4-FFF2-40B4-BE49-F238E27FC236}">
                <a16:creationId xmlns:a16="http://schemas.microsoft.com/office/drawing/2014/main" id="{CA68A350-5011-0F54-6F8F-20DCAD1871D1}"/>
              </a:ext>
            </a:extLst>
          </p:cNvPr>
          <p:cNvSpPr/>
          <p:nvPr/>
        </p:nvSpPr>
        <p:spPr bwMode="auto">
          <a:xfrm>
            <a:off x="8335773" y="2736566"/>
            <a:ext cx="730697" cy="2206675"/>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C97C604-5F23-466D-9753-CFEDC218DEDF}"/>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8" name="TextBox 57">
                <a:extLst>
                  <a:ext uri="{FF2B5EF4-FFF2-40B4-BE49-F238E27FC236}">
                    <a16:creationId xmlns:a16="http://schemas.microsoft.com/office/drawing/2014/main" id="{1C97C604-5F23-466D-9753-CFEDC218DEDF}"/>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CD5457-802C-B03F-0F7F-A0D6EA2D27A2}"/>
                  </a:ext>
                </a:extLst>
              </p:cNvPr>
              <p:cNvSpPr txBox="1"/>
              <p:nvPr/>
            </p:nvSpPr>
            <p:spPr>
              <a:xfrm>
                <a:off x="7448408" y="2301768"/>
                <a:ext cx="1787605" cy="400110"/>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highlight>
                                  <a:srgbClr val="FFFF00"/>
                                </a:highlight>
                                <a:latin typeface="Cambria Math" panose="02040503050406030204" pitchFamily="18" charset="0"/>
                              </a:rPr>
                              <m:t>10,000</m:t>
                            </m:r>
                          </m:e>
                        </m:rad>
                      </m:den>
                    </m:f>
                  </m:oMath>
                </a14:m>
                <a:r>
                  <a:rPr lang="en-US" sz="1200" b="0" u="none" dirty="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9CCD5457-802C-B03F-0F7F-A0D6EA2D27A2}"/>
                  </a:ext>
                </a:extLst>
              </p:cNvPr>
              <p:cNvSpPr txBox="1">
                <a:spLocks noRot="1" noChangeAspect="1" noMove="1" noResize="1" noEditPoints="1" noAdjustHandles="1" noChangeArrowheads="1" noChangeShapeType="1" noTextEdit="1"/>
              </p:cNvSpPr>
              <p:nvPr/>
            </p:nvSpPr>
            <p:spPr>
              <a:xfrm>
                <a:off x="7448408" y="2301768"/>
                <a:ext cx="1787605" cy="400110"/>
              </a:xfrm>
              <a:prstGeom prst="rect">
                <a:avLst/>
              </a:prstGeom>
              <a:blipFill>
                <a:blip r:embed="rId16"/>
                <a:stretch>
                  <a:fillRect/>
                </a:stretch>
              </a:blipFill>
            </p:spPr>
            <p:txBody>
              <a:bodyPr/>
              <a:lstStyle/>
              <a:p>
                <a:r>
                  <a:rPr lang="en-US">
                    <a:noFill/>
                  </a:rPr>
                  <a:t> </a:t>
                </a:r>
              </a:p>
            </p:txBody>
          </p:sp>
        </mc:Fallback>
      </mc:AlternateContent>
      <p:sp>
        <p:nvSpPr>
          <p:cNvPr id="7" name="Freeform: Shape 6">
            <a:extLst>
              <a:ext uri="{FF2B5EF4-FFF2-40B4-BE49-F238E27FC236}">
                <a16:creationId xmlns:a16="http://schemas.microsoft.com/office/drawing/2014/main" id="{9D848387-078F-6BF5-885D-A6AE921AABB9}"/>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527577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9D8AF-34B3-0F6B-A2A9-2589DA2DE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4FB2A-BE84-8C21-B938-6292E868AE0C}"/>
              </a:ext>
            </a:extLst>
          </p:cNvPr>
          <p:cNvSpPr>
            <a:spLocks noGrp="1"/>
          </p:cNvSpPr>
          <p:nvPr>
            <p:ph type="title"/>
          </p:nvPr>
        </p:nvSpPr>
        <p:spPr/>
        <p:txBody>
          <a:bodyPr/>
          <a:lstStyle/>
          <a:p>
            <a:r>
              <a:rPr lang="en-US" dirty="0"/>
              <a:t>Polling Confidence Interval</a:t>
            </a:r>
          </a:p>
        </p:txBody>
      </p:sp>
      <p:sp>
        <p:nvSpPr>
          <p:cNvPr id="4" name="Slide Number Placeholder 3">
            <a:extLst>
              <a:ext uri="{FF2B5EF4-FFF2-40B4-BE49-F238E27FC236}">
                <a16:creationId xmlns:a16="http://schemas.microsoft.com/office/drawing/2014/main" id="{6BDBDC5E-49B5-1287-FE8A-E3A2676A10D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44</a:t>
            </a:fld>
            <a:endParaRPr lang="en-GB" dirty="0"/>
          </a:p>
        </p:txBody>
      </p:sp>
      <p:grpSp>
        <p:nvGrpSpPr>
          <p:cNvPr id="25" name="Group 24">
            <a:extLst>
              <a:ext uri="{FF2B5EF4-FFF2-40B4-BE49-F238E27FC236}">
                <a16:creationId xmlns:a16="http://schemas.microsoft.com/office/drawing/2014/main" id="{3177BFC1-1B88-A880-51F5-417CDFB5C56A}"/>
              </a:ext>
            </a:extLst>
          </p:cNvPr>
          <p:cNvGrpSpPr>
            <a:grpSpLocks noChangeAspect="1"/>
          </p:cNvGrpSpPr>
          <p:nvPr/>
        </p:nvGrpSpPr>
        <p:grpSpPr>
          <a:xfrm>
            <a:off x="6272606" y="2183448"/>
            <a:ext cx="791382" cy="1782841"/>
            <a:chOff x="3012869" y="4040949"/>
            <a:chExt cx="2157141" cy="1277082"/>
          </a:xfrm>
        </p:grpSpPr>
        <p:graphicFrame>
          <p:nvGraphicFramePr>
            <p:cNvPr id="26" name="Object 2">
              <a:extLst>
                <a:ext uri="{FF2B5EF4-FFF2-40B4-BE49-F238E27FC236}">
                  <a16:creationId xmlns:a16="http://schemas.microsoft.com/office/drawing/2014/main" id="{F78E39C8-F652-0350-6EBF-C39B77A1F210}"/>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215D3C43-E0F7-5AEA-DF7F-55C1F4DA5A3A}"/>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96690A0-F9BC-0E9A-CD6A-BB1A0773A384}"/>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68F5AE26-9ECD-B47A-A568-35BB6CAF8F3F}"/>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B45221BD-4CE4-32EC-59D0-9735D9ABA81D}"/>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56FB7461-B4DF-D5EB-5A7B-549CDF091C76}"/>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A89EEEFC-1362-70C0-C09A-E2061BDA999D}"/>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79626CA5-50D3-405B-A59F-3EA4EEE01313}"/>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4299C700-927E-0DB9-E0E2-E19B92C2257C}"/>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E46C54BA-942B-FA72-8032-2CD50EFE0A46}"/>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0B99328E-E050-B1A6-45DC-155390C0398A}"/>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EC8FCD9A-1AD6-3BCC-E7D7-A94085866F10}"/>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F354D35-8711-5EEC-7AAB-3011798C4DE5}"/>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B0FE59F8-3A85-9676-7CF6-527F4509BCD8}"/>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0EF64E17-AFCE-3494-E98B-12FB8C046E9F}"/>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2EEF3A96-898A-DD3A-64F9-F97EA8ABC694}"/>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AE82A591-29FF-98A2-228E-F51A95227905}"/>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3C1CC7D4-6507-3E48-E590-23F5ECA2A6BD}"/>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302BE75A-59BB-FFBE-3699-CEBAC9DA0618}"/>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CACDF4E5-DD53-1D5D-78CA-0FDBBDE5E6D2}"/>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E045FF97-B9CE-5B4C-EDE4-4F1372C5F9CD}"/>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370B04B5-A4D8-F98A-D7BD-B877E5DE7C2C}"/>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9C400BD-2034-F5D4-AD9C-AE0ED4A2335E}"/>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2C03E59-2646-E3CE-5399-4A96B2D05F04}"/>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9460763-895F-A52D-1354-D9DD386C9726}"/>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0DB55BE-51CE-AEE7-0A98-004D8AAEE69E}"/>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A0D1733-DE02-CD5F-AB50-09F285C34A23}"/>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EFDF06C8-A8F0-07AB-2A88-0E40384B132C}"/>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4F291408-1FB9-7C33-25A2-82DADA1C2FE6}"/>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9F97322-9D27-EDC0-1ABB-F319991F67CE}"/>
                  </a:ext>
                </a:extLst>
              </p:cNvPr>
              <p:cNvSpPr txBox="1"/>
              <p:nvPr/>
            </p:nvSpPr>
            <p:spPr>
              <a:xfrm>
                <a:off x="5937192" y="4989876"/>
                <a:ext cx="3172527" cy="1815882"/>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cs typeface="Arial" panose="020B0604020202020204" pitchFamily="34" charset="0"/>
                  </a:rPr>
                  <a:t>The distribution of the poll results will be tighter (skinnier) for polls that survey more voters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solidFill>
                      <a:schemeClr val="accent6"/>
                    </a:solidFill>
                    <a:cs typeface="Arial" panose="020B0604020202020204" pitchFamily="34" charset="0"/>
                  </a:rPr>
                  <a:t> higher)</a:t>
                </a: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One way to get tight estimate of </a:t>
                </a:r>
                <a14:m>
                  <m:oMath xmlns:m="http://schemas.openxmlformats.org/officeDocument/2006/math">
                    <m:r>
                      <a:rPr lang="en-US" sz="1400" b="0" i="1" u="none">
                        <a:solidFill>
                          <a:srgbClr val="FF0000"/>
                        </a:solidFill>
                        <a:latin typeface="Cambria Math" panose="02040503050406030204" pitchFamily="18" charset="0"/>
                      </a:rPr>
                      <m:t>𝜇</m:t>
                    </m:r>
                  </m:oMath>
                </a14:m>
                <a:r>
                  <a:rPr lang="en-US" sz="1400" b="0" u="none" dirty="0">
                    <a:solidFill>
                      <a:schemeClr val="accent6"/>
                    </a:solidFill>
                    <a:cs typeface="Arial" panose="020B0604020202020204" pitchFamily="34" charset="0"/>
                  </a:rPr>
                  <a:t> is to run many very large polls</a:t>
                </a: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Too expensive!!</a:t>
                </a:r>
              </a:p>
            </p:txBody>
          </p:sp>
        </mc:Choice>
        <mc:Fallback xmlns="">
          <p:sp>
            <p:nvSpPr>
              <p:cNvPr id="5" name="TextBox 4">
                <a:extLst>
                  <a:ext uri="{FF2B5EF4-FFF2-40B4-BE49-F238E27FC236}">
                    <a16:creationId xmlns:a16="http://schemas.microsoft.com/office/drawing/2014/main" id="{19F97322-9D27-EDC0-1ABB-F319991F67CE}"/>
                  </a:ext>
                </a:extLst>
              </p:cNvPr>
              <p:cNvSpPr txBox="1">
                <a:spLocks noRot="1" noChangeAspect="1" noMove="1" noResize="1" noEditPoints="1" noAdjustHandles="1" noChangeArrowheads="1" noChangeShapeType="1" noTextEdit="1"/>
              </p:cNvSpPr>
              <p:nvPr/>
            </p:nvSpPr>
            <p:spPr>
              <a:xfrm>
                <a:off x="5937192" y="4989876"/>
                <a:ext cx="3172527" cy="1815882"/>
              </a:xfrm>
              <a:prstGeom prst="rect">
                <a:avLst/>
              </a:prstGeom>
              <a:blipFill>
                <a:blip r:embed="rId12"/>
                <a:stretch>
                  <a:fillRect l="-576" t="-671" b="-2349"/>
                </a:stretch>
              </a:blipFill>
              <a:ln w="3175">
                <a:solidFill>
                  <a:srgbClr val="FF0000"/>
                </a:solidFill>
              </a:ln>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7A1D0336-D235-6DDA-9BB4-C0B7C688E278}"/>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3A0DA35E-097E-8937-9115-B539E73603B1}"/>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7DCA0F89-F14C-1210-82DB-668D32FE5F93}"/>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48B32079-96E0-641A-4452-1F21FADCD1EC}"/>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81D47CDA-FD01-C737-D732-A9AF9140F6FD}"/>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5D3A90F0-BFEE-10FA-8B8E-62E94DFA6144}"/>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4DA52BC0-61EC-1060-0CF5-91940AA50DDC}"/>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185D5464-E7A5-01DD-B9A3-EBB30BA1DCE4}"/>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37EBA308-EE5F-2287-34AC-A4DEF747796C}"/>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2692AFB8-D1C6-6E95-D4BA-C74519D7D4DA}"/>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FADC2C39-337A-1F19-3A37-881811540F50}"/>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FB8CBE4-8D2E-CF6C-6AB0-464267A40629}"/>
                  </a:ext>
                </a:extLst>
              </p:cNvPr>
              <p:cNvSpPr txBox="1"/>
              <p:nvPr/>
            </p:nvSpPr>
            <p:spPr>
              <a:xfrm>
                <a:off x="4686303" y="3890045"/>
                <a:ext cx="4065095"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r>
                  <a:rPr lang="en-US" sz="1600" b="0" u="none" dirty="0">
                    <a:cs typeface="Arial" panose="020B0604020202020204" pitchFamily="34" charset="0"/>
                  </a:rPr>
                  <a:t>The polls’ </a:t>
                </a:r>
                <a14:m>
                  <m:oMath xmlns:m="http://schemas.openxmlformats.org/officeDocument/2006/math">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𝑥</m:t>
                        </m:r>
                      </m:e>
                    </m:acc>
                    <m:r>
                      <a:rPr lang="en-US" sz="1600" i="1" u="none">
                        <a:solidFill>
                          <a:srgbClr val="00B0F0"/>
                        </a:solidFill>
                        <a:latin typeface="Cambria Math" panose="02040503050406030204" pitchFamily="18" charset="0"/>
                      </a:rPr>
                      <m:t> </m:t>
                    </m:r>
                  </m:oMath>
                </a14:m>
                <a:r>
                  <a:rPr lang="en-US" sz="1600" b="0" u="none" dirty="0">
                    <a:cs typeface="Arial" panose="020B0604020202020204" pitchFamily="34" charset="0"/>
                  </a:rPr>
                  <a:t>will be centered </a:t>
                </a:r>
                <a:br>
                  <a:rPr lang="en-US" sz="1600" b="0" u="none" dirty="0">
                    <a:cs typeface="Arial" panose="020B0604020202020204" pitchFamily="34" charset="0"/>
                  </a:rPr>
                </a:br>
                <a:r>
                  <a:rPr lang="en-US" sz="1600" b="0" u="none" dirty="0">
                    <a:cs typeface="Arial" panose="020B0604020202020204" pitchFamily="34" charset="0"/>
                  </a:rPr>
                  <a:t>around the true support for candidate A</a:t>
                </a:r>
              </a:p>
            </p:txBody>
          </p:sp>
        </mc:Choice>
        <mc:Fallback xmlns="">
          <p:sp>
            <p:nvSpPr>
              <p:cNvPr id="59" name="TextBox 58">
                <a:extLst>
                  <a:ext uri="{FF2B5EF4-FFF2-40B4-BE49-F238E27FC236}">
                    <a16:creationId xmlns:a16="http://schemas.microsoft.com/office/drawing/2014/main" id="{7FB8CBE4-8D2E-CF6C-6AB0-464267A40629}"/>
                  </a:ext>
                </a:extLst>
              </p:cNvPr>
              <p:cNvSpPr txBox="1">
                <a:spLocks noRot="1" noChangeAspect="1" noMove="1" noResize="1" noEditPoints="1" noAdjustHandles="1" noChangeArrowheads="1" noChangeShapeType="1" noTextEdit="1"/>
              </p:cNvSpPr>
              <p:nvPr/>
            </p:nvSpPr>
            <p:spPr>
              <a:xfrm>
                <a:off x="4686303" y="3890045"/>
                <a:ext cx="4065095" cy="830997"/>
              </a:xfrm>
              <a:prstGeom prst="rect">
                <a:avLst/>
              </a:prstGeom>
              <a:blipFill>
                <a:blip r:embed="rId13"/>
                <a:stretch>
                  <a:fillRect b="-8824"/>
                </a:stretch>
              </a:blipFill>
            </p:spPr>
            <p:txBody>
              <a:bodyPr/>
              <a:lstStyle/>
              <a:p>
                <a:r>
                  <a:rPr lang="en-US">
                    <a:noFill/>
                  </a:rPr>
                  <a:t> </a:t>
                </a:r>
              </a:p>
            </p:txBody>
          </p:sp>
        </mc:Fallback>
      </mc:AlternateContent>
      <p:sp>
        <p:nvSpPr>
          <p:cNvPr id="20" name="Freeform: Shape 19">
            <a:extLst>
              <a:ext uri="{FF2B5EF4-FFF2-40B4-BE49-F238E27FC236}">
                <a16:creationId xmlns:a16="http://schemas.microsoft.com/office/drawing/2014/main" id="{E16B968A-D15D-2ECF-19B2-191A65C3A5EE}"/>
              </a:ext>
            </a:extLst>
          </p:cNvPr>
          <p:cNvSpPr/>
          <p:nvPr/>
        </p:nvSpPr>
        <p:spPr bwMode="auto">
          <a:xfrm>
            <a:off x="8335773" y="2736566"/>
            <a:ext cx="730697" cy="2206675"/>
          </a:xfrm>
          <a:custGeom>
            <a:avLst/>
            <a:gdLst>
              <a:gd name="connsiteX0" fmla="*/ 0 w 445120"/>
              <a:gd name="connsiteY0" fmla="*/ 0 h 2519569"/>
              <a:gd name="connsiteX1" fmla="*/ 437322 w 445120"/>
              <a:gd name="connsiteY1" fmla="*/ 1446143 h 2519569"/>
              <a:gd name="connsiteX2" fmla="*/ 238539 w 445120"/>
              <a:gd name="connsiteY2" fmla="*/ 2519569 h 2519569"/>
            </a:gdLst>
            <a:ahLst/>
            <a:cxnLst>
              <a:cxn ang="0">
                <a:pos x="connsiteX0" y="connsiteY0"/>
              </a:cxn>
              <a:cxn ang="0">
                <a:pos x="connsiteX1" y="connsiteY1"/>
              </a:cxn>
              <a:cxn ang="0">
                <a:pos x="connsiteX2" y="connsiteY2"/>
              </a:cxn>
            </a:cxnLst>
            <a:rect l="l" t="t" r="r" b="b"/>
            <a:pathLst>
              <a:path w="445120" h="2519569">
                <a:moveTo>
                  <a:pt x="0" y="0"/>
                </a:moveTo>
                <a:cubicBezTo>
                  <a:pt x="198783" y="513107"/>
                  <a:pt x="397566" y="1026215"/>
                  <a:pt x="437322" y="1446143"/>
                </a:cubicBezTo>
                <a:cubicBezTo>
                  <a:pt x="477078" y="1866071"/>
                  <a:pt x="357808" y="2192820"/>
                  <a:pt x="238539" y="2519569"/>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sz="160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DD0A5F4-3071-4D2A-B924-D0D826334389}"/>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8" name="TextBox 57">
                <a:extLst>
                  <a:ext uri="{FF2B5EF4-FFF2-40B4-BE49-F238E27FC236}">
                    <a16:creationId xmlns:a16="http://schemas.microsoft.com/office/drawing/2014/main" id="{CDD0A5F4-3071-4D2A-B924-D0D826334389}"/>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B58403-1041-EDE0-13E9-A9475776C2AC}"/>
                  </a:ext>
                </a:extLst>
              </p:cNvPr>
              <p:cNvSpPr txBox="1"/>
              <p:nvPr/>
            </p:nvSpPr>
            <p:spPr>
              <a:xfrm>
                <a:off x="7448408" y="2301768"/>
                <a:ext cx="1787605" cy="400110"/>
              </a:xfrm>
              <a:prstGeom prst="rect">
                <a:avLst/>
              </a:prstGeom>
              <a:no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highlight>
                                  <a:srgbClr val="FFFF00"/>
                                </a:highlight>
                                <a:latin typeface="Cambria Math" panose="02040503050406030204" pitchFamily="18" charset="0"/>
                              </a:rPr>
                              <m:t>10,000</m:t>
                            </m:r>
                          </m:e>
                        </m:rad>
                      </m:den>
                    </m:f>
                  </m:oMath>
                </a14:m>
                <a:r>
                  <a:rPr lang="en-US" sz="1200" b="0" u="none" dirty="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0B58403-1041-EDE0-13E9-A9475776C2AC}"/>
                  </a:ext>
                </a:extLst>
              </p:cNvPr>
              <p:cNvSpPr txBox="1">
                <a:spLocks noRot="1" noChangeAspect="1" noMove="1" noResize="1" noEditPoints="1" noAdjustHandles="1" noChangeArrowheads="1" noChangeShapeType="1" noTextEdit="1"/>
              </p:cNvSpPr>
              <p:nvPr/>
            </p:nvSpPr>
            <p:spPr>
              <a:xfrm>
                <a:off x="7448408" y="2301768"/>
                <a:ext cx="1787605" cy="400110"/>
              </a:xfrm>
              <a:prstGeom prst="rect">
                <a:avLst/>
              </a:prstGeom>
              <a:blipFill>
                <a:blip r:embed="rId16"/>
                <a:stretch>
                  <a:fillRect/>
                </a:stretch>
              </a:blipFill>
            </p:spPr>
            <p:txBody>
              <a:bodyPr/>
              <a:lstStyle/>
              <a:p>
                <a:r>
                  <a:rPr lang="en-US">
                    <a:noFill/>
                  </a:rPr>
                  <a:t> </a:t>
                </a:r>
              </a:p>
            </p:txBody>
          </p:sp>
        </mc:Fallback>
      </mc:AlternateContent>
      <p:sp>
        <p:nvSpPr>
          <p:cNvPr id="7" name="Freeform: Shape 6">
            <a:extLst>
              <a:ext uri="{FF2B5EF4-FFF2-40B4-BE49-F238E27FC236}">
                <a16:creationId xmlns:a16="http://schemas.microsoft.com/office/drawing/2014/main" id="{83A67CD1-5AC9-D739-6EE1-723DF85C78AD}"/>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18408494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EE7C5-1E17-C1FC-D059-E71BD5783CCE}"/>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D73F10D-7876-23BE-309D-54737D353212}"/>
              </a:ext>
            </a:extLst>
          </p:cNvPr>
          <p:cNvSpPr/>
          <p:nvPr/>
        </p:nvSpPr>
        <p:spPr bwMode="auto">
          <a:xfrm>
            <a:off x="6023591" y="4105110"/>
            <a:ext cx="1305208" cy="670540"/>
          </a:xfrm>
          <a:prstGeom prst="rect">
            <a:avLst/>
          </a:prstGeom>
          <a:solidFill>
            <a:srgbClr val="FFFF99"/>
          </a:solidFill>
          <a:ln w="9525" cap="flat" cmpd="sng" algn="ctr">
            <a:noFill/>
            <a:prstDash val="solid"/>
            <a:round/>
            <a:headEnd type="none" w="med" len="med"/>
            <a:tailEnd type="triangle" w="med" len="med"/>
          </a:ln>
          <a:effectLst/>
        </p:spPr>
        <p:txBody>
          <a:bodyPr rtlCol="0" anchor="ctr"/>
          <a:lstStyle/>
          <a:p>
            <a:pPr algn="ctr"/>
            <a:endParaRPr lang="en-US"/>
          </a:p>
        </p:txBody>
      </p:sp>
      <p:sp>
        <p:nvSpPr>
          <p:cNvPr id="2" name="Title 1">
            <a:extLst>
              <a:ext uri="{FF2B5EF4-FFF2-40B4-BE49-F238E27FC236}">
                <a16:creationId xmlns:a16="http://schemas.microsoft.com/office/drawing/2014/main" id="{AEDA182D-FA4A-1D2B-B039-0C3C67359E6D}"/>
              </a:ext>
            </a:extLst>
          </p:cNvPr>
          <p:cNvSpPr>
            <a:spLocks noGrp="1"/>
          </p:cNvSpPr>
          <p:nvPr>
            <p:ph type="title"/>
          </p:nvPr>
        </p:nvSpPr>
        <p:spPr/>
        <p:txBody>
          <a:bodyPr/>
          <a:lstStyle/>
          <a:p>
            <a:r>
              <a:rPr lang="en-US" dirty="0"/>
              <a:t>Key Stats</a:t>
            </a:r>
          </a:p>
        </p:txBody>
      </p:sp>
      <p:sp>
        <p:nvSpPr>
          <p:cNvPr id="4" name="Slide Number Placeholder 3">
            <a:extLst>
              <a:ext uri="{FF2B5EF4-FFF2-40B4-BE49-F238E27FC236}">
                <a16:creationId xmlns:a16="http://schemas.microsoft.com/office/drawing/2014/main" id="{699C97F1-F438-F422-96AF-70173AFB8EAF}"/>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45</a:t>
            </a:fld>
            <a:endParaRPr lang="en-GB" dirty="0"/>
          </a:p>
        </p:txBody>
      </p:sp>
      <p:grpSp>
        <p:nvGrpSpPr>
          <p:cNvPr id="25" name="Group 24">
            <a:extLst>
              <a:ext uri="{FF2B5EF4-FFF2-40B4-BE49-F238E27FC236}">
                <a16:creationId xmlns:a16="http://schemas.microsoft.com/office/drawing/2014/main" id="{2E566F45-6087-3463-C6CD-3F21346CF1AF}"/>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A30F6719-A913-D3ED-B762-402E50F8D88E}"/>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F7F937F3-0672-3900-101F-14BDEDD2A875}"/>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B364388-2BC0-AD28-7FA0-FED33203DA0E}"/>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DC2B7148-425D-FCBC-B9CA-009B6A10FA1D}"/>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latin typeface="Wingdings 3" panose="05040102010807070707" pitchFamily="18" charset="2"/>
                <a:cs typeface="Arial" panose="020B0604020202020204" pitchFamily="34" charset="0"/>
              </a:rPr>
              <a:t>g</a:t>
            </a:r>
            <a:endParaRPr lang="en-US" sz="4000" b="0" u="none"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64774D80-B459-3F7F-F094-F990958B5108}"/>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92F6D2D5-D345-A5AC-8615-39F7AB01BF53}"/>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727F902A-AD1C-8671-4A7F-374D880C3A58}"/>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9D9DF098-1C55-DF46-7F7C-20D665C132E4}"/>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CA202B0C-A30D-2CFD-2F68-7144090995BF}"/>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C4A130A-C2C2-3196-701F-3B13064CA9B6}"/>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F8C3B4B1-8CC2-A1A0-FE30-7CE4F190682E}"/>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90B537A7-38FD-FE00-B31B-7074A38004BF}"/>
                </a:ext>
              </a:extLst>
            </p:cNvPr>
            <p:cNvSpPr/>
            <p:nvPr/>
          </p:nvSpPr>
          <p:spPr bwMode="auto">
            <a:xfrm>
              <a:off x="227013" y="1788926"/>
              <a:ext cx="3980920" cy="1358535"/>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F677A6B0-77AF-BC75-052A-AC36B8EAC10F}"/>
                </a:ext>
              </a:extLst>
            </p:cNvPr>
            <p:cNvSpPr txBox="1"/>
            <p:nvPr/>
          </p:nvSpPr>
          <p:spPr>
            <a:xfrm>
              <a:off x="1706437" y="1809122"/>
              <a:ext cx="1022071" cy="307777"/>
            </a:xfrm>
            <a:prstGeom prst="rect">
              <a:avLst/>
            </a:prstGeom>
            <a:noFill/>
          </p:spPr>
          <p:txBody>
            <a:bodyPr wrap="square" rtlCol="0">
              <a:spAutoFit/>
            </a:bodyPr>
            <a:lstStyle/>
            <a:p>
              <a:pPr algn="ctr"/>
              <a:r>
                <a:rPr lang="en-US" sz="1400" b="0" u="none" dirty="0">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1627E236-3AAF-56FA-296B-747A39F42939}"/>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09FD0FC9-3F18-6207-841B-CB8339504F8D}"/>
                  </a:ext>
                </a:extLst>
              </p:cNvPr>
              <p:cNvSpPr/>
              <p:nvPr/>
            </p:nvSpPr>
            <p:spPr bwMode="auto">
              <a:xfrm>
                <a:off x="1560342" y="2225571"/>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3" name="Oval 12">
                <a:extLst>
                  <a:ext uri="{FF2B5EF4-FFF2-40B4-BE49-F238E27FC236}">
                    <a16:creationId xmlns:a16="http://schemas.microsoft.com/office/drawing/2014/main" id="{333DB5AB-6F7F-B9D3-5E5B-FD4643F00988}"/>
                  </a:ext>
                </a:extLst>
              </p:cNvPr>
              <p:cNvSpPr/>
              <p:nvPr/>
            </p:nvSpPr>
            <p:spPr bwMode="auto">
              <a:xfrm>
                <a:off x="3052445"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4" name="TextBox 13">
                <a:extLst>
                  <a:ext uri="{FF2B5EF4-FFF2-40B4-BE49-F238E27FC236}">
                    <a16:creationId xmlns:a16="http://schemas.microsoft.com/office/drawing/2014/main" id="{DA26852D-A811-5D67-E4BB-B93494B27356}"/>
                  </a:ext>
                </a:extLst>
              </p:cNvPr>
              <p:cNvSpPr txBox="1"/>
              <p:nvPr/>
            </p:nvSpPr>
            <p:spPr>
              <a:xfrm>
                <a:off x="2882224" y="2422570"/>
                <a:ext cx="1621944"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9C6C1754-3732-3087-B26A-95E8B9E8E57A}"/>
                  </a:ext>
                </a:extLst>
              </p:cNvPr>
              <p:cNvSpPr/>
              <p:nvPr/>
            </p:nvSpPr>
            <p:spPr bwMode="auto">
              <a:xfrm>
                <a:off x="4544548"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6" name="TextBox 15">
                <a:extLst>
                  <a:ext uri="{FF2B5EF4-FFF2-40B4-BE49-F238E27FC236}">
                    <a16:creationId xmlns:a16="http://schemas.microsoft.com/office/drawing/2014/main" id="{02B1C299-D48D-AB2C-4C71-365FB10044F4}"/>
                  </a:ext>
                </a:extLst>
              </p:cNvPr>
              <p:cNvSpPr txBox="1"/>
              <p:nvPr/>
            </p:nvSpPr>
            <p:spPr>
              <a:xfrm>
                <a:off x="4493951" y="2410347"/>
                <a:ext cx="147818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3B8C28DC-7813-26AA-5DDF-F32BF3A5F9AF}"/>
                  </a:ext>
                </a:extLst>
              </p:cNvPr>
              <p:cNvSpPr/>
              <p:nvPr/>
            </p:nvSpPr>
            <p:spPr bwMode="auto">
              <a:xfrm>
                <a:off x="6036651" y="2222205"/>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rgbClr val="00B0F0"/>
                  </a:solidFill>
                  <a:effectLst/>
                  <a:latin typeface="Arial" panose="020B0604020202020204" pitchFamily="34" charset="0"/>
                </a:endParaRPr>
              </a:p>
            </p:txBody>
          </p:sp>
          <p:sp>
            <p:nvSpPr>
              <p:cNvPr id="18" name="TextBox 17">
                <a:extLst>
                  <a:ext uri="{FF2B5EF4-FFF2-40B4-BE49-F238E27FC236}">
                    <a16:creationId xmlns:a16="http://schemas.microsoft.com/office/drawing/2014/main" id="{4F9F38A4-4982-3CEB-8E61-4ABA9AD1C6EA}"/>
                  </a:ext>
                </a:extLst>
              </p:cNvPr>
              <p:cNvSpPr txBox="1"/>
              <p:nvPr/>
            </p:nvSpPr>
            <p:spPr>
              <a:xfrm>
                <a:off x="6121405" y="2425264"/>
                <a:ext cx="1094928" cy="652334"/>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67785B9D-2967-5708-BC73-EE388404658A}"/>
                </a:ext>
              </a:extLst>
            </p:cNvPr>
            <p:cNvSpPr txBox="1"/>
            <p:nvPr/>
          </p:nvSpPr>
          <p:spPr>
            <a:xfrm>
              <a:off x="829161" y="2263801"/>
              <a:ext cx="644573" cy="307777"/>
            </a:xfrm>
            <a:prstGeom prst="rect">
              <a:avLst/>
            </a:prstGeom>
            <a:noFill/>
          </p:spPr>
          <p:txBody>
            <a:bodyPr wrap="square" rtlCol="0">
              <a:spAutoFit/>
            </a:bodyPr>
            <a:lstStyle/>
            <a:p>
              <a:pPr algn="ctr"/>
              <a:r>
                <a:rPr lang="en-US" sz="1400" b="0" u="none" dirty="0">
                  <a:solidFill>
                    <a:srgbClr val="00B0F0"/>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02FB4A1-7C41-5AD7-F4F2-587C550868C4}"/>
                    </a:ext>
                  </a:extLst>
                </p:cNvPr>
                <p:cNvSpPr txBox="1"/>
                <p:nvPr/>
              </p:nvSpPr>
              <p:spPr>
                <a:xfrm>
                  <a:off x="986614" y="2673585"/>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1</m:t>
                            </m:r>
                          </m:sub>
                        </m:sSub>
                      </m:oMath>
                    </m:oMathPara>
                  </a14:m>
                  <a:endParaRPr lang="en-US" sz="1400" b="0" u="none" dirty="0">
                    <a:solidFill>
                      <a:srgbClr val="00B0F0"/>
                    </a:solidFill>
                    <a:cs typeface="Arial" pitchFamily="34" charset="0"/>
                  </a:endParaRPr>
                </a:p>
              </p:txBody>
            </p:sp>
          </mc:Choice>
          <mc:Fallback xmlns="">
            <p:sp>
              <p:nvSpPr>
                <p:cNvPr id="34" name="TextBox 33">
                  <a:extLst>
                    <a:ext uri="{FF2B5EF4-FFF2-40B4-BE49-F238E27FC236}">
                      <a16:creationId xmlns:a16="http://schemas.microsoft.com/office/drawing/2014/main" id="{3F4927BC-2765-4D77-A6C8-D336405E3322}"/>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3A44F64-8F10-F9DD-55D5-324B358A0869}"/>
                    </a:ext>
                  </a:extLst>
                </p:cNvPr>
                <p:cNvSpPr txBox="1"/>
                <p:nvPr/>
              </p:nvSpPr>
              <p:spPr>
                <a:xfrm>
                  <a:off x="1734805" y="266747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2</m:t>
                            </m:r>
                          </m:sub>
                        </m:sSub>
                      </m:oMath>
                    </m:oMathPara>
                  </a14:m>
                  <a:endParaRPr lang="en-US" sz="1400" b="0" u="none" dirty="0">
                    <a:solidFill>
                      <a:srgbClr val="00B0F0"/>
                    </a:solidFill>
                    <a:cs typeface="Arial" pitchFamily="34" charset="0"/>
                  </a:endParaRPr>
                </a:p>
              </p:txBody>
            </p:sp>
          </mc:Choice>
          <mc:Fallback xmlns="">
            <p:sp>
              <p:nvSpPr>
                <p:cNvPr id="36" name="TextBox 35">
                  <a:extLst>
                    <a:ext uri="{FF2B5EF4-FFF2-40B4-BE49-F238E27FC236}">
                      <a16:creationId xmlns:a16="http://schemas.microsoft.com/office/drawing/2014/main" id="{D8E4BB10-B4F7-4DE9-BB7E-663C4592E5E9}"/>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1D6926B-7E47-B540-6AF0-5A78C4F34D87}"/>
                    </a:ext>
                  </a:extLst>
                </p:cNvPr>
                <p:cNvSpPr txBox="1"/>
                <p:nvPr/>
              </p:nvSpPr>
              <p:spPr>
                <a:xfrm>
                  <a:off x="2437198" y="2661124"/>
                  <a:ext cx="340558"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3</m:t>
                            </m:r>
                          </m:sub>
                        </m:sSub>
                      </m:oMath>
                    </m:oMathPara>
                  </a14:m>
                  <a:endParaRPr lang="en-US" sz="1400" b="0" u="none" dirty="0">
                    <a:solidFill>
                      <a:srgbClr val="00B0F0"/>
                    </a:solidFill>
                    <a:cs typeface="Arial" pitchFamily="34" charset="0"/>
                  </a:endParaRPr>
                </a:p>
              </p:txBody>
            </p:sp>
          </mc:Choice>
          <mc:Fallback xmlns="">
            <p:sp>
              <p:nvSpPr>
                <p:cNvPr id="38" name="TextBox 37">
                  <a:extLst>
                    <a:ext uri="{FF2B5EF4-FFF2-40B4-BE49-F238E27FC236}">
                      <a16:creationId xmlns:a16="http://schemas.microsoft.com/office/drawing/2014/main" id="{80CDBA26-2E20-F718-306B-26747738569B}"/>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863ADA9-9D3F-CAE8-F994-FE37E0697665}"/>
                    </a:ext>
                  </a:extLst>
                </p:cNvPr>
                <p:cNvSpPr txBox="1"/>
                <p:nvPr/>
              </p:nvSpPr>
              <p:spPr>
                <a:xfrm>
                  <a:off x="3139591" y="2658330"/>
                  <a:ext cx="340558" cy="3250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rgbClr val="00B0F0"/>
                                </a:solidFill>
                                <a:latin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cs typeface="Arial" pitchFamily="34" charset="0"/>
                              </a:rPr>
                              <m:t>𝑗</m:t>
                            </m:r>
                          </m:sub>
                        </m:sSub>
                      </m:oMath>
                    </m:oMathPara>
                  </a14:m>
                  <a:endParaRPr lang="en-US" sz="1400" b="0" u="none" dirty="0">
                    <a:solidFill>
                      <a:srgbClr val="00B0F0"/>
                    </a:solidFill>
                    <a:cs typeface="Arial" pitchFamily="34" charset="0"/>
                  </a:endParaRPr>
                </a:p>
              </p:txBody>
            </p:sp>
          </mc:Choice>
          <mc:Fallback xmlns="">
            <p:sp>
              <p:nvSpPr>
                <p:cNvPr id="39" name="TextBox 38">
                  <a:extLst>
                    <a:ext uri="{FF2B5EF4-FFF2-40B4-BE49-F238E27FC236}">
                      <a16:creationId xmlns:a16="http://schemas.microsoft.com/office/drawing/2014/main" id="{8BAF2DBC-FFE8-480E-9655-624D7D1A7AAE}"/>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11"/>
                  <a:stretch>
                    <a:fillRect b="-3774"/>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950AD190-5934-ACF2-80FA-23B70CD33717}"/>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102868F8-3414-8808-6052-C68B55D377E5}"/>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A400B246-6E56-8F9A-DBA3-B2997011369E}"/>
              </a:ext>
            </a:extLst>
          </p:cNvPr>
          <p:cNvSpPr txBox="1"/>
          <p:nvPr/>
        </p:nvSpPr>
        <p:spPr>
          <a:xfrm>
            <a:off x="4319909" y="3239582"/>
            <a:ext cx="822449" cy="600164"/>
          </a:xfrm>
          <a:prstGeom prst="rect">
            <a:avLst/>
          </a:prstGeom>
          <a:noFill/>
        </p:spPr>
        <p:txBody>
          <a:bodyPr wrap="square">
            <a:spAutoFit/>
          </a:bodyPr>
          <a:lstStyle/>
          <a:p>
            <a:pPr algn="ctr"/>
            <a:r>
              <a:rPr lang="en-US" sz="1100" b="0" u="none" dirty="0"/>
              <a:t>Central Limit Theorem</a:t>
            </a:r>
          </a:p>
        </p:txBody>
      </p:sp>
      <p:grpSp>
        <p:nvGrpSpPr>
          <p:cNvPr id="47" name="Group 46">
            <a:extLst>
              <a:ext uri="{FF2B5EF4-FFF2-40B4-BE49-F238E27FC236}">
                <a16:creationId xmlns:a16="http://schemas.microsoft.com/office/drawing/2014/main" id="{B049476D-D1D9-9DAD-997F-53D46246F5FF}"/>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0B4637CA-BDDB-54E1-2B11-4BC762569576}"/>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788F5ED3-FAF4-5733-91BF-A2179D7AD940}"/>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A2923574-2C5C-8997-2696-323404D16E66}"/>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E606F47D-B85E-EE9F-C416-15934DCFC4BD}"/>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ED6278D4-7036-DEAD-3C5A-1B7E56434E92}"/>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F34D0CC9-086E-4307-7A22-4597EB845A25}"/>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37D0CF5C-E602-9818-67F8-F639E2AFD3E4}"/>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B9331753-DA32-51F1-3E1E-99F9185F8E4D}"/>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A6732A39-F709-5494-7C06-6BCFE0E8782C}"/>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AA3E97E7-B3B2-04EB-C767-8F20D9C25229}"/>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F84262E8-DCCF-3AD0-87CE-4BF6CA72A106}"/>
                  </a:ext>
                </a:extLst>
              </p:cNvPr>
              <p:cNvSpPr txBox="1"/>
              <p:nvPr/>
            </p:nvSpPr>
            <p:spPr>
              <a:xfrm>
                <a:off x="4417541" y="3890045"/>
                <a:ext cx="4593349" cy="89178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14:m>
                  <m:oMath xmlns:m="http://schemas.openxmlformats.org/officeDocument/2006/math">
                    <m:r>
                      <a:rPr lang="en-US" sz="1600" b="0" i="1" u="none" dirty="0" smtClean="0">
                        <a:latin typeface="Cambria Math" panose="02040503050406030204" pitchFamily="18" charset="0"/>
                        <a:cs typeface="Arial" panose="020B0604020202020204" pitchFamily="34" charset="0"/>
                      </a:rPr>
                      <m:t>𝑀𝑒𝑎𝑛</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𝑜𝑓</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𝑝𝑜𝑙𝑙𝑠</m:t>
                    </m:r>
                    <m:d>
                      <m:dPr>
                        <m:ctrlPr>
                          <a:rPr lang="en-US" sz="1600" b="0" i="1" u="none" dirty="0">
                            <a:latin typeface="Cambria Math" panose="02040503050406030204" pitchFamily="18" charset="0"/>
                            <a:cs typeface="Arial" panose="020B0604020202020204" pitchFamily="34" charset="0"/>
                          </a:rPr>
                        </m:ctrlPr>
                      </m:dPr>
                      <m:e>
                        <m:r>
                          <a:rPr lang="en-US" sz="1600" b="0" i="1" u="none" dirty="0" smtClean="0">
                            <a:latin typeface="Cambria Math" panose="02040503050406030204" pitchFamily="18" charset="0"/>
                            <a:cs typeface="Arial" panose="020B0604020202020204" pitchFamily="34" charset="0"/>
                          </a:rPr>
                          <m:t> </m:t>
                        </m:r>
                        <m:acc>
                          <m:accPr>
                            <m:chr m:val="̿"/>
                            <m:ctrlPr>
                              <a:rPr lang="en-US" sz="1600" b="0" i="1" u="none" dirty="0" smtClean="0">
                                <a:solidFill>
                                  <a:srgbClr val="00B0F0"/>
                                </a:solidFill>
                                <a:latin typeface="Cambria Math" panose="02040503050406030204" pitchFamily="18" charset="0"/>
                                <a:cs typeface="Arial" panose="020B0604020202020204" pitchFamily="34" charset="0"/>
                              </a:rPr>
                            </m:ctrlPr>
                          </m:accPr>
                          <m:e>
                            <m:r>
                              <a:rPr lang="en-US" sz="1600" b="0" i="1" u="none" dirty="0" smtClean="0">
                                <a:solidFill>
                                  <a:srgbClr val="00B0F0"/>
                                </a:solidFill>
                                <a:latin typeface="Cambria Math" panose="02040503050406030204" pitchFamily="18" charset="0"/>
                                <a:cs typeface="Arial" panose="020B0604020202020204" pitchFamily="34" charset="0"/>
                              </a:rPr>
                              <m:t>𝑥</m:t>
                            </m:r>
                          </m:e>
                        </m:acc>
                        <m:r>
                          <a:rPr lang="en-US" sz="1600" b="0" u="none">
                            <a:latin typeface="Cambria Math" panose="02040503050406030204" pitchFamily="18" charset="0"/>
                          </a:rPr>
                          <m:t>=</m:t>
                        </m:r>
                        <m:f>
                          <m:fPr>
                            <m:ctrlPr>
                              <a:rPr lang="en-US" sz="1600" b="0" i="1" u="none">
                                <a:latin typeface="Cambria Math" panose="02040503050406030204" pitchFamily="18" charset="0"/>
                              </a:rPr>
                            </m:ctrlPr>
                          </m:fPr>
                          <m:num>
                            <m:nary>
                              <m:naryPr>
                                <m:chr m:val="∑"/>
                                <m:limLoc m:val="subSup"/>
                                <m:ctrlPr>
                                  <a:rPr lang="en-US" sz="1600" b="0" i="1" u="none">
                                    <a:latin typeface="Cambria Math" panose="02040503050406030204" pitchFamily="18" charset="0"/>
                                  </a:rPr>
                                </m:ctrlPr>
                              </m:naryPr>
                              <m:sub>
                                <m:r>
                                  <a:rPr lang="en-US" sz="1600" b="0" i="1" u="none">
                                    <a:latin typeface="Cambria Math" panose="02040503050406030204" pitchFamily="18" charset="0"/>
                                  </a:rPr>
                                  <m:t>𝑗</m:t>
                                </m:r>
                                <m:r>
                                  <a:rPr lang="en-US" sz="1600" b="0" i="1" u="none">
                                    <a:latin typeface="Cambria Math" panose="02040503050406030204" pitchFamily="18" charset="0"/>
                                  </a:rPr>
                                  <m:t>=1</m:t>
                                </m:r>
                              </m:sub>
                              <m:sup>
                                <m:r>
                                  <a:rPr lang="en-US" sz="1600" b="0" i="1" u="none">
                                    <a:latin typeface="Cambria Math" panose="02040503050406030204" pitchFamily="18" charset="0"/>
                                  </a:rPr>
                                  <m:t>#</m:t>
                                </m:r>
                                <m:r>
                                  <a:rPr lang="en-US" sz="1600" b="0" i="1" u="none">
                                    <a:latin typeface="Cambria Math" panose="02040503050406030204" pitchFamily="18" charset="0"/>
                                  </a:rPr>
                                  <m:t>𝑃𝑜𝑙𝑙𝑠</m:t>
                                </m:r>
                              </m:sup>
                              <m:e>
                                <m:sSub>
                                  <m:sSubPr>
                                    <m:ctrlPr>
                                      <a:rPr lang="en-US" sz="1600" b="0" i="1" u="none" smtClean="0">
                                        <a:solidFill>
                                          <a:srgbClr val="00B0F0"/>
                                        </a:solidFill>
                                        <a:latin typeface="Cambria Math" panose="02040503050406030204" pitchFamily="18" charset="0"/>
                                      </a:rPr>
                                    </m:ctrlPr>
                                  </m:sSubPr>
                                  <m:e>
                                    <m:acc>
                                      <m:accPr>
                                        <m:chr m:val="̅"/>
                                        <m:ctrlPr>
                                          <a:rPr lang="en-US" sz="1600" b="0" i="1" u="none">
                                            <a:solidFill>
                                              <a:srgbClr val="00B0F0"/>
                                            </a:solidFill>
                                            <a:latin typeface="Cambria Math" panose="02040503050406030204" pitchFamily="18" charset="0"/>
                                          </a:rPr>
                                        </m:ctrlPr>
                                      </m:accPr>
                                      <m:e>
                                        <m:r>
                                          <a:rPr lang="en-US" sz="1600" b="0" i="1" u="none" smtClean="0">
                                            <a:solidFill>
                                              <a:srgbClr val="00B0F0"/>
                                            </a:solidFill>
                                            <a:latin typeface="Cambria Math" panose="02040503050406030204" pitchFamily="18" charset="0"/>
                                          </a:rPr>
                                          <m:t>𝑥</m:t>
                                        </m:r>
                                      </m:e>
                                    </m:acc>
                                  </m:e>
                                  <m:sub>
                                    <m:r>
                                      <a:rPr lang="en-US" sz="1600" b="0" i="1" u="none" smtClean="0">
                                        <a:solidFill>
                                          <a:srgbClr val="00B0F0"/>
                                        </a:solidFill>
                                        <a:latin typeface="Cambria Math" panose="02040503050406030204" pitchFamily="18" charset="0"/>
                                      </a:rPr>
                                      <m:t>𝑗</m:t>
                                    </m:r>
                                  </m:sub>
                                </m:sSub>
                              </m:e>
                            </m:nary>
                          </m:num>
                          <m:den>
                            <m:r>
                              <a:rPr lang="en-US" sz="1600" b="0" i="1" u="none">
                                <a:latin typeface="Cambria Math" panose="02040503050406030204" pitchFamily="18" charset="0"/>
                              </a:rPr>
                              <m:t>#</m:t>
                            </m:r>
                            <m:r>
                              <a:rPr lang="en-US" sz="1600" b="0" i="1" u="none">
                                <a:latin typeface="Cambria Math" panose="02040503050406030204" pitchFamily="18" charset="0"/>
                              </a:rPr>
                              <m:t>𝑃𝑜𝑙𝑙𝑠</m:t>
                            </m:r>
                          </m:den>
                        </m:f>
                      </m:e>
                    </m:d>
                    <m:r>
                      <a:rPr lang="en-US" sz="1600" b="0" i="1" u="none" dirty="0" smtClean="0">
                        <a:latin typeface="Cambria Math" panose="02040503050406030204" pitchFamily="18" charset="0"/>
                        <a:cs typeface="Arial" panose="020B0604020202020204" pitchFamily="34" charset="0"/>
                      </a:rPr>
                      <m:t>𝑐𝑜𝑛𝑣𝑒𝑟𝑔𝑒𝑠</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𝑡𝑜</m:t>
                    </m:r>
                    <m:r>
                      <a:rPr lang="en-US" sz="1600" b="0" i="1" u="none" dirty="0" smtClean="0">
                        <a:latin typeface="Cambria Math" panose="02040503050406030204" pitchFamily="18" charset="0"/>
                        <a:cs typeface="Arial" panose="020B0604020202020204" pitchFamily="34" charset="0"/>
                      </a:rPr>
                      <m:t> </m:t>
                    </m:r>
                    <m:r>
                      <a:rPr lang="en-US" sz="1600" b="0" i="1" u="none" dirty="0">
                        <a:solidFill>
                          <a:srgbClr val="FF0000"/>
                        </a:solidFill>
                        <a:latin typeface="Cambria Math" panose="02040503050406030204" pitchFamily="18" charset="0"/>
                        <a:cs typeface="Arial" panose="020B0604020202020204" pitchFamily="34" charset="0"/>
                      </a:rPr>
                      <m:t>𝜇</m:t>
                    </m:r>
                  </m:oMath>
                </a14:m>
                <a:r>
                  <a:rPr lang="en-US" sz="1600" b="0" u="none" dirty="0">
                    <a:cs typeface="Arial" panose="020B0604020202020204" pitchFamily="34" charset="0"/>
                  </a:rPr>
                  <a:t> </a:t>
                </a:r>
              </a:p>
            </p:txBody>
          </p:sp>
        </mc:Choice>
        <mc:Fallback xmlns="">
          <p:sp>
            <p:nvSpPr>
              <p:cNvPr id="58" name="TextBox 57">
                <a:extLst>
                  <a:ext uri="{FF2B5EF4-FFF2-40B4-BE49-F238E27FC236}">
                    <a16:creationId xmlns:a16="http://schemas.microsoft.com/office/drawing/2014/main" id="{F84262E8-DCCF-3AD0-87CE-4BF6CA72A106}"/>
                  </a:ext>
                </a:extLst>
              </p:cNvPr>
              <p:cNvSpPr txBox="1">
                <a:spLocks noRot="1" noChangeAspect="1" noMove="1" noResize="1" noEditPoints="1" noAdjustHandles="1" noChangeArrowheads="1" noChangeShapeType="1" noTextEdit="1"/>
              </p:cNvSpPr>
              <p:nvPr/>
            </p:nvSpPr>
            <p:spPr>
              <a:xfrm>
                <a:off x="4417541" y="3890045"/>
                <a:ext cx="4593349" cy="89178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FD31530-8A27-13A0-9BCE-C7D2A56811A7}"/>
                  </a:ext>
                </a:extLst>
              </p:cNvPr>
              <p:cNvSpPr txBox="1"/>
              <p:nvPr/>
            </p:nvSpPr>
            <p:spPr>
              <a:xfrm>
                <a:off x="725266" y="4869909"/>
                <a:ext cx="7693467" cy="1925399"/>
              </a:xfrm>
              <a:prstGeom prst="rect">
                <a:avLst/>
              </a:prstGeom>
              <a:noFill/>
            </p:spPr>
            <p:txBody>
              <a:bodyPr wrap="square" rtlCol="0">
                <a:spAutoFit/>
              </a:bodyPr>
              <a:lstStyle/>
              <a:p>
                <a:pPr>
                  <a:spcAft>
                    <a:spcPts val="300"/>
                  </a:spcAft>
                </a:pPr>
                <a:r>
                  <a:rPr lang="en-US" sz="1400" b="0" u="none" dirty="0"/>
                  <a:t>where</a:t>
                </a:r>
              </a:p>
              <a:p>
                <a:pPr>
                  <a:spcAft>
                    <a:spcPts val="300"/>
                  </a:spcAft>
                </a:pPr>
                <a14:m>
                  <m:oMath xmlns:m="http://schemas.openxmlformats.org/officeDocument/2006/math">
                    <m:sSub>
                      <m:sSubPr>
                        <m:ctrlPr>
                          <a:rPr lang="en-US" sz="1400" b="0" i="1" u="none" smtClean="0">
                            <a:solidFill>
                              <a:srgbClr val="00B0F0"/>
                            </a:solidFill>
                            <a:latin typeface="Cambria Math" panose="02040503050406030204" pitchFamily="18" charset="0"/>
                          </a:rPr>
                        </m:ctrlPr>
                      </m:sSubPr>
                      <m:e>
                        <m:acc>
                          <m:accPr>
                            <m:chr m:val="̅"/>
                            <m:ctrlPr>
                              <a:rPr lang="en-US" sz="1400" b="0" i="1" u="none" smtClean="0">
                                <a:solidFill>
                                  <a:srgbClr val="00B0F0"/>
                                </a:solidFill>
                                <a:latin typeface="Cambria Math" panose="02040503050406030204" pitchFamily="18" charset="0"/>
                              </a:rPr>
                            </m:ctrlPr>
                          </m:accPr>
                          <m:e>
                            <m:r>
                              <a:rPr lang="en-US" sz="1400" b="0" i="1" u="none" smtClean="0">
                                <a:solidFill>
                                  <a:srgbClr val="00B0F0"/>
                                </a:solidFill>
                                <a:latin typeface="Cambria Math" panose="02040503050406030204" pitchFamily="18" charset="0"/>
                              </a:rPr>
                              <m:t>𝑥</m:t>
                            </m:r>
                          </m:e>
                        </m:acc>
                      </m:e>
                      <m:sub>
                        <m:r>
                          <a:rPr lang="en-US" sz="1400" b="0" i="1" u="none" smtClean="0">
                            <a:solidFill>
                              <a:srgbClr val="00B0F0"/>
                            </a:solidFill>
                            <a:latin typeface="Cambria Math" panose="02040503050406030204" pitchFamily="18" charset="0"/>
                          </a:rPr>
                          <m:t>𝑗</m:t>
                        </m:r>
                      </m:sub>
                    </m:sSub>
                    <m:r>
                      <m:rPr>
                        <m:nor/>
                      </m:rPr>
                      <a:rPr lang="en-US" sz="1400" b="0" i="0" u="none" dirty="0">
                        <a:cs typeface="Arial" panose="020B0604020202020204" pitchFamily="34" charset="0"/>
                      </a:rPr>
                      <m:t>	</m:t>
                    </m:r>
                  </m:oMath>
                </a14:m>
                <a:r>
                  <a:rPr lang="en-US" sz="1400" b="0" u="none" dirty="0">
                    <a:cs typeface="Arial" panose="020B0604020202020204" pitchFamily="34" charset="0"/>
                  </a:rPr>
                  <a:t>	</a:t>
                </a:r>
                <a14:m>
                  <m:oMath xmlns:m="http://schemas.openxmlformats.org/officeDocument/2006/math">
                    <m:r>
                      <m:rPr>
                        <m:nor/>
                      </m:rPr>
                      <a:rPr lang="en-US" sz="1400" b="0" i="0" u="none" dirty="0">
                        <a:cs typeface="Arial" panose="020B0604020202020204" pitchFamily="34" charset="0"/>
                      </a:rPr>
                      <m:t>is</m:t>
                    </m:r>
                    <m:r>
                      <m:rPr>
                        <m:nor/>
                      </m:rPr>
                      <a:rPr lang="en-US" sz="1400" b="0" i="0" u="none" dirty="0">
                        <a:cs typeface="Arial" panose="020B0604020202020204" pitchFamily="34" charset="0"/>
                      </a:rPr>
                      <m:t> </m:t>
                    </m:r>
                    <m:r>
                      <m:rPr>
                        <m:nor/>
                      </m:rPr>
                      <a:rPr lang="en-US" sz="1400" b="0" i="0" u="none" dirty="0">
                        <a:cs typeface="Arial" panose="020B0604020202020204" pitchFamily="34" charset="0"/>
                      </a:rPr>
                      <m:t>the</m:t>
                    </m:r>
                    <m:r>
                      <m:rPr>
                        <m:nor/>
                      </m:rPr>
                      <a:rPr lang="en-US" sz="1400" b="0" i="0" u="none" dirty="0">
                        <a:cs typeface="Arial" panose="020B0604020202020204" pitchFamily="34" charset="0"/>
                      </a:rPr>
                      <m:t> </m:t>
                    </m:r>
                    <m:r>
                      <m:rPr>
                        <m:nor/>
                      </m:rPr>
                      <a:rPr lang="en-US" sz="1400" b="0" i="0" u="none" dirty="0">
                        <a:cs typeface="Arial" panose="020B0604020202020204" pitchFamily="34" charset="0"/>
                      </a:rPr>
                      <m:t>vote</m:t>
                    </m:r>
                    <m:r>
                      <m:rPr>
                        <m:nor/>
                      </m:rPr>
                      <a:rPr lang="en-US" sz="1400" b="0" i="0" u="none" dirty="0">
                        <a:cs typeface="Arial" panose="020B0604020202020204" pitchFamily="34" charset="0"/>
                      </a:rPr>
                      <m:t> </m:t>
                    </m:r>
                    <m:r>
                      <m:rPr>
                        <m:nor/>
                      </m:rPr>
                      <a:rPr lang="en-US" sz="1400" b="0" i="0" u="none" dirty="0">
                        <a:cs typeface="Arial" panose="020B0604020202020204" pitchFamily="34" charset="0"/>
                      </a:rPr>
                      <m:t>share</m:t>
                    </m:r>
                    <m:r>
                      <m:rPr>
                        <m:nor/>
                      </m:rPr>
                      <a:rPr lang="en-US" sz="1400" b="0" i="0" u="none" dirty="0">
                        <a:cs typeface="Arial" panose="020B0604020202020204" pitchFamily="34" charset="0"/>
                      </a:rPr>
                      <m:t> </m:t>
                    </m:r>
                    <m:r>
                      <m:rPr>
                        <m:nor/>
                      </m:rPr>
                      <a:rPr lang="en-US" sz="1400" b="0" i="0" u="none" dirty="0">
                        <a:cs typeface="Arial" panose="020B0604020202020204" pitchFamily="34" charset="0"/>
                      </a:rPr>
                      <m:t>from</m:t>
                    </m:r>
                    <m:r>
                      <m:rPr>
                        <m:nor/>
                      </m:rPr>
                      <a:rPr lang="en-US" sz="1400" b="0" i="0" u="none" dirty="0">
                        <a:cs typeface="Arial" panose="020B0604020202020204" pitchFamily="34" charset="0"/>
                      </a:rPr>
                      <m:t> </m:t>
                    </m:r>
                    <m:r>
                      <m:rPr>
                        <m:nor/>
                      </m:rPr>
                      <a:rPr lang="en-US" sz="1400" b="0" i="0" u="none" dirty="0">
                        <a:cs typeface="Arial" panose="020B0604020202020204" pitchFamily="34" charset="0"/>
                      </a:rPr>
                      <m:t>poll</m:t>
                    </m:r>
                    <m:r>
                      <m:rPr>
                        <m:nor/>
                      </m:rPr>
                      <a:rPr lang="en-US" sz="1400" b="0" i="0" u="none" dirty="0">
                        <a:cs typeface="Arial" panose="020B0604020202020204" pitchFamily="34" charset="0"/>
                      </a:rPr>
                      <m:t> </m:t>
                    </m:r>
                    <m:r>
                      <m:rPr>
                        <m:nor/>
                      </m:rPr>
                      <a:rPr lang="en-US" sz="1400" b="0" i="1" u="none" dirty="0">
                        <a:cs typeface="Arial" panose="020B0604020202020204" pitchFamily="34" charset="0"/>
                      </a:rPr>
                      <m:t>j</m:t>
                    </m:r>
                  </m:oMath>
                </a14:m>
                <a:endParaRPr lang="en-US" sz="1400" b="0" u="none" dirty="0">
                  <a:cs typeface="Arial" panose="020B0604020202020204" pitchFamily="34" charset="0"/>
                </a:endParaRPr>
              </a:p>
              <a:p>
                <a:pPr>
                  <a:spcAft>
                    <a:spcPts val="300"/>
                  </a:spcAft>
                </a:pPr>
                <a14:m>
                  <m:oMath xmlns:m="http://schemas.openxmlformats.org/officeDocument/2006/math">
                    <m:r>
                      <m:rPr>
                        <m:nor/>
                      </m:rPr>
                      <a:rPr lang="en-US" sz="1400" b="0" i="0" u="none" dirty="0">
                        <a:cs typeface="Arial" panose="020B0604020202020204" pitchFamily="34" charset="0"/>
                      </a:rPr>
                      <m:t>	</m:t>
                    </m:r>
                    <m:acc>
                      <m:accPr>
                        <m:chr m:val="̿"/>
                        <m:ctrlPr>
                          <a:rPr lang="en-US" sz="1400" b="0" i="1" u="none" dirty="0" smtClean="0">
                            <a:solidFill>
                              <a:srgbClr val="00B0F0"/>
                            </a:solidFill>
                            <a:latin typeface="Cambria Math" panose="02040503050406030204" pitchFamily="18" charset="0"/>
                            <a:cs typeface="Arial" panose="020B0604020202020204" pitchFamily="34" charset="0"/>
                          </a:rPr>
                        </m:ctrlPr>
                      </m:accPr>
                      <m:e>
                        <m:r>
                          <a:rPr lang="en-US" sz="1400" b="0" i="1" u="none" dirty="0" smtClean="0">
                            <a:solidFill>
                              <a:srgbClr val="00B0F0"/>
                            </a:solidFill>
                            <a:latin typeface="Cambria Math" panose="02040503050406030204" pitchFamily="18" charset="0"/>
                            <a:cs typeface="Arial" panose="020B0604020202020204" pitchFamily="34" charset="0"/>
                          </a:rPr>
                          <m:t>𝑥</m:t>
                        </m:r>
                      </m:e>
                    </m:acc>
                  </m:oMath>
                </a14:m>
                <a:r>
                  <a:rPr lang="en-US" sz="1400" b="0" u="none" dirty="0">
                    <a:cs typeface="Arial" panose="020B0604020202020204" pitchFamily="34" charset="0"/>
                  </a:rPr>
                  <a:t>	</a:t>
                </a:r>
                <a14:m>
                  <m:oMath xmlns:m="http://schemas.openxmlformats.org/officeDocument/2006/math">
                    <m:r>
                      <m:rPr>
                        <m:nor/>
                      </m:rPr>
                      <a:rPr lang="en-US" sz="1400" b="0" i="0" u="none" dirty="0">
                        <a:cs typeface="Arial" panose="020B0604020202020204" pitchFamily="34" charset="0"/>
                      </a:rPr>
                      <m:t>is</m:t>
                    </m:r>
                    <m:r>
                      <m:rPr>
                        <m:nor/>
                      </m:rPr>
                      <a:rPr lang="en-US" sz="1400" b="0" i="0" u="none" dirty="0">
                        <a:cs typeface="Arial" panose="020B0604020202020204" pitchFamily="34" charset="0"/>
                      </a:rPr>
                      <m:t> </m:t>
                    </m:r>
                    <m:r>
                      <m:rPr>
                        <m:nor/>
                      </m:rPr>
                      <a:rPr lang="en-US" sz="1400" b="0" i="0" u="none" dirty="0">
                        <a:cs typeface="Arial" panose="020B0604020202020204" pitchFamily="34" charset="0"/>
                      </a:rPr>
                      <m:t>the</m:t>
                    </m:r>
                    <m:r>
                      <m:rPr>
                        <m:nor/>
                      </m:rPr>
                      <a:rPr lang="en-US" sz="1400" b="0" i="0" u="none" dirty="0">
                        <a:cs typeface="Arial" panose="020B0604020202020204" pitchFamily="34" charset="0"/>
                      </a:rPr>
                      <m:t> </m:t>
                    </m:r>
                    <m:r>
                      <m:rPr>
                        <m:nor/>
                      </m:rPr>
                      <a:rPr lang="en-US" sz="1400" b="0" i="0" u="none" dirty="0" smtClean="0">
                        <a:cs typeface="Arial" panose="020B0604020202020204" pitchFamily="34" charset="0"/>
                      </a:rPr>
                      <m:t>mean</m:t>
                    </m:r>
                    <m:r>
                      <m:rPr>
                        <m:nor/>
                      </m:rPr>
                      <a:rPr lang="en-US" sz="1400" b="0" i="0" u="none" dirty="0" smtClean="0">
                        <a:cs typeface="Arial" panose="020B0604020202020204" pitchFamily="34" charset="0"/>
                      </a:rPr>
                      <m:t> </m:t>
                    </m:r>
                    <m:r>
                      <m:rPr>
                        <m:nor/>
                      </m:rPr>
                      <a:rPr lang="en-US" sz="1400" b="0" i="0" u="none" dirty="0" smtClean="0">
                        <a:cs typeface="Arial" panose="020B0604020202020204" pitchFamily="34" charset="0"/>
                      </a:rPr>
                      <m:t>vote</m:t>
                    </m:r>
                    <m:r>
                      <m:rPr>
                        <m:nor/>
                      </m:rPr>
                      <a:rPr lang="en-US" sz="1400" b="0" i="0" u="none" dirty="0" smtClean="0">
                        <a:cs typeface="Arial" panose="020B0604020202020204" pitchFamily="34" charset="0"/>
                      </a:rPr>
                      <m:t> </m:t>
                    </m:r>
                    <m:r>
                      <m:rPr>
                        <m:nor/>
                      </m:rPr>
                      <a:rPr lang="en-US" sz="1400" b="0" i="0" u="none" dirty="0" smtClean="0">
                        <a:cs typeface="Arial" panose="020B0604020202020204" pitchFamily="34" charset="0"/>
                      </a:rPr>
                      <m:t>share</m:t>
                    </m:r>
                    <m:r>
                      <m:rPr>
                        <m:nor/>
                      </m:rPr>
                      <a:rPr lang="en-US" sz="1400" b="0" i="0" u="none" dirty="0" smtClean="0">
                        <a:cs typeface="Arial" panose="020B0604020202020204" pitchFamily="34" charset="0"/>
                      </a:rPr>
                      <m:t> </m:t>
                    </m:r>
                    <m:r>
                      <m:rPr>
                        <m:nor/>
                      </m:rPr>
                      <a:rPr lang="en-US" sz="1400" b="0" i="0" u="none" dirty="0" smtClean="0">
                        <a:cs typeface="Arial" panose="020B0604020202020204" pitchFamily="34" charset="0"/>
                      </a:rPr>
                      <m:t>across</m:t>
                    </m:r>
                    <m:r>
                      <m:rPr>
                        <m:nor/>
                      </m:rPr>
                      <a:rPr lang="en-US" sz="1400" b="0" i="0" u="none" dirty="0" smtClean="0">
                        <a:cs typeface="Arial" panose="020B0604020202020204" pitchFamily="34" charset="0"/>
                      </a:rPr>
                      <m:t> </m:t>
                    </m:r>
                    <m:r>
                      <m:rPr>
                        <m:nor/>
                      </m:rPr>
                      <a:rPr lang="en-US" sz="1400" b="0" i="0" u="none" dirty="0" smtClean="0">
                        <a:cs typeface="Arial" panose="020B0604020202020204" pitchFamily="34" charset="0"/>
                      </a:rPr>
                      <m:t>all</m:t>
                    </m:r>
                    <m:r>
                      <m:rPr>
                        <m:nor/>
                      </m:rPr>
                      <a:rPr lang="en-US" sz="1400" b="0" i="0" u="none" dirty="0" smtClean="0">
                        <a:cs typeface="Arial" panose="020B0604020202020204" pitchFamily="34" charset="0"/>
                      </a:rPr>
                      <m:t> </m:t>
                    </m:r>
                    <m:r>
                      <m:rPr>
                        <m:nor/>
                      </m:rPr>
                      <a:rPr lang="en-US" sz="1400" b="0" i="0" u="none" dirty="0" smtClean="0">
                        <a:cs typeface="Arial" panose="020B0604020202020204" pitchFamily="34" charset="0"/>
                      </a:rPr>
                      <m:t>polls</m:t>
                    </m:r>
                  </m:oMath>
                </a14:m>
                <a:r>
                  <a:rPr lang="en-US" sz="1400" b="0" u="none" dirty="0">
                    <a:cs typeface="Arial" panose="020B0604020202020204" pitchFamily="34" charset="0"/>
                  </a:rPr>
                  <a:t> </a:t>
                </a:r>
              </a:p>
              <a:p>
                <a:pPr>
                  <a:spcAft>
                    <a:spcPts val="300"/>
                  </a:spcAft>
                </a:pPr>
                <a14:m>
                  <m:oMath xmlns:m="http://schemas.openxmlformats.org/officeDocument/2006/math">
                    <m:r>
                      <a:rPr lang="en-US" sz="1400" b="0" i="1" u="none" smtClean="0">
                        <a:solidFill>
                          <a:srgbClr val="FF0000"/>
                        </a:solidFill>
                        <a:latin typeface="Cambria Math" panose="02040503050406030204" pitchFamily="18" charset="0"/>
                      </a:rPr>
                      <m:t>𝜇</m:t>
                    </m:r>
                  </m:oMath>
                </a14:m>
                <a:r>
                  <a:rPr lang="en-US" sz="1400" b="0" u="none" dirty="0">
                    <a:cs typeface="Arial" panose="020B0604020202020204" pitchFamily="34" charset="0"/>
                  </a:rPr>
                  <a:t>	is the true mean of the </a:t>
                </a:r>
                <a:r>
                  <a:rPr lang="en-US" sz="1400" b="0" dirty="0">
                    <a:cs typeface="Arial" panose="020B0604020202020204" pitchFamily="34" charset="0"/>
                  </a:rPr>
                  <a:t>population</a:t>
                </a:r>
              </a:p>
              <a:p>
                <a:pPr>
                  <a:spcAft>
                    <a:spcPts val="300"/>
                  </a:spcAft>
                </a:pPr>
                <a14:m>
                  <m:oMath xmlns:m="http://schemas.openxmlformats.org/officeDocument/2006/math">
                    <m:r>
                      <a:rPr lang="en-US" sz="1400" b="0" i="1" u="none" smtClean="0">
                        <a:solidFill>
                          <a:srgbClr val="FF0000"/>
                        </a:solidFill>
                        <a:latin typeface="Cambria Math" panose="02040503050406030204" pitchFamily="18" charset="0"/>
                      </a:rPr>
                      <m:t>𝜎</m:t>
                    </m:r>
                  </m:oMath>
                </a14:m>
                <a:r>
                  <a:rPr lang="en-US" sz="1400" b="0" u="none" dirty="0">
                    <a:cs typeface="Arial" panose="020B0604020202020204" pitchFamily="34" charset="0"/>
                  </a:rPr>
                  <a:t>	is the true standard deviation of the </a:t>
                </a:r>
                <a:r>
                  <a:rPr lang="en-US" sz="1400" b="0" dirty="0">
                    <a:cs typeface="Arial" panose="020B0604020202020204" pitchFamily="34" charset="0"/>
                  </a:rPr>
                  <a:t>population</a:t>
                </a:r>
              </a:p>
              <a:p>
                <a:pPr>
                  <a:spcAft>
                    <a:spcPts val="300"/>
                  </a:spcAft>
                </a:pP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𝑁</m:t>
                    </m:r>
                  </m:oMath>
                </a14:m>
                <a:r>
                  <a:rPr lang="en-US" sz="1400" b="0" u="none" dirty="0">
                    <a:cs typeface="Arial" panose="020B0604020202020204" pitchFamily="34" charset="0"/>
                  </a:rPr>
                  <a:t>	is the number of respondents in each poll</a:t>
                </a:r>
              </a:p>
              <a:p>
                <a:pPr marL="914400" indent="-914400">
                  <a:spcAft>
                    <a:spcPts val="300"/>
                  </a:spcAft>
                </a:pPr>
                <a14:m>
                  <m:oMath xmlns:m="http://schemas.openxmlformats.org/officeDocument/2006/math">
                    <m:f>
                      <m:fPr>
                        <m:type m:val="lin"/>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smtClean="0">
                                <a:solidFill>
                                  <a:srgbClr val="00B0F0"/>
                                </a:solidFill>
                                <a:latin typeface="Cambria Math" panose="02040503050406030204" pitchFamily="18" charset="0"/>
                              </a:rPr>
                              <m:t>𝑁</m:t>
                            </m:r>
                          </m:e>
                        </m:rad>
                      </m:den>
                    </m:f>
                    <m:r>
                      <a:rPr lang="en-US" sz="1400" b="0" i="1" u="none">
                        <a:latin typeface="Cambria Math" panose="02040503050406030204" pitchFamily="18" charset="0"/>
                      </a:rPr>
                      <m:t> </m:t>
                    </m:r>
                  </m:oMath>
                </a14:m>
                <a:r>
                  <a:rPr lang="en-US" sz="1400" b="0" u="none" dirty="0">
                    <a:cs typeface="Arial" panose="020B0604020202020204" pitchFamily="34" charset="0"/>
                  </a:rPr>
                  <a:t>	is the “standard error” of the polls, where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oMath>
                </a14:m>
                <a:r>
                  <a:rPr lang="en-US" sz="1400" b="0" u="none" dirty="0">
                    <a:cs typeface="Arial" panose="020B0604020202020204" pitchFamily="34" charset="0"/>
                  </a:rPr>
                  <a:t> is the # people in each poll</a:t>
                </a:r>
                <a:endParaRPr lang="en-US" sz="1400" b="0" dirty="0">
                  <a:cs typeface="Arial" panose="020B0604020202020204" pitchFamily="34" charset="0"/>
                </a:endParaRPr>
              </a:p>
            </p:txBody>
          </p:sp>
        </mc:Choice>
        <mc:Fallback xmlns="">
          <p:sp>
            <p:nvSpPr>
              <p:cNvPr id="20" name="TextBox 19">
                <a:extLst>
                  <a:ext uri="{FF2B5EF4-FFF2-40B4-BE49-F238E27FC236}">
                    <a16:creationId xmlns:a16="http://schemas.microsoft.com/office/drawing/2014/main" id="{9FD31530-8A27-13A0-9BCE-C7D2A56811A7}"/>
                  </a:ext>
                </a:extLst>
              </p:cNvPr>
              <p:cNvSpPr txBox="1">
                <a:spLocks noRot="1" noChangeAspect="1" noMove="1" noResize="1" noEditPoints="1" noAdjustHandles="1" noChangeArrowheads="1" noChangeShapeType="1" noTextEdit="1"/>
              </p:cNvSpPr>
              <p:nvPr/>
            </p:nvSpPr>
            <p:spPr>
              <a:xfrm>
                <a:off x="725266" y="4869909"/>
                <a:ext cx="7693467" cy="1925399"/>
              </a:xfrm>
              <a:prstGeom prst="rect">
                <a:avLst/>
              </a:prstGeom>
              <a:blipFill>
                <a:blip r:embed="rId13"/>
                <a:stretch>
                  <a:fillRect l="-1426" t="-633" b="-240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2079CC7-EACC-4BC4-90A1-E0F2D02DA1A2}"/>
                  </a:ext>
                </a:extLst>
              </p:cNvPr>
              <p:cNvSpPr txBox="1"/>
              <p:nvPr/>
            </p:nvSpPr>
            <p:spPr>
              <a:xfrm>
                <a:off x="4738988" y="1660261"/>
                <a:ext cx="3827461" cy="671402"/>
              </a:xfrm>
              <a:prstGeom prst="rect">
                <a:avLst/>
              </a:prstGeom>
              <a:noFill/>
            </p:spPr>
            <p:txBody>
              <a:bodyPr wrap="square">
                <a:spAutoFit/>
              </a:bodyPr>
              <a:lstStyle/>
              <a:p>
                <a:pPr algn="ctr"/>
                <a:r>
                  <a:rPr lang="en-US" sz="1600" b="0" u="none" dirty="0">
                    <a:cs typeface="Arial" panose="020B0604020202020204" pitchFamily="34" charset="0"/>
                  </a:rPr>
                  <a:t>Distribution of Poll </a:t>
                </a:r>
                <a:br>
                  <a:rPr lang="en-US" sz="1600" b="0" u="none" dirty="0">
                    <a:cs typeface="Arial" panose="020B0604020202020204" pitchFamily="34" charset="0"/>
                  </a:rPr>
                </a:br>
                <a:r>
                  <a:rPr lang="en-US" sz="1600" b="0" u="none" dirty="0">
                    <a:cs typeface="Arial" panose="020B0604020202020204" pitchFamily="34" charset="0"/>
                  </a:rPr>
                  <a:t>Results, </a:t>
                </a:r>
                <a14:m>
                  <m:oMath xmlns:m="http://schemas.openxmlformats.org/officeDocument/2006/math">
                    <m:r>
                      <a:rPr lang="en-US" sz="1600" b="0" i="1" u="none" dirty="0">
                        <a:latin typeface="Cambria Math" panose="02040503050406030204" pitchFamily="18" charset="0"/>
                        <a:cs typeface="Arial" panose="020B0604020202020204" pitchFamily="34" charset="0"/>
                      </a:rPr>
                      <m:t>𝑁</m:t>
                    </m:r>
                    <m:r>
                      <a:rPr lang="en-US" sz="1600" b="0" i="1" u="none" dirty="0">
                        <a:latin typeface="Cambria Math" panose="02040503050406030204" pitchFamily="18" charset="0"/>
                        <a:cs typeface="Arial" panose="020B0604020202020204" pitchFamily="34" charset="0"/>
                      </a:rPr>
                      <m:t>(</m:t>
                    </m:r>
                    <m:r>
                      <a:rPr lang="en-US" sz="1600" b="0" i="1" u="none">
                        <a:solidFill>
                          <a:srgbClr val="FF0000"/>
                        </a:solidFill>
                        <a:latin typeface="Cambria Math" panose="02040503050406030204" pitchFamily="18" charset="0"/>
                        <a:cs typeface="Arial" panose="020B0604020202020204" pitchFamily="34" charset="0"/>
                      </a:rPr>
                      <m:t>𝜇</m:t>
                    </m:r>
                    <m:r>
                      <a:rPr lang="en-US" sz="1600" b="0" i="1" u="none">
                        <a:latin typeface="Cambria Math" panose="02040503050406030204" pitchFamily="18" charset="0"/>
                        <a:cs typeface="Arial" panose="020B0604020202020204" pitchFamily="34" charset="0"/>
                      </a:rPr>
                      <m:t>,</m:t>
                    </m:r>
                    <m:r>
                      <a:rPr lang="en-US" sz="1600" b="0" i="1" u="none" dirty="0">
                        <a:latin typeface="Cambria Math" panose="02040503050406030204" pitchFamily="18" charset="0"/>
                      </a:rPr>
                      <m:t> </m:t>
                    </m:r>
                    <m:f>
                      <m:fPr>
                        <m:ctrlPr>
                          <a:rPr lang="en-US" sz="1600" b="0" i="1" u="none" dirty="0">
                            <a:latin typeface="Cambria Math" panose="02040503050406030204" pitchFamily="18" charset="0"/>
                          </a:rPr>
                        </m:ctrlPr>
                      </m:fPr>
                      <m:num>
                        <m:r>
                          <a:rPr lang="en-US" sz="1600" b="0" i="1" u="none" dirty="0">
                            <a:solidFill>
                              <a:srgbClr val="FF0000"/>
                            </a:solidFill>
                            <a:latin typeface="Cambria Math" panose="02040503050406030204" pitchFamily="18" charset="0"/>
                          </a:rPr>
                          <m:t>𝜎</m:t>
                        </m:r>
                      </m:num>
                      <m:den>
                        <m:r>
                          <a:rPr lang="en-US" sz="1600" b="0" i="1" u="none" dirty="0">
                            <a:latin typeface="Cambria Math" panose="02040503050406030204" pitchFamily="18" charset="0"/>
                          </a:rPr>
                          <m:t>√</m:t>
                        </m:r>
                        <m:r>
                          <a:rPr lang="en-US" sz="1600" b="0" i="1" u="none" dirty="0">
                            <a:solidFill>
                              <a:srgbClr val="00B0F0"/>
                            </a:solidFill>
                            <a:latin typeface="Cambria Math" panose="02040503050406030204" pitchFamily="18" charset="0"/>
                          </a:rPr>
                          <m:t>𝑁</m:t>
                        </m:r>
                      </m:den>
                    </m:f>
                    <m:r>
                      <a:rPr lang="en-US" sz="1600" i="1" u="none" dirty="0">
                        <a:latin typeface="Cambria Math" panose="02040503050406030204" pitchFamily="18" charset="0"/>
                      </a:rPr>
                      <m:t>)</m:t>
                    </m:r>
                  </m:oMath>
                </a14:m>
                <a:endParaRPr lang="en-US" sz="1600" u="none" dirty="0"/>
              </a:p>
            </p:txBody>
          </p:sp>
        </mc:Choice>
        <mc:Fallback xmlns="">
          <p:sp>
            <p:nvSpPr>
              <p:cNvPr id="59" name="TextBox 58">
                <a:extLst>
                  <a:ext uri="{FF2B5EF4-FFF2-40B4-BE49-F238E27FC236}">
                    <a16:creationId xmlns:a16="http://schemas.microsoft.com/office/drawing/2014/main" id="{82079CC7-EACC-4BC4-90A1-E0F2D02DA1A2}"/>
                  </a:ext>
                </a:extLst>
              </p:cNvPr>
              <p:cNvSpPr txBox="1">
                <a:spLocks noRot="1" noChangeAspect="1" noMove="1" noResize="1" noEditPoints="1" noAdjustHandles="1" noChangeArrowheads="1" noChangeShapeType="1" noTextEdit="1"/>
              </p:cNvSpPr>
              <p:nvPr/>
            </p:nvSpPr>
            <p:spPr>
              <a:xfrm>
                <a:off x="4738988" y="1660261"/>
                <a:ext cx="3827461" cy="671402"/>
              </a:xfrm>
              <a:prstGeom prst="rect">
                <a:avLst/>
              </a:prstGeom>
              <a:blipFill>
                <a:blip r:embed="rId14"/>
                <a:stretch>
                  <a:fillRect t="-2727"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A4960CD-37E8-67E7-E7A5-C6912149E3D7}"/>
                  </a:ext>
                </a:extLst>
              </p:cNvPr>
              <p:cNvSpPr txBox="1"/>
              <p:nvPr/>
            </p:nvSpPr>
            <p:spPr>
              <a:xfrm>
                <a:off x="7448408" y="2301768"/>
                <a:ext cx="1473288" cy="391261"/>
              </a:xfrm>
              <a:prstGeom prst="rect">
                <a:avLst/>
              </a:prstGeom>
              <a:solidFill>
                <a:srgbClr val="FFFF99"/>
              </a:solidFill>
            </p:spPr>
            <p:txBody>
              <a:bodyPr wrap="non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𝑆𝑡𝑑</m:t>
                    </m:r>
                    <m:r>
                      <a:rPr lang="en-US" sz="1400" b="0" i="1" u="none" dirty="0" smtClean="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𝐸𝑟𝑟</m:t>
                    </m:r>
                    <m:r>
                      <a:rPr lang="en-US" sz="1400" b="0" i="1" u="none" dirty="0" smtClean="0">
                        <a:solidFill>
                          <a:srgbClr val="EB971B"/>
                        </a:solidFill>
                        <a:latin typeface="Cambria Math" panose="02040503050406030204" pitchFamily="18" charset="0"/>
                        <a:cs typeface="Arial" panose="020B0604020202020204" pitchFamily="34" charset="0"/>
                      </a:rPr>
                      <m:t>(</m:t>
                    </m:r>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m:rPr>
                            <m:sty m:val="p"/>
                          </m:rPr>
                          <a:rPr lang="en-US" sz="1400" b="0" u="none" dirty="0">
                            <a:solidFill>
                              <a:srgbClr val="00B0F0"/>
                            </a:solidFill>
                            <a:latin typeface="Cambria Math" panose="02040503050406030204" pitchFamily="18" charset="0"/>
                            <a:cs typeface="Arial" panose="020B0604020202020204" pitchFamily="34" charset="0"/>
                          </a:rPr>
                          <m:t>x</m:t>
                        </m:r>
                      </m:e>
                    </m:acc>
                    <m:r>
                      <a:rPr lang="en-US" sz="1400" b="0" i="1" u="none" dirty="0" smtClean="0">
                        <a:solidFill>
                          <a:srgbClr val="EB971B"/>
                        </a:solidFill>
                        <a:latin typeface="Cambria Math" panose="02040503050406030204" pitchFamily="18" charset="0"/>
                        <a:cs typeface="Arial" panose="020B0604020202020204" pitchFamily="34" charset="0"/>
                      </a:rPr>
                      <m:t>)</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400" b="0" i="1" u="none">
                            <a:latin typeface="Cambria Math" panose="02040503050406030204" pitchFamily="18" charset="0"/>
                          </a:rPr>
                        </m:ctrlPr>
                      </m:fPr>
                      <m:num>
                        <m:r>
                          <a:rPr lang="en-US" sz="1400" b="0" i="1" u="none">
                            <a:solidFill>
                              <a:srgbClr val="FF0000"/>
                            </a:solidFill>
                            <a:latin typeface="Cambria Math" panose="02040503050406030204" pitchFamily="18" charset="0"/>
                          </a:rPr>
                          <m:t>𝜎</m:t>
                        </m:r>
                      </m:num>
                      <m:den>
                        <m:rad>
                          <m:radPr>
                            <m:degHide m:val="on"/>
                            <m:ctrlPr>
                              <a:rPr lang="en-US" sz="1400" b="0" i="1" u="none">
                                <a:latin typeface="Cambria Math" panose="02040503050406030204" pitchFamily="18" charset="0"/>
                              </a:rPr>
                            </m:ctrlPr>
                          </m:radPr>
                          <m:deg/>
                          <m:e>
                            <m:r>
                              <a:rPr lang="en-US" sz="1400" b="0" i="1" u="none">
                                <a:latin typeface="Cambria Math" panose="02040503050406030204" pitchFamily="18" charset="0"/>
                              </a:rPr>
                              <m:t>𝑁</m:t>
                            </m:r>
                          </m:e>
                        </m:rad>
                      </m:den>
                    </m:f>
                  </m:oMath>
                </a14:m>
                <a:r>
                  <a:rPr lang="en-US" sz="1200" b="0" u="none" dirty="0">
                    <a:cs typeface="Arial" panose="020B0604020202020204" pitchFamily="34" charset="0"/>
                  </a:rPr>
                  <a:t> </a:t>
                </a:r>
              </a:p>
            </p:txBody>
          </p:sp>
        </mc:Choice>
        <mc:Fallback xmlns="">
          <p:sp>
            <p:nvSpPr>
              <p:cNvPr id="21" name="TextBox 20">
                <a:extLst>
                  <a:ext uri="{FF2B5EF4-FFF2-40B4-BE49-F238E27FC236}">
                    <a16:creationId xmlns:a16="http://schemas.microsoft.com/office/drawing/2014/main" id="{CA4960CD-37E8-67E7-E7A5-C6912149E3D7}"/>
                  </a:ext>
                </a:extLst>
              </p:cNvPr>
              <p:cNvSpPr txBox="1">
                <a:spLocks noRot="1" noChangeAspect="1" noMove="1" noResize="1" noEditPoints="1" noAdjustHandles="1" noChangeArrowheads="1" noChangeShapeType="1" noTextEdit="1"/>
              </p:cNvSpPr>
              <p:nvPr/>
            </p:nvSpPr>
            <p:spPr>
              <a:xfrm>
                <a:off x="7448408" y="2301768"/>
                <a:ext cx="1473288" cy="391261"/>
              </a:xfrm>
              <a:prstGeom prst="rect">
                <a:avLst/>
              </a:prstGeom>
              <a:blipFill>
                <a:blip r:embed="rId16"/>
                <a:stretch>
                  <a:fillRect/>
                </a:stretch>
              </a:blipFill>
            </p:spPr>
            <p:txBody>
              <a:bodyPr/>
              <a:lstStyle/>
              <a:p>
                <a:r>
                  <a:rPr lang="en-US">
                    <a:noFill/>
                  </a:rPr>
                  <a:t> </a:t>
                </a:r>
              </a:p>
            </p:txBody>
          </p:sp>
        </mc:Fallback>
      </mc:AlternateContent>
      <p:sp>
        <p:nvSpPr>
          <p:cNvPr id="22" name="Freeform: Shape 21">
            <a:extLst>
              <a:ext uri="{FF2B5EF4-FFF2-40B4-BE49-F238E27FC236}">
                <a16:creationId xmlns:a16="http://schemas.microsoft.com/office/drawing/2014/main" id="{97492303-36B3-E4D7-57E8-14E453DA19C3}"/>
              </a:ext>
            </a:extLst>
          </p:cNvPr>
          <p:cNvSpPr/>
          <p:nvPr/>
        </p:nvSpPr>
        <p:spPr bwMode="auto">
          <a:xfrm>
            <a:off x="6929967" y="2503078"/>
            <a:ext cx="546506"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0801573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56BEA-E255-82F9-7EB9-971BD4C744E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AD88040-995E-835A-5C44-0BA8F891FBF1}"/>
              </a:ext>
            </a:extLst>
          </p:cNvPr>
          <p:cNvPicPr>
            <a:picLocks noChangeAspect="1"/>
          </p:cNvPicPr>
          <p:nvPr/>
        </p:nvPicPr>
        <p:blipFill>
          <a:blip r:embed="rId2"/>
          <a:stretch>
            <a:fillRect/>
          </a:stretch>
        </p:blipFill>
        <p:spPr>
          <a:xfrm>
            <a:off x="732179" y="1693355"/>
            <a:ext cx="4581144" cy="4570476"/>
          </a:xfrm>
          <a:prstGeom prst="rect">
            <a:avLst/>
          </a:prstGeom>
        </p:spPr>
      </p:pic>
      <p:sp>
        <p:nvSpPr>
          <p:cNvPr id="2" name="Title 1">
            <a:extLst>
              <a:ext uri="{FF2B5EF4-FFF2-40B4-BE49-F238E27FC236}">
                <a16:creationId xmlns:a16="http://schemas.microsoft.com/office/drawing/2014/main" id="{3EBCD2F4-96C0-5211-4AD4-7BD222F36079}"/>
              </a:ext>
            </a:extLst>
          </p:cNvPr>
          <p:cNvSpPr>
            <a:spLocks noGrp="1"/>
          </p:cNvSpPr>
          <p:nvPr>
            <p:ph type="title"/>
          </p:nvPr>
        </p:nvSpPr>
        <p:spPr/>
        <p:txBody>
          <a:bodyPr/>
          <a:lstStyle/>
          <a:p>
            <a:r>
              <a:rPr lang="en-US" dirty="0"/>
              <a:t>Central Limit Theorem </a:t>
            </a:r>
            <a:r>
              <a:rPr lang="en-US" dirty="0">
                <a:latin typeface="Wingdings 3" panose="05040102010807070707" pitchFamily="18" charset="2"/>
              </a:rPr>
              <a:t>g</a:t>
            </a:r>
            <a:r>
              <a:rPr lang="en-US" dirty="0"/>
              <a:t> Data</a:t>
            </a:r>
          </a:p>
        </p:txBody>
      </p:sp>
      <p:sp>
        <p:nvSpPr>
          <p:cNvPr id="4" name="Slide Number Placeholder 3">
            <a:extLst>
              <a:ext uri="{FF2B5EF4-FFF2-40B4-BE49-F238E27FC236}">
                <a16:creationId xmlns:a16="http://schemas.microsoft.com/office/drawing/2014/main" id="{2027E187-64BD-8ACB-9568-CD01EA413E4D}"/>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46</a:t>
            </a:fld>
            <a:endParaRPr lang="en-GB" dirty="0"/>
          </a:p>
        </p:txBody>
      </p:sp>
      <p:sp>
        <p:nvSpPr>
          <p:cNvPr id="8" name="TextBox 7">
            <a:extLst>
              <a:ext uri="{FF2B5EF4-FFF2-40B4-BE49-F238E27FC236}">
                <a16:creationId xmlns:a16="http://schemas.microsoft.com/office/drawing/2014/main" id="{6AF74432-EDDF-AEFE-4F21-E4F7C87BD1BC}"/>
              </a:ext>
            </a:extLst>
          </p:cNvPr>
          <p:cNvSpPr txBox="1"/>
          <p:nvPr/>
        </p:nvSpPr>
        <p:spPr>
          <a:xfrm>
            <a:off x="5601505" y="2755294"/>
            <a:ext cx="2810316" cy="1169551"/>
          </a:xfrm>
          <a:prstGeom prst="rect">
            <a:avLst/>
          </a:prstGeom>
          <a:noFill/>
        </p:spPr>
        <p:txBody>
          <a:bodyPr wrap="square" rtlCol="0">
            <a:spAutoFit/>
          </a:bodyPr>
          <a:lstStyle/>
          <a:p>
            <a:r>
              <a:rPr lang="en-US" sz="1400" b="0" u="none" dirty="0">
                <a:solidFill>
                  <a:schemeClr val="accent6"/>
                </a:solidFill>
                <a:latin typeface="Arial" pitchFamily="34" charset="0"/>
                <a:cs typeface="Arial" pitchFamily="34" charset="0"/>
              </a:rPr>
              <a:t>The </a:t>
            </a:r>
            <a:r>
              <a:rPr lang="en-US" sz="1400" b="0" u="none" dirty="0">
                <a:solidFill>
                  <a:schemeClr val="accent6"/>
                </a:solidFill>
                <a:cs typeface="Arial" pitchFamily="34" charset="0"/>
              </a:rPr>
              <a:t>Fox poll was one of </a:t>
            </a:r>
            <a:r>
              <a:rPr lang="en-US" sz="1400" b="0" u="none" dirty="0">
                <a:solidFill>
                  <a:schemeClr val="accent6"/>
                </a:solidFill>
                <a:latin typeface="Arial" pitchFamily="34" charset="0"/>
                <a:cs typeface="Arial" pitchFamily="34" charset="0"/>
              </a:rPr>
              <a:t>77 polls conducted in the final month of the campaign</a:t>
            </a:r>
          </a:p>
          <a:p>
            <a:endParaRPr lang="en-US" sz="1400" b="0" u="none" dirty="0">
              <a:solidFill>
                <a:schemeClr val="accent6"/>
              </a:solidFill>
              <a:cs typeface="Arial" pitchFamily="34" charset="0"/>
            </a:endParaRPr>
          </a:p>
          <a:p>
            <a:r>
              <a:rPr lang="en-US" sz="1400" b="0" u="none" dirty="0">
                <a:solidFill>
                  <a:schemeClr val="accent6"/>
                </a:solidFill>
                <a:latin typeface="Arial" pitchFamily="34" charset="0"/>
                <a:cs typeface="Arial" pitchFamily="34" charset="0"/>
              </a:rPr>
              <a:t>This is their distribution</a:t>
            </a:r>
          </a:p>
        </p:txBody>
      </p:sp>
      <p:sp>
        <p:nvSpPr>
          <p:cNvPr id="5" name="TextBox 4">
            <a:extLst>
              <a:ext uri="{FF2B5EF4-FFF2-40B4-BE49-F238E27FC236}">
                <a16:creationId xmlns:a16="http://schemas.microsoft.com/office/drawing/2014/main" id="{C923D704-DF59-5675-F17F-AA288A82678D}"/>
              </a:ext>
            </a:extLst>
          </p:cNvPr>
          <p:cNvSpPr txBox="1"/>
          <p:nvPr/>
        </p:nvSpPr>
        <p:spPr>
          <a:xfrm>
            <a:off x="3073741" y="5876580"/>
            <a:ext cx="120226" cy="215444"/>
          </a:xfrm>
          <a:prstGeom prst="rect">
            <a:avLst/>
          </a:prstGeom>
          <a:solidFill>
            <a:schemeClr val="bg1"/>
          </a:solidFill>
        </p:spPr>
        <p:txBody>
          <a:bodyPr wrap="none" lIns="0" tIns="0" rIns="0" bIns="0" rtlCol="0">
            <a:spAutoFit/>
          </a:bodyPr>
          <a:lstStyle/>
          <a:p>
            <a:pPr algn="ctr"/>
            <a:r>
              <a:rPr lang="en-US" sz="1400" b="0" u="none" dirty="0">
                <a:latin typeface="Arial" pitchFamily="34" charset="0"/>
                <a:cs typeface="Arial" pitchFamily="34" charset="0"/>
              </a:rPr>
              <a:t>A</a:t>
            </a:r>
          </a:p>
        </p:txBody>
      </p:sp>
    </p:spTree>
    <p:extLst>
      <p:ext uri="{BB962C8B-B14F-4D97-AF65-F5344CB8AC3E}">
        <p14:creationId xmlns:p14="http://schemas.microsoft.com/office/powerpoint/2010/main" val="4248641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441E3-A437-83F3-C7EE-67F9768A61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24534A1-6816-746D-E06F-9DE85CB46D21}"/>
              </a:ext>
            </a:extLst>
          </p:cNvPr>
          <p:cNvPicPr>
            <a:picLocks noChangeAspect="1"/>
          </p:cNvPicPr>
          <p:nvPr/>
        </p:nvPicPr>
        <p:blipFill>
          <a:blip r:embed="rId2"/>
          <a:stretch>
            <a:fillRect/>
          </a:stretch>
        </p:blipFill>
        <p:spPr>
          <a:xfrm>
            <a:off x="732179" y="1693355"/>
            <a:ext cx="4581144" cy="4570476"/>
          </a:xfrm>
          <a:prstGeom prst="rect">
            <a:avLst/>
          </a:prstGeom>
        </p:spPr>
      </p:pic>
      <p:sp>
        <p:nvSpPr>
          <p:cNvPr id="2" name="Title 1">
            <a:extLst>
              <a:ext uri="{FF2B5EF4-FFF2-40B4-BE49-F238E27FC236}">
                <a16:creationId xmlns:a16="http://schemas.microsoft.com/office/drawing/2014/main" id="{BBA2D3BB-3AF9-1F13-CF51-5708F7326D20}"/>
              </a:ext>
            </a:extLst>
          </p:cNvPr>
          <p:cNvSpPr>
            <a:spLocks noGrp="1"/>
          </p:cNvSpPr>
          <p:nvPr>
            <p:ph type="title"/>
          </p:nvPr>
        </p:nvSpPr>
        <p:spPr/>
        <p:txBody>
          <a:bodyPr/>
          <a:lstStyle/>
          <a:p>
            <a:r>
              <a:rPr lang="en-US" dirty="0"/>
              <a:t>Central Limit Theorem </a:t>
            </a:r>
            <a:r>
              <a:rPr lang="en-US" dirty="0">
                <a:latin typeface="Wingdings 3" panose="05040102010807070707" pitchFamily="18" charset="2"/>
              </a:rPr>
              <a:t>g</a:t>
            </a:r>
            <a:r>
              <a:rPr lang="en-US" dirty="0"/>
              <a:t> Data</a:t>
            </a:r>
          </a:p>
        </p:txBody>
      </p:sp>
      <p:sp>
        <p:nvSpPr>
          <p:cNvPr id="4" name="Slide Number Placeholder 3">
            <a:extLst>
              <a:ext uri="{FF2B5EF4-FFF2-40B4-BE49-F238E27FC236}">
                <a16:creationId xmlns:a16="http://schemas.microsoft.com/office/drawing/2014/main" id="{762EFF15-5FF4-F23C-F0EA-762BF3DC0BDF}"/>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47</a:t>
            </a:fld>
            <a:endParaRPr lang="en-GB" dirty="0"/>
          </a:p>
        </p:txBody>
      </p:sp>
      <p:sp>
        <p:nvSpPr>
          <p:cNvPr id="8" name="TextBox 7">
            <a:extLst>
              <a:ext uri="{FF2B5EF4-FFF2-40B4-BE49-F238E27FC236}">
                <a16:creationId xmlns:a16="http://schemas.microsoft.com/office/drawing/2014/main" id="{17C5F8B7-7CE1-51BD-6CAF-39D5D45166DF}"/>
              </a:ext>
            </a:extLst>
          </p:cNvPr>
          <p:cNvSpPr txBox="1"/>
          <p:nvPr/>
        </p:nvSpPr>
        <p:spPr>
          <a:xfrm>
            <a:off x="5601505" y="2755294"/>
            <a:ext cx="2810316" cy="1169551"/>
          </a:xfrm>
          <a:prstGeom prst="rect">
            <a:avLst/>
          </a:prstGeom>
          <a:noFill/>
        </p:spPr>
        <p:txBody>
          <a:bodyPr wrap="square" rtlCol="0">
            <a:spAutoFit/>
          </a:bodyPr>
          <a:lstStyle/>
          <a:p>
            <a:r>
              <a:rPr lang="en-US" sz="1400" b="0" u="none" dirty="0">
                <a:solidFill>
                  <a:schemeClr val="accent6"/>
                </a:solidFill>
                <a:latin typeface="Arial" pitchFamily="34" charset="0"/>
                <a:cs typeface="Arial" pitchFamily="34" charset="0"/>
              </a:rPr>
              <a:t>The </a:t>
            </a:r>
            <a:r>
              <a:rPr lang="en-US" sz="1400" b="0" u="none" dirty="0">
                <a:solidFill>
                  <a:schemeClr val="accent6"/>
                </a:solidFill>
                <a:cs typeface="Arial" pitchFamily="34" charset="0"/>
              </a:rPr>
              <a:t>Fox poll was one of </a:t>
            </a:r>
            <a:r>
              <a:rPr lang="en-US" sz="1400" b="0" u="none" dirty="0">
                <a:solidFill>
                  <a:schemeClr val="accent6"/>
                </a:solidFill>
                <a:latin typeface="Arial" pitchFamily="34" charset="0"/>
                <a:cs typeface="Arial" pitchFamily="34" charset="0"/>
              </a:rPr>
              <a:t>77 polls conducted in the final month of the campaign</a:t>
            </a:r>
          </a:p>
          <a:p>
            <a:endParaRPr lang="en-US" sz="1400" b="0" u="none" dirty="0">
              <a:solidFill>
                <a:schemeClr val="accent6"/>
              </a:solidFill>
              <a:cs typeface="Arial" pitchFamily="34" charset="0"/>
            </a:endParaRPr>
          </a:p>
          <a:p>
            <a:r>
              <a:rPr lang="en-US" sz="1400" b="0" u="none" dirty="0">
                <a:solidFill>
                  <a:schemeClr val="accent6"/>
                </a:solidFill>
                <a:latin typeface="Arial" pitchFamily="34" charset="0"/>
                <a:cs typeface="Arial" pitchFamily="34" charset="0"/>
              </a:rPr>
              <a:t>This is their distribution</a:t>
            </a:r>
          </a:p>
        </p:txBody>
      </p:sp>
      <p:sp>
        <p:nvSpPr>
          <p:cNvPr id="6" name="Freeform: Shape 5">
            <a:extLst>
              <a:ext uri="{FF2B5EF4-FFF2-40B4-BE49-F238E27FC236}">
                <a16:creationId xmlns:a16="http://schemas.microsoft.com/office/drawing/2014/main" id="{62D2AA84-89EF-EF0A-5CA7-E5D5C55584B3}"/>
              </a:ext>
            </a:extLst>
          </p:cNvPr>
          <p:cNvSpPr/>
          <p:nvPr/>
        </p:nvSpPr>
        <p:spPr bwMode="auto">
          <a:xfrm rot="15939891">
            <a:off x="2204472" y="3392906"/>
            <a:ext cx="602363" cy="455575"/>
          </a:xfrm>
          <a:custGeom>
            <a:avLst/>
            <a:gdLst>
              <a:gd name="connsiteX0" fmla="*/ 0 w 397934"/>
              <a:gd name="connsiteY0" fmla="*/ 262467 h 262467"/>
              <a:gd name="connsiteX1" fmla="*/ 110067 w 397934"/>
              <a:gd name="connsiteY1" fmla="*/ 127000 h 262467"/>
              <a:gd name="connsiteX2" fmla="*/ 397934 w 397934"/>
              <a:gd name="connsiteY2" fmla="*/ 0 h 262467"/>
            </a:gdLst>
            <a:ahLst/>
            <a:cxnLst>
              <a:cxn ang="0">
                <a:pos x="connsiteX0" y="connsiteY0"/>
              </a:cxn>
              <a:cxn ang="0">
                <a:pos x="connsiteX1" y="connsiteY1"/>
              </a:cxn>
              <a:cxn ang="0">
                <a:pos x="connsiteX2" y="connsiteY2"/>
              </a:cxn>
            </a:cxnLst>
            <a:rect l="l" t="t" r="r" b="b"/>
            <a:pathLst>
              <a:path w="397934" h="262467">
                <a:moveTo>
                  <a:pt x="0" y="262467"/>
                </a:moveTo>
                <a:cubicBezTo>
                  <a:pt x="21872" y="216605"/>
                  <a:pt x="43745" y="170744"/>
                  <a:pt x="110067" y="127000"/>
                </a:cubicBezTo>
                <a:cubicBezTo>
                  <a:pt x="176389" y="83255"/>
                  <a:pt x="287161" y="41627"/>
                  <a:pt x="397934"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5" name="TextBox 4">
            <a:extLst>
              <a:ext uri="{FF2B5EF4-FFF2-40B4-BE49-F238E27FC236}">
                <a16:creationId xmlns:a16="http://schemas.microsoft.com/office/drawing/2014/main" id="{3544FBCF-D491-2634-3D70-683F02FD0DCA}"/>
              </a:ext>
            </a:extLst>
          </p:cNvPr>
          <p:cNvSpPr txBox="1"/>
          <p:nvPr/>
        </p:nvSpPr>
        <p:spPr>
          <a:xfrm>
            <a:off x="1469913" y="2872268"/>
            <a:ext cx="1552838" cy="600164"/>
          </a:xfrm>
          <a:prstGeom prst="rect">
            <a:avLst/>
          </a:prstGeom>
          <a:noFill/>
        </p:spPr>
        <p:txBody>
          <a:bodyPr wrap="square" rtlCol="0">
            <a:spAutoFit/>
          </a:bodyPr>
          <a:lstStyle/>
          <a:p>
            <a:r>
              <a:rPr lang="en-US" sz="1100" b="0" u="none" dirty="0">
                <a:latin typeface="Arial" pitchFamily="34" charset="0"/>
                <a:cs typeface="Arial" pitchFamily="34" charset="0"/>
              </a:rPr>
              <a:t>Normal distribution implied by the 77 </a:t>
            </a:r>
            <a:r>
              <a:rPr lang="en-US" sz="1100" b="0" u="none" dirty="0">
                <a:cs typeface="Arial" pitchFamily="34" charset="0"/>
              </a:rPr>
              <a:t>p</a:t>
            </a:r>
            <a:r>
              <a:rPr lang="en-US" sz="1100" b="0" u="none" dirty="0">
                <a:latin typeface="Arial" pitchFamily="34" charset="0"/>
                <a:cs typeface="Arial" pitchFamily="34" charset="0"/>
              </a:rPr>
              <a:t>olls</a:t>
            </a:r>
          </a:p>
        </p:txBody>
      </p:sp>
      <p:sp>
        <p:nvSpPr>
          <p:cNvPr id="9" name="TextBox 8">
            <a:extLst>
              <a:ext uri="{FF2B5EF4-FFF2-40B4-BE49-F238E27FC236}">
                <a16:creationId xmlns:a16="http://schemas.microsoft.com/office/drawing/2014/main" id="{9A6ED44C-35B6-BB8E-BE81-F4AC5E4348AC}"/>
              </a:ext>
            </a:extLst>
          </p:cNvPr>
          <p:cNvSpPr txBox="1"/>
          <p:nvPr/>
        </p:nvSpPr>
        <p:spPr>
          <a:xfrm>
            <a:off x="3073741" y="5876580"/>
            <a:ext cx="120226" cy="215444"/>
          </a:xfrm>
          <a:prstGeom prst="rect">
            <a:avLst/>
          </a:prstGeom>
          <a:solidFill>
            <a:schemeClr val="bg1"/>
          </a:solidFill>
        </p:spPr>
        <p:txBody>
          <a:bodyPr wrap="none" lIns="0" tIns="0" rIns="0" bIns="0" rtlCol="0">
            <a:spAutoFit/>
          </a:bodyPr>
          <a:lstStyle/>
          <a:p>
            <a:pPr algn="ctr"/>
            <a:r>
              <a:rPr lang="en-US" sz="1400" b="0" u="none" dirty="0">
                <a:latin typeface="Arial" pitchFamily="34" charset="0"/>
                <a:cs typeface="Arial" pitchFamily="34" charset="0"/>
              </a:rPr>
              <a:t>A</a:t>
            </a:r>
          </a:p>
        </p:txBody>
      </p:sp>
    </p:spTree>
    <p:extLst>
      <p:ext uri="{BB962C8B-B14F-4D97-AF65-F5344CB8AC3E}">
        <p14:creationId xmlns:p14="http://schemas.microsoft.com/office/powerpoint/2010/main" val="24665508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57BD1-54D0-6017-B7CF-1D3CE25A093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DC792FB-3DAA-DD40-6BFE-C4268FD0DEC0}"/>
              </a:ext>
            </a:extLst>
          </p:cNvPr>
          <p:cNvPicPr>
            <a:picLocks noChangeAspect="1"/>
          </p:cNvPicPr>
          <p:nvPr/>
        </p:nvPicPr>
        <p:blipFill>
          <a:blip r:embed="rId2"/>
          <a:stretch>
            <a:fillRect/>
          </a:stretch>
        </p:blipFill>
        <p:spPr>
          <a:xfrm>
            <a:off x="732179" y="1688751"/>
            <a:ext cx="4581144" cy="4570476"/>
          </a:xfrm>
          <a:prstGeom prst="rect">
            <a:avLst/>
          </a:prstGeom>
        </p:spPr>
      </p:pic>
      <p:sp>
        <p:nvSpPr>
          <p:cNvPr id="2" name="Title 1">
            <a:extLst>
              <a:ext uri="{FF2B5EF4-FFF2-40B4-BE49-F238E27FC236}">
                <a16:creationId xmlns:a16="http://schemas.microsoft.com/office/drawing/2014/main" id="{560936DD-AB00-6A25-C441-D5806C73A0B1}"/>
              </a:ext>
            </a:extLst>
          </p:cNvPr>
          <p:cNvSpPr>
            <a:spLocks noGrp="1"/>
          </p:cNvSpPr>
          <p:nvPr>
            <p:ph type="title"/>
          </p:nvPr>
        </p:nvSpPr>
        <p:spPr/>
        <p:txBody>
          <a:bodyPr/>
          <a:lstStyle/>
          <a:p>
            <a:r>
              <a:rPr lang="en-US" dirty="0"/>
              <a:t>Central Limit Theorem </a:t>
            </a:r>
            <a:r>
              <a:rPr lang="en-US" dirty="0">
                <a:latin typeface="Wingdings 3" panose="05040102010807070707" pitchFamily="18" charset="2"/>
              </a:rPr>
              <a:t>g</a:t>
            </a:r>
            <a:r>
              <a:rPr lang="en-US" dirty="0"/>
              <a:t> Data</a:t>
            </a:r>
          </a:p>
        </p:txBody>
      </p:sp>
      <p:sp>
        <p:nvSpPr>
          <p:cNvPr id="4" name="Slide Number Placeholder 3">
            <a:extLst>
              <a:ext uri="{FF2B5EF4-FFF2-40B4-BE49-F238E27FC236}">
                <a16:creationId xmlns:a16="http://schemas.microsoft.com/office/drawing/2014/main" id="{9C8F7B85-105A-4EFF-6EDC-BFA164B34F2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48</a:t>
            </a:fld>
            <a:endParaRPr lang="en-GB" dirty="0"/>
          </a:p>
        </p:txBody>
      </p:sp>
      <p:sp>
        <p:nvSpPr>
          <p:cNvPr id="8" name="TextBox 7">
            <a:extLst>
              <a:ext uri="{FF2B5EF4-FFF2-40B4-BE49-F238E27FC236}">
                <a16:creationId xmlns:a16="http://schemas.microsoft.com/office/drawing/2014/main" id="{FE69D291-4925-3FF4-2DF2-2EF0AB7DD92B}"/>
              </a:ext>
            </a:extLst>
          </p:cNvPr>
          <p:cNvSpPr txBox="1"/>
          <p:nvPr/>
        </p:nvSpPr>
        <p:spPr>
          <a:xfrm>
            <a:off x="5601505" y="2755294"/>
            <a:ext cx="2810316" cy="1169551"/>
          </a:xfrm>
          <a:prstGeom prst="rect">
            <a:avLst/>
          </a:prstGeom>
          <a:noFill/>
        </p:spPr>
        <p:txBody>
          <a:bodyPr wrap="square" rtlCol="0">
            <a:spAutoFit/>
          </a:bodyPr>
          <a:lstStyle/>
          <a:p>
            <a:r>
              <a:rPr lang="en-US" sz="1400" b="0" u="none" dirty="0">
                <a:solidFill>
                  <a:schemeClr val="accent6"/>
                </a:solidFill>
                <a:latin typeface="Arial" pitchFamily="34" charset="0"/>
                <a:cs typeface="Arial" pitchFamily="34" charset="0"/>
              </a:rPr>
              <a:t>The </a:t>
            </a:r>
            <a:r>
              <a:rPr lang="en-US" sz="1400" b="0" u="none" dirty="0">
                <a:solidFill>
                  <a:schemeClr val="accent6"/>
                </a:solidFill>
                <a:cs typeface="Arial" pitchFamily="34" charset="0"/>
              </a:rPr>
              <a:t>Fox poll was one of </a:t>
            </a:r>
            <a:r>
              <a:rPr lang="en-US" sz="1400" b="0" u="none" dirty="0">
                <a:solidFill>
                  <a:schemeClr val="accent6"/>
                </a:solidFill>
                <a:latin typeface="Arial" pitchFamily="34" charset="0"/>
                <a:cs typeface="Arial" pitchFamily="34" charset="0"/>
              </a:rPr>
              <a:t>77 polls conducted in the final month of the campaign</a:t>
            </a:r>
          </a:p>
          <a:p>
            <a:endParaRPr lang="en-US" sz="1400" b="0" u="none" dirty="0">
              <a:solidFill>
                <a:schemeClr val="accent6"/>
              </a:solidFill>
              <a:cs typeface="Arial" pitchFamily="34" charset="0"/>
            </a:endParaRPr>
          </a:p>
          <a:p>
            <a:r>
              <a:rPr lang="en-US" sz="1400" b="0" u="none" dirty="0">
                <a:solidFill>
                  <a:schemeClr val="accent6"/>
                </a:solidFill>
                <a:latin typeface="Arial" pitchFamily="34" charset="0"/>
                <a:cs typeface="Arial" pitchFamily="34" charset="0"/>
              </a:rPr>
              <a:t>This is their distribution</a:t>
            </a:r>
          </a:p>
        </p:txBody>
      </p:sp>
      <p:sp>
        <p:nvSpPr>
          <p:cNvPr id="6" name="Freeform: Shape 5">
            <a:extLst>
              <a:ext uri="{FF2B5EF4-FFF2-40B4-BE49-F238E27FC236}">
                <a16:creationId xmlns:a16="http://schemas.microsoft.com/office/drawing/2014/main" id="{8C8B0C8C-2FE4-D69D-D1E5-25ADCC0AED49}"/>
              </a:ext>
            </a:extLst>
          </p:cNvPr>
          <p:cNvSpPr/>
          <p:nvPr/>
        </p:nvSpPr>
        <p:spPr bwMode="auto">
          <a:xfrm rot="15939891">
            <a:off x="2204472" y="3392906"/>
            <a:ext cx="602363" cy="455575"/>
          </a:xfrm>
          <a:custGeom>
            <a:avLst/>
            <a:gdLst>
              <a:gd name="connsiteX0" fmla="*/ 0 w 397934"/>
              <a:gd name="connsiteY0" fmla="*/ 262467 h 262467"/>
              <a:gd name="connsiteX1" fmla="*/ 110067 w 397934"/>
              <a:gd name="connsiteY1" fmla="*/ 127000 h 262467"/>
              <a:gd name="connsiteX2" fmla="*/ 397934 w 397934"/>
              <a:gd name="connsiteY2" fmla="*/ 0 h 262467"/>
            </a:gdLst>
            <a:ahLst/>
            <a:cxnLst>
              <a:cxn ang="0">
                <a:pos x="connsiteX0" y="connsiteY0"/>
              </a:cxn>
              <a:cxn ang="0">
                <a:pos x="connsiteX1" y="connsiteY1"/>
              </a:cxn>
              <a:cxn ang="0">
                <a:pos x="connsiteX2" y="connsiteY2"/>
              </a:cxn>
            </a:cxnLst>
            <a:rect l="l" t="t" r="r" b="b"/>
            <a:pathLst>
              <a:path w="397934" h="262467">
                <a:moveTo>
                  <a:pt x="0" y="262467"/>
                </a:moveTo>
                <a:cubicBezTo>
                  <a:pt x="21872" y="216605"/>
                  <a:pt x="43745" y="170744"/>
                  <a:pt x="110067" y="127000"/>
                </a:cubicBezTo>
                <a:cubicBezTo>
                  <a:pt x="176389" y="83255"/>
                  <a:pt x="287161" y="41627"/>
                  <a:pt x="397934"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5" name="TextBox 4">
            <a:extLst>
              <a:ext uri="{FF2B5EF4-FFF2-40B4-BE49-F238E27FC236}">
                <a16:creationId xmlns:a16="http://schemas.microsoft.com/office/drawing/2014/main" id="{588E3F62-0422-99B3-F3E8-34E67801C3DE}"/>
              </a:ext>
            </a:extLst>
          </p:cNvPr>
          <p:cNvSpPr txBox="1"/>
          <p:nvPr/>
        </p:nvSpPr>
        <p:spPr>
          <a:xfrm>
            <a:off x="1469913" y="2872268"/>
            <a:ext cx="1552838" cy="600164"/>
          </a:xfrm>
          <a:prstGeom prst="rect">
            <a:avLst/>
          </a:prstGeom>
          <a:noFill/>
        </p:spPr>
        <p:txBody>
          <a:bodyPr wrap="square" rtlCol="0">
            <a:spAutoFit/>
          </a:bodyPr>
          <a:lstStyle/>
          <a:p>
            <a:r>
              <a:rPr lang="en-US" sz="1100" b="0" u="none" dirty="0">
                <a:latin typeface="Arial" pitchFamily="34" charset="0"/>
                <a:cs typeface="Arial" pitchFamily="34" charset="0"/>
              </a:rPr>
              <a:t>Normal distribution implied by the 77 </a:t>
            </a:r>
            <a:r>
              <a:rPr lang="en-US" sz="1100" b="0" u="none" dirty="0">
                <a:cs typeface="Arial" pitchFamily="34" charset="0"/>
              </a:rPr>
              <a:t>p</a:t>
            </a:r>
            <a:r>
              <a:rPr lang="en-US" sz="1100" b="0" u="none" dirty="0">
                <a:latin typeface="Arial" pitchFamily="34" charset="0"/>
                <a:cs typeface="Arial" pitchFamily="34" charset="0"/>
              </a:rPr>
              <a:t>olls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54B8E8-9325-4AB6-1A29-D4A6EEE70E4D}"/>
                  </a:ext>
                </a:extLst>
              </p:cNvPr>
              <p:cNvSpPr txBox="1"/>
              <p:nvPr/>
            </p:nvSpPr>
            <p:spPr>
              <a:xfrm>
                <a:off x="2255751" y="5886623"/>
                <a:ext cx="2662882" cy="862737"/>
              </a:xfrm>
              <a:prstGeom prst="rect">
                <a:avLst/>
              </a:prstGeom>
              <a:solidFill>
                <a:schemeClr val="bg1"/>
              </a:solidFill>
            </p:spPr>
            <p:txBody>
              <a:bodyPr wrap="square">
                <a:spAutoFit/>
              </a:bodyPr>
              <a:lstStyle/>
              <a:p>
                <a:endParaRPr lang="en-US" sz="1600" b="0" i="1" u="none" dirty="0">
                  <a:solidFill>
                    <a:srgbClr val="00B0F0"/>
                  </a:solidFill>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acc>
                        <m:accPr>
                          <m:chr m:val="̿"/>
                          <m:ctrlPr>
                            <a:rPr lang="en-US" sz="1600" b="0" i="1" u="none" dirty="0" smtClean="0">
                              <a:solidFill>
                                <a:srgbClr val="00B0F0"/>
                              </a:solidFill>
                              <a:latin typeface="Cambria Math" panose="02040503050406030204" pitchFamily="18" charset="0"/>
                              <a:cs typeface="Arial" panose="020B0604020202020204" pitchFamily="34" charset="0"/>
                            </a:rPr>
                          </m:ctrlPr>
                        </m:accPr>
                        <m:e>
                          <m:r>
                            <a:rPr lang="en-US" sz="1600" b="0" i="1" u="none" dirty="0" smtClean="0">
                              <a:solidFill>
                                <a:srgbClr val="00B0F0"/>
                              </a:solidFill>
                              <a:latin typeface="Cambria Math" panose="02040503050406030204" pitchFamily="18" charset="0"/>
                              <a:cs typeface="Arial" panose="020B0604020202020204" pitchFamily="34" charset="0"/>
                            </a:rPr>
                            <m:t>𝑥</m:t>
                          </m:r>
                        </m:e>
                      </m:acc>
                      <m:r>
                        <a:rPr lang="en-US" sz="1600" b="0" u="none">
                          <a:latin typeface="Cambria Math" panose="02040503050406030204" pitchFamily="18" charset="0"/>
                        </a:rPr>
                        <m:t>=</m:t>
                      </m:r>
                      <m:f>
                        <m:fPr>
                          <m:ctrlPr>
                            <a:rPr lang="en-US" sz="1600" b="0" i="1" u="none">
                              <a:latin typeface="Cambria Math" panose="02040503050406030204" pitchFamily="18" charset="0"/>
                            </a:rPr>
                          </m:ctrlPr>
                        </m:fPr>
                        <m:num>
                          <m:nary>
                            <m:naryPr>
                              <m:chr m:val="∑"/>
                              <m:limLoc m:val="subSup"/>
                              <m:ctrlPr>
                                <a:rPr lang="en-US" sz="1600" b="0" i="1" u="none">
                                  <a:latin typeface="Cambria Math" panose="02040503050406030204" pitchFamily="18" charset="0"/>
                                </a:rPr>
                              </m:ctrlPr>
                            </m:naryPr>
                            <m:sub>
                              <m:r>
                                <a:rPr lang="en-US" sz="1600" b="0" i="1" u="none">
                                  <a:latin typeface="Cambria Math" panose="02040503050406030204" pitchFamily="18" charset="0"/>
                                </a:rPr>
                                <m:t>𝑗</m:t>
                              </m:r>
                              <m:r>
                                <a:rPr lang="en-US" sz="1600" b="0" i="1" u="none">
                                  <a:latin typeface="Cambria Math" panose="02040503050406030204" pitchFamily="18" charset="0"/>
                                </a:rPr>
                                <m:t>=1</m:t>
                              </m:r>
                            </m:sub>
                            <m:sup>
                              <m:r>
                                <a:rPr lang="en-US" sz="1600" b="0" i="1" u="none">
                                  <a:latin typeface="Cambria Math" panose="02040503050406030204" pitchFamily="18" charset="0"/>
                                </a:rPr>
                                <m:t>#</m:t>
                              </m:r>
                              <m:r>
                                <a:rPr lang="en-US" sz="1600" b="0" i="1" u="none">
                                  <a:latin typeface="Cambria Math" panose="02040503050406030204" pitchFamily="18" charset="0"/>
                                </a:rPr>
                                <m:t>𝑃𝑜𝑙𝑙𝑠</m:t>
                              </m:r>
                            </m:sup>
                            <m:e>
                              <m:sSub>
                                <m:sSubPr>
                                  <m:ctrlPr>
                                    <a:rPr lang="en-US" sz="1600" b="0" i="1" u="none" smtClean="0">
                                      <a:solidFill>
                                        <a:srgbClr val="00B0F0"/>
                                      </a:solidFill>
                                      <a:latin typeface="Cambria Math" panose="02040503050406030204" pitchFamily="18" charset="0"/>
                                    </a:rPr>
                                  </m:ctrlPr>
                                </m:sSubPr>
                                <m:e>
                                  <m:acc>
                                    <m:accPr>
                                      <m:chr m:val="̅"/>
                                      <m:ctrlPr>
                                        <a:rPr lang="en-US" sz="1600" b="0" i="1" u="none">
                                          <a:solidFill>
                                            <a:srgbClr val="00B0F0"/>
                                          </a:solidFill>
                                          <a:latin typeface="Cambria Math" panose="02040503050406030204" pitchFamily="18" charset="0"/>
                                        </a:rPr>
                                      </m:ctrlPr>
                                    </m:accPr>
                                    <m:e>
                                      <m:r>
                                        <a:rPr lang="en-US" sz="1600" b="0" i="1" u="none" smtClean="0">
                                          <a:solidFill>
                                            <a:srgbClr val="00B0F0"/>
                                          </a:solidFill>
                                          <a:latin typeface="Cambria Math" panose="02040503050406030204" pitchFamily="18" charset="0"/>
                                        </a:rPr>
                                        <m:t>𝑥</m:t>
                                      </m:r>
                                    </m:e>
                                  </m:acc>
                                </m:e>
                                <m:sub>
                                  <m:r>
                                    <a:rPr lang="en-US" sz="1600" b="0" i="1" u="none" smtClean="0">
                                      <a:solidFill>
                                        <a:srgbClr val="00B0F0"/>
                                      </a:solidFill>
                                      <a:latin typeface="Cambria Math" panose="02040503050406030204" pitchFamily="18" charset="0"/>
                                    </a:rPr>
                                    <m:t>𝑗</m:t>
                                  </m:r>
                                </m:sub>
                              </m:sSub>
                            </m:e>
                          </m:nary>
                        </m:num>
                        <m:den>
                          <m:r>
                            <a:rPr lang="en-US" sz="1600" b="0" i="1" u="none">
                              <a:latin typeface="Cambria Math" panose="02040503050406030204" pitchFamily="18" charset="0"/>
                            </a:rPr>
                            <m:t>#</m:t>
                          </m:r>
                          <m:r>
                            <a:rPr lang="en-US" sz="1600" b="0" i="1" u="none">
                              <a:latin typeface="Cambria Math" panose="02040503050406030204" pitchFamily="18" charset="0"/>
                            </a:rPr>
                            <m:t>𝑃𝑜𝑙𝑙𝑠</m:t>
                          </m:r>
                        </m:den>
                      </m:f>
                    </m:oMath>
                  </m:oMathPara>
                </a14:m>
                <a:endParaRPr lang="en-US" sz="1600" dirty="0"/>
              </a:p>
            </p:txBody>
          </p:sp>
        </mc:Choice>
        <mc:Fallback xmlns="">
          <p:sp>
            <p:nvSpPr>
              <p:cNvPr id="10" name="TextBox 9">
                <a:extLst>
                  <a:ext uri="{FF2B5EF4-FFF2-40B4-BE49-F238E27FC236}">
                    <a16:creationId xmlns:a16="http://schemas.microsoft.com/office/drawing/2014/main" id="{2D54B8E8-9325-4AB6-1A29-D4A6EEE70E4D}"/>
                  </a:ext>
                </a:extLst>
              </p:cNvPr>
              <p:cNvSpPr txBox="1">
                <a:spLocks noRot="1" noChangeAspect="1" noMove="1" noResize="1" noEditPoints="1" noAdjustHandles="1" noChangeArrowheads="1" noChangeShapeType="1" noTextEdit="1"/>
              </p:cNvSpPr>
              <p:nvPr/>
            </p:nvSpPr>
            <p:spPr>
              <a:xfrm>
                <a:off x="2255751" y="5886623"/>
                <a:ext cx="2662882" cy="862737"/>
              </a:xfrm>
              <a:prstGeom prst="rect">
                <a:avLst/>
              </a:prstGeom>
              <a:blipFill>
                <a:blip r:embed="rId3"/>
                <a:stretch>
                  <a:fillRect/>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5CD01833-87AA-7425-781E-F58B45EA5B77}"/>
              </a:ext>
            </a:extLst>
          </p:cNvPr>
          <p:cNvCxnSpPr>
            <a:cxnSpLocks/>
          </p:cNvCxnSpPr>
          <p:nvPr/>
        </p:nvCxnSpPr>
        <p:spPr bwMode="auto">
          <a:xfrm>
            <a:off x="3620529" y="2088291"/>
            <a:ext cx="0" cy="3929450"/>
          </a:xfrm>
          <a:prstGeom prst="line">
            <a:avLst/>
          </a:prstGeom>
          <a:solidFill>
            <a:schemeClr val="accent1"/>
          </a:solidFill>
          <a:ln w="28575" cap="flat" cmpd="sng" algn="ctr">
            <a:solidFill>
              <a:srgbClr val="00B0F0"/>
            </a:solidFill>
            <a:prstDash val="dash"/>
            <a:round/>
            <a:headEnd type="none" w="med" len="med"/>
            <a:tailEnd type="none" w="med" len="med"/>
          </a:ln>
          <a:effectLst/>
        </p:spPr>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145E4A9-2158-B721-1260-9B3E167DAB44}"/>
                  </a:ext>
                </a:extLst>
              </p:cNvPr>
              <p:cNvSpPr txBox="1"/>
              <p:nvPr/>
            </p:nvSpPr>
            <p:spPr>
              <a:xfrm>
                <a:off x="4248243" y="6259227"/>
                <a:ext cx="1884403" cy="338554"/>
              </a:xfrm>
              <a:prstGeom prst="rect">
                <a:avLst/>
              </a:prstGeom>
              <a:noFill/>
            </p:spPr>
            <p:txBody>
              <a:bodyPr wrap="square">
                <a:spAutoFit/>
              </a:bodyPr>
              <a:lstStyle/>
              <a:p>
                <a14:m>
                  <m:oMath xmlns:m="http://schemas.openxmlformats.org/officeDocument/2006/math">
                    <m:r>
                      <a:rPr lang="en-US" sz="1600" b="0" i="1" u="none" dirty="0" smtClean="0">
                        <a:latin typeface="Cambria Math" panose="02040503050406030204" pitchFamily="18" charset="0"/>
                        <a:cs typeface="Arial" panose="020B0604020202020204" pitchFamily="34" charset="0"/>
                      </a:rPr>
                      <m:t>𝑐𝑜𝑛𝑣𝑒𝑟𝑔𝑒𝑠</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𝑡𝑜</m:t>
                    </m:r>
                    <m:r>
                      <a:rPr lang="en-US" sz="1600" b="0" i="1" u="none" dirty="0" smtClean="0">
                        <a:latin typeface="Cambria Math" panose="02040503050406030204" pitchFamily="18" charset="0"/>
                        <a:cs typeface="Arial" panose="020B0604020202020204" pitchFamily="34" charset="0"/>
                      </a:rPr>
                      <m:t> </m:t>
                    </m:r>
                    <m:r>
                      <a:rPr lang="en-US" sz="1600" b="0" i="1" u="none" dirty="0">
                        <a:solidFill>
                          <a:srgbClr val="FF0000"/>
                        </a:solidFill>
                        <a:latin typeface="Cambria Math" panose="02040503050406030204" pitchFamily="18" charset="0"/>
                        <a:cs typeface="Arial" panose="020B0604020202020204" pitchFamily="34" charset="0"/>
                      </a:rPr>
                      <m:t>𝜇</m:t>
                    </m:r>
                  </m:oMath>
                </a14:m>
                <a:r>
                  <a:rPr lang="en-US" sz="1600" b="0" u="none" dirty="0">
                    <a:cs typeface="Arial" panose="020B0604020202020204" pitchFamily="34" charset="0"/>
                  </a:rPr>
                  <a:t> </a:t>
                </a:r>
                <a:endParaRPr lang="en-US" sz="1600" dirty="0"/>
              </a:p>
            </p:txBody>
          </p:sp>
        </mc:Choice>
        <mc:Fallback xmlns="">
          <p:sp>
            <p:nvSpPr>
              <p:cNvPr id="15" name="TextBox 14">
                <a:extLst>
                  <a:ext uri="{FF2B5EF4-FFF2-40B4-BE49-F238E27FC236}">
                    <a16:creationId xmlns:a16="http://schemas.microsoft.com/office/drawing/2014/main" id="{8145E4A9-2158-B721-1260-9B3E167DAB44}"/>
                  </a:ext>
                </a:extLst>
              </p:cNvPr>
              <p:cNvSpPr txBox="1">
                <a:spLocks noRot="1" noChangeAspect="1" noMove="1" noResize="1" noEditPoints="1" noAdjustHandles="1" noChangeArrowheads="1" noChangeShapeType="1" noTextEdit="1"/>
              </p:cNvSpPr>
              <p:nvPr/>
            </p:nvSpPr>
            <p:spPr>
              <a:xfrm>
                <a:off x="4248243" y="6259227"/>
                <a:ext cx="1884403" cy="338554"/>
              </a:xfrm>
              <a:prstGeom prst="rect">
                <a:avLst/>
              </a:prstGeom>
              <a:blipFill>
                <a:blip r:embed="rId4"/>
                <a:stretch>
                  <a:fillRect b="-5455"/>
                </a:stretch>
              </a:blipFill>
            </p:spPr>
            <p:txBody>
              <a:bodyPr/>
              <a:lstStyle/>
              <a:p>
                <a:r>
                  <a:rPr lang="en-US">
                    <a:noFill/>
                  </a:rPr>
                  <a:t> </a:t>
                </a:r>
              </a:p>
            </p:txBody>
          </p:sp>
        </mc:Fallback>
      </mc:AlternateContent>
    </p:spTree>
    <p:extLst>
      <p:ext uri="{BB962C8B-B14F-4D97-AF65-F5344CB8AC3E}">
        <p14:creationId xmlns:p14="http://schemas.microsoft.com/office/powerpoint/2010/main" val="518039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2C3C4-E29C-FFB2-F51C-0B603155E78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ED66446-A702-E3BD-0BEF-F719FA57CACF}"/>
              </a:ext>
            </a:extLst>
          </p:cNvPr>
          <p:cNvPicPr>
            <a:picLocks noChangeAspect="1"/>
          </p:cNvPicPr>
          <p:nvPr/>
        </p:nvPicPr>
        <p:blipFill>
          <a:blip r:embed="rId2"/>
          <a:stretch>
            <a:fillRect/>
          </a:stretch>
        </p:blipFill>
        <p:spPr>
          <a:xfrm>
            <a:off x="732179" y="1688751"/>
            <a:ext cx="4581144" cy="4570476"/>
          </a:xfrm>
          <a:prstGeom prst="rect">
            <a:avLst/>
          </a:prstGeom>
        </p:spPr>
      </p:pic>
      <p:sp>
        <p:nvSpPr>
          <p:cNvPr id="2" name="Title 1">
            <a:extLst>
              <a:ext uri="{FF2B5EF4-FFF2-40B4-BE49-F238E27FC236}">
                <a16:creationId xmlns:a16="http://schemas.microsoft.com/office/drawing/2014/main" id="{BD1D5C1D-B4EC-B015-1F58-612444181FCB}"/>
              </a:ext>
            </a:extLst>
          </p:cNvPr>
          <p:cNvSpPr>
            <a:spLocks noGrp="1"/>
          </p:cNvSpPr>
          <p:nvPr>
            <p:ph type="title"/>
          </p:nvPr>
        </p:nvSpPr>
        <p:spPr/>
        <p:txBody>
          <a:bodyPr/>
          <a:lstStyle/>
          <a:p>
            <a:r>
              <a:rPr lang="en-US" dirty="0"/>
              <a:t>Central Limit Theorem </a:t>
            </a:r>
            <a:r>
              <a:rPr lang="en-US" dirty="0">
                <a:latin typeface="Wingdings 3" panose="05040102010807070707" pitchFamily="18" charset="2"/>
              </a:rPr>
              <a:t>g</a:t>
            </a:r>
            <a:r>
              <a:rPr lang="en-US" dirty="0"/>
              <a:t> Data</a:t>
            </a:r>
          </a:p>
        </p:txBody>
      </p:sp>
      <p:sp>
        <p:nvSpPr>
          <p:cNvPr id="4" name="Slide Number Placeholder 3">
            <a:extLst>
              <a:ext uri="{FF2B5EF4-FFF2-40B4-BE49-F238E27FC236}">
                <a16:creationId xmlns:a16="http://schemas.microsoft.com/office/drawing/2014/main" id="{94730827-8164-6423-27F1-BFB10AA263E6}"/>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49</a:t>
            </a:fld>
            <a:endParaRPr lang="en-GB" dirty="0"/>
          </a:p>
        </p:txBody>
      </p:sp>
      <p:sp>
        <p:nvSpPr>
          <p:cNvPr id="8" name="TextBox 7">
            <a:extLst>
              <a:ext uri="{FF2B5EF4-FFF2-40B4-BE49-F238E27FC236}">
                <a16:creationId xmlns:a16="http://schemas.microsoft.com/office/drawing/2014/main" id="{1B2E64E3-AE7D-49AD-BA32-F2EF73993E18}"/>
              </a:ext>
            </a:extLst>
          </p:cNvPr>
          <p:cNvSpPr txBox="1"/>
          <p:nvPr/>
        </p:nvSpPr>
        <p:spPr>
          <a:xfrm>
            <a:off x="5601505" y="2755294"/>
            <a:ext cx="2810316" cy="1815882"/>
          </a:xfrm>
          <a:prstGeom prst="rect">
            <a:avLst/>
          </a:prstGeom>
          <a:noFill/>
        </p:spPr>
        <p:txBody>
          <a:bodyPr wrap="square" rtlCol="0">
            <a:spAutoFit/>
          </a:bodyPr>
          <a:lstStyle/>
          <a:p>
            <a:r>
              <a:rPr lang="en-US" sz="1400" b="0" u="none" dirty="0">
                <a:solidFill>
                  <a:schemeClr val="accent6"/>
                </a:solidFill>
                <a:latin typeface="Arial" pitchFamily="34" charset="0"/>
                <a:cs typeface="Arial" pitchFamily="34" charset="0"/>
              </a:rPr>
              <a:t>The </a:t>
            </a:r>
            <a:r>
              <a:rPr lang="en-US" sz="1400" b="0" u="none" dirty="0">
                <a:solidFill>
                  <a:schemeClr val="accent6"/>
                </a:solidFill>
                <a:cs typeface="Arial" pitchFamily="34" charset="0"/>
              </a:rPr>
              <a:t>Fox poll was one of </a:t>
            </a:r>
            <a:r>
              <a:rPr lang="en-US" sz="1400" b="0" u="none" dirty="0">
                <a:solidFill>
                  <a:schemeClr val="accent6"/>
                </a:solidFill>
                <a:latin typeface="Arial" pitchFamily="34" charset="0"/>
                <a:cs typeface="Arial" pitchFamily="34" charset="0"/>
              </a:rPr>
              <a:t>77 polls conducted in the final month of the campaign</a:t>
            </a:r>
          </a:p>
          <a:p>
            <a:endParaRPr lang="en-US" sz="1400" b="0" u="none" dirty="0">
              <a:solidFill>
                <a:schemeClr val="accent6"/>
              </a:solidFill>
              <a:cs typeface="Arial" pitchFamily="34" charset="0"/>
            </a:endParaRPr>
          </a:p>
          <a:p>
            <a:r>
              <a:rPr lang="en-US" sz="1400" b="0" u="none" dirty="0">
                <a:solidFill>
                  <a:schemeClr val="accent6"/>
                </a:solidFill>
                <a:latin typeface="Arial" pitchFamily="34" charset="0"/>
                <a:cs typeface="Arial" pitchFamily="34" charset="0"/>
              </a:rPr>
              <a:t>This is their distribution</a:t>
            </a:r>
          </a:p>
          <a:p>
            <a:endParaRPr lang="en-US" sz="1400" b="0" u="none" dirty="0">
              <a:solidFill>
                <a:schemeClr val="accent6"/>
              </a:solidFill>
              <a:cs typeface="Arial" pitchFamily="34" charset="0"/>
            </a:endParaRPr>
          </a:p>
          <a:p>
            <a:r>
              <a:rPr lang="en-US" sz="1400" b="0" u="none" dirty="0">
                <a:solidFill>
                  <a:srgbClr val="FF0000"/>
                </a:solidFill>
                <a:latin typeface="Arial" pitchFamily="34" charset="0"/>
                <a:cs typeface="Arial" pitchFamily="34" charset="0"/>
              </a:rPr>
              <a:t>OK, bu</a:t>
            </a:r>
            <a:r>
              <a:rPr lang="en-US" sz="1400" b="0" u="none" dirty="0">
                <a:solidFill>
                  <a:srgbClr val="FF0000"/>
                </a:solidFill>
                <a:cs typeface="Arial" pitchFamily="34" charset="0"/>
              </a:rPr>
              <a:t>t what can you do if you have just one poll?</a:t>
            </a:r>
            <a:endParaRPr lang="en-US" sz="1400" b="0" u="none" dirty="0">
              <a:solidFill>
                <a:srgbClr val="FF0000"/>
              </a:solidFill>
              <a:latin typeface="Arial" pitchFamily="34" charset="0"/>
              <a:cs typeface="Arial" pitchFamily="34" charset="0"/>
            </a:endParaRPr>
          </a:p>
        </p:txBody>
      </p:sp>
      <p:sp>
        <p:nvSpPr>
          <p:cNvPr id="6" name="Freeform: Shape 5">
            <a:extLst>
              <a:ext uri="{FF2B5EF4-FFF2-40B4-BE49-F238E27FC236}">
                <a16:creationId xmlns:a16="http://schemas.microsoft.com/office/drawing/2014/main" id="{42F708AA-AAAD-B334-1564-5923EC1105C3}"/>
              </a:ext>
            </a:extLst>
          </p:cNvPr>
          <p:cNvSpPr/>
          <p:nvPr/>
        </p:nvSpPr>
        <p:spPr bwMode="auto">
          <a:xfrm rot="15939891">
            <a:off x="2204472" y="3392906"/>
            <a:ext cx="602363" cy="455575"/>
          </a:xfrm>
          <a:custGeom>
            <a:avLst/>
            <a:gdLst>
              <a:gd name="connsiteX0" fmla="*/ 0 w 397934"/>
              <a:gd name="connsiteY0" fmla="*/ 262467 h 262467"/>
              <a:gd name="connsiteX1" fmla="*/ 110067 w 397934"/>
              <a:gd name="connsiteY1" fmla="*/ 127000 h 262467"/>
              <a:gd name="connsiteX2" fmla="*/ 397934 w 397934"/>
              <a:gd name="connsiteY2" fmla="*/ 0 h 262467"/>
            </a:gdLst>
            <a:ahLst/>
            <a:cxnLst>
              <a:cxn ang="0">
                <a:pos x="connsiteX0" y="connsiteY0"/>
              </a:cxn>
              <a:cxn ang="0">
                <a:pos x="connsiteX1" y="connsiteY1"/>
              </a:cxn>
              <a:cxn ang="0">
                <a:pos x="connsiteX2" y="connsiteY2"/>
              </a:cxn>
            </a:cxnLst>
            <a:rect l="l" t="t" r="r" b="b"/>
            <a:pathLst>
              <a:path w="397934" h="262467">
                <a:moveTo>
                  <a:pt x="0" y="262467"/>
                </a:moveTo>
                <a:cubicBezTo>
                  <a:pt x="21872" y="216605"/>
                  <a:pt x="43745" y="170744"/>
                  <a:pt x="110067" y="127000"/>
                </a:cubicBezTo>
                <a:cubicBezTo>
                  <a:pt x="176389" y="83255"/>
                  <a:pt x="287161" y="41627"/>
                  <a:pt x="397934"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5" name="TextBox 4">
            <a:extLst>
              <a:ext uri="{FF2B5EF4-FFF2-40B4-BE49-F238E27FC236}">
                <a16:creationId xmlns:a16="http://schemas.microsoft.com/office/drawing/2014/main" id="{43984F2A-7D6F-4E3A-AABB-CF97ACF1B765}"/>
              </a:ext>
            </a:extLst>
          </p:cNvPr>
          <p:cNvSpPr txBox="1"/>
          <p:nvPr/>
        </p:nvSpPr>
        <p:spPr>
          <a:xfrm>
            <a:off x="1469913" y="2872268"/>
            <a:ext cx="1552838" cy="600164"/>
          </a:xfrm>
          <a:prstGeom prst="rect">
            <a:avLst/>
          </a:prstGeom>
          <a:noFill/>
        </p:spPr>
        <p:txBody>
          <a:bodyPr wrap="square" rtlCol="0">
            <a:spAutoFit/>
          </a:bodyPr>
          <a:lstStyle/>
          <a:p>
            <a:r>
              <a:rPr lang="en-US" sz="1100" b="0" u="none" dirty="0">
                <a:latin typeface="Arial" pitchFamily="34" charset="0"/>
                <a:cs typeface="Arial" pitchFamily="34" charset="0"/>
              </a:rPr>
              <a:t>Normal distribution implied by the 77 </a:t>
            </a:r>
            <a:r>
              <a:rPr lang="en-US" sz="1100" b="0" u="none" dirty="0">
                <a:cs typeface="Arial" pitchFamily="34" charset="0"/>
              </a:rPr>
              <a:t>p</a:t>
            </a:r>
            <a:r>
              <a:rPr lang="en-US" sz="1100" b="0" u="none" dirty="0">
                <a:latin typeface="Arial" pitchFamily="34" charset="0"/>
                <a:cs typeface="Arial" pitchFamily="34" charset="0"/>
              </a:rPr>
              <a:t>olls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D874C7-0C35-2B12-3B18-BF7900A81227}"/>
                  </a:ext>
                </a:extLst>
              </p:cNvPr>
              <p:cNvSpPr txBox="1"/>
              <p:nvPr/>
            </p:nvSpPr>
            <p:spPr>
              <a:xfrm>
                <a:off x="2255751" y="5886623"/>
                <a:ext cx="2662882" cy="862737"/>
              </a:xfrm>
              <a:prstGeom prst="rect">
                <a:avLst/>
              </a:prstGeom>
              <a:solidFill>
                <a:schemeClr val="bg1"/>
              </a:solidFill>
            </p:spPr>
            <p:txBody>
              <a:bodyPr wrap="square">
                <a:spAutoFit/>
              </a:bodyPr>
              <a:lstStyle/>
              <a:p>
                <a:endParaRPr lang="en-US" sz="1600" b="0" i="1" u="none" dirty="0">
                  <a:solidFill>
                    <a:srgbClr val="00B0F0"/>
                  </a:solidFill>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acc>
                        <m:accPr>
                          <m:chr m:val="̿"/>
                          <m:ctrlPr>
                            <a:rPr lang="en-US" sz="1600" b="0" i="1" u="none" dirty="0" smtClean="0">
                              <a:solidFill>
                                <a:srgbClr val="00B0F0"/>
                              </a:solidFill>
                              <a:latin typeface="Cambria Math" panose="02040503050406030204" pitchFamily="18" charset="0"/>
                              <a:cs typeface="Arial" panose="020B0604020202020204" pitchFamily="34" charset="0"/>
                            </a:rPr>
                          </m:ctrlPr>
                        </m:accPr>
                        <m:e>
                          <m:r>
                            <a:rPr lang="en-US" sz="1600" b="0" i="1" u="none" dirty="0" smtClean="0">
                              <a:solidFill>
                                <a:srgbClr val="00B0F0"/>
                              </a:solidFill>
                              <a:latin typeface="Cambria Math" panose="02040503050406030204" pitchFamily="18" charset="0"/>
                              <a:cs typeface="Arial" panose="020B0604020202020204" pitchFamily="34" charset="0"/>
                            </a:rPr>
                            <m:t>𝑥</m:t>
                          </m:r>
                        </m:e>
                      </m:acc>
                      <m:r>
                        <a:rPr lang="en-US" sz="1600" b="0" u="none">
                          <a:latin typeface="Cambria Math" panose="02040503050406030204" pitchFamily="18" charset="0"/>
                        </a:rPr>
                        <m:t>=</m:t>
                      </m:r>
                      <m:f>
                        <m:fPr>
                          <m:ctrlPr>
                            <a:rPr lang="en-US" sz="1600" b="0" i="1" u="none">
                              <a:latin typeface="Cambria Math" panose="02040503050406030204" pitchFamily="18" charset="0"/>
                            </a:rPr>
                          </m:ctrlPr>
                        </m:fPr>
                        <m:num>
                          <m:nary>
                            <m:naryPr>
                              <m:chr m:val="∑"/>
                              <m:limLoc m:val="subSup"/>
                              <m:ctrlPr>
                                <a:rPr lang="en-US" sz="1600" b="0" i="1" u="none">
                                  <a:latin typeface="Cambria Math" panose="02040503050406030204" pitchFamily="18" charset="0"/>
                                </a:rPr>
                              </m:ctrlPr>
                            </m:naryPr>
                            <m:sub>
                              <m:r>
                                <a:rPr lang="en-US" sz="1600" b="0" i="1" u="none">
                                  <a:latin typeface="Cambria Math" panose="02040503050406030204" pitchFamily="18" charset="0"/>
                                </a:rPr>
                                <m:t>𝑗</m:t>
                              </m:r>
                              <m:r>
                                <a:rPr lang="en-US" sz="1600" b="0" i="1" u="none">
                                  <a:latin typeface="Cambria Math" panose="02040503050406030204" pitchFamily="18" charset="0"/>
                                </a:rPr>
                                <m:t>=1</m:t>
                              </m:r>
                            </m:sub>
                            <m:sup>
                              <m:r>
                                <a:rPr lang="en-US" sz="1600" b="0" i="1" u="none">
                                  <a:latin typeface="Cambria Math" panose="02040503050406030204" pitchFamily="18" charset="0"/>
                                </a:rPr>
                                <m:t>#</m:t>
                              </m:r>
                              <m:r>
                                <a:rPr lang="en-US" sz="1600" b="0" i="1" u="none">
                                  <a:latin typeface="Cambria Math" panose="02040503050406030204" pitchFamily="18" charset="0"/>
                                </a:rPr>
                                <m:t>𝑃𝑜𝑙𝑙𝑠</m:t>
                              </m:r>
                            </m:sup>
                            <m:e>
                              <m:sSub>
                                <m:sSubPr>
                                  <m:ctrlPr>
                                    <a:rPr lang="en-US" sz="1600" b="0" i="1" u="none" smtClean="0">
                                      <a:solidFill>
                                        <a:srgbClr val="00B0F0"/>
                                      </a:solidFill>
                                      <a:latin typeface="Cambria Math" panose="02040503050406030204" pitchFamily="18" charset="0"/>
                                    </a:rPr>
                                  </m:ctrlPr>
                                </m:sSubPr>
                                <m:e>
                                  <m:acc>
                                    <m:accPr>
                                      <m:chr m:val="̅"/>
                                      <m:ctrlPr>
                                        <a:rPr lang="en-US" sz="1600" b="0" i="1" u="none">
                                          <a:solidFill>
                                            <a:srgbClr val="00B0F0"/>
                                          </a:solidFill>
                                          <a:latin typeface="Cambria Math" panose="02040503050406030204" pitchFamily="18" charset="0"/>
                                        </a:rPr>
                                      </m:ctrlPr>
                                    </m:accPr>
                                    <m:e>
                                      <m:r>
                                        <a:rPr lang="en-US" sz="1600" b="0" i="1" u="none" smtClean="0">
                                          <a:solidFill>
                                            <a:srgbClr val="00B0F0"/>
                                          </a:solidFill>
                                          <a:latin typeface="Cambria Math" panose="02040503050406030204" pitchFamily="18" charset="0"/>
                                        </a:rPr>
                                        <m:t>𝑥</m:t>
                                      </m:r>
                                    </m:e>
                                  </m:acc>
                                </m:e>
                                <m:sub>
                                  <m:r>
                                    <a:rPr lang="en-US" sz="1600" b="0" i="1" u="none" smtClean="0">
                                      <a:solidFill>
                                        <a:srgbClr val="00B0F0"/>
                                      </a:solidFill>
                                      <a:latin typeface="Cambria Math" panose="02040503050406030204" pitchFamily="18" charset="0"/>
                                    </a:rPr>
                                    <m:t>𝑗</m:t>
                                  </m:r>
                                </m:sub>
                              </m:sSub>
                            </m:e>
                          </m:nary>
                        </m:num>
                        <m:den>
                          <m:r>
                            <a:rPr lang="en-US" sz="1600" b="0" i="1" u="none">
                              <a:latin typeface="Cambria Math" panose="02040503050406030204" pitchFamily="18" charset="0"/>
                            </a:rPr>
                            <m:t>#</m:t>
                          </m:r>
                          <m:r>
                            <a:rPr lang="en-US" sz="1600" b="0" i="1" u="none">
                              <a:latin typeface="Cambria Math" panose="02040503050406030204" pitchFamily="18" charset="0"/>
                            </a:rPr>
                            <m:t>𝑃𝑜𝑙𝑙𝑠</m:t>
                          </m:r>
                        </m:den>
                      </m:f>
                    </m:oMath>
                  </m:oMathPara>
                </a14:m>
                <a:endParaRPr lang="en-US" sz="1600" dirty="0"/>
              </a:p>
            </p:txBody>
          </p:sp>
        </mc:Choice>
        <mc:Fallback xmlns="">
          <p:sp>
            <p:nvSpPr>
              <p:cNvPr id="10" name="TextBox 9">
                <a:extLst>
                  <a:ext uri="{FF2B5EF4-FFF2-40B4-BE49-F238E27FC236}">
                    <a16:creationId xmlns:a16="http://schemas.microsoft.com/office/drawing/2014/main" id="{EFD874C7-0C35-2B12-3B18-BF7900A81227}"/>
                  </a:ext>
                </a:extLst>
              </p:cNvPr>
              <p:cNvSpPr txBox="1">
                <a:spLocks noRot="1" noChangeAspect="1" noMove="1" noResize="1" noEditPoints="1" noAdjustHandles="1" noChangeArrowheads="1" noChangeShapeType="1" noTextEdit="1"/>
              </p:cNvSpPr>
              <p:nvPr/>
            </p:nvSpPr>
            <p:spPr>
              <a:xfrm>
                <a:off x="2255751" y="5886623"/>
                <a:ext cx="2662882" cy="862737"/>
              </a:xfrm>
              <a:prstGeom prst="rect">
                <a:avLst/>
              </a:prstGeom>
              <a:blipFill>
                <a:blip r:embed="rId3"/>
                <a:stretch>
                  <a:fillRect/>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AD31179A-D3CD-4D11-3115-5427D42CAC93}"/>
              </a:ext>
            </a:extLst>
          </p:cNvPr>
          <p:cNvCxnSpPr>
            <a:cxnSpLocks/>
          </p:cNvCxnSpPr>
          <p:nvPr/>
        </p:nvCxnSpPr>
        <p:spPr bwMode="auto">
          <a:xfrm>
            <a:off x="3620529" y="2088291"/>
            <a:ext cx="0" cy="3929450"/>
          </a:xfrm>
          <a:prstGeom prst="line">
            <a:avLst/>
          </a:prstGeom>
          <a:solidFill>
            <a:schemeClr val="accent1"/>
          </a:solidFill>
          <a:ln w="28575" cap="flat" cmpd="sng" algn="ctr">
            <a:solidFill>
              <a:srgbClr val="00B0F0"/>
            </a:solidFill>
            <a:prstDash val="dash"/>
            <a:round/>
            <a:headEnd type="none" w="med" len="med"/>
            <a:tailEnd type="none" w="med" len="med"/>
          </a:ln>
          <a:effectLst/>
        </p:spPr>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9D8B62-F55D-95FC-5A51-6C9AA797703F}"/>
                  </a:ext>
                </a:extLst>
              </p:cNvPr>
              <p:cNvSpPr txBox="1"/>
              <p:nvPr/>
            </p:nvSpPr>
            <p:spPr>
              <a:xfrm>
                <a:off x="4248243" y="6259227"/>
                <a:ext cx="1884403" cy="338554"/>
              </a:xfrm>
              <a:prstGeom prst="rect">
                <a:avLst/>
              </a:prstGeom>
              <a:noFill/>
            </p:spPr>
            <p:txBody>
              <a:bodyPr wrap="square">
                <a:spAutoFit/>
              </a:bodyPr>
              <a:lstStyle/>
              <a:p>
                <a14:m>
                  <m:oMath xmlns:m="http://schemas.openxmlformats.org/officeDocument/2006/math">
                    <m:r>
                      <a:rPr lang="en-US" sz="1600" b="0" i="1" u="none" dirty="0" smtClean="0">
                        <a:latin typeface="Cambria Math" panose="02040503050406030204" pitchFamily="18" charset="0"/>
                        <a:cs typeface="Arial" panose="020B0604020202020204" pitchFamily="34" charset="0"/>
                      </a:rPr>
                      <m:t>𝑐𝑜𝑛𝑣𝑒𝑟𝑔𝑒𝑠</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𝑡𝑜</m:t>
                    </m:r>
                    <m:r>
                      <a:rPr lang="en-US" sz="1600" b="0" i="1" u="none" dirty="0" smtClean="0">
                        <a:latin typeface="Cambria Math" panose="02040503050406030204" pitchFamily="18" charset="0"/>
                        <a:cs typeface="Arial" panose="020B0604020202020204" pitchFamily="34" charset="0"/>
                      </a:rPr>
                      <m:t> </m:t>
                    </m:r>
                    <m:r>
                      <a:rPr lang="en-US" sz="1600" b="0" i="1" u="none" dirty="0">
                        <a:solidFill>
                          <a:srgbClr val="FF0000"/>
                        </a:solidFill>
                        <a:latin typeface="Cambria Math" panose="02040503050406030204" pitchFamily="18" charset="0"/>
                        <a:cs typeface="Arial" panose="020B0604020202020204" pitchFamily="34" charset="0"/>
                      </a:rPr>
                      <m:t>𝜇</m:t>
                    </m:r>
                  </m:oMath>
                </a14:m>
                <a:r>
                  <a:rPr lang="en-US" sz="1600" b="0" u="none" dirty="0">
                    <a:cs typeface="Arial" panose="020B0604020202020204" pitchFamily="34" charset="0"/>
                  </a:rPr>
                  <a:t> </a:t>
                </a:r>
                <a:endParaRPr lang="en-US" sz="1600" dirty="0"/>
              </a:p>
            </p:txBody>
          </p:sp>
        </mc:Choice>
        <mc:Fallback xmlns="">
          <p:sp>
            <p:nvSpPr>
              <p:cNvPr id="15" name="TextBox 14">
                <a:extLst>
                  <a:ext uri="{FF2B5EF4-FFF2-40B4-BE49-F238E27FC236}">
                    <a16:creationId xmlns:a16="http://schemas.microsoft.com/office/drawing/2014/main" id="{649D8B62-F55D-95FC-5A51-6C9AA797703F}"/>
                  </a:ext>
                </a:extLst>
              </p:cNvPr>
              <p:cNvSpPr txBox="1">
                <a:spLocks noRot="1" noChangeAspect="1" noMove="1" noResize="1" noEditPoints="1" noAdjustHandles="1" noChangeArrowheads="1" noChangeShapeType="1" noTextEdit="1"/>
              </p:cNvSpPr>
              <p:nvPr/>
            </p:nvSpPr>
            <p:spPr>
              <a:xfrm>
                <a:off x="4248243" y="6259227"/>
                <a:ext cx="1884403" cy="338554"/>
              </a:xfrm>
              <a:prstGeom prst="rect">
                <a:avLst/>
              </a:prstGeom>
              <a:blipFill>
                <a:blip r:embed="rId4"/>
                <a:stretch>
                  <a:fillRect b="-5455"/>
                </a:stretch>
              </a:blipFill>
            </p:spPr>
            <p:txBody>
              <a:bodyPr/>
              <a:lstStyle/>
              <a:p>
                <a:r>
                  <a:rPr lang="en-US">
                    <a:noFill/>
                  </a:rPr>
                  <a:t> </a:t>
                </a:r>
              </a:p>
            </p:txBody>
          </p:sp>
        </mc:Fallback>
      </mc:AlternateContent>
    </p:spTree>
    <p:extLst>
      <p:ext uri="{BB962C8B-B14F-4D97-AF65-F5344CB8AC3E}">
        <p14:creationId xmlns:p14="http://schemas.microsoft.com/office/powerpoint/2010/main" val="510892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3CBCC-3CF1-FCB7-286B-D892C3F2811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F22FF0D-B285-D944-D753-0098A01B7033}"/>
              </a:ext>
            </a:extLst>
          </p:cNvPr>
          <p:cNvSpPr/>
          <p:nvPr/>
        </p:nvSpPr>
        <p:spPr bwMode="auto">
          <a:xfrm>
            <a:off x="2476500" y="4038600"/>
            <a:ext cx="482600" cy="298450"/>
          </a:xfrm>
          <a:prstGeom prst="rect">
            <a:avLst/>
          </a:prstGeom>
          <a:solidFill>
            <a:srgbClr val="FFFF99"/>
          </a:solid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6" name="Rectangle 5">
            <a:extLst>
              <a:ext uri="{FF2B5EF4-FFF2-40B4-BE49-F238E27FC236}">
                <a16:creationId xmlns:a16="http://schemas.microsoft.com/office/drawing/2014/main" id="{0866365C-D213-081B-61AC-A26D20B652CD}"/>
              </a:ext>
            </a:extLst>
          </p:cNvPr>
          <p:cNvSpPr/>
          <p:nvPr/>
        </p:nvSpPr>
        <p:spPr bwMode="auto">
          <a:xfrm>
            <a:off x="5645150" y="6186488"/>
            <a:ext cx="571500" cy="298450"/>
          </a:xfrm>
          <a:prstGeom prst="rect">
            <a:avLst/>
          </a:prstGeom>
          <a:solidFill>
            <a:srgbClr val="FFFF99"/>
          </a:solid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2" name="Title 1">
            <a:extLst>
              <a:ext uri="{FF2B5EF4-FFF2-40B4-BE49-F238E27FC236}">
                <a16:creationId xmlns:a16="http://schemas.microsoft.com/office/drawing/2014/main" id="{E3C94EA0-A4B9-4090-CD2E-6FBC3F98300B}"/>
              </a:ext>
            </a:extLst>
          </p:cNvPr>
          <p:cNvSpPr>
            <a:spLocks noGrp="1"/>
          </p:cNvSpPr>
          <p:nvPr>
            <p:ph type="title"/>
          </p:nvPr>
        </p:nvSpPr>
        <p:spPr/>
        <p:txBody>
          <a:bodyPr/>
          <a:lstStyle/>
          <a:p>
            <a:r>
              <a:rPr lang="en-US" dirty="0"/>
              <a:t>What if You Have Only 1 Poll?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41B770-FD1F-00D6-5C08-25669CD8F935}"/>
                  </a:ext>
                </a:extLst>
              </p:cNvPr>
              <p:cNvSpPr>
                <a:spLocks noGrp="1"/>
              </p:cNvSpPr>
              <p:nvPr>
                <p:ph idx="1"/>
              </p:nvPr>
            </p:nvSpPr>
            <p:spPr>
              <a:xfrm>
                <a:off x="354013" y="1089025"/>
                <a:ext cx="8616732" cy="3945145"/>
              </a:xfrm>
            </p:spPr>
            <p:txBody>
              <a:bodyPr/>
              <a:lstStyle/>
              <a:p>
                <a:r>
                  <a:rPr lang="en-US" sz="1800" dirty="0"/>
                  <a:t>The Central Limit Theorem is useful even if you have only 1 poll! </a:t>
                </a:r>
              </a:p>
              <a:p>
                <a:endParaRPr lang="en-US" sz="1800" dirty="0"/>
              </a:p>
              <a:p>
                <a:r>
                  <a:rPr lang="en-US" sz="1800" dirty="0"/>
                  <a:t>Recall from Probability:</a:t>
                </a:r>
              </a:p>
              <a:p>
                <a:endParaRPr lang="en-US" sz="1800" dirty="0"/>
              </a:p>
              <a:p>
                <a:pPr marL="400050" lvl="1" indent="0">
                  <a:buNone/>
                </a:pPr>
                <a:r>
                  <a:rPr lang="en-US" sz="1800" dirty="0">
                    <a:solidFill>
                      <a:schemeClr val="tx1"/>
                    </a:solidFill>
                  </a:rPr>
                  <a:t>In the normal distribution, 95% of the random realizations fall within 1.96 standard deviations of the true mean</a:t>
                </a:r>
              </a:p>
              <a:p>
                <a:pPr marL="400050" lvl="1" indent="0">
                  <a:buNone/>
                </a:pPr>
                <a:endParaRPr lang="en-US" sz="1800" dirty="0">
                  <a:solidFill>
                    <a:schemeClr val="tx1"/>
                  </a:solidFill>
                </a:endParaRPr>
              </a:p>
              <a:p>
                <a:r>
                  <a:rPr lang="en-US" sz="1800" dirty="0">
                    <a:solidFill>
                      <a:schemeClr val="accent6"/>
                    </a:solidFill>
                  </a:rPr>
                  <a:t>We can flip this around for intuition for the precision of the Fox poll:</a:t>
                </a:r>
              </a:p>
              <a:p>
                <a:endParaRPr lang="en-US" sz="1800" dirty="0">
                  <a:solidFill>
                    <a:schemeClr val="accent6"/>
                  </a:solidFill>
                </a:endParaRPr>
              </a:p>
              <a:p>
                <a:pPr marL="400050" lvl="1" indent="0">
                  <a:buNone/>
                </a:pPr>
                <a:r>
                  <a:rPr lang="en-US" sz="1800" dirty="0">
                    <a:solidFill>
                      <a:schemeClr val="tx1"/>
                    </a:solidFill>
                  </a:rPr>
                  <a:t>The interval </a:t>
                </a:r>
                <a14:m>
                  <m:oMath xmlns:m="http://schemas.openxmlformats.org/officeDocument/2006/math">
                    <m:acc>
                      <m:accPr>
                        <m:chr m:val="̅"/>
                        <m:ctrlPr>
                          <a:rPr lang="en-US" sz="1800" i="1" smtClean="0">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r>
                      <a:rPr lang="en-US" sz="1800" i="1">
                        <a:solidFill>
                          <a:schemeClr val="tx1"/>
                        </a:solidFill>
                        <a:latin typeface="Cambria Math" panose="02040503050406030204" pitchFamily="18" charset="0"/>
                        <a:ea typeface="Cambria Math" panose="02040503050406030204" pitchFamily="18" charset="0"/>
                      </a:rPr>
                      <m:t>±</m:t>
                    </m:r>
                    <m:r>
                      <a:rPr lang="en-US" sz="1800" i="1">
                        <a:solidFill>
                          <a:schemeClr val="tx1"/>
                        </a:solidFill>
                        <a:latin typeface="Cambria Math" panose="02040503050406030204" pitchFamily="18" charset="0"/>
                      </a:rPr>
                      <m:t>1.96 </m:t>
                    </m:r>
                    <m:r>
                      <a:rPr lang="en-US" sz="1800" i="1">
                        <a:solidFill>
                          <a:schemeClr val="tx1"/>
                        </a:solidFill>
                        <a:latin typeface="Cambria Math" panose="02040503050406030204" pitchFamily="18" charset="0"/>
                      </a:rPr>
                      <m:t>𝑆𝑡𝑑</m:t>
                    </m:r>
                    <m:r>
                      <a:rPr lang="en-US" sz="1800" i="1">
                        <a:solidFill>
                          <a:schemeClr val="tx1"/>
                        </a:solidFill>
                        <a:latin typeface="Cambria Math" panose="02040503050406030204" pitchFamily="18" charset="0"/>
                      </a:rPr>
                      <m:t> </m:t>
                    </m:r>
                    <m:r>
                      <a:rPr lang="en-US" sz="1800" i="1">
                        <a:solidFill>
                          <a:schemeClr val="tx1"/>
                        </a:solidFill>
                        <a:latin typeface="Cambria Math" panose="02040503050406030204" pitchFamily="18" charset="0"/>
                      </a:rPr>
                      <m:t>𝐸𝑟𝑟</m:t>
                    </m:r>
                    <m:r>
                      <a:rPr lang="en-US" sz="1800" i="1">
                        <a:solidFill>
                          <a:schemeClr val="tx1"/>
                        </a:solidFill>
                        <a:latin typeface="Cambria Math" panose="02040503050406030204" pitchFamily="18" charset="0"/>
                      </a:rPr>
                      <m:t>(</m:t>
                    </m:r>
                    <m:acc>
                      <m:accPr>
                        <m:chr m:val="̅"/>
                        <m:ctrlPr>
                          <a:rPr lang="en-US" sz="1800" i="1" smtClean="0">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r>
                      <a:rPr lang="en-US" sz="1800" i="1">
                        <a:solidFill>
                          <a:schemeClr val="tx1"/>
                        </a:solidFill>
                        <a:latin typeface="Cambria Math" panose="02040503050406030204" pitchFamily="18" charset="0"/>
                      </a:rPr>
                      <m:t>)</m:t>
                    </m:r>
                  </m:oMath>
                </a14:m>
                <a:r>
                  <a:rPr lang="en-US" sz="1800" dirty="0">
                    <a:solidFill>
                      <a:schemeClr val="tx1"/>
                    </a:solidFill>
                  </a:rPr>
                  <a:t> encompasses </a:t>
                </a:r>
                <a14:m>
                  <m:oMath xmlns:m="http://schemas.openxmlformats.org/officeDocument/2006/math">
                    <m:r>
                      <a:rPr lang="en-US" sz="1800" b="0" i="1" smtClean="0">
                        <a:solidFill>
                          <a:srgbClr val="FF0000"/>
                        </a:solidFill>
                        <a:latin typeface="Cambria Math" panose="02040503050406030204" pitchFamily="18" charset="0"/>
                      </a:rPr>
                      <m:t>𝜇</m:t>
                    </m:r>
                  </m:oMath>
                </a14:m>
                <a:r>
                  <a:rPr lang="en-US" sz="1800" dirty="0">
                    <a:solidFill>
                      <a:schemeClr val="tx1"/>
                    </a:solidFill>
                  </a:rPr>
                  <a:t> in 95 out of 100 samples (polls). This range is the </a:t>
                </a:r>
                <a:r>
                  <a:rPr lang="en-US" sz="1800" dirty="0">
                    <a:solidFill>
                      <a:srgbClr val="00B0F0"/>
                    </a:solidFill>
                  </a:rPr>
                  <a:t>95% confidence interval</a:t>
                </a:r>
                <a:r>
                  <a:rPr lang="en-US" sz="1800" dirty="0">
                    <a:solidFill>
                      <a:schemeClr val="tx1"/>
                    </a:solidFill>
                  </a:rPr>
                  <a:t>, or </a:t>
                </a:r>
                <a14:m>
                  <m:oMath xmlns:m="http://schemas.openxmlformats.org/officeDocument/2006/math">
                    <m:r>
                      <a:rPr lang="en-US" sz="1800" b="0" i="1" smtClean="0">
                        <a:solidFill>
                          <a:srgbClr val="00B0F0"/>
                        </a:solidFill>
                        <a:latin typeface="Cambria Math" panose="02040503050406030204" pitchFamily="18" charset="0"/>
                      </a:rPr>
                      <m:t>𝐶</m:t>
                    </m:r>
                    <m:sSup>
                      <m:sSupPr>
                        <m:ctrlPr>
                          <a:rPr lang="en-US" sz="1800" b="0" i="1" smtClean="0">
                            <a:solidFill>
                              <a:srgbClr val="00B0F0"/>
                            </a:solidFill>
                            <a:latin typeface="Cambria Math" panose="02040503050406030204" pitchFamily="18" charset="0"/>
                          </a:rPr>
                        </m:ctrlPr>
                      </m:sSupPr>
                      <m:e>
                        <m:r>
                          <a:rPr lang="en-US" sz="1800" b="0" i="1" smtClean="0">
                            <a:solidFill>
                              <a:srgbClr val="00B0F0"/>
                            </a:solidFill>
                            <a:latin typeface="Cambria Math" panose="02040503050406030204" pitchFamily="18" charset="0"/>
                          </a:rPr>
                          <m:t>𝐼</m:t>
                        </m:r>
                      </m:e>
                      <m:sup>
                        <m:r>
                          <a:rPr lang="en-US" sz="1800" b="0" i="1" smtClean="0">
                            <a:solidFill>
                              <a:srgbClr val="00B0F0"/>
                            </a:solidFill>
                            <a:latin typeface="Cambria Math" panose="02040503050406030204" pitchFamily="18" charset="0"/>
                          </a:rPr>
                          <m:t>95</m:t>
                        </m:r>
                      </m:sup>
                    </m:sSup>
                  </m:oMath>
                </a14:m>
                <a:endParaRPr lang="en-US" sz="1800" dirty="0">
                  <a:solidFill>
                    <a:schemeClr val="tx1"/>
                  </a:solidFill>
                </a:endParaRPr>
              </a:p>
              <a:p>
                <a:pPr marL="400050" lvl="1" indent="0">
                  <a:buNone/>
                </a:pPr>
                <a:endParaRPr lang="en-US" sz="1800" dirty="0">
                  <a:solidFill>
                    <a:schemeClr val="accent6"/>
                  </a:solidFill>
                </a:endParaRPr>
              </a:p>
              <a:p>
                <a:r>
                  <a:rPr lang="en-US" sz="1800" dirty="0">
                    <a:solidFill>
                      <a:schemeClr val="accent6"/>
                    </a:solidFill>
                  </a:rPr>
                  <a:t>Note: you (the analyst) choose what percent of the time you’d like the interval to capture </a:t>
                </a:r>
                <a14:m>
                  <m:oMath xmlns:m="http://schemas.openxmlformats.org/officeDocument/2006/math">
                    <m:r>
                      <a:rPr lang="en-US" sz="1800" i="1">
                        <a:solidFill>
                          <a:srgbClr val="FF0000"/>
                        </a:solidFill>
                        <a:latin typeface="Cambria Math" panose="02040503050406030204" pitchFamily="18" charset="0"/>
                      </a:rPr>
                      <m:t>𝜇</m:t>
                    </m:r>
                  </m:oMath>
                </a14:m>
                <a:r>
                  <a:rPr lang="en-US" sz="1800" dirty="0">
                    <a:solidFill>
                      <a:schemeClr val="accent6"/>
                    </a:solidFill>
                  </a:rPr>
                  <a:t>. Choosing 95% is standard. Whatever percent you choose, there is a </a:t>
                </a:r>
                <a:r>
                  <a:rPr lang="en-US" sz="1800" dirty="0">
                    <a:solidFill>
                      <a:srgbClr val="00B0F0"/>
                    </a:solidFill>
                  </a:rPr>
                  <a:t>critical value</a:t>
                </a:r>
                <a:r>
                  <a:rPr lang="en-US" sz="1800" dirty="0">
                    <a:solidFill>
                      <a:schemeClr val="accent6"/>
                    </a:solidFill>
                  </a:rPr>
                  <a:t> for it, e.g., 1.96 for 95%</a:t>
                </a:r>
              </a:p>
              <a:p>
                <a:endParaRPr lang="en-US" sz="1800" dirty="0">
                  <a:solidFill>
                    <a:schemeClr val="accent6"/>
                  </a:solidFill>
                </a:endParaRPr>
              </a:p>
              <a:p>
                <a:r>
                  <a:rPr lang="en-US" sz="1800" dirty="0">
                    <a:solidFill>
                      <a:schemeClr val="accent6"/>
                    </a:solidFill>
                  </a:rPr>
                  <a:t>Let’s visualize how </a:t>
                </a:r>
                <a14:m>
                  <m:oMath xmlns:m="http://schemas.openxmlformats.org/officeDocument/2006/math">
                    <m:r>
                      <a:rPr lang="en-US" sz="1800" i="1">
                        <a:solidFill>
                          <a:srgbClr val="00B0F0"/>
                        </a:solidFill>
                        <a:latin typeface="Cambria Math" panose="02040503050406030204" pitchFamily="18" charset="0"/>
                      </a:rPr>
                      <m:t>𝐶</m:t>
                    </m:r>
                    <m:sSup>
                      <m:sSupPr>
                        <m:ctrlPr>
                          <a:rPr lang="en-US" sz="1800" i="1">
                            <a:solidFill>
                              <a:srgbClr val="00B0F0"/>
                            </a:solidFill>
                            <a:latin typeface="Cambria Math" panose="02040503050406030204" pitchFamily="18" charset="0"/>
                          </a:rPr>
                        </m:ctrlPr>
                      </m:sSupPr>
                      <m:e>
                        <m:r>
                          <a:rPr lang="en-US" sz="1800" i="1">
                            <a:solidFill>
                              <a:srgbClr val="00B0F0"/>
                            </a:solidFill>
                            <a:latin typeface="Cambria Math" panose="02040503050406030204" pitchFamily="18" charset="0"/>
                          </a:rPr>
                          <m:t>𝐼</m:t>
                        </m:r>
                      </m:e>
                      <m:sup>
                        <m:r>
                          <a:rPr lang="en-US" sz="1800" i="1">
                            <a:solidFill>
                              <a:srgbClr val="00B0F0"/>
                            </a:solidFill>
                            <a:latin typeface="Cambria Math" panose="02040503050406030204" pitchFamily="18" charset="0"/>
                          </a:rPr>
                          <m:t>95</m:t>
                        </m:r>
                      </m:sup>
                    </m:sSup>
                    <m:r>
                      <a:rPr lang="en-US" sz="1800" i="1">
                        <a:solidFill>
                          <a:srgbClr val="00B0F0"/>
                        </a:solidFill>
                        <a:latin typeface="Cambria Math" panose="02040503050406030204" pitchFamily="18" charset="0"/>
                      </a:rPr>
                      <m:t> </m:t>
                    </m:r>
                  </m:oMath>
                </a14:m>
                <a:r>
                  <a:rPr lang="en-US" sz="1800" dirty="0">
                    <a:solidFill>
                      <a:schemeClr val="accent6"/>
                    </a:solidFill>
                  </a:rPr>
                  <a:t> captures the true mean 95% of the time…</a:t>
                </a:r>
              </a:p>
              <a:p>
                <a:pPr marL="400050" lvl="1" indent="0">
                  <a:buNone/>
                </a:pPr>
                <a:endParaRPr lang="en-US" sz="1800" dirty="0">
                  <a:solidFill>
                    <a:schemeClr val="tx1"/>
                  </a:solidFill>
                </a:endParaRPr>
              </a:p>
            </p:txBody>
          </p:sp>
        </mc:Choice>
        <mc:Fallback xmlns="">
          <p:sp>
            <p:nvSpPr>
              <p:cNvPr id="3" name="Content Placeholder 2">
                <a:extLst>
                  <a:ext uri="{FF2B5EF4-FFF2-40B4-BE49-F238E27FC236}">
                    <a16:creationId xmlns:a16="http://schemas.microsoft.com/office/drawing/2014/main" id="{6041B770-FD1F-00D6-5C08-25669CD8F935}"/>
                  </a:ext>
                </a:extLst>
              </p:cNvPr>
              <p:cNvSpPr>
                <a:spLocks noGrp="1" noRot="1" noChangeAspect="1" noMove="1" noResize="1" noEditPoints="1" noAdjustHandles="1" noChangeArrowheads="1" noChangeShapeType="1" noTextEdit="1"/>
              </p:cNvSpPr>
              <p:nvPr>
                <p:ph idx="1"/>
              </p:nvPr>
            </p:nvSpPr>
            <p:spPr>
              <a:xfrm>
                <a:off x="354013" y="1089025"/>
                <a:ext cx="8616732" cy="3945145"/>
              </a:xfrm>
              <a:blipFill>
                <a:blip r:embed="rId2"/>
                <a:stretch>
                  <a:fillRect l="-424" t="-927" r="-849" b="-400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64E5AD6-2EF4-AAD3-E97D-DD5BD63A460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50</a:t>
            </a:fld>
            <a:endParaRPr lang="en-GB" dirty="0"/>
          </a:p>
        </p:txBody>
      </p:sp>
      <p:sp>
        <p:nvSpPr>
          <p:cNvPr id="7" name="Freeform: Shape 6">
            <a:extLst>
              <a:ext uri="{FF2B5EF4-FFF2-40B4-BE49-F238E27FC236}">
                <a16:creationId xmlns:a16="http://schemas.microsoft.com/office/drawing/2014/main" id="{C97A6A43-8324-15E7-5C12-997BA616D33D}"/>
              </a:ext>
            </a:extLst>
          </p:cNvPr>
          <p:cNvSpPr/>
          <p:nvPr/>
        </p:nvSpPr>
        <p:spPr bwMode="auto">
          <a:xfrm>
            <a:off x="2959100" y="4178300"/>
            <a:ext cx="2978150" cy="2008188"/>
          </a:xfrm>
          <a:custGeom>
            <a:avLst/>
            <a:gdLst>
              <a:gd name="connsiteX0" fmla="*/ 0 w 2634091"/>
              <a:gd name="connsiteY0" fmla="*/ 0 h 1511300"/>
              <a:gd name="connsiteX1" fmla="*/ 2235200 w 2634091"/>
              <a:gd name="connsiteY1" fmla="*/ 482600 h 1511300"/>
              <a:gd name="connsiteX2" fmla="*/ 2622550 w 2634091"/>
              <a:gd name="connsiteY2" fmla="*/ 1511300 h 1511300"/>
            </a:gdLst>
            <a:ahLst/>
            <a:cxnLst>
              <a:cxn ang="0">
                <a:pos x="connsiteX0" y="connsiteY0"/>
              </a:cxn>
              <a:cxn ang="0">
                <a:pos x="connsiteX1" y="connsiteY1"/>
              </a:cxn>
              <a:cxn ang="0">
                <a:pos x="connsiteX2" y="connsiteY2"/>
              </a:cxn>
            </a:cxnLst>
            <a:rect l="l" t="t" r="r" b="b"/>
            <a:pathLst>
              <a:path w="2634091" h="1511300">
                <a:moveTo>
                  <a:pt x="0" y="0"/>
                </a:moveTo>
                <a:cubicBezTo>
                  <a:pt x="899054" y="115358"/>
                  <a:pt x="1798108" y="230717"/>
                  <a:pt x="2235200" y="482600"/>
                </a:cubicBezTo>
                <a:cubicBezTo>
                  <a:pt x="2672292" y="734483"/>
                  <a:pt x="2647421" y="1122891"/>
                  <a:pt x="2622550" y="1511300"/>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107122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 grpId="0" uiExpand="1" build="p"/>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CA0B6-5651-2936-8F8D-F32A3554DE0A}"/>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3C08676B-8B43-92E5-8A28-98D70E124020}"/>
              </a:ext>
            </a:extLst>
          </p:cNvPr>
          <p:cNvPicPr>
            <a:picLocks noChangeAspect="1"/>
          </p:cNvPicPr>
          <p:nvPr/>
        </p:nvPicPr>
        <p:blipFill>
          <a:blip r:embed="rId2"/>
          <a:stretch>
            <a:fillRect/>
          </a:stretch>
        </p:blipFill>
        <p:spPr>
          <a:xfrm>
            <a:off x="58737" y="1948705"/>
            <a:ext cx="4810887" cy="3427857"/>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23FF248-EF92-6F84-D08D-2898B43B4643}"/>
                  </a:ext>
                </a:extLst>
              </p:cNvPr>
              <p:cNvSpPr>
                <a:spLocks noGrp="1"/>
              </p:cNvSpPr>
              <p:nvPr>
                <p:ph type="title"/>
              </p:nvPr>
            </p:nvSpPr>
            <p:spPr/>
            <p:txBody>
              <a:bodyPr/>
              <a:lstStyle/>
              <a:p>
                <a:r>
                  <a:rPr lang="en-US" dirty="0"/>
                  <a:t>The “Standard” Normal Distribution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𝜇</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𝜎</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23FF248-EF92-6F84-D08D-2898B43B4643}"/>
                  </a:ext>
                </a:extLst>
              </p:cNvPr>
              <p:cNvSpPr>
                <a:spLocks noGrp="1" noRot="1" noChangeAspect="1" noMove="1" noResize="1" noEditPoints="1" noAdjustHandles="1" noChangeArrowheads="1" noChangeShapeType="1" noTextEdit="1"/>
              </p:cNvSpPr>
              <p:nvPr>
                <p:ph type="title"/>
              </p:nvPr>
            </p:nvSpPr>
            <p:spPr>
              <a:blipFill>
                <a:blip r:embed="rId3"/>
                <a:stretch>
                  <a:fillRect b="-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5F4B386-8229-91D2-A6F1-3DD970BD51BB}"/>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51</a:t>
            </a:fld>
            <a:endParaRPr lang="en-GB"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95D5BFD-C6F5-4AF3-7C93-53F4868F871A}"/>
                  </a:ext>
                </a:extLst>
              </p:cNvPr>
              <p:cNvSpPr txBox="1"/>
              <p:nvPr/>
            </p:nvSpPr>
            <p:spPr>
              <a:xfrm>
                <a:off x="5067300" y="1240409"/>
                <a:ext cx="4017963" cy="4278094"/>
              </a:xfrm>
              <a:prstGeom prst="rect">
                <a:avLst/>
              </a:prstGeom>
              <a:solidFill>
                <a:schemeClr val="bg1"/>
              </a:solidFill>
              <a:ln w="3175">
                <a:noFill/>
              </a:ln>
            </p:spPr>
            <p:txBody>
              <a:bodyPr wrap="square" rtlCol="0">
                <a:spAutoFit/>
              </a:bodyPr>
              <a:lstStyle/>
              <a:p>
                <a:r>
                  <a:rPr lang="en-US" sz="1600" b="0" dirty="0">
                    <a:solidFill>
                      <a:schemeClr val="accent6"/>
                    </a:solidFill>
                    <a:cs typeface="Arial" panose="020B0604020202020204" pitchFamily="34" charset="0"/>
                  </a:rPr>
                  <a:t>Fact</a:t>
                </a:r>
                <a:r>
                  <a:rPr lang="en-US" sz="1600" b="0" u="none" dirty="0">
                    <a:solidFill>
                      <a:schemeClr val="accent6"/>
                    </a:solidFill>
                    <a:cs typeface="Arial" panose="020B0604020202020204" pitchFamily="34" charset="0"/>
                  </a:rPr>
                  <a:t>: 95 percent of the area under a normal distribution lies within </a:t>
                </a:r>
                <a14:m>
                  <m:oMath xmlns:m="http://schemas.openxmlformats.org/officeDocument/2006/math">
                    <m:r>
                      <a:rPr lang="en-US" sz="1600" b="0" i="1" u="none">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600" b="0" i="1" u="none">
                        <a:solidFill>
                          <a:schemeClr val="accent6"/>
                        </a:solidFill>
                        <a:latin typeface="Cambria Math" panose="02040503050406030204" pitchFamily="18" charset="0"/>
                        <a:cs typeface="Arial" panose="020B0604020202020204" pitchFamily="34" charset="0"/>
                      </a:rPr>
                      <m:t>1.96∗</m:t>
                    </m:r>
                    <m:r>
                      <a:rPr lang="en-US" sz="1600" b="0" i="1" u="none" smtClean="0">
                        <a:solidFill>
                          <a:srgbClr val="FF0000"/>
                        </a:solidFill>
                        <a:latin typeface="Cambria Math" panose="02040503050406030204" pitchFamily="18" charset="0"/>
                        <a:cs typeface="Arial" panose="020B0604020202020204" pitchFamily="34" charset="0"/>
                      </a:rPr>
                      <m:t>𝜎</m:t>
                    </m:r>
                  </m:oMath>
                </a14:m>
                <a:r>
                  <a:rPr lang="en-US" sz="1600" b="0" u="none" dirty="0">
                    <a:solidFill>
                      <a:schemeClr val="accent6"/>
                    </a:solidFill>
                    <a:cs typeface="Arial" panose="020B0604020202020204" pitchFamily="34" charset="0"/>
                  </a:rPr>
                  <a:t> of the mean:</a:t>
                </a:r>
              </a:p>
              <a:p>
                <a:endParaRPr lang="en-US" sz="1600" b="0" u="none" dirty="0">
                  <a:solidFill>
                    <a:schemeClr val="accent6"/>
                  </a:solidFill>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1600" b="0" i="1" u="none" smtClean="0">
                          <a:solidFill>
                            <a:schemeClr val="accent6"/>
                          </a:solidFill>
                          <a:latin typeface="Cambria Math" panose="02040503050406030204" pitchFamily="18" charset="0"/>
                          <a:cs typeface="Arial" panose="020B0604020202020204" pitchFamily="34" charset="0"/>
                        </a:rPr>
                        <m:t>95% </m:t>
                      </m:r>
                      <m:r>
                        <a:rPr lang="en-US" sz="1600" b="0" i="1" u="none" smtClean="0">
                          <a:solidFill>
                            <a:schemeClr val="accent6"/>
                          </a:solidFill>
                          <a:latin typeface="Cambria Math" panose="02040503050406030204" pitchFamily="18" charset="0"/>
                          <a:cs typeface="Arial" panose="020B0604020202020204" pitchFamily="34" charset="0"/>
                        </a:rPr>
                        <m:t>𝑜𝑓</m:t>
                      </m:r>
                      <m:r>
                        <a:rPr lang="en-US" sz="1600" b="0" i="1" u="none" smtClean="0">
                          <a:solidFill>
                            <a:schemeClr val="accent6"/>
                          </a:solidFill>
                          <a:latin typeface="Cambria Math" panose="02040503050406030204" pitchFamily="18" charset="0"/>
                          <a:cs typeface="Arial" panose="020B0604020202020204" pitchFamily="34" charset="0"/>
                        </a:rPr>
                        <m:t> </m:t>
                      </m:r>
                      <m:r>
                        <a:rPr lang="en-US" sz="1600" b="0" i="1" u="none" smtClean="0">
                          <a:solidFill>
                            <a:schemeClr val="accent6"/>
                          </a:solidFill>
                          <a:latin typeface="Cambria Math" panose="02040503050406030204" pitchFamily="18" charset="0"/>
                          <a:cs typeface="Arial" panose="020B0604020202020204" pitchFamily="34" charset="0"/>
                        </a:rPr>
                        <m:t>𝑎𝑟𝑒𝑎</m:t>
                      </m:r>
                      <m:r>
                        <a:rPr lang="en-US" sz="1600" b="0" i="1" u="none" smtClean="0">
                          <a:solidFill>
                            <a:schemeClr val="accent6"/>
                          </a:solidFill>
                          <a:latin typeface="Cambria Math" panose="02040503050406030204" pitchFamily="18" charset="0"/>
                          <a:cs typeface="Arial" panose="020B0604020202020204" pitchFamily="34" charset="0"/>
                        </a:rPr>
                        <m:t> </m:t>
                      </m:r>
                      <m:r>
                        <a:rPr lang="en-US" sz="1600" b="0" i="1" u="none" smtClean="0">
                          <a:solidFill>
                            <a:schemeClr val="accent6"/>
                          </a:solidFill>
                          <a:latin typeface="Cambria Math" panose="02040503050406030204" pitchFamily="18" charset="0"/>
                          <a:cs typeface="Arial" panose="020B0604020202020204" pitchFamily="34" charset="0"/>
                        </a:rPr>
                        <m:t>𝑤𝑖𝑡h𝑖𝑛</m:t>
                      </m:r>
                      <m:r>
                        <a:rPr lang="en-US" sz="1600" b="0" i="1" u="none" smtClean="0">
                          <a:solidFill>
                            <a:schemeClr val="accent6"/>
                          </a:solidFill>
                          <a:latin typeface="Cambria Math" panose="02040503050406030204" pitchFamily="18" charset="0"/>
                          <a:cs typeface="Arial" panose="020B0604020202020204" pitchFamily="34" charset="0"/>
                        </a:rPr>
                        <m:t> </m:t>
                      </m:r>
                      <m:r>
                        <a:rPr lang="en-US" sz="1600" b="0" i="1" u="none" smtClean="0">
                          <a:solidFill>
                            <a:srgbClr val="FF0000"/>
                          </a:solidFill>
                          <a:latin typeface="Cambria Math" panose="02040503050406030204" pitchFamily="18" charset="0"/>
                          <a:cs typeface="Arial" panose="020B0604020202020204" pitchFamily="34" charset="0"/>
                        </a:rPr>
                        <m:t>𝜇</m:t>
                      </m:r>
                      <m:r>
                        <a:rPr lang="en-US" sz="1600" b="0" i="1" u="none">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600" b="0" i="1" u="none">
                          <a:solidFill>
                            <a:schemeClr val="accent6"/>
                          </a:solidFill>
                          <a:latin typeface="Cambria Math" panose="02040503050406030204" pitchFamily="18" charset="0"/>
                          <a:cs typeface="Arial" panose="020B0604020202020204" pitchFamily="34" charset="0"/>
                        </a:rPr>
                        <m:t>1.96∗</m:t>
                      </m:r>
                      <m:r>
                        <a:rPr lang="en-US" sz="1600" b="0" i="1" u="none" smtClean="0">
                          <a:solidFill>
                            <a:srgbClr val="FF0000"/>
                          </a:solidFill>
                          <a:latin typeface="Cambria Math" panose="02040503050406030204" pitchFamily="18" charset="0"/>
                          <a:cs typeface="Arial" panose="020B0604020202020204" pitchFamily="34" charset="0"/>
                        </a:rPr>
                        <m:t>𝜎</m:t>
                      </m:r>
                    </m:oMath>
                  </m:oMathPara>
                </a14:m>
                <a:endParaRPr lang="en-US" sz="1600" b="0" u="none" dirty="0">
                  <a:solidFill>
                    <a:schemeClr val="accent6"/>
                  </a:solidFill>
                  <a:cs typeface="Arial" panose="020B0604020202020204" pitchFamily="34" charset="0"/>
                </a:endParaRPr>
              </a:p>
              <a:p>
                <a:endParaRPr lang="en-US" sz="1600" b="0" i="1" u="none" dirty="0">
                  <a:solidFill>
                    <a:srgbClr val="00B0F0"/>
                  </a:solidFill>
                  <a:latin typeface="Cambria Math" panose="02040503050406030204" pitchFamily="18" charset="0"/>
                  <a:cs typeface="Arial" panose="020B0604020202020204" pitchFamily="34" charset="0"/>
                </a:endParaRPr>
              </a:p>
              <a:p>
                <a:r>
                  <a:rPr lang="en-US" sz="1600" b="0" u="none" dirty="0">
                    <a:solidFill>
                      <a:schemeClr val="accent6"/>
                    </a:solidFill>
                    <a:latin typeface="+mn-lt"/>
                    <a:cs typeface="Arial" panose="020B0604020202020204" pitchFamily="34" charset="0"/>
                  </a:rPr>
                  <a:t>For the “standard” normal, </a:t>
                </a:r>
                <a14:m>
                  <m:oMath xmlns:m="http://schemas.openxmlformats.org/officeDocument/2006/math">
                    <m:r>
                      <a:rPr lang="en-US" sz="1600" b="0" i="1" u="none" smtClean="0">
                        <a:solidFill>
                          <a:schemeClr val="accent6"/>
                        </a:solidFill>
                        <a:latin typeface="Cambria Math" panose="02040503050406030204" pitchFamily="18" charset="0"/>
                        <a:cs typeface="Arial" panose="020B0604020202020204" pitchFamily="34" charset="0"/>
                      </a:rPr>
                      <m:t>𝑁</m:t>
                    </m:r>
                    <m:r>
                      <a:rPr lang="en-US" sz="1600" b="0" i="1" u="none" smtClean="0">
                        <a:solidFill>
                          <a:schemeClr val="accent6"/>
                        </a:solidFill>
                        <a:latin typeface="Cambria Math" panose="02040503050406030204" pitchFamily="18" charset="0"/>
                        <a:cs typeface="Arial" panose="020B0604020202020204" pitchFamily="34" charset="0"/>
                      </a:rPr>
                      <m:t>(0,1)</m:t>
                    </m:r>
                  </m:oMath>
                </a14:m>
                <a:r>
                  <a:rPr lang="en-US" sz="1600" b="0" u="none" dirty="0">
                    <a:solidFill>
                      <a:schemeClr val="accent6"/>
                    </a:solidFill>
                    <a:latin typeface="+mn-lt"/>
                    <a:cs typeface="Arial" panose="020B0604020202020204" pitchFamily="34" charset="0"/>
                  </a:rPr>
                  <a:t>, that interval is </a:t>
                </a:r>
              </a:p>
              <a:p>
                <a:pP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cs typeface="Arial" panose="020B0604020202020204" pitchFamily="34" charset="0"/>
                        </a:rPr>
                        <m:t>0</m:t>
                      </m:r>
                      <m:r>
                        <a:rPr lang="en-US" sz="1600" b="0" i="1" u="none">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600" b="0" i="1" u="none">
                          <a:solidFill>
                            <a:schemeClr val="accent6"/>
                          </a:solidFill>
                          <a:latin typeface="Cambria Math" panose="02040503050406030204" pitchFamily="18" charset="0"/>
                          <a:cs typeface="Arial" panose="020B0604020202020204" pitchFamily="34" charset="0"/>
                        </a:rPr>
                        <m:t>1.96∗</m:t>
                      </m:r>
                      <m:r>
                        <a:rPr lang="en-US" sz="1600" b="0" i="1" u="none" smtClean="0">
                          <a:solidFill>
                            <a:srgbClr val="FF0000"/>
                          </a:solidFill>
                          <a:latin typeface="Cambria Math" panose="02040503050406030204" pitchFamily="18" charset="0"/>
                          <a:cs typeface="Arial" panose="020B0604020202020204" pitchFamily="34" charset="0"/>
                        </a:rPr>
                        <m:t>1</m:t>
                      </m:r>
                    </m:oMath>
                  </m:oMathPara>
                </a14:m>
                <a:endParaRPr lang="en-US" sz="1600" b="0" u="none" dirty="0">
                  <a:solidFill>
                    <a:schemeClr val="accent6"/>
                  </a:solidFill>
                  <a:cs typeface="Arial" panose="020B0604020202020204" pitchFamily="34" charset="0"/>
                </a:endParaRPr>
              </a:p>
              <a:p>
                <a:pPr algn="ctr"/>
                <a:r>
                  <a:rPr lang="en-US" sz="1600" b="0" u="none" dirty="0">
                    <a:solidFill>
                      <a:schemeClr val="accent6"/>
                    </a:solidFill>
                    <a:cs typeface="Arial" panose="020B0604020202020204" pitchFamily="34" charset="0"/>
                  </a:rPr>
                  <a:t>or</a:t>
                </a:r>
              </a:p>
              <a:p>
                <a:pPr algn="ctr"/>
                <a14:m>
                  <m:oMathPara xmlns:m="http://schemas.openxmlformats.org/officeDocument/2006/math">
                    <m:oMathParaPr>
                      <m:jc m:val="centerGroup"/>
                    </m:oMathParaPr>
                    <m:oMath xmlns:m="http://schemas.openxmlformats.org/officeDocument/2006/math">
                      <m:r>
                        <a:rPr lang="en-US" sz="1600" b="0" i="1" u="none"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[−1.96,1.96]</m:t>
                      </m:r>
                    </m:oMath>
                  </m:oMathPara>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dirty="0">
                    <a:solidFill>
                      <a:schemeClr val="accent6"/>
                    </a:solidFill>
                    <a:cs typeface="Arial" panose="020B0604020202020204" pitchFamily="34" charset="0"/>
                  </a:rPr>
                  <a:t>Interpretation</a:t>
                </a:r>
                <a:r>
                  <a:rPr lang="en-US" sz="1600" b="0" u="none" dirty="0">
                    <a:solidFill>
                      <a:schemeClr val="accent6"/>
                    </a:solidFill>
                    <a:cs typeface="Arial" panose="020B0604020202020204" pitchFamily="34" charset="0"/>
                  </a:rPr>
                  <a:t>: seeing a draw </a:t>
                </a:r>
                <a:r>
                  <a:rPr lang="en-US" sz="1600" b="0" i="1" u="none" dirty="0">
                    <a:solidFill>
                      <a:schemeClr val="accent6"/>
                    </a:solidFill>
                    <a:cs typeface="Arial" panose="020B0604020202020204" pitchFamily="34" charset="0"/>
                  </a:rPr>
                  <a:t>outside</a:t>
                </a:r>
                <a:r>
                  <a:rPr lang="en-US" sz="1600" b="0" u="none" dirty="0">
                    <a:solidFill>
                      <a:schemeClr val="accent6"/>
                    </a:solidFill>
                    <a:cs typeface="Arial" panose="020B0604020202020204" pitchFamily="34" charset="0"/>
                  </a:rPr>
                  <a:t> </a:t>
                </a:r>
                <a14:m>
                  <m:oMath xmlns:m="http://schemas.openxmlformats.org/officeDocument/2006/math">
                    <m:r>
                      <a:rPr lang="en-US" sz="1600" b="0" i="1" u="none">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600" b="0" i="1" u="none">
                        <a:solidFill>
                          <a:schemeClr val="accent6"/>
                        </a:solidFill>
                        <a:latin typeface="Cambria Math" panose="02040503050406030204" pitchFamily="18" charset="0"/>
                        <a:cs typeface="Arial" panose="020B0604020202020204" pitchFamily="34" charset="0"/>
                      </a:rPr>
                      <m:t>1.96</m:t>
                    </m:r>
                  </m:oMath>
                </a14:m>
                <a:r>
                  <a:rPr lang="en-US" sz="1600" b="0" u="none" dirty="0">
                    <a:solidFill>
                      <a:schemeClr val="accent6"/>
                    </a:solidFill>
                    <a:cs typeface="Arial" panose="020B0604020202020204" pitchFamily="34" charset="0"/>
                  </a:rPr>
                  <a:t> is “rare” – it is expected to happen only 5 times out of 100</a:t>
                </a: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Let’s check…</a:t>
                </a:r>
              </a:p>
            </p:txBody>
          </p:sp>
        </mc:Choice>
        <mc:Fallback xmlns="">
          <p:sp>
            <p:nvSpPr>
              <p:cNvPr id="20" name="TextBox 19">
                <a:extLst>
                  <a:ext uri="{FF2B5EF4-FFF2-40B4-BE49-F238E27FC236}">
                    <a16:creationId xmlns:a16="http://schemas.microsoft.com/office/drawing/2014/main" id="{795D5BFD-C6F5-4AF3-7C93-53F4868F871A}"/>
                  </a:ext>
                </a:extLst>
              </p:cNvPr>
              <p:cNvSpPr txBox="1">
                <a:spLocks noRot="1" noChangeAspect="1" noMove="1" noResize="1" noEditPoints="1" noAdjustHandles="1" noChangeArrowheads="1" noChangeShapeType="1" noTextEdit="1"/>
              </p:cNvSpPr>
              <p:nvPr/>
            </p:nvSpPr>
            <p:spPr>
              <a:xfrm>
                <a:off x="5067300" y="1240409"/>
                <a:ext cx="4017963" cy="4278094"/>
              </a:xfrm>
              <a:prstGeom prst="rect">
                <a:avLst/>
              </a:prstGeom>
              <a:blipFill>
                <a:blip r:embed="rId4"/>
                <a:stretch>
                  <a:fillRect l="-759" t="-427" b="-855"/>
                </a:stretch>
              </a:blipFill>
              <a:ln w="31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C38889-25CC-BB92-FD17-B42A81BC525A}"/>
                  </a:ext>
                </a:extLst>
              </p:cNvPr>
              <p:cNvSpPr txBox="1"/>
              <p:nvPr/>
            </p:nvSpPr>
            <p:spPr>
              <a:xfrm>
                <a:off x="1164372" y="1475231"/>
                <a:ext cx="3016537" cy="307777"/>
              </a:xfrm>
              <a:prstGeom prst="rect">
                <a:avLst/>
              </a:prstGeom>
              <a:noFill/>
            </p:spPr>
            <p:txBody>
              <a:bodyPr wrap="square">
                <a:spAutoFit/>
              </a:bodyPr>
              <a:lstStyle/>
              <a:p>
                <a:pPr algn="ctr"/>
                <a:r>
                  <a:rPr lang="en-US" sz="1400" b="0" u="none" dirty="0">
                    <a:cs typeface="Arial" panose="020B0604020202020204" pitchFamily="34" charset="0"/>
                  </a:rPr>
                  <a:t>Standard Normal, i.e.,  </a:t>
                </a:r>
                <a14:m>
                  <m:oMath xmlns:m="http://schemas.openxmlformats.org/officeDocument/2006/math">
                    <m:r>
                      <a:rPr lang="en-US" sz="1400" b="0" i="1" u="none" smtClean="0">
                        <a:latin typeface="Cambria Math" panose="02040503050406030204" pitchFamily="18" charset="0"/>
                        <a:cs typeface="Arial" panose="020B0604020202020204" pitchFamily="34" charset="0"/>
                      </a:rPr>
                      <m:t>𝑁</m:t>
                    </m:r>
                    <m:r>
                      <a:rPr lang="en-US" sz="1400" b="0" i="1" u="none" smtClean="0">
                        <a:latin typeface="Cambria Math" panose="02040503050406030204" pitchFamily="18" charset="0"/>
                        <a:cs typeface="Arial" panose="020B0604020202020204" pitchFamily="34" charset="0"/>
                      </a:rPr>
                      <m:t>(0,1)</m:t>
                    </m:r>
                  </m:oMath>
                </a14:m>
                <a:endParaRPr lang="en-US" sz="1400" dirty="0"/>
              </a:p>
            </p:txBody>
          </p:sp>
        </mc:Choice>
        <mc:Fallback xmlns="">
          <p:sp>
            <p:nvSpPr>
              <p:cNvPr id="12" name="TextBox 11">
                <a:extLst>
                  <a:ext uri="{FF2B5EF4-FFF2-40B4-BE49-F238E27FC236}">
                    <a16:creationId xmlns:a16="http://schemas.microsoft.com/office/drawing/2014/main" id="{35C38889-25CC-BB92-FD17-B42A81BC525A}"/>
                  </a:ext>
                </a:extLst>
              </p:cNvPr>
              <p:cNvSpPr txBox="1">
                <a:spLocks noRot="1" noChangeAspect="1" noMove="1" noResize="1" noEditPoints="1" noAdjustHandles="1" noChangeArrowheads="1" noChangeShapeType="1" noTextEdit="1"/>
              </p:cNvSpPr>
              <p:nvPr/>
            </p:nvSpPr>
            <p:spPr>
              <a:xfrm>
                <a:off x="1164372" y="1475231"/>
                <a:ext cx="3016537" cy="307777"/>
              </a:xfrm>
              <a:prstGeom prst="rect">
                <a:avLst/>
              </a:prstGeom>
              <a:blipFill>
                <a:blip r:embed="rId5"/>
                <a:stretch>
                  <a:fillRect t="-4000" b="-20000"/>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06F1FFF-C2E6-4E67-92E2-A8BE0836AAFF}"/>
              </a:ext>
            </a:extLst>
          </p:cNvPr>
          <p:cNvSpPr txBox="1"/>
          <p:nvPr/>
        </p:nvSpPr>
        <p:spPr>
          <a:xfrm>
            <a:off x="878114" y="3858084"/>
            <a:ext cx="500743" cy="430887"/>
          </a:xfrm>
          <a:prstGeom prst="rect">
            <a:avLst/>
          </a:prstGeom>
          <a:noFill/>
          <a:ln w="3175">
            <a:solidFill>
              <a:srgbClr val="008000"/>
            </a:solidFill>
          </a:ln>
        </p:spPr>
        <p:txBody>
          <a:bodyPr wrap="square" rtlCol="0">
            <a:spAutoFit/>
          </a:bodyPr>
          <a:lstStyle/>
          <a:p>
            <a:pPr algn="ctr"/>
            <a:r>
              <a:rPr lang="en-US" sz="1100" b="0" u="none" dirty="0">
                <a:solidFill>
                  <a:srgbClr val="008000"/>
                </a:solidFill>
                <a:cs typeface="Arial" pitchFamily="34" charset="0"/>
              </a:rPr>
              <a:t>2.5% each</a:t>
            </a:r>
          </a:p>
        </p:txBody>
      </p:sp>
      <p:cxnSp>
        <p:nvCxnSpPr>
          <p:cNvPr id="16" name="Straight Arrow Connector 15">
            <a:extLst>
              <a:ext uri="{FF2B5EF4-FFF2-40B4-BE49-F238E27FC236}">
                <a16:creationId xmlns:a16="http://schemas.microsoft.com/office/drawing/2014/main" id="{0FE9B6E0-3B58-4734-94B4-067A8BA125FC}"/>
              </a:ext>
            </a:extLst>
          </p:cNvPr>
          <p:cNvCxnSpPr>
            <a:cxnSpLocks/>
          </p:cNvCxnSpPr>
          <p:nvPr/>
        </p:nvCxnSpPr>
        <p:spPr bwMode="auto">
          <a:xfrm>
            <a:off x="1896589" y="3305452"/>
            <a:ext cx="1550554" cy="0"/>
          </a:xfrm>
          <a:prstGeom prst="straightConnector1">
            <a:avLst/>
          </a:prstGeom>
          <a:solidFill>
            <a:schemeClr val="accent1"/>
          </a:solidFill>
          <a:ln w="9525" cap="flat" cmpd="sng" algn="ctr">
            <a:solidFill>
              <a:srgbClr val="008000"/>
            </a:solidFill>
            <a:prstDash val="solid"/>
            <a:round/>
            <a:headEnd type="triangle" w="med" len="med"/>
            <a:tailEnd type="triangle" w="med" len="med"/>
          </a:ln>
          <a:effectLst/>
        </p:spPr>
      </p:cxnSp>
      <p:sp>
        <p:nvSpPr>
          <p:cNvPr id="17" name="TextBox 16">
            <a:extLst>
              <a:ext uri="{FF2B5EF4-FFF2-40B4-BE49-F238E27FC236}">
                <a16:creationId xmlns:a16="http://schemas.microsoft.com/office/drawing/2014/main" id="{66484F11-17F3-4E06-AF4B-0AA4BA7448C6}"/>
              </a:ext>
            </a:extLst>
          </p:cNvPr>
          <p:cNvSpPr txBox="1"/>
          <p:nvPr/>
        </p:nvSpPr>
        <p:spPr>
          <a:xfrm>
            <a:off x="2464180" y="3174647"/>
            <a:ext cx="466794" cy="261610"/>
          </a:xfrm>
          <a:prstGeom prst="rect">
            <a:avLst/>
          </a:prstGeom>
          <a:solidFill>
            <a:schemeClr val="bg1"/>
          </a:solidFill>
          <a:ln>
            <a:solidFill>
              <a:srgbClr val="008000"/>
            </a:solidFill>
          </a:ln>
        </p:spPr>
        <p:txBody>
          <a:bodyPr wrap="square" rtlCol="0">
            <a:spAutoFit/>
          </a:bodyPr>
          <a:lstStyle/>
          <a:p>
            <a:pPr algn="ctr"/>
            <a:r>
              <a:rPr lang="en-US" sz="1100" b="0" u="none" dirty="0">
                <a:solidFill>
                  <a:srgbClr val="008000"/>
                </a:solidFill>
                <a:latin typeface="Arial" pitchFamily="34" charset="0"/>
                <a:cs typeface="Arial" pitchFamily="34" charset="0"/>
              </a:rPr>
              <a:t>95%</a:t>
            </a:r>
          </a:p>
        </p:txBody>
      </p:sp>
      <p:sp>
        <p:nvSpPr>
          <p:cNvPr id="18" name="Freeform: Shape 17">
            <a:extLst>
              <a:ext uri="{FF2B5EF4-FFF2-40B4-BE49-F238E27FC236}">
                <a16:creationId xmlns:a16="http://schemas.microsoft.com/office/drawing/2014/main" id="{84CAB4DC-9C1D-4336-9399-D21722E57CDE}"/>
              </a:ext>
            </a:extLst>
          </p:cNvPr>
          <p:cNvSpPr/>
          <p:nvPr/>
        </p:nvSpPr>
        <p:spPr bwMode="auto">
          <a:xfrm>
            <a:off x="1378857" y="4288971"/>
            <a:ext cx="297543" cy="413658"/>
          </a:xfrm>
          <a:custGeom>
            <a:avLst/>
            <a:gdLst>
              <a:gd name="connsiteX0" fmla="*/ 0 w 297543"/>
              <a:gd name="connsiteY0" fmla="*/ 0 h 413658"/>
              <a:gd name="connsiteX1" fmla="*/ 159657 w 297543"/>
              <a:gd name="connsiteY1" fmla="*/ 283029 h 413658"/>
              <a:gd name="connsiteX2" fmla="*/ 297543 w 297543"/>
              <a:gd name="connsiteY2" fmla="*/ 413658 h 413658"/>
            </a:gdLst>
            <a:ahLst/>
            <a:cxnLst>
              <a:cxn ang="0">
                <a:pos x="connsiteX0" y="connsiteY0"/>
              </a:cxn>
              <a:cxn ang="0">
                <a:pos x="connsiteX1" y="connsiteY1"/>
              </a:cxn>
              <a:cxn ang="0">
                <a:pos x="connsiteX2" y="connsiteY2"/>
              </a:cxn>
            </a:cxnLst>
            <a:rect l="l" t="t" r="r" b="b"/>
            <a:pathLst>
              <a:path w="297543" h="413658">
                <a:moveTo>
                  <a:pt x="0" y="0"/>
                </a:moveTo>
                <a:cubicBezTo>
                  <a:pt x="55033" y="107043"/>
                  <a:pt x="110067" y="214086"/>
                  <a:pt x="159657" y="283029"/>
                </a:cubicBezTo>
                <a:cubicBezTo>
                  <a:pt x="209247" y="351972"/>
                  <a:pt x="253395" y="382815"/>
                  <a:pt x="297543" y="413658"/>
                </a:cubicBezTo>
              </a:path>
            </a:pathLst>
          </a:custGeom>
          <a:noFill/>
          <a:ln w="9525" cap="flat" cmpd="sng" algn="ctr">
            <a:solidFill>
              <a:srgbClr val="008000"/>
            </a:solidFill>
            <a:prstDash val="solid"/>
            <a:round/>
            <a:headEnd type="none" w="med" len="med"/>
            <a:tailEnd type="triangle" w="med" len="med"/>
          </a:ln>
          <a:effectLst/>
        </p:spPr>
        <p:txBody>
          <a:bodyPr rtlCol="0" anchor="ctr"/>
          <a:lstStyle/>
          <a:p>
            <a:pPr algn="ctr"/>
            <a:endParaRPr lang="en-US"/>
          </a:p>
        </p:txBody>
      </p:sp>
      <p:sp>
        <p:nvSpPr>
          <p:cNvPr id="19" name="Freeform: Shape 18">
            <a:extLst>
              <a:ext uri="{FF2B5EF4-FFF2-40B4-BE49-F238E27FC236}">
                <a16:creationId xmlns:a16="http://schemas.microsoft.com/office/drawing/2014/main" id="{F37E1657-1E40-4D1D-91CA-EA200E025300}"/>
              </a:ext>
            </a:extLst>
          </p:cNvPr>
          <p:cNvSpPr/>
          <p:nvPr/>
        </p:nvSpPr>
        <p:spPr bwMode="auto">
          <a:xfrm>
            <a:off x="1378857" y="4288971"/>
            <a:ext cx="2010229" cy="442686"/>
          </a:xfrm>
          <a:custGeom>
            <a:avLst/>
            <a:gdLst>
              <a:gd name="connsiteX0" fmla="*/ 0 w 2010229"/>
              <a:gd name="connsiteY0" fmla="*/ 0 h 442686"/>
              <a:gd name="connsiteX1" fmla="*/ 740229 w 2010229"/>
              <a:gd name="connsiteY1" fmla="*/ 297543 h 442686"/>
              <a:gd name="connsiteX2" fmla="*/ 2010229 w 2010229"/>
              <a:gd name="connsiteY2" fmla="*/ 442686 h 442686"/>
            </a:gdLst>
            <a:ahLst/>
            <a:cxnLst>
              <a:cxn ang="0">
                <a:pos x="connsiteX0" y="connsiteY0"/>
              </a:cxn>
              <a:cxn ang="0">
                <a:pos x="connsiteX1" y="connsiteY1"/>
              </a:cxn>
              <a:cxn ang="0">
                <a:pos x="connsiteX2" y="connsiteY2"/>
              </a:cxn>
            </a:cxnLst>
            <a:rect l="l" t="t" r="r" b="b"/>
            <a:pathLst>
              <a:path w="2010229" h="442686">
                <a:moveTo>
                  <a:pt x="0" y="0"/>
                </a:moveTo>
                <a:cubicBezTo>
                  <a:pt x="202595" y="111881"/>
                  <a:pt x="405191" y="223762"/>
                  <a:pt x="740229" y="297543"/>
                </a:cubicBezTo>
                <a:cubicBezTo>
                  <a:pt x="1075267" y="371324"/>
                  <a:pt x="1542748" y="407005"/>
                  <a:pt x="2010229" y="442686"/>
                </a:cubicBezTo>
              </a:path>
            </a:pathLst>
          </a:custGeom>
          <a:noFill/>
          <a:ln w="9525" cap="flat" cmpd="sng" algn="ctr">
            <a:solidFill>
              <a:srgbClr val="008000"/>
            </a:solidFill>
            <a:prstDash val="solid"/>
            <a:round/>
            <a:headEnd type="none" w="med" len="med"/>
            <a:tailEnd type="triangle" w="med" len="med"/>
          </a:ln>
          <a:effectLst/>
        </p:spPr>
        <p:txBody>
          <a:bodyPr rtlCol="0" anchor="ctr"/>
          <a:lstStyle/>
          <a:p>
            <a:pPr algn="ctr"/>
            <a:endParaRPr lang="en-US"/>
          </a:p>
        </p:txBody>
      </p:sp>
      <p:sp>
        <p:nvSpPr>
          <p:cNvPr id="9" name="Freeform: Shape 8">
            <a:extLst>
              <a:ext uri="{FF2B5EF4-FFF2-40B4-BE49-F238E27FC236}">
                <a16:creationId xmlns:a16="http://schemas.microsoft.com/office/drawing/2014/main" id="{9863770B-C14D-474F-A68E-B19CAC98584D}"/>
              </a:ext>
            </a:extLst>
          </p:cNvPr>
          <p:cNvSpPr/>
          <p:nvPr/>
        </p:nvSpPr>
        <p:spPr bwMode="auto">
          <a:xfrm>
            <a:off x="6576764" y="2881086"/>
            <a:ext cx="1202894" cy="391885"/>
          </a:xfrm>
          <a:custGeom>
            <a:avLst/>
            <a:gdLst>
              <a:gd name="connsiteX0" fmla="*/ 1282723 w 1282723"/>
              <a:gd name="connsiteY0" fmla="*/ 0 h 275771"/>
              <a:gd name="connsiteX1" fmla="*/ 165123 w 1282723"/>
              <a:gd name="connsiteY1" fmla="*/ 87086 h 275771"/>
              <a:gd name="connsiteX2" fmla="*/ 27237 w 1282723"/>
              <a:gd name="connsiteY2" fmla="*/ 275771 h 275771"/>
            </a:gdLst>
            <a:ahLst/>
            <a:cxnLst>
              <a:cxn ang="0">
                <a:pos x="connsiteX0" y="connsiteY0"/>
              </a:cxn>
              <a:cxn ang="0">
                <a:pos x="connsiteX1" y="connsiteY1"/>
              </a:cxn>
              <a:cxn ang="0">
                <a:pos x="connsiteX2" y="connsiteY2"/>
              </a:cxn>
            </a:cxnLst>
            <a:rect l="l" t="t" r="r" b="b"/>
            <a:pathLst>
              <a:path w="1282723" h="275771">
                <a:moveTo>
                  <a:pt x="1282723" y="0"/>
                </a:moveTo>
                <a:cubicBezTo>
                  <a:pt x="828547" y="20562"/>
                  <a:pt x="374371" y="41124"/>
                  <a:pt x="165123" y="87086"/>
                </a:cubicBezTo>
                <a:cubicBezTo>
                  <a:pt x="-44125" y="133048"/>
                  <a:pt x="-8444" y="204409"/>
                  <a:pt x="27237" y="275771"/>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11" name="Freeform: Shape 10">
            <a:extLst>
              <a:ext uri="{FF2B5EF4-FFF2-40B4-BE49-F238E27FC236}">
                <a16:creationId xmlns:a16="http://schemas.microsoft.com/office/drawing/2014/main" id="{FD538655-800D-4624-9D50-814455C69378}"/>
              </a:ext>
            </a:extLst>
          </p:cNvPr>
          <p:cNvSpPr/>
          <p:nvPr/>
        </p:nvSpPr>
        <p:spPr bwMode="auto">
          <a:xfrm>
            <a:off x="7605486" y="2997200"/>
            <a:ext cx="435428" cy="326571"/>
          </a:xfrm>
          <a:custGeom>
            <a:avLst/>
            <a:gdLst>
              <a:gd name="connsiteX0" fmla="*/ 435428 w 435428"/>
              <a:gd name="connsiteY0" fmla="*/ 0 h 326571"/>
              <a:gd name="connsiteX1" fmla="*/ 362857 w 435428"/>
              <a:gd name="connsiteY1" fmla="*/ 224971 h 326571"/>
              <a:gd name="connsiteX2" fmla="*/ 0 w 435428"/>
              <a:gd name="connsiteY2" fmla="*/ 326571 h 326571"/>
            </a:gdLst>
            <a:ahLst/>
            <a:cxnLst>
              <a:cxn ang="0">
                <a:pos x="connsiteX0" y="connsiteY0"/>
              </a:cxn>
              <a:cxn ang="0">
                <a:pos x="connsiteX1" y="connsiteY1"/>
              </a:cxn>
              <a:cxn ang="0">
                <a:pos x="connsiteX2" y="connsiteY2"/>
              </a:cxn>
            </a:cxnLst>
            <a:rect l="l" t="t" r="r" b="b"/>
            <a:pathLst>
              <a:path w="435428" h="326571">
                <a:moveTo>
                  <a:pt x="435428" y="0"/>
                </a:moveTo>
                <a:cubicBezTo>
                  <a:pt x="435428" y="85271"/>
                  <a:pt x="435428" y="170542"/>
                  <a:pt x="362857" y="224971"/>
                </a:cubicBezTo>
                <a:cubicBezTo>
                  <a:pt x="290286" y="279400"/>
                  <a:pt x="145143" y="302985"/>
                  <a:pt x="0" y="326571"/>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222534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subTnLst>
                                    <p:animClr clrSpc="rgb" dir="cw">
                                      <p:cBhvr override="childStyle">
                                        <p:cTn dur="1" fill="hold" display="0" masterRel="nextClick" afterEffect="1"/>
                                        <p:tgtEl>
                                          <p:spTgt spid="15"/>
                                        </p:tgtEl>
                                        <p:attrNameLst>
                                          <p:attrName>ppt_c</p:attrName>
                                        </p:attrNameLst>
                                      </p:cBhvr>
                                      <p:to>
                                        <a:schemeClr val="bg2"/>
                                      </p:to>
                                    </p:animClr>
                                  </p:sub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nimBg="1"/>
      <p:bldP spid="15" grpId="0" animBg="1"/>
      <p:bldP spid="17" grpId="0" animBg="1"/>
      <p:bldP spid="18" grpId="0" animBg="1"/>
      <p:bldP spid="19" grpId="0" animBg="1"/>
      <p:bldP spid="9"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52</a:t>
            </a:fld>
            <a:endParaRPr lang="en-GB" dirty="0"/>
          </a:p>
        </p:txBody>
      </p:sp>
      <p:pic>
        <p:nvPicPr>
          <p:cNvPr id="9" name="Picture 8">
            <a:extLst>
              <a:ext uri="{FF2B5EF4-FFF2-40B4-BE49-F238E27FC236}">
                <a16:creationId xmlns:a16="http://schemas.microsoft.com/office/drawing/2014/main" id="{EB9B7B6B-C1FE-4C0D-85DC-BD59358EC695}"/>
              </a:ext>
            </a:extLst>
          </p:cNvPr>
          <p:cNvPicPr>
            <a:picLocks noChangeAspect="1"/>
          </p:cNvPicPr>
          <p:nvPr/>
        </p:nvPicPr>
        <p:blipFill>
          <a:blip r:embed="rId3"/>
          <a:stretch>
            <a:fillRect/>
          </a:stretch>
        </p:blipFill>
        <p:spPr>
          <a:xfrm>
            <a:off x="2281428" y="1638300"/>
            <a:ext cx="4581144" cy="4570476"/>
          </a:xfrm>
          <a:prstGeom prst="rect">
            <a:avLst/>
          </a:prstGeom>
        </p:spPr>
      </p:pic>
      <p:sp>
        <p:nvSpPr>
          <p:cNvPr id="4" name="TextBox 3">
            <a:extLst>
              <a:ext uri="{FF2B5EF4-FFF2-40B4-BE49-F238E27FC236}">
                <a16:creationId xmlns:a16="http://schemas.microsoft.com/office/drawing/2014/main" id="{48E8AA73-611B-F7E8-29DC-83DAE6465D86}"/>
              </a:ext>
            </a:extLst>
          </p:cNvPr>
          <p:cNvSpPr txBox="1"/>
          <p:nvPr/>
        </p:nvSpPr>
        <p:spPr>
          <a:xfrm>
            <a:off x="6862572" y="3184874"/>
            <a:ext cx="1836530" cy="738664"/>
          </a:xfrm>
          <a:prstGeom prst="rect">
            <a:avLst/>
          </a:prstGeom>
          <a:solidFill>
            <a:schemeClr val="accent3">
              <a:lumMod val="95000"/>
            </a:schemeClr>
          </a:solidFill>
        </p:spPr>
        <p:txBody>
          <a:bodyPr wrap="square" rtlCol="0">
            <a:spAutoFit/>
          </a:bodyPr>
          <a:lstStyle/>
          <a:p>
            <a:r>
              <a:rPr lang="en-US" sz="1400" b="0" u="none" dirty="0">
                <a:solidFill>
                  <a:schemeClr val="accent6"/>
                </a:solidFill>
                <a:latin typeface="Arial" pitchFamily="34" charset="0"/>
                <a:cs typeface="Arial" pitchFamily="34" charset="0"/>
              </a:rPr>
              <a:t>After 10 draws, no values outside of </a:t>
            </a:r>
            <a:br>
              <a:rPr lang="en-US" sz="1400" b="0" u="none" dirty="0">
                <a:solidFill>
                  <a:schemeClr val="accent6"/>
                </a:solidFill>
                <a:latin typeface="Arial" pitchFamily="34" charset="0"/>
                <a:cs typeface="Arial" pitchFamily="34" charset="0"/>
              </a:rPr>
            </a:br>
            <a:r>
              <a:rPr lang="en-US" sz="1400" b="0" u="none" dirty="0">
                <a:solidFill>
                  <a:schemeClr val="accent6"/>
                </a:solidFill>
                <a:latin typeface="Arial" pitchFamily="34" charset="0"/>
                <a:cs typeface="Arial" pitchFamily="34" charset="0"/>
              </a:rPr>
              <a:t>[-1.96,1.96]</a:t>
            </a:r>
          </a:p>
        </p:txBody>
      </p:sp>
    </p:spTree>
    <p:extLst>
      <p:ext uri="{BB962C8B-B14F-4D97-AF65-F5344CB8AC3E}">
        <p14:creationId xmlns:p14="http://schemas.microsoft.com/office/powerpoint/2010/main" val="208647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53</a:t>
            </a:fld>
            <a:endParaRPr lang="en-GB" dirty="0"/>
          </a:p>
        </p:txBody>
      </p:sp>
      <p:pic>
        <p:nvPicPr>
          <p:cNvPr id="12" name="Picture 11">
            <a:extLst>
              <a:ext uri="{FF2B5EF4-FFF2-40B4-BE49-F238E27FC236}">
                <a16:creationId xmlns:a16="http://schemas.microsoft.com/office/drawing/2014/main" id="{66699B7A-6381-4F40-98D4-3C8F6E31AA56}"/>
              </a:ext>
            </a:extLst>
          </p:cNvPr>
          <p:cNvPicPr>
            <a:picLocks noChangeAspect="1"/>
          </p:cNvPicPr>
          <p:nvPr/>
        </p:nvPicPr>
        <p:blipFill>
          <a:blip r:embed="rId3"/>
          <a:stretch>
            <a:fillRect/>
          </a:stretch>
        </p:blipFill>
        <p:spPr>
          <a:xfrm>
            <a:off x="2281428" y="1638300"/>
            <a:ext cx="4581144" cy="4570476"/>
          </a:xfrm>
          <a:prstGeom prst="rect">
            <a:avLst/>
          </a:prstGeom>
        </p:spPr>
      </p:pic>
      <p:sp>
        <p:nvSpPr>
          <p:cNvPr id="4" name="TextBox 3">
            <a:extLst>
              <a:ext uri="{FF2B5EF4-FFF2-40B4-BE49-F238E27FC236}">
                <a16:creationId xmlns:a16="http://schemas.microsoft.com/office/drawing/2014/main" id="{6606075E-FC60-1137-28ED-F85FA1EBE263}"/>
              </a:ext>
            </a:extLst>
          </p:cNvPr>
          <p:cNvSpPr txBox="1"/>
          <p:nvPr/>
        </p:nvSpPr>
        <p:spPr>
          <a:xfrm>
            <a:off x="6862572" y="3184874"/>
            <a:ext cx="1836530" cy="738664"/>
          </a:xfrm>
          <a:prstGeom prst="rect">
            <a:avLst/>
          </a:prstGeom>
          <a:solidFill>
            <a:schemeClr val="accent3">
              <a:lumMod val="95000"/>
            </a:schemeClr>
          </a:solidFill>
        </p:spPr>
        <p:txBody>
          <a:bodyPr wrap="square" rtlCol="0">
            <a:spAutoFit/>
          </a:bodyPr>
          <a:lstStyle/>
          <a:p>
            <a:r>
              <a:rPr lang="en-US" sz="1400" b="0" u="none" dirty="0">
                <a:solidFill>
                  <a:schemeClr val="accent6"/>
                </a:solidFill>
                <a:latin typeface="Arial" pitchFamily="34" charset="0"/>
                <a:cs typeface="Arial" pitchFamily="34" charset="0"/>
              </a:rPr>
              <a:t>After 30 draws, still no values outside of [-1.96,1.96]</a:t>
            </a:r>
          </a:p>
        </p:txBody>
      </p:sp>
    </p:spTree>
    <p:extLst>
      <p:ext uri="{BB962C8B-B14F-4D97-AF65-F5344CB8AC3E}">
        <p14:creationId xmlns:p14="http://schemas.microsoft.com/office/powerpoint/2010/main" val="12741261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54</a:t>
            </a:fld>
            <a:endParaRPr lang="en-GB" dirty="0"/>
          </a:p>
        </p:txBody>
      </p:sp>
      <p:pic>
        <p:nvPicPr>
          <p:cNvPr id="13" name="Picture 12">
            <a:extLst>
              <a:ext uri="{FF2B5EF4-FFF2-40B4-BE49-F238E27FC236}">
                <a16:creationId xmlns:a16="http://schemas.microsoft.com/office/drawing/2014/main" id="{1198BF7D-71AB-4E5B-9A8D-91B48744A128}"/>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15" name="Straight Arrow Connector 14">
            <a:extLst>
              <a:ext uri="{FF2B5EF4-FFF2-40B4-BE49-F238E27FC236}">
                <a16:creationId xmlns:a16="http://schemas.microsoft.com/office/drawing/2014/main" id="{888CC2BF-0AAE-40F6-BEFB-A320081191E9}"/>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4" name="TextBox 3">
            <a:extLst>
              <a:ext uri="{FF2B5EF4-FFF2-40B4-BE49-F238E27FC236}">
                <a16:creationId xmlns:a16="http://schemas.microsoft.com/office/drawing/2014/main" id="{4E8BC2A3-7E34-E219-8C49-C1945AA07D3B}"/>
              </a:ext>
            </a:extLst>
          </p:cNvPr>
          <p:cNvSpPr txBox="1"/>
          <p:nvPr/>
        </p:nvSpPr>
        <p:spPr>
          <a:xfrm>
            <a:off x="6862571" y="3184874"/>
            <a:ext cx="1929003" cy="738664"/>
          </a:xfrm>
          <a:prstGeom prst="rect">
            <a:avLst/>
          </a:prstGeom>
          <a:solidFill>
            <a:schemeClr val="accent3">
              <a:lumMod val="95000"/>
            </a:schemeClr>
          </a:solidFill>
        </p:spPr>
        <p:txBody>
          <a:bodyPr wrap="square" rtlCol="0">
            <a:spAutoFit/>
          </a:bodyPr>
          <a:lstStyle/>
          <a:p>
            <a:r>
              <a:rPr lang="en-US" sz="1400" b="0" u="none" dirty="0">
                <a:solidFill>
                  <a:schemeClr val="accent6"/>
                </a:solidFill>
                <a:latin typeface="Arial" pitchFamily="34" charset="0"/>
                <a:cs typeface="Arial" pitchFamily="34" charset="0"/>
              </a:rPr>
              <a:t>With 50 draws, we start to see values outside of -1.96,1.96]</a:t>
            </a:r>
          </a:p>
        </p:txBody>
      </p:sp>
    </p:spTree>
    <p:extLst>
      <p:ext uri="{BB962C8B-B14F-4D97-AF65-F5344CB8AC3E}">
        <p14:creationId xmlns:p14="http://schemas.microsoft.com/office/powerpoint/2010/main" val="1287171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55</a:t>
            </a:fld>
            <a:endParaRPr lang="en-GB" dirty="0"/>
          </a:p>
        </p:txBody>
      </p:sp>
      <p:pic>
        <p:nvPicPr>
          <p:cNvPr id="9" name="Picture 8">
            <a:extLst>
              <a:ext uri="{FF2B5EF4-FFF2-40B4-BE49-F238E27FC236}">
                <a16:creationId xmlns:a16="http://schemas.microsoft.com/office/drawing/2014/main" id="{23E0725D-F35A-48AC-929B-011BC5516E10}"/>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10" name="Straight Arrow Connector 9">
            <a:extLst>
              <a:ext uri="{FF2B5EF4-FFF2-40B4-BE49-F238E27FC236}">
                <a16:creationId xmlns:a16="http://schemas.microsoft.com/office/drawing/2014/main" id="{74A91B86-AB6D-40DD-9DCE-753B6FCE995A}"/>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24B906D3-3269-476E-8A26-726031B72AE6}"/>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002548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56</a:t>
            </a:fld>
            <a:endParaRPr lang="en-GB" dirty="0"/>
          </a:p>
        </p:txBody>
      </p:sp>
      <p:pic>
        <p:nvPicPr>
          <p:cNvPr id="11" name="Picture 10">
            <a:extLst>
              <a:ext uri="{FF2B5EF4-FFF2-40B4-BE49-F238E27FC236}">
                <a16:creationId xmlns:a16="http://schemas.microsoft.com/office/drawing/2014/main" id="{F106AED4-2BE2-4643-AD02-B74331B2F3D9}"/>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4" name="Straight Arrow Connector 3">
            <a:extLst>
              <a:ext uri="{FF2B5EF4-FFF2-40B4-BE49-F238E27FC236}">
                <a16:creationId xmlns:a16="http://schemas.microsoft.com/office/drawing/2014/main" id="{FC3D06BF-AA0A-C9D3-C2CE-B1A472FEAF30}"/>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EF4E794D-2903-EEC1-8023-F91E1CE0F92B}"/>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93027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57</a:t>
            </a:fld>
            <a:endParaRPr lang="en-GB" dirty="0"/>
          </a:p>
        </p:txBody>
      </p:sp>
      <p:pic>
        <p:nvPicPr>
          <p:cNvPr id="9" name="Picture 8">
            <a:extLst>
              <a:ext uri="{FF2B5EF4-FFF2-40B4-BE49-F238E27FC236}">
                <a16:creationId xmlns:a16="http://schemas.microsoft.com/office/drawing/2014/main" id="{48722686-00C2-429F-83CE-E4DB0E9A5EA7}"/>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4" name="Straight Arrow Connector 3">
            <a:extLst>
              <a:ext uri="{FF2B5EF4-FFF2-40B4-BE49-F238E27FC236}">
                <a16:creationId xmlns:a16="http://schemas.microsoft.com/office/drawing/2014/main" id="{C1287CD4-39A0-BA1F-ECB9-C1074A4C5A82}"/>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B483A8E9-0B49-D4A3-E79F-51AA6A2E0F9D}"/>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45319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61D7E5-3DC5-4C3A-8C1C-32E3FF581DD5}"/>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CD61D7E5-3DC5-4C3A-8C1C-32E3FF581DD5}"/>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671CCD7-E38A-4D10-99E3-DD85F40B8CD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58</a:t>
            </a:fld>
            <a:endParaRPr lang="en-GB" dirty="0"/>
          </a:p>
        </p:txBody>
      </p:sp>
      <p:pic>
        <p:nvPicPr>
          <p:cNvPr id="7" name="Picture 6">
            <a:extLst>
              <a:ext uri="{FF2B5EF4-FFF2-40B4-BE49-F238E27FC236}">
                <a16:creationId xmlns:a16="http://schemas.microsoft.com/office/drawing/2014/main" id="{A7F2F5D4-E2DD-4B4F-B88C-F4C56A548A47}"/>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4" name="Straight Arrow Connector 3">
            <a:extLst>
              <a:ext uri="{FF2B5EF4-FFF2-40B4-BE49-F238E27FC236}">
                <a16:creationId xmlns:a16="http://schemas.microsoft.com/office/drawing/2014/main" id="{39A238A7-C471-71A8-D92E-A0E2821FE006}"/>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84723B93-3625-82D5-DF13-2D9DCABF0B48}"/>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2597402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63A985C-7467-46BF-81DB-56CD35EE7E4B}"/>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963A985C-7467-46BF-81DB-56CD35EE7E4B}"/>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4E019C2-E10E-45FF-B8CC-63221F95CC4C}"/>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59</a:t>
            </a:fld>
            <a:endParaRPr lang="en-GB" dirty="0"/>
          </a:p>
        </p:txBody>
      </p:sp>
      <p:pic>
        <p:nvPicPr>
          <p:cNvPr id="5" name="Picture 4">
            <a:extLst>
              <a:ext uri="{FF2B5EF4-FFF2-40B4-BE49-F238E27FC236}">
                <a16:creationId xmlns:a16="http://schemas.microsoft.com/office/drawing/2014/main" id="{090BD16E-3DC4-4408-B297-BB1B77DDE1DC}"/>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4" name="Straight Arrow Connector 3">
            <a:extLst>
              <a:ext uri="{FF2B5EF4-FFF2-40B4-BE49-F238E27FC236}">
                <a16:creationId xmlns:a16="http://schemas.microsoft.com/office/drawing/2014/main" id="{644C6142-57C7-8E85-216F-633943CD843E}"/>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6" name="Straight Arrow Connector 5">
            <a:extLst>
              <a:ext uri="{FF2B5EF4-FFF2-40B4-BE49-F238E27FC236}">
                <a16:creationId xmlns:a16="http://schemas.microsoft.com/office/drawing/2014/main" id="{6A08B3CA-7FE0-0D18-2666-688D6543AD60}"/>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4215667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BCBEE57-C819-4657-BD58-29EC504ACDBE}"/>
                  </a:ext>
                </a:extLst>
              </p:cNvPr>
              <p:cNvSpPr>
                <a:spLocks noGrp="1"/>
              </p:cNvSpPr>
              <p:nvPr>
                <p:ph type="title"/>
              </p:nvPr>
            </p:nvSpPr>
            <p:spPr/>
            <p:txBody>
              <a:bodyPr/>
              <a:lstStyle/>
              <a:p>
                <a:r>
                  <a:rPr lang="en-US" dirty="0"/>
                  <a:t>Distribution of Draws from a Standard Normal,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2BCBEE57-C819-4657-BD58-29EC504ACDBE}"/>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24F8442E-E4FC-4A40-8101-7A91A894BD2E}"/>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60</a:t>
            </a:fld>
            <a:endParaRPr lang="en-GB" dirty="0"/>
          </a:p>
        </p:txBody>
      </p:sp>
      <p:pic>
        <p:nvPicPr>
          <p:cNvPr id="7" name="Picture 6">
            <a:extLst>
              <a:ext uri="{FF2B5EF4-FFF2-40B4-BE49-F238E27FC236}">
                <a16:creationId xmlns:a16="http://schemas.microsoft.com/office/drawing/2014/main" id="{B99BD221-7D7A-4400-B8AF-C46D616D019B}"/>
              </a:ext>
            </a:extLst>
          </p:cNvPr>
          <p:cNvPicPr>
            <a:picLocks noChangeAspect="1"/>
          </p:cNvPicPr>
          <p:nvPr/>
        </p:nvPicPr>
        <p:blipFill>
          <a:blip r:embed="rId3"/>
          <a:stretch>
            <a:fillRect/>
          </a:stretch>
        </p:blipFill>
        <p:spPr>
          <a:xfrm>
            <a:off x="2281428" y="1638300"/>
            <a:ext cx="4581144" cy="4570476"/>
          </a:xfrm>
          <a:prstGeom prst="rect">
            <a:avLst/>
          </a:prstGeom>
        </p:spPr>
      </p:pic>
      <p:cxnSp>
        <p:nvCxnSpPr>
          <p:cNvPr id="4" name="Straight Arrow Connector 3">
            <a:extLst>
              <a:ext uri="{FF2B5EF4-FFF2-40B4-BE49-F238E27FC236}">
                <a16:creationId xmlns:a16="http://schemas.microsoft.com/office/drawing/2014/main" id="{238053B0-3FE5-60BF-ECE4-03D57F99DC60}"/>
              </a:ext>
            </a:extLst>
          </p:cNvPr>
          <p:cNvCxnSpPr/>
          <p:nvPr/>
        </p:nvCxnSpPr>
        <p:spPr bwMode="auto">
          <a:xfrm flipH="1">
            <a:off x="5892800" y="5109029"/>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28ECE174-7A5B-AB51-1C15-57ED36C64B25}"/>
              </a:ext>
            </a:extLst>
          </p:cNvPr>
          <p:cNvCxnSpPr>
            <a:cxnSpLocks/>
          </p:cNvCxnSpPr>
          <p:nvPr/>
        </p:nvCxnSpPr>
        <p:spPr bwMode="auto">
          <a:xfrm rot="16200000" flipH="1">
            <a:off x="3251208" y="5152572"/>
            <a:ext cx="326571" cy="413657"/>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290317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BCBEE57-C819-4657-BD58-29EC504ACDBE}"/>
                  </a:ext>
                </a:extLst>
              </p:cNvPr>
              <p:cNvSpPr>
                <a:spLocks noGrp="1"/>
              </p:cNvSpPr>
              <p:nvPr>
                <p:ph type="title"/>
              </p:nvPr>
            </p:nvSpPr>
            <p:spPr/>
            <p:txBody>
              <a:bodyPr/>
              <a:lstStyle/>
              <a:p>
                <a:r>
                  <a:rPr lang="en-US" dirty="0">
                    <a:solidFill>
                      <a:srgbClr val="00B0F0"/>
                    </a:solidFill>
                  </a:rPr>
                  <a:t>Critical Values</a:t>
                </a:r>
                <a:r>
                  <a:rPr lang="en-US" dirty="0"/>
                  <a:t> for </a:t>
                </a:r>
                <a14:m>
                  <m:oMath xmlns:m="http://schemas.openxmlformats.org/officeDocument/2006/math">
                    <m:r>
                      <a:rPr lang="en-US" i="1" smtClean="0">
                        <a:solidFill>
                          <a:schemeClr val="accent6"/>
                        </a:solidFill>
                        <a:latin typeface="Cambria Math" panose="02040503050406030204" pitchFamily="18" charset="0"/>
                      </a:rPr>
                      <m:t>9</m:t>
                    </m:r>
                    <m:r>
                      <a:rPr lang="en-US" b="0" i="1" smtClean="0">
                        <a:solidFill>
                          <a:schemeClr val="accent6"/>
                        </a:solidFill>
                        <a:latin typeface="Cambria Math" panose="02040503050406030204" pitchFamily="18" charset="0"/>
                      </a:rPr>
                      <m:t>0%</m:t>
                    </m:r>
                  </m:oMath>
                </a14:m>
                <a:r>
                  <a:rPr lang="en-US" dirty="0"/>
                  <a:t>, </a:t>
                </a:r>
                <a14:m>
                  <m:oMath xmlns:m="http://schemas.openxmlformats.org/officeDocument/2006/math">
                    <m:r>
                      <a:rPr lang="en-US" b="0" i="1" smtClean="0">
                        <a:latin typeface="Cambria Math" panose="02040503050406030204" pitchFamily="18" charset="0"/>
                      </a:rPr>
                      <m:t>95%</m:t>
                    </m:r>
                  </m:oMath>
                </a14:m>
                <a:r>
                  <a:rPr lang="en-US" dirty="0"/>
                  <a:t>, and </a:t>
                </a:r>
                <a14:m>
                  <m:oMath xmlns:m="http://schemas.openxmlformats.org/officeDocument/2006/math">
                    <m:r>
                      <a:rPr lang="en-US" b="0" i="1" smtClean="0">
                        <a:latin typeface="Cambria Math" panose="02040503050406030204" pitchFamily="18" charset="0"/>
                      </a:rPr>
                      <m:t>99%</m:t>
                    </m:r>
                  </m:oMath>
                </a14:m>
                <a:r>
                  <a:rPr lang="en-US" dirty="0"/>
                  <a:t> of Area Under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2BCBEE57-C819-4657-BD58-29EC504ACDBE}"/>
                  </a:ext>
                </a:extLst>
              </p:cNvPr>
              <p:cNvSpPr>
                <a:spLocks noGrp="1" noRot="1" noChangeAspect="1" noMove="1" noResize="1" noEditPoints="1" noAdjustHandles="1" noChangeArrowheads="1" noChangeShapeType="1" noTextEdit="1"/>
              </p:cNvSpPr>
              <p:nvPr>
                <p:ph type="title"/>
              </p:nvPr>
            </p:nvSpPr>
            <p:spPr>
              <a:blipFill>
                <a:blip r:embed="rId2"/>
                <a:stretch>
                  <a:fillRect l="-723" r="-289"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24F8442E-E4FC-4A40-8101-7A91A894BD2E}"/>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61</a:t>
            </a:fld>
            <a:endParaRPr lang="en-GB" dirty="0"/>
          </a:p>
        </p:txBody>
      </p:sp>
      <p:pic>
        <p:nvPicPr>
          <p:cNvPr id="6" name="Picture 5">
            <a:extLst>
              <a:ext uri="{FF2B5EF4-FFF2-40B4-BE49-F238E27FC236}">
                <a16:creationId xmlns:a16="http://schemas.microsoft.com/office/drawing/2014/main" id="{70C4D359-4EEB-4053-9966-E0F894454118}"/>
              </a:ext>
            </a:extLst>
          </p:cNvPr>
          <p:cNvPicPr>
            <a:picLocks noChangeAspect="1"/>
          </p:cNvPicPr>
          <p:nvPr/>
        </p:nvPicPr>
        <p:blipFill>
          <a:blip r:embed="rId3"/>
          <a:stretch>
            <a:fillRect/>
          </a:stretch>
        </p:blipFill>
        <p:spPr>
          <a:xfrm>
            <a:off x="1096228" y="1796905"/>
            <a:ext cx="6414516" cy="4570476"/>
          </a:xfrm>
          <a:prstGeom prst="rect">
            <a:avLst/>
          </a:prstGeom>
          <a:ln>
            <a:noFill/>
          </a:ln>
        </p:spPr>
      </p:pic>
      <p:cxnSp>
        <p:nvCxnSpPr>
          <p:cNvPr id="7" name="Straight Arrow Connector 6">
            <a:extLst>
              <a:ext uri="{FF2B5EF4-FFF2-40B4-BE49-F238E27FC236}">
                <a16:creationId xmlns:a16="http://schemas.microsoft.com/office/drawing/2014/main" id="{F634435D-3052-4EBB-9306-AAC6F2EF7265}"/>
              </a:ext>
            </a:extLst>
          </p:cNvPr>
          <p:cNvCxnSpPr/>
          <p:nvPr/>
        </p:nvCxnSpPr>
        <p:spPr bwMode="auto">
          <a:xfrm>
            <a:off x="3737429" y="3563257"/>
            <a:ext cx="1669142" cy="0"/>
          </a:xfrm>
          <a:prstGeom prst="straightConnector1">
            <a:avLst/>
          </a:prstGeom>
          <a:solidFill>
            <a:schemeClr val="accent1"/>
          </a:solidFill>
          <a:ln w="9525" cap="flat" cmpd="sng" algn="ctr">
            <a:solidFill>
              <a:srgbClr val="00B0F0"/>
            </a:solidFill>
            <a:prstDash val="solid"/>
            <a:round/>
            <a:headEnd type="triangle" w="med" len="med"/>
            <a:tailEnd type="triangle" w="med" len="med"/>
          </a:ln>
          <a:effectLst/>
        </p:spPr>
      </p:cxnSp>
      <p:sp>
        <p:nvSpPr>
          <p:cNvPr id="9" name="TextBox 8">
            <a:extLst>
              <a:ext uri="{FF2B5EF4-FFF2-40B4-BE49-F238E27FC236}">
                <a16:creationId xmlns:a16="http://schemas.microsoft.com/office/drawing/2014/main" id="{5A4430AE-CA18-4878-91AF-52395B6D4D63}"/>
              </a:ext>
            </a:extLst>
          </p:cNvPr>
          <p:cNvSpPr txBox="1"/>
          <p:nvPr/>
        </p:nvSpPr>
        <p:spPr>
          <a:xfrm>
            <a:off x="4338603" y="3432452"/>
            <a:ext cx="466794" cy="261610"/>
          </a:xfrm>
          <a:prstGeom prst="rect">
            <a:avLst/>
          </a:prstGeom>
          <a:solidFill>
            <a:schemeClr val="bg1"/>
          </a:solidFill>
          <a:ln>
            <a:solidFill>
              <a:srgbClr val="00B0F0"/>
            </a:solidFill>
          </a:ln>
        </p:spPr>
        <p:txBody>
          <a:bodyPr wrap="none" rtlCol="0">
            <a:spAutoFit/>
          </a:bodyPr>
          <a:lstStyle/>
          <a:p>
            <a:pPr algn="ctr"/>
            <a:r>
              <a:rPr lang="en-US" sz="1100" b="0" u="none" dirty="0">
                <a:solidFill>
                  <a:srgbClr val="00B0F0"/>
                </a:solidFill>
                <a:latin typeface="Arial" pitchFamily="34" charset="0"/>
                <a:cs typeface="Arial" pitchFamily="34" charset="0"/>
              </a:rPr>
              <a:t>90%</a:t>
            </a:r>
          </a:p>
        </p:txBody>
      </p:sp>
      <p:cxnSp>
        <p:nvCxnSpPr>
          <p:cNvPr id="10" name="Straight Arrow Connector 9">
            <a:extLst>
              <a:ext uri="{FF2B5EF4-FFF2-40B4-BE49-F238E27FC236}">
                <a16:creationId xmlns:a16="http://schemas.microsoft.com/office/drawing/2014/main" id="{454DFCC9-BBB9-49D2-A66F-12F5B7DDCDA2}"/>
              </a:ext>
            </a:extLst>
          </p:cNvPr>
          <p:cNvCxnSpPr>
            <a:cxnSpLocks/>
          </p:cNvCxnSpPr>
          <p:nvPr/>
        </p:nvCxnSpPr>
        <p:spPr bwMode="auto">
          <a:xfrm>
            <a:off x="3541486" y="3934253"/>
            <a:ext cx="2068285" cy="0"/>
          </a:xfrm>
          <a:prstGeom prst="straightConnector1">
            <a:avLst/>
          </a:prstGeom>
          <a:solidFill>
            <a:schemeClr val="accent1"/>
          </a:solidFill>
          <a:ln w="9525" cap="flat" cmpd="sng" algn="ctr">
            <a:solidFill>
              <a:srgbClr val="FF0000"/>
            </a:solidFill>
            <a:prstDash val="solid"/>
            <a:round/>
            <a:headEnd type="triangle" w="med" len="med"/>
            <a:tailEnd type="triangle" w="med" len="med"/>
          </a:ln>
          <a:effectLst/>
        </p:spPr>
      </p:cxnSp>
      <p:sp>
        <p:nvSpPr>
          <p:cNvPr id="11" name="TextBox 10">
            <a:extLst>
              <a:ext uri="{FF2B5EF4-FFF2-40B4-BE49-F238E27FC236}">
                <a16:creationId xmlns:a16="http://schemas.microsoft.com/office/drawing/2014/main" id="{F33F1DC3-08E8-4AB3-8279-66F6CC7F0B33}"/>
              </a:ext>
            </a:extLst>
          </p:cNvPr>
          <p:cNvSpPr txBox="1"/>
          <p:nvPr/>
        </p:nvSpPr>
        <p:spPr>
          <a:xfrm>
            <a:off x="4338603" y="3803448"/>
            <a:ext cx="466794" cy="261610"/>
          </a:xfrm>
          <a:prstGeom prst="rect">
            <a:avLst/>
          </a:prstGeom>
          <a:solidFill>
            <a:srgbClr val="FFFF99"/>
          </a:solidFill>
          <a:ln>
            <a:solidFill>
              <a:srgbClr val="FF0000"/>
            </a:solidFill>
          </a:ln>
        </p:spPr>
        <p:txBody>
          <a:bodyPr wrap="none" rtlCol="0">
            <a:spAutoFit/>
          </a:bodyPr>
          <a:lstStyle/>
          <a:p>
            <a:pPr algn="ctr"/>
            <a:r>
              <a:rPr lang="en-US" sz="1100" b="0" u="none" dirty="0">
                <a:solidFill>
                  <a:srgbClr val="FF0000"/>
                </a:solidFill>
                <a:latin typeface="Arial" pitchFamily="34" charset="0"/>
                <a:cs typeface="Arial" pitchFamily="34" charset="0"/>
              </a:rPr>
              <a:t>95%</a:t>
            </a:r>
          </a:p>
        </p:txBody>
      </p:sp>
      <p:cxnSp>
        <p:nvCxnSpPr>
          <p:cNvPr id="14" name="Straight Arrow Connector 13">
            <a:extLst>
              <a:ext uri="{FF2B5EF4-FFF2-40B4-BE49-F238E27FC236}">
                <a16:creationId xmlns:a16="http://schemas.microsoft.com/office/drawing/2014/main" id="{B5B67937-7A00-4C37-95DD-B1CFC3C19577}"/>
              </a:ext>
            </a:extLst>
          </p:cNvPr>
          <p:cNvCxnSpPr>
            <a:cxnSpLocks/>
          </p:cNvCxnSpPr>
          <p:nvPr/>
        </p:nvCxnSpPr>
        <p:spPr bwMode="auto">
          <a:xfrm>
            <a:off x="3207657" y="4305249"/>
            <a:ext cx="2714172" cy="0"/>
          </a:xfrm>
          <a:prstGeom prst="straightConnector1">
            <a:avLst/>
          </a:prstGeom>
          <a:solidFill>
            <a:schemeClr val="accent1"/>
          </a:solidFill>
          <a:ln w="9525" cap="flat" cmpd="sng" algn="ctr">
            <a:solidFill>
              <a:srgbClr val="00B0F0"/>
            </a:solidFill>
            <a:prstDash val="solid"/>
            <a:round/>
            <a:headEnd type="triangle" w="med" len="med"/>
            <a:tailEnd type="triangle" w="med" len="med"/>
          </a:ln>
          <a:effectLst/>
        </p:spPr>
      </p:cxnSp>
      <p:sp>
        <p:nvSpPr>
          <p:cNvPr id="15" name="TextBox 14">
            <a:extLst>
              <a:ext uri="{FF2B5EF4-FFF2-40B4-BE49-F238E27FC236}">
                <a16:creationId xmlns:a16="http://schemas.microsoft.com/office/drawing/2014/main" id="{B16F93F6-503F-4BF4-884E-CD7092E021AB}"/>
              </a:ext>
            </a:extLst>
          </p:cNvPr>
          <p:cNvSpPr txBox="1"/>
          <p:nvPr/>
        </p:nvSpPr>
        <p:spPr>
          <a:xfrm>
            <a:off x="4338603" y="4174444"/>
            <a:ext cx="466794" cy="261610"/>
          </a:xfrm>
          <a:prstGeom prst="rect">
            <a:avLst/>
          </a:prstGeom>
          <a:solidFill>
            <a:schemeClr val="bg1"/>
          </a:solidFill>
          <a:ln>
            <a:solidFill>
              <a:srgbClr val="00B0F0"/>
            </a:solidFill>
          </a:ln>
        </p:spPr>
        <p:txBody>
          <a:bodyPr wrap="none" rtlCol="0">
            <a:spAutoFit/>
          </a:bodyPr>
          <a:lstStyle/>
          <a:p>
            <a:pPr algn="ctr"/>
            <a:r>
              <a:rPr lang="en-US" sz="1100" b="0" u="none" dirty="0">
                <a:solidFill>
                  <a:srgbClr val="00B0F0"/>
                </a:solidFill>
                <a:latin typeface="Arial" pitchFamily="34" charset="0"/>
                <a:cs typeface="Arial" pitchFamily="34" charset="0"/>
              </a:rPr>
              <a:t>99%</a:t>
            </a:r>
          </a:p>
        </p:txBody>
      </p:sp>
      <p:grpSp>
        <p:nvGrpSpPr>
          <p:cNvPr id="24" name="Group 23">
            <a:extLst>
              <a:ext uri="{FF2B5EF4-FFF2-40B4-BE49-F238E27FC236}">
                <a16:creationId xmlns:a16="http://schemas.microsoft.com/office/drawing/2014/main" id="{B94DAF05-06A8-4759-AF06-5C46EC382F33}"/>
              </a:ext>
            </a:extLst>
          </p:cNvPr>
          <p:cNvGrpSpPr/>
          <p:nvPr/>
        </p:nvGrpSpPr>
        <p:grpSpPr>
          <a:xfrm>
            <a:off x="6117773" y="5259893"/>
            <a:ext cx="820056" cy="342621"/>
            <a:chOff x="6117773" y="5259893"/>
            <a:chExt cx="820056" cy="342621"/>
          </a:xfrm>
        </p:grpSpPr>
        <p:sp>
          <p:nvSpPr>
            <p:cNvPr id="19" name="TextBox 18">
              <a:extLst>
                <a:ext uri="{FF2B5EF4-FFF2-40B4-BE49-F238E27FC236}">
                  <a16:creationId xmlns:a16="http://schemas.microsoft.com/office/drawing/2014/main" id="{33797A38-91E3-4687-B637-41B89D384C08}"/>
                </a:ext>
              </a:extLst>
            </p:cNvPr>
            <p:cNvSpPr txBox="1"/>
            <p:nvPr/>
          </p:nvSpPr>
          <p:spPr>
            <a:xfrm>
              <a:off x="6393543" y="5259893"/>
              <a:ext cx="544286" cy="261610"/>
            </a:xfrm>
            <a:prstGeom prst="rect">
              <a:avLst/>
            </a:prstGeom>
            <a:noFill/>
            <a:ln w="3175">
              <a:noFill/>
            </a:ln>
          </p:spPr>
          <p:txBody>
            <a:bodyPr wrap="square" rtlCol="0">
              <a:spAutoFit/>
            </a:bodyPr>
            <a:lstStyle/>
            <a:p>
              <a:pPr algn="ctr"/>
              <a:r>
                <a:rPr lang="en-US" sz="1050" b="0" u="none" dirty="0">
                  <a:solidFill>
                    <a:srgbClr val="00B0F0"/>
                  </a:solidFill>
                  <a:cs typeface="Arial" pitchFamily="34" charset="0"/>
                </a:rPr>
                <a:t>0.5%</a:t>
              </a:r>
            </a:p>
          </p:txBody>
        </p:sp>
        <p:cxnSp>
          <p:nvCxnSpPr>
            <p:cNvPr id="21" name="Straight Arrow Connector 20">
              <a:extLst>
                <a:ext uri="{FF2B5EF4-FFF2-40B4-BE49-F238E27FC236}">
                  <a16:creationId xmlns:a16="http://schemas.microsoft.com/office/drawing/2014/main" id="{CC403515-2BAD-4898-93F0-15F97C4AB63B}"/>
                </a:ext>
              </a:extLst>
            </p:cNvPr>
            <p:cNvCxnSpPr>
              <a:cxnSpLocks/>
            </p:cNvCxnSpPr>
            <p:nvPr/>
          </p:nvCxnSpPr>
          <p:spPr bwMode="auto">
            <a:xfrm flipH="1">
              <a:off x="6117773" y="5440493"/>
              <a:ext cx="362856" cy="162021"/>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grpSp>
      <p:grpSp>
        <p:nvGrpSpPr>
          <p:cNvPr id="32" name="Group 31">
            <a:extLst>
              <a:ext uri="{FF2B5EF4-FFF2-40B4-BE49-F238E27FC236}">
                <a16:creationId xmlns:a16="http://schemas.microsoft.com/office/drawing/2014/main" id="{68F276A4-8F1B-4286-9313-D123E00B9003}"/>
              </a:ext>
            </a:extLst>
          </p:cNvPr>
          <p:cNvGrpSpPr/>
          <p:nvPr/>
        </p:nvGrpSpPr>
        <p:grpSpPr>
          <a:xfrm>
            <a:off x="5820628" y="4993694"/>
            <a:ext cx="820056" cy="548659"/>
            <a:chOff x="5820628" y="4993694"/>
            <a:chExt cx="820056" cy="548659"/>
          </a:xfrm>
        </p:grpSpPr>
        <p:sp>
          <p:nvSpPr>
            <p:cNvPr id="27" name="TextBox 26">
              <a:extLst>
                <a:ext uri="{FF2B5EF4-FFF2-40B4-BE49-F238E27FC236}">
                  <a16:creationId xmlns:a16="http://schemas.microsoft.com/office/drawing/2014/main" id="{91C1092D-10E4-4CA0-A455-7D80B54EF069}"/>
                </a:ext>
              </a:extLst>
            </p:cNvPr>
            <p:cNvSpPr txBox="1"/>
            <p:nvPr/>
          </p:nvSpPr>
          <p:spPr>
            <a:xfrm>
              <a:off x="6096398" y="4993694"/>
              <a:ext cx="544286" cy="253916"/>
            </a:xfrm>
            <a:prstGeom prst="rect">
              <a:avLst/>
            </a:prstGeom>
            <a:noFill/>
            <a:ln w="3175">
              <a:noFill/>
            </a:ln>
          </p:spPr>
          <p:txBody>
            <a:bodyPr wrap="square" rtlCol="0">
              <a:spAutoFit/>
            </a:bodyPr>
            <a:lstStyle/>
            <a:p>
              <a:pPr algn="ctr"/>
              <a:r>
                <a:rPr lang="en-US" sz="1050" b="0" u="none" dirty="0">
                  <a:solidFill>
                    <a:srgbClr val="00B0F0"/>
                  </a:solidFill>
                  <a:cs typeface="Arial" pitchFamily="34" charset="0"/>
                </a:rPr>
                <a:t>2.5%</a:t>
              </a:r>
            </a:p>
          </p:txBody>
        </p:sp>
        <p:cxnSp>
          <p:nvCxnSpPr>
            <p:cNvPr id="28" name="Straight Arrow Connector 27">
              <a:extLst>
                <a:ext uri="{FF2B5EF4-FFF2-40B4-BE49-F238E27FC236}">
                  <a16:creationId xmlns:a16="http://schemas.microsoft.com/office/drawing/2014/main" id="{668F0B66-C4B7-48DA-B855-B02316F57B93}"/>
                </a:ext>
              </a:extLst>
            </p:cNvPr>
            <p:cNvCxnSpPr>
              <a:cxnSpLocks/>
            </p:cNvCxnSpPr>
            <p:nvPr/>
          </p:nvCxnSpPr>
          <p:spPr bwMode="auto">
            <a:xfrm flipH="1">
              <a:off x="5820628" y="5174294"/>
              <a:ext cx="362856" cy="162021"/>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B5D8AC03-9227-4E55-8DD5-E2E0ACBAAA74}"/>
                </a:ext>
              </a:extLst>
            </p:cNvPr>
            <p:cNvCxnSpPr>
              <a:cxnSpLocks/>
            </p:cNvCxnSpPr>
            <p:nvPr/>
          </p:nvCxnSpPr>
          <p:spPr bwMode="auto">
            <a:xfrm flipH="1">
              <a:off x="6005686" y="5174294"/>
              <a:ext cx="177798" cy="368059"/>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grpSp>
      <p:sp>
        <p:nvSpPr>
          <p:cNvPr id="41" name="TextBox 40">
            <a:extLst>
              <a:ext uri="{FF2B5EF4-FFF2-40B4-BE49-F238E27FC236}">
                <a16:creationId xmlns:a16="http://schemas.microsoft.com/office/drawing/2014/main" id="{491CC255-CEE2-4C66-8F5F-5D509086851A}"/>
              </a:ext>
            </a:extLst>
          </p:cNvPr>
          <p:cNvSpPr txBox="1"/>
          <p:nvPr/>
        </p:nvSpPr>
        <p:spPr>
          <a:xfrm>
            <a:off x="2589130" y="5186577"/>
            <a:ext cx="544286" cy="253916"/>
          </a:xfrm>
          <a:prstGeom prst="rect">
            <a:avLst/>
          </a:prstGeom>
          <a:noFill/>
          <a:ln w="3175">
            <a:noFill/>
          </a:ln>
        </p:spPr>
        <p:txBody>
          <a:bodyPr wrap="square" rtlCol="0">
            <a:spAutoFit/>
          </a:bodyPr>
          <a:lstStyle/>
          <a:p>
            <a:pPr algn="ctr"/>
            <a:r>
              <a:rPr lang="en-US" sz="1050" b="0" u="none" dirty="0">
                <a:solidFill>
                  <a:srgbClr val="00B0F0"/>
                </a:solidFill>
                <a:cs typeface="Arial" pitchFamily="34" charset="0"/>
              </a:rPr>
              <a:t>5%</a:t>
            </a:r>
          </a:p>
        </p:txBody>
      </p:sp>
      <p:cxnSp>
        <p:nvCxnSpPr>
          <p:cNvPr id="42" name="Straight Arrow Connector 41">
            <a:extLst>
              <a:ext uri="{FF2B5EF4-FFF2-40B4-BE49-F238E27FC236}">
                <a16:creationId xmlns:a16="http://schemas.microsoft.com/office/drawing/2014/main" id="{18269DDF-B8F6-402E-BDB1-BDCDFF90AF7C}"/>
              </a:ext>
            </a:extLst>
          </p:cNvPr>
          <p:cNvCxnSpPr>
            <a:cxnSpLocks/>
          </p:cNvCxnSpPr>
          <p:nvPr/>
        </p:nvCxnSpPr>
        <p:spPr bwMode="auto">
          <a:xfrm>
            <a:off x="3017477" y="5358323"/>
            <a:ext cx="101877" cy="241322"/>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F4518C8A-31AB-465E-9710-6D17966C34B9}"/>
              </a:ext>
            </a:extLst>
          </p:cNvPr>
          <p:cNvCxnSpPr>
            <a:cxnSpLocks/>
          </p:cNvCxnSpPr>
          <p:nvPr/>
        </p:nvCxnSpPr>
        <p:spPr bwMode="auto">
          <a:xfrm flipV="1">
            <a:off x="3026229" y="4905375"/>
            <a:ext cx="602796" cy="452948"/>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F6901251-4EA6-4263-8972-A38CBFBBF849}"/>
              </a:ext>
            </a:extLst>
          </p:cNvPr>
          <p:cNvCxnSpPr>
            <a:cxnSpLocks/>
          </p:cNvCxnSpPr>
          <p:nvPr/>
        </p:nvCxnSpPr>
        <p:spPr bwMode="auto">
          <a:xfrm>
            <a:off x="3017477" y="5358323"/>
            <a:ext cx="325943" cy="32375"/>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spTree>
    <p:extLst>
      <p:ext uri="{BB962C8B-B14F-4D97-AF65-F5344CB8AC3E}">
        <p14:creationId xmlns:p14="http://schemas.microsoft.com/office/powerpoint/2010/main" val="572065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004F-57A3-1B90-AAAF-F60BAB0438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5450A58-231E-4B60-CAD1-8C9E91CB657A}"/>
                  </a:ext>
                </a:extLst>
              </p:cNvPr>
              <p:cNvSpPr>
                <a:spLocks noGrp="1"/>
              </p:cNvSpPr>
              <p:nvPr>
                <p:ph type="title"/>
              </p:nvPr>
            </p:nvSpPr>
            <p:spPr/>
            <p:txBody>
              <a:bodyPr/>
              <a:lstStyle/>
              <a:p>
                <a:r>
                  <a:rPr lang="en-US" dirty="0"/>
                  <a:t>Constructing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solidFill>
                              <a:srgbClr val="00B0F0"/>
                            </a:solidFill>
                            <a:latin typeface="Cambria Math" panose="02040503050406030204" pitchFamily="18" charset="0"/>
                          </a:rPr>
                          <m:t>90</m:t>
                        </m:r>
                      </m:sup>
                    </m:sSup>
                  </m:oMath>
                </a14:m>
                <a:r>
                  <a:rPr lang="en-US" dirty="0"/>
                  <a:t> Around Draw From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(0,1)</m:t>
                    </m:r>
                  </m:oMath>
                </a14:m>
                <a:endParaRPr lang="en-US" dirty="0"/>
              </a:p>
            </p:txBody>
          </p:sp>
        </mc:Choice>
        <mc:Fallback xmlns="">
          <p:sp>
            <p:nvSpPr>
              <p:cNvPr id="2" name="Title 1">
                <a:extLst>
                  <a:ext uri="{FF2B5EF4-FFF2-40B4-BE49-F238E27FC236}">
                    <a16:creationId xmlns:a16="http://schemas.microsoft.com/office/drawing/2014/main" id="{45450A58-231E-4B60-CAD1-8C9E91CB657A}"/>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6465E78-E927-DF22-7855-6FF70B1A3560}"/>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62</a:t>
            </a:fld>
            <a:endParaRPr lang="en-GB"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BC702B8-9423-8227-B368-B455C8DEEECB}"/>
                  </a:ext>
                </a:extLst>
              </p:cNvPr>
              <p:cNvSpPr txBox="1"/>
              <p:nvPr/>
            </p:nvSpPr>
            <p:spPr>
              <a:xfrm>
                <a:off x="5073239" y="1073104"/>
                <a:ext cx="4017963" cy="5274264"/>
              </a:xfrm>
              <a:prstGeom prst="rect">
                <a:avLst/>
              </a:prstGeom>
              <a:solidFill>
                <a:schemeClr val="bg1"/>
              </a:solidFill>
              <a:ln>
                <a:noFill/>
              </a:ln>
            </p:spPr>
            <p:txBody>
              <a:bodyPr wrap="square" rtlCol="0">
                <a:spAutoFit/>
              </a:bodyPr>
              <a:lstStyle/>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Now take a draw from </a:t>
                </a:r>
                <a14:m>
                  <m:oMath xmlns:m="http://schemas.openxmlformats.org/officeDocument/2006/math">
                    <m:r>
                      <a:rPr lang="en-US" sz="1600" b="0" i="1" u="none">
                        <a:solidFill>
                          <a:schemeClr val="accent6"/>
                        </a:solidFill>
                        <a:latin typeface="Cambria Math" panose="02040503050406030204" pitchFamily="18" charset="0"/>
                        <a:cs typeface="Arial" panose="020B0604020202020204" pitchFamily="34" charset="0"/>
                      </a:rPr>
                      <m:t>𝑁</m:t>
                    </m:r>
                    <m:d>
                      <m:dPr>
                        <m:ctrlPr>
                          <a:rPr lang="en-US" sz="1600" b="0" i="1" u="none">
                            <a:solidFill>
                              <a:schemeClr val="accent6"/>
                            </a:solidFill>
                            <a:latin typeface="Cambria Math" panose="02040503050406030204" pitchFamily="18" charset="0"/>
                            <a:cs typeface="Arial" panose="020B0604020202020204" pitchFamily="34" charset="0"/>
                          </a:rPr>
                        </m:ctrlPr>
                      </m:dPr>
                      <m:e>
                        <m:r>
                          <a:rPr lang="en-US" sz="1600" b="0" i="1" u="none">
                            <a:solidFill>
                              <a:schemeClr val="accent6"/>
                            </a:solidFill>
                            <a:latin typeface="Cambria Math" panose="02040503050406030204" pitchFamily="18" charset="0"/>
                            <a:cs typeface="Arial" panose="020B0604020202020204" pitchFamily="34" charset="0"/>
                          </a:rPr>
                          <m:t>0,1</m:t>
                        </m:r>
                      </m:e>
                    </m:d>
                  </m:oMath>
                </a14:m>
                <a:r>
                  <a:rPr lang="en-US" sz="1600" b="0" u="none" dirty="0">
                    <a:solidFill>
                      <a:schemeClr val="accent6"/>
                    </a:solidFill>
                    <a:cs typeface="Arial" panose="020B0604020202020204" pitchFamily="34" charset="0"/>
                  </a:rPr>
                  <a:t> and construct its </a:t>
                </a:r>
                <a14:m>
                  <m:oMath xmlns:m="http://schemas.openxmlformats.org/officeDocument/2006/math">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smtClean="0">
                            <a:solidFill>
                              <a:srgbClr val="00B0F0"/>
                            </a:solidFill>
                            <a:latin typeface="Cambria Math" panose="02040503050406030204" pitchFamily="18" charset="0"/>
                          </a:rPr>
                          <m:t>90</m:t>
                        </m:r>
                      </m:sup>
                    </m:sSup>
                  </m:oMath>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sSub>
                        <m:sSubPr>
                          <m:ctrlPr>
                            <a:rPr lang="en-US" sz="1600" b="0" i="1" u="none" smtClean="0">
                              <a:solidFill>
                                <a:srgbClr val="00B0F0"/>
                              </a:solidFill>
                              <a:latin typeface="Cambria Math" panose="02040503050406030204" pitchFamily="18" charset="0"/>
                              <a:cs typeface="Arial" panose="020B0604020202020204" pitchFamily="34" charset="0"/>
                            </a:rPr>
                          </m:ctrlPr>
                        </m:sSubPr>
                        <m:e>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rgbClr val="00B0F0"/>
                                  </a:solidFill>
                                  <a:latin typeface="Cambria Math" panose="02040503050406030204" pitchFamily="18" charset="0"/>
                                </a:rPr>
                                <m:t>90</m:t>
                              </m:r>
                            </m:sup>
                          </m:sSup>
                          <m:r>
                            <a:rPr lang="en-US" sz="1600" b="0" i="1" u="none">
                              <a:solidFill>
                                <a:schemeClr val="accent6"/>
                              </a:solidFill>
                              <a:latin typeface="Cambria Math" panose="02040503050406030204" pitchFamily="18" charset="0"/>
                            </a:rPr>
                            <m:t>=</m:t>
                          </m:r>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smtClean="0">
                              <a:solidFill>
                                <a:srgbClr val="00B0F0"/>
                              </a:solidFill>
                              <a:latin typeface="Cambria Math" panose="02040503050406030204" pitchFamily="18" charset="0"/>
                              <a:cs typeface="Arial" panose="020B0604020202020204" pitchFamily="34" charset="0"/>
                            </a:rPr>
                            <m:t>1</m:t>
                          </m:r>
                        </m:sub>
                      </m:sSub>
                      <m:r>
                        <a:rPr lang="en-US" sz="1600" b="0" i="1" u="none"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±1.65∗</m:t>
                      </m:r>
                      <m:r>
                        <a:rPr lang="en-US" sz="1600" b="0" i="1" u="none"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𝜎</m:t>
                      </m:r>
                    </m:oMath>
                  </m:oMathPara>
                </a14:m>
                <a:endParaRPr lang="en-US" sz="1600" b="0" u="none" dirty="0">
                  <a:solidFill>
                    <a:schemeClr val="accent6"/>
                  </a:solidFill>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rgbClr val="00B0F0"/>
                              </a:solidFill>
                              <a:latin typeface="Cambria Math" panose="02040503050406030204" pitchFamily="18" charset="0"/>
                            </a:rPr>
                            <m:t>90</m:t>
                          </m:r>
                        </m:sup>
                      </m:sSup>
                      <m:r>
                        <a:rPr lang="en-US" sz="1600" b="0" i="1" u="none">
                          <a:solidFill>
                            <a:schemeClr val="accent6"/>
                          </a:solidFill>
                          <a:latin typeface="Cambria Math" panose="02040503050406030204" pitchFamily="18" charset="0"/>
                        </a:rPr>
                        <m:t>= </m:t>
                      </m:r>
                      <m:sSub>
                        <m:sSubPr>
                          <m:ctrlPr>
                            <a:rPr lang="en-US" sz="1600" b="0" i="1" u="none" smtClean="0">
                              <a:solidFill>
                                <a:srgbClr val="00B0F0"/>
                              </a:solidFill>
                              <a:latin typeface="Cambria Math" panose="02040503050406030204" pitchFamily="18" charset="0"/>
                              <a:cs typeface="Arial" panose="020B0604020202020204" pitchFamily="34" charset="0"/>
                            </a:rPr>
                          </m:ctrlPr>
                        </m:sSubPr>
                        <m:e>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a:solidFill>
                                <a:srgbClr val="00B0F0"/>
                              </a:solidFill>
                              <a:latin typeface="Cambria Math" panose="02040503050406030204" pitchFamily="18" charset="0"/>
                              <a:cs typeface="Arial" panose="020B0604020202020204" pitchFamily="34" charset="0"/>
                            </a:rPr>
                            <m:t>1</m:t>
                          </m:r>
                        </m:sub>
                      </m:sSub>
                      <m:r>
                        <a:rPr lang="en-US" sz="1600" b="0" i="1" u="none"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±1.65∗</m:t>
                      </m:r>
                      <m:r>
                        <a:rPr lang="en-US" sz="1600" b="0" i="1" u="none"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1</m:t>
                      </m:r>
                    </m:oMath>
                  </m:oMathPara>
                </a14:m>
                <a:endParaRPr lang="en-US" sz="1600" b="0" u="none" dirty="0">
                  <a:solidFill>
                    <a:schemeClr val="accent6"/>
                  </a:solidFill>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sSub>
                        <m:sSubPr>
                          <m:ctrlPr>
                            <a:rPr lang="en-US" sz="1600" b="0" i="1" u="none" smtClean="0">
                              <a:solidFill>
                                <a:srgbClr val="00B0F0"/>
                              </a:solidFill>
                              <a:latin typeface="Cambria Math" panose="02040503050406030204" pitchFamily="18" charset="0"/>
                              <a:cs typeface="Arial" panose="020B0604020202020204" pitchFamily="34" charset="0"/>
                            </a:rPr>
                          </m:ctrlPr>
                        </m:sSubPr>
                        <m:e>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rgbClr val="00B0F0"/>
                                  </a:solidFill>
                                  <a:latin typeface="Cambria Math" panose="02040503050406030204" pitchFamily="18" charset="0"/>
                                </a:rPr>
                                <m:t>90</m:t>
                              </m:r>
                            </m:sup>
                          </m:sSup>
                          <m:r>
                            <a:rPr lang="en-US" sz="1600" b="0" i="1" u="none">
                              <a:solidFill>
                                <a:schemeClr val="accent6"/>
                              </a:solidFill>
                              <a:latin typeface="Cambria Math" panose="02040503050406030204" pitchFamily="18" charset="0"/>
                            </a:rPr>
                            <m:t>=</m:t>
                          </m:r>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a:solidFill>
                                <a:srgbClr val="00B0F0"/>
                              </a:solidFill>
                              <a:latin typeface="Cambria Math" panose="02040503050406030204" pitchFamily="18" charset="0"/>
                              <a:cs typeface="Arial" panose="020B0604020202020204" pitchFamily="34" charset="0"/>
                            </a:rPr>
                            <m:t>1</m:t>
                          </m:r>
                        </m:sub>
                      </m:sSub>
                      <m:r>
                        <a:rPr lang="en-US" sz="1600" b="0" i="1" u="none"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±1.65</m:t>
                      </m:r>
                    </m:oMath>
                  </m:oMathPara>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Now let’s do that for 9 more draws, </a:t>
                </a:r>
                <a14:m>
                  <m:oMath xmlns:m="http://schemas.openxmlformats.org/officeDocument/2006/math">
                    <m:sSub>
                      <m:sSubPr>
                        <m:ctrlPr>
                          <a:rPr lang="en-US" sz="1600" b="0" i="1" u="none" smtClean="0">
                            <a:solidFill>
                              <a:srgbClr val="00B0F0"/>
                            </a:solidFill>
                            <a:latin typeface="Cambria Math" panose="02040503050406030204" pitchFamily="18" charset="0"/>
                            <a:cs typeface="Arial" panose="020B0604020202020204" pitchFamily="34" charset="0"/>
                          </a:rPr>
                        </m:ctrlPr>
                      </m:sSubPr>
                      <m:e>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a:solidFill>
                              <a:srgbClr val="00B0F0"/>
                            </a:solidFill>
                            <a:latin typeface="Cambria Math" panose="02040503050406030204" pitchFamily="18" charset="0"/>
                            <a:cs typeface="Arial" panose="020B0604020202020204" pitchFamily="34" charset="0"/>
                          </a:rPr>
                          <m:t>2</m:t>
                        </m:r>
                      </m:sub>
                    </m:sSub>
                  </m:oMath>
                </a14:m>
                <a:r>
                  <a:rPr lang="en-US" sz="1600" b="0" u="none" dirty="0">
                    <a:solidFill>
                      <a:schemeClr val="accent6"/>
                    </a:solidFill>
                    <a:cs typeface="Arial" panose="020B0604020202020204" pitchFamily="34" charset="0"/>
                  </a:rPr>
                  <a:t>-</a:t>
                </a:r>
                <a14:m>
                  <m:oMath xmlns:m="http://schemas.openxmlformats.org/officeDocument/2006/math">
                    <m:sSub>
                      <m:sSubPr>
                        <m:ctrlPr>
                          <a:rPr lang="en-US" sz="1600" b="0" i="1" u="none" smtClean="0">
                            <a:solidFill>
                              <a:srgbClr val="00B0F0"/>
                            </a:solidFill>
                            <a:latin typeface="Cambria Math" panose="02040503050406030204" pitchFamily="18" charset="0"/>
                            <a:cs typeface="Arial" panose="020B0604020202020204" pitchFamily="34" charset="0"/>
                          </a:rPr>
                        </m:ctrlPr>
                      </m:sSubPr>
                      <m:e>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smtClean="0">
                            <a:solidFill>
                              <a:srgbClr val="00B0F0"/>
                            </a:solidFill>
                            <a:latin typeface="Cambria Math" panose="02040503050406030204" pitchFamily="18" charset="0"/>
                            <a:cs typeface="Arial" panose="020B0604020202020204" pitchFamily="34" charset="0"/>
                          </a:rPr>
                          <m:t>10</m:t>
                        </m:r>
                      </m:sub>
                    </m:sSub>
                  </m:oMath>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Compare the </a:t>
                </a:r>
                <a14:m>
                  <m:oMath xmlns:m="http://schemas.openxmlformats.org/officeDocument/2006/math">
                    <m:r>
                      <a:rPr lang="en-US" sz="1600" b="0" i="1" u="none" smtClean="0">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chemeClr val="accent6"/>
                            </a:solidFill>
                            <a:latin typeface="Cambria Math" panose="02040503050406030204" pitchFamily="18" charset="0"/>
                          </a:rPr>
                          <m:t>9</m:t>
                        </m:r>
                        <m:r>
                          <a:rPr lang="en-US" sz="1600" b="0" i="1" u="none" smtClean="0">
                            <a:solidFill>
                              <a:schemeClr val="accent6"/>
                            </a:solidFill>
                            <a:latin typeface="Cambria Math" panose="02040503050406030204" pitchFamily="18" charset="0"/>
                          </a:rPr>
                          <m:t>0</m:t>
                        </m:r>
                      </m:sup>
                    </m:sSup>
                  </m:oMath>
                </a14:m>
                <a:r>
                  <a:rPr lang="en-US" sz="1600" b="0" u="none" dirty="0">
                    <a:solidFill>
                      <a:schemeClr val="accent6"/>
                    </a:solidFill>
                    <a:cs typeface="Arial" panose="020B0604020202020204" pitchFamily="34" charset="0"/>
                  </a:rPr>
                  <a:t> for draws </a:t>
                </a:r>
                <a14:m>
                  <m:oMath xmlns:m="http://schemas.openxmlformats.org/officeDocument/2006/math">
                    <m:sSub>
                      <m:sSubPr>
                        <m:ctrlPr>
                          <a:rPr lang="en-US" sz="1600" b="0" i="1" u="none">
                            <a:solidFill>
                              <a:srgbClr val="00B0F0"/>
                            </a:solidFill>
                            <a:latin typeface="Cambria Math" panose="02040503050406030204" pitchFamily="18" charset="0"/>
                            <a:cs typeface="Arial" panose="020B0604020202020204" pitchFamily="34" charset="0"/>
                          </a:rPr>
                        </m:ctrlPr>
                      </m:sSubPr>
                      <m:e>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a:solidFill>
                              <a:srgbClr val="00B0F0"/>
                            </a:solidFill>
                            <a:latin typeface="Cambria Math" panose="02040503050406030204" pitchFamily="18" charset="0"/>
                            <a:cs typeface="Arial" panose="020B0604020202020204" pitchFamily="34" charset="0"/>
                          </a:rPr>
                          <m:t>1</m:t>
                        </m:r>
                      </m:sub>
                    </m:sSub>
                  </m:oMath>
                </a14:m>
                <a:r>
                  <a:rPr lang="en-US" sz="1600" b="0" u="none" dirty="0">
                    <a:solidFill>
                      <a:schemeClr val="accent6"/>
                    </a:solidFill>
                    <a:cs typeface="Arial" panose="020B0604020202020204" pitchFamily="34" charset="0"/>
                  </a:rPr>
                  <a:t>-</a:t>
                </a:r>
                <a14:m>
                  <m:oMath xmlns:m="http://schemas.openxmlformats.org/officeDocument/2006/math">
                    <m:sSub>
                      <m:sSubPr>
                        <m:ctrlPr>
                          <a:rPr lang="en-US" sz="1600" b="0" i="1" u="none">
                            <a:solidFill>
                              <a:srgbClr val="00B0F0"/>
                            </a:solidFill>
                            <a:latin typeface="Cambria Math" panose="02040503050406030204" pitchFamily="18" charset="0"/>
                            <a:cs typeface="Arial" panose="020B0604020202020204" pitchFamily="34" charset="0"/>
                          </a:rPr>
                        </m:ctrlPr>
                      </m:sSubPr>
                      <m:e>
                        <m:r>
                          <a:rPr lang="en-US" sz="1600" b="0" i="1" u="none">
                            <a:solidFill>
                              <a:srgbClr val="00B0F0"/>
                            </a:solidFill>
                            <a:latin typeface="Cambria Math" panose="02040503050406030204" pitchFamily="18" charset="0"/>
                            <a:cs typeface="Arial" panose="020B0604020202020204" pitchFamily="34" charset="0"/>
                          </a:rPr>
                          <m:t>𝑧</m:t>
                        </m:r>
                      </m:e>
                      <m:sub>
                        <m:r>
                          <a:rPr lang="en-US" sz="1600" b="0" i="1" u="none" smtClean="0">
                            <a:solidFill>
                              <a:srgbClr val="00B0F0"/>
                            </a:solidFill>
                            <a:latin typeface="Cambria Math" panose="02040503050406030204" pitchFamily="18" charset="0"/>
                            <a:cs typeface="Arial" panose="020B0604020202020204" pitchFamily="34" charset="0"/>
                          </a:rPr>
                          <m:t>10</m:t>
                        </m:r>
                      </m:sub>
                    </m:sSub>
                    <m:r>
                      <a:rPr lang="en-US" sz="1600" b="0" i="1" u="none">
                        <a:solidFill>
                          <a:srgbClr val="00B0F0"/>
                        </a:solidFill>
                        <a:latin typeface="Cambria Math" panose="02040503050406030204" pitchFamily="18" charset="0"/>
                        <a:cs typeface="Arial" panose="020B0604020202020204" pitchFamily="34" charset="0"/>
                      </a:rPr>
                      <m:t> </m:t>
                    </m:r>
                  </m:oMath>
                </a14:m>
                <a:r>
                  <a:rPr lang="en-US" sz="1600" b="0" u="none" dirty="0">
                    <a:solidFill>
                      <a:schemeClr val="accent6"/>
                    </a:solidFill>
                    <a:cs typeface="Arial" panose="020B0604020202020204" pitchFamily="34" charset="0"/>
                  </a:rPr>
                  <a:t>to the true mean </a:t>
                </a:r>
                <a14:m>
                  <m:oMath xmlns:m="http://schemas.openxmlformats.org/officeDocument/2006/math">
                    <m:r>
                      <a:rPr lang="en-US" sz="1600" b="0" i="1" u="none" smtClean="0">
                        <a:solidFill>
                          <a:srgbClr val="FF0000"/>
                        </a:solidFill>
                        <a:latin typeface="Cambria Math" panose="02040503050406030204" pitchFamily="18" charset="0"/>
                        <a:cs typeface="Arial" panose="020B0604020202020204" pitchFamily="34" charset="0"/>
                      </a:rPr>
                      <m:t>𝜇</m:t>
                    </m:r>
                  </m:oMath>
                </a14:m>
                <a:r>
                  <a:rPr lang="en-US" sz="1600" b="0" u="none" dirty="0">
                    <a:solidFill>
                      <a:schemeClr val="accent6"/>
                    </a:solidFill>
                    <a:cs typeface="Arial" panose="020B0604020202020204" pitchFamily="34" charset="0"/>
                  </a:rPr>
                  <a:t> of the population, which is </a:t>
                </a:r>
                <a:r>
                  <a:rPr lang="en-US" sz="1600" b="0" u="none" dirty="0">
                    <a:solidFill>
                      <a:srgbClr val="FF0000"/>
                    </a:solidFill>
                    <a:cs typeface="Arial" panose="020B0604020202020204" pitchFamily="34" charset="0"/>
                  </a:rPr>
                  <a:t>0</a:t>
                </a:r>
              </a:p>
              <a:p>
                <a:endParaRPr lang="en-US" sz="1600" b="0" u="none" dirty="0">
                  <a:solidFill>
                    <a:schemeClr val="accent6"/>
                  </a:solidFill>
                  <a:cs typeface="Arial" panose="020B0604020202020204" pitchFamily="34" charset="0"/>
                </a:endParaRPr>
              </a:p>
              <a:p>
                <a:r>
                  <a:rPr lang="en-US" sz="1600" b="0" dirty="0">
                    <a:solidFill>
                      <a:schemeClr val="accent6"/>
                    </a:solidFill>
                    <a:cs typeface="Arial" panose="020B0604020202020204" pitchFamily="34" charset="0"/>
                  </a:rPr>
                  <a:t>Key intuition</a:t>
                </a:r>
                <a:r>
                  <a:rPr lang="en-US" sz="1600" b="0" u="none" dirty="0">
                    <a:solidFill>
                      <a:schemeClr val="accent6"/>
                    </a:solidFill>
                    <a:cs typeface="Arial" panose="020B0604020202020204" pitchFamily="34" charset="0"/>
                  </a:rPr>
                  <a:t>: for 9 out of 10 draws, the </a:t>
                </a:r>
                <a14:m>
                  <m:oMath xmlns:m="http://schemas.openxmlformats.org/officeDocument/2006/math">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rgbClr val="00B0F0"/>
                            </a:solidFill>
                            <a:latin typeface="Cambria Math" panose="02040503050406030204" pitchFamily="18" charset="0"/>
                          </a:rPr>
                          <m:t>90</m:t>
                        </m:r>
                      </m:sup>
                    </m:sSup>
                  </m:oMath>
                </a14:m>
                <a:r>
                  <a:rPr lang="en-US" sz="1600" b="0" u="none" dirty="0">
                    <a:solidFill>
                      <a:schemeClr val="accent6"/>
                    </a:solidFill>
                    <a:cs typeface="Arial" panose="020B0604020202020204" pitchFamily="34" charset="0"/>
                  </a:rPr>
                  <a:t> will include the true mean, </a:t>
                </a:r>
                <a:r>
                  <a:rPr lang="en-US" sz="1600" b="0" u="none" dirty="0">
                    <a:solidFill>
                      <a:srgbClr val="FF0000"/>
                    </a:solidFill>
                    <a:cs typeface="Arial" panose="020B0604020202020204" pitchFamily="34" charset="0"/>
                  </a:rPr>
                  <a:t>0</a:t>
                </a:r>
                <a:r>
                  <a:rPr lang="en-US" sz="1600" b="0" u="none" dirty="0">
                    <a:solidFill>
                      <a:schemeClr val="accent6"/>
                    </a:solidFill>
                    <a:cs typeface="Arial" panose="020B0604020202020204" pitchFamily="34" charset="0"/>
                  </a:rPr>
                  <a:t>. For 1 out of 10 draws, the ones in the tails, the </a:t>
                </a:r>
                <a14:m>
                  <m:oMath xmlns:m="http://schemas.openxmlformats.org/officeDocument/2006/math">
                    <m:r>
                      <a:rPr lang="en-US" sz="1600" b="0" i="1" u="none">
                        <a:solidFill>
                          <a:schemeClr val="accent6"/>
                        </a:solidFill>
                        <a:latin typeface="Cambria Math" panose="02040503050406030204" pitchFamily="18" charset="0"/>
                      </a:rPr>
                      <m:t>𝐶</m:t>
                    </m:r>
                    <m:sSup>
                      <m:sSupPr>
                        <m:ctrlPr>
                          <a:rPr lang="en-US" sz="1600" b="0" i="1" u="none">
                            <a:solidFill>
                              <a:schemeClr val="accent6"/>
                            </a:solidFill>
                            <a:latin typeface="Cambria Math" panose="02040503050406030204" pitchFamily="18" charset="0"/>
                          </a:rPr>
                        </m:ctrlPr>
                      </m:sSupPr>
                      <m:e>
                        <m:r>
                          <a:rPr lang="en-US" sz="1600" b="0" i="1" u="none">
                            <a:solidFill>
                              <a:schemeClr val="accent6"/>
                            </a:solidFill>
                            <a:latin typeface="Cambria Math" panose="02040503050406030204" pitchFamily="18" charset="0"/>
                          </a:rPr>
                          <m:t>𝐼</m:t>
                        </m:r>
                      </m:e>
                      <m:sup>
                        <m:r>
                          <a:rPr lang="en-US" sz="1600" b="0" i="1" u="none">
                            <a:solidFill>
                              <a:srgbClr val="00B0F0"/>
                            </a:solidFill>
                            <a:latin typeface="Cambria Math" panose="02040503050406030204" pitchFamily="18" charset="0"/>
                          </a:rPr>
                          <m:t>90</m:t>
                        </m:r>
                      </m:sup>
                    </m:sSup>
                  </m:oMath>
                </a14:m>
                <a:r>
                  <a:rPr lang="en-US" sz="1600" b="0" u="none" dirty="0">
                    <a:solidFill>
                      <a:schemeClr val="accent6"/>
                    </a:solidFill>
                    <a:cs typeface="Arial" panose="020B0604020202020204" pitchFamily="34" charset="0"/>
                  </a:rPr>
                  <a:t> will NOT contain </a:t>
                </a:r>
                <a14:m>
                  <m:oMath xmlns:m="http://schemas.openxmlformats.org/officeDocument/2006/math">
                    <m:r>
                      <a:rPr lang="en-US" sz="1600" b="0" i="1" u="none"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𝜇</m:t>
                    </m:r>
                  </m:oMath>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This is SUPER HELPFUL! </a:t>
                </a: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Let’s see why…</a:t>
                </a:r>
              </a:p>
            </p:txBody>
          </p:sp>
        </mc:Choice>
        <mc:Fallback xmlns="">
          <p:sp>
            <p:nvSpPr>
              <p:cNvPr id="20" name="TextBox 19">
                <a:extLst>
                  <a:ext uri="{FF2B5EF4-FFF2-40B4-BE49-F238E27FC236}">
                    <a16:creationId xmlns:a16="http://schemas.microsoft.com/office/drawing/2014/main" id="{0BC702B8-9423-8227-B368-B455C8DEEECB}"/>
                  </a:ext>
                </a:extLst>
              </p:cNvPr>
              <p:cNvSpPr txBox="1">
                <a:spLocks noRot="1" noChangeAspect="1" noMove="1" noResize="1" noEditPoints="1" noAdjustHandles="1" noChangeArrowheads="1" noChangeShapeType="1" noTextEdit="1"/>
              </p:cNvSpPr>
              <p:nvPr/>
            </p:nvSpPr>
            <p:spPr>
              <a:xfrm>
                <a:off x="5073239" y="1073104"/>
                <a:ext cx="4017963" cy="5274264"/>
              </a:xfrm>
              <a:prstGeom prst="rect">
                <a:avLst/>
              </a:prstGeom>
              <a:blipFill>
                <a:blip r:embed="rId3"/>
                <a:stretch>
                  <a:fillRect l="-759" b="-347"/>
                </a:stretch>
              </a:blipFill>
              <a:ln>
                <a:noFill/>
              </a:ln>
            </p:spPr>
            <p:txBody>
              <a:bodyPr/>
              <a:lstStyle/>
              <a:p>
                <a:r>
                  <a:rPr lang="en-US">
                    <a:noFill/>
                  </a:rPr>
                  <a:t> </a:t>
                </a:r>
              </a:p>
            </p:txBody>
          </p:sp>
        </mc:Fallback>
      </mc:AlternateContent>
      <p:sp>
        <p:nvSpPr>
          <p:cNvPr id="7" name="Oval 6">
            <a:extLst>
              <a:ext uri="{FF2B5EF4-FFF2-40B4-BE49-F238E27FC236}">
                <a16:creationId xmlns:a16="http://schemas.microsoft.com/office/drawing/2014/main" id="{A486E802-CB4F-63BC-DE38-62D0494DB288}"/>
              </a:ext>
            </a:extLst>
          </p:cNvPr>
          <p:cNvSpPr/>
          <p:nvPr/>
        </p:nvSpPr>
        <p:spPr bwMode="auto">
          <a:xfrm>
            <a:off x="7571946" y="1372091"/>
            <a:ext cx="148281" cy="248604"/>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pic>
        <p:nvPicPr>
          <p:cNvPr id="75" name="Picture 74">
            <a:extLst>
              <a:ext uri="{FF2B5EF4-FFF2-40B4-BE49-F238E27FC236}">
                <a16:creationId xmlns:a16="http://schemas.microsoft.com/office/drawing/2014/main" id="{B3B6F72F-523E-5285-9ACF-CC23009F8205}"/>
              </a:ext>
            </a:extLst>
          </p:cNvPr>
          <p:cNvPicPr>
            <a:picLocks noChangeAspect="1"/>
          </p:cNvPicPr>
          <p:nvPr/>
        </p:nvPicPr>
        <p:blipFill>
          <a:blip r:embed="rId4"/>
          <a:stretch>
            <a:fillRect/>
          </a:stretch>
        </p:blipFill>
        <p:spPr>
          <a:xfrm>
            <a:off x="58737" y="1948705"/>
            <a:ext cx="4810887" cy="3427857"/>
          </a:xfrm>
          <a:prstGeom prst="rect">
            <a:avLst/>
          </a:prstGeom>
        </p:spPr>
      </p:pic>
      <p:cxnSp>
        <p:nvCxnSpPr>
          <p:cNvPr id="77" name="Straight Connector 76">
            <a:extLst>
              <a:ext uri="{FF2B5EF4-FFF2-40B4-BE49-F238E27FC236}">
                <a16:creationId xmlns:a16="http://schemas.microsoft.com/office/drawing/2014/main" id="{6B115079-97D6-F7AA-E6FC-338FC110C272}"/>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78" name="TextBox 77">
            <a:extLst>
              <a:ext uri="{FF2B5EF4-FFF2-40B4-BE49-F238E27FC236}">
                <a16:creationId xmlns:a16="http://schemas.microsoft.com/office/drawing/2014/main" id="{F583517A-FBBC-CE90-A396-FCD872811079}"/>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1</a:t>
            </a:r>
            <a:endParaRPr lang="en-US" sz="1400" b="0" u="none" dirty="0">
              <a:solidFill>
                <a:srgbClr val="00B0F0"/>
              </a:solidFill>
              <a:cs typeface="Arial" pitchFamily="34" charset="0"/>
            </a:endParaRPr>
          </a:p>
        </p:txBody>
      </p:sp>
      <p:sp>
        <p:nvSpPr>
          <p:cNvPr id="79" name="Oval 78">
            <a:extLst>
              <a:ext uri="{FF2B5EF4-FFF2-40B4-BE49-F238E27FC236}">
                <a16:creationId xmlns:a16="http://schemas.microsoft.com/office/drawing/2014/main" id="{E074B250-46FA-74E8-03F9-BA824A0CB98B}"/>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nvGrpSpPr>
          <p:cNvPr id="80" name="Group 79">
            <a:extLst>
              <a:ext uri="{FF2B5EF4-FFF2-40B4-BE49-F238E27FC236}">
                <a16:creationId xmlns:a16="http://schemas.microsoft.com/office/drawing/2014/main" id="{D28A3E28-2B06-F881-98C0-2527989A22D9}"/>
              </a:ext>
            </a:extLst>
          </p:cNvPr>
          <p:cNvGrpSpPr/>
          <p:nvPr/>
        </p:nvGrpSpPr>
        <p:grpSpPr>
          <a:xfrm>
            <a:off x="1899847" y="2118843"/>
            <a:ext cx="1560576" cy="258386"/>
            <a:chOff x="2352928" y="3467789"/>
            <a:chExt cx="1560576" cy="258386"/>
          </a:xfrm>
        </p:grpSpPr>
        <p:cxnSp>
          <p:nvCxnSpPr>
            <p:cNvPr id="81" name="Straight Connector 80">
              <a:extLst>
                <a:ext uri="{FF2B5EF4-FFF2-40B4-BE49-F238E27FC236}">
                  <a16:creationId xmlns:a16="http://schemas.microsoft.com/office/drawing/2014/main" id="{AE82D264-257D-5768-984D-D6B36E684F1C}"/>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82" name="TextBox 81">
              <a:extLst>
                <a:ext uri="{FF2B5EF4-FFF2-40B4-BE49-F238E27FC236}">
                  <a16:creationId xmlns:a16="http://schemas.microsoft.com/office/drawing/2014/main" id="{2FF1189D-8520-A62F-92A4-8F891D733432}"/>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2</a:t>
              </a:r>
              <a:endParaRPr lang="en-US" sz="1400" b="0" u="none" dirty="0">
                <a:solidFill>
                  <a:srgbClr val="00B0F0"/>
                </a:solidFill>
                <a:cs typeface="Arial" pitchFamily="34" charset="0"/>
              </a:endParaRPr>
            </a:p>
          </p:txBody>
        </p:sp>
        <p:sp>
          <p:nvSpPr>
            <p:cNvPr id="83" name="Oval 82">
              <a:extLst>
                <a:ext uri="{FF2B5EF4-FFF2-40B4-BE49-F238E27FC236}">
                  <a16:creationId xmlns:a16="http://schemas.microsoft.com/office/drawing/2014/main" id="{9F98FE82-2D5A-3A6D-3929-E649F79F846B}"/>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a:solidFill>
                  <a:srgbClr val="00B0F0"/>
                </a:solidFill>
              </a:endParaRPr>
            </a:p>
          </p:txBody>
        </p:sp>
      </p:grpSp>
      <p:grpSp>
        <p:nvGrpSpPr>
          <p:cNvPr id="84" name="Group 83">
            <a:extLst>
              <a:ext uri="{FF2B5EF4-FFF2-40B4-BE49-F238E27FC236}">
                <a16:creationId xmlns:a16="http://schemas.microsoft.com/office/drawing/2014/main" id="{73A9B783-29BB-D99F-0EBD-51CC33137823}"/>
              </a:ext>
            </a:extLst>
          </p:cNvPr>
          <p:cNvGrpSpPr/>
          <p:nvPr/>
        </p:nvGrpSpPr>
        <p:grpSpPr>
          <a:xfrm>
            <a:off x="1267593" y="4130934"/>
            <a:ext cx="1560576" cy="258386"/>
            <a:chOff x="2352928" y="3467789"/>
            <a:chExt cx="1560576" cy="258386"/>
          </a:xfrm>
        </p:grpSpPr>
        <p:cxnSp>
          <p:nvCxnSpPr>
            <p:cNvPr id="85" name="Straight Connector 84">
              <a:extLst>
                <a:ext uri="{FF2B5EF4-FFF2-40B4-BE49-F238E27FC236}">
                  <a16:creationId xmlns:a16="http://schemas.microsoft.com/office/drawing/2014/main" id="{31CAEF9C-9B4A-C5F6-9FFE-2AB0BCDFB509}"/>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86" name="TextBox 85">
              <a:extLst>
                <a:ext uri="{FF2B5EF4-FFF2-40B4-BE49-F238E27FC236}">
                  <a16:creationId xmlns:a16="http://schemas.microsoft.com/office/drawing/2014/main" id="{C30DF789-7510-0305-7181-9754E14037F9}"/>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3</a:t>
              </a:r>
              <a:endParaRPr lang="en-US" sz="1400" b="0" u="none" dirty="0">
                <a:solidFill>
                  <a:srgbClr val="00B0F0"/>
                </a:solidFill>
                <a:cs typeface="Arial" pitchFamily="34" charset="0"/>
              </a:endParaRPr>
            </a:p>
          </p:txBody>
        </p:sp>
        <p:sp>
          <p:nvSpPr>
            <p:cNvPr id="87" name="Oval 86">
              <a:extLst>
                <a:ext uri="{FF2B5EF4-FFF2-40B4-BE49-F238E27FC236}">
                  <a16:creationId xmlns:a16="http://schemas.microsoft.com/office/drawing/2014/main" id="{D05B501E-A54C-62BC-E2C7-D8C65BA493DF}"/>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a:solidFill>
                  <a:srgbClr val="00B0F0"/>
                </a:solidFill>
              </a:endParaRPr>
            </a:p>
          </p:txBody>
        </p:sp>
      </p:grpSp>
      <p:cxnSp>
        <p:nvCxnSpPr>
          <p:cNvPr id="88" name="Straight Connector 87">
            <a:extLst>
              <a:ext uri="{FF2B5EF4-FFF2-40B4-BE49-F238E27FC236}">
                <a16:creationId xmlns:a16="http://schemas.microsoft.com/office/drawing/2014/main" id="{033EBD66-B16F-2EE8-C2C9-6D2B860E1269}"/>
              </a:ext>
            </a:extLst>
          </p:cNvPr>
          <p:cNvCxnSpPr/>
          <p:nvPr/>
        </p:nvCxnSpPr>
        <p:spPr bwMode="auto">
          <a:xfrm>
            <a:off x="2672641" y="1873518"/>
            <a:ext cx="0" cy="3138616"/>
          </a:xfrm>
          <a:prstGeom prst="line">
            <a:avLst/>
          </a:prstGeom>
          <a:solidFill>
            <a:schemeClr val="accent1"/>
          </a:solidFill>
          <a:ln w="9525" cap="flat" cmpd="sng" algn="ctr">
            <a:solidFill>
              <a:srgbClr val="FF0000"/>
            </a:solidFill>
            <a:prstDash val="dash"/>
            <a:round/>
            <a:headEnd type="none" w="med" len="med"/>
            <a:tailEnd type="none" w="med" len="med"/>
          </a:ln>
          <a:effectLst/>
        </p:spPr>
      </p:cxnSp>
      <p:grpSp>
        <p:nvGrpSpPr>
          <p:cNvPr id="89" name="Group 88">
            <a:extLst>
              <a:ext uri="{FF2B5EF4-FFF2-40B4-BE49-F238E27FC236}">
                <a16:creationId xmlns:a16="http://schemas.microsoft.com/office/drawing/2014/main" id="{C0067BB4-8B47-E66A-F968-D548E52F32EA}"/>
              </a:ext>
            </a:extLst>
          </p:cNvPr>
          <p:cNvGrpSpPr/>
          <p:nvPr/>
        </p:nvGrpSpPr>
        <p:grpSpPr>
          <a:xfrm>
            <a:off x="2654107" y="4454787"/>
            <a:ext cx="1560576" cy="258386"/>
            <a:chOff x="2352928" y="3467789"/>
            <a:chExt cx="1560576" cy="258386"/>
          </a:xfrm>
        </p:grpSpPr>
        <p:cxnSp>
          <p:nvCxnSpPr>
            <p:cNvPr id="90" name="Straight Connector 89">
              <a:extLst>
                <a:ext uri="{FF2B5EF4-FFF2-40B4-BE49-F238E27FC236}">
                  <a16:creationId xmlns:a16="http://schemas.microsoft.com/office/drawing/2014/main" id="{E851A539-D600-3A6F-31FB-0669CFB8DC11}"/>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91" name="TextBox 90">
              <a:extLst>
                <a:ext uri="{FF2B5EF4-FFF2-40B4-BE49-F238E27FC236}">
                  <a16:creationId xmlns:a16="http://schemas.microsoft.com/office/drawing/2014/main" id="{C7886622-2E5E-46FD-EDFC-BEA45889F738}"/>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4</a:t>
              </a:r>
              <a:endParaRPr lang="en-US" sz="1400" b="0" u="none" dirty="0">
                <a:solidFill>
                  <a:srgbClr val="00B0F0"/>
                </a:solidFill>
                <a:cs typeface="Arial" pitchFamily="34" charset="0"/>
              </a:endParaRPr>
            </a:p>
          </p:txBody>
        </p:sp>
        <p:sp>
          <p:nvSpPr>
            <p:cNvPr id="92" name="Oval 91">
              <a:extLst>
                <a:ext uri="{FF2B5EF4-FFF2-40B4-BE49-F238E27FC236}">
                  <a16:creationId xmlns:a16="http://schemas.microsoft.com/office/drawing/2014/main" id="{FE43A4EB-EB19-5A0E-B554-32841668A606}"/>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a:solidFill>
                  <a:srgbClr val="00B0F0"/>
                </a:solidFill>
              </a:endParaRPr>
            </a:p>
          </p:txBody>
        </p:sp>
      </p:grpSp>
      <p:grpSp>
        <p:nvGrpSpPr>
          <p:cNvPr id="93" name="Group 92">
            <a:extLst>
              <a:ext uri="{FF2B5EF4-FFF2-40B4-BE49-F238E27FC236}">
                <a16:creationId xmlns:a16="http://schemas.microsoft.com/office/drawing/2014/main" id="{F5172D22-D3AB-1F7E-9AFD-3A3F5ABC67A1}"/>
              </a:ext>
            </a:extLst>
          </p:cNvPr>
          <p:cNvGrpSpPr/>
          <p:nvPr/>
        </p:nvGrpSpPr>
        <p:grpSpPr>
          <a:xfrm>
            <a:off x="903604" y="4753748"/>
            <a:ext cx="1560576" cy="232706"/>
            <a:chOff x="2352928" y="3467789"/>
            <a:chExt cx="1560576" cy="232706"/>
          </a:xfrm>
        </p:grpSpPr>
        <p:cxnSp>
          <p:nvCxnSpPr>
            <p:cNvPr id="94" name="Straight Connector 93">
              <a:extLst>
                <a:ext uri="{FF2B5EF4-FFF2-40B4-BE49-F238E27FC236}">
                  <a16:creationId xmlns:a16="http://schemas.microsoft.com/office/drawing/2014/main" id="{03F583A5-C690-0413-4C04-003A730949C0}"/>
                </a:ext>
              </a:extLst>
            </p:cNvPr>
            <p:cNvCxnSpPr/>
            <p:nvPr/>
          </p:nvCxnSpPr>
          <p:spPr bwMode="auto">
            <a:xfrm>
              <a:off x="2352928" y="3504619"/>
              <a:ext cx="15605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5" name="TextBox 94">
              <a:extLst>
                <a:ext uri="{FF2B5EF4-FFF2-40B4-BE49-F238E27FC236}">
                  <a16:creationId xmlns:a16="http://schemas.microsoft.com/office/drawing/2014/main" id="{57BD7C98-CE7D-D90C-0F98-772D51EF1884}"/>
                </a:ext>
              </a:extLst>
            </p:cNvPr>
            <p:cNvSpPr txBox="1"/>
            <p:nvPr/>
          </p:nvSpPr>
          <p:spPr>
            <a:xfrm>
              <a:off x="3021810" y="3526439"/>
              <a:ext cx="234653" cy="174056"/>
            </a:xfrm>
            <a:prstGeom prst="rect">
              <a:avLst/>
            </a:prstGeom>
            <a:solidFill>
              <a:schemeClr val="bg1"/>
            </a:solidFill>
          </p:spPr>
          <p:txBody>
            <a:bodyPr wrap="square" lIns="0" tIns="0" rIns="0" bIns="54864" rtlCol="0" anchor="ctr" anchorCtr="0">
              <a:noAutofit/>
            </a:bodyPr>
            <a:lstStyle/>
            <a:p>
              <a:pPr algn="ctr"/>
              <a:r>
                <a:rPr lang="en-US" sz="1400" b="0" i="1" u="none" dirty="0">
                  <a:cs typeface="Arial" pitchFamily="34" charset="0"/>
                </a:rPr>
                <a:t>z</a:t>
              </a:r>
              <a:r>
                <a:rPr lang="en-US" sz="1400" b="0" i="1" u="none" baseline="-25000" dirty="0">
                  <a:cs typeface="Arial" pitchFamily="34" charset="0"/>
                </a:rPr>
                <a:t>10</a:t>
              </a:r>
              <a:endParaRPr lang="en-US" sz="1400" b="0" u="none" dirty="0">
                <a:cs typeface="Arial" pitchFamily="34" charset="0"/>
              </a:endParaRPr>
            </a:p>
          </p:txBody>
        </p:sp>
        <p:sp>
          <p:nvSpPr>
            <p:cNvPr id="96" name="Oval 95">
              <a:extLst>
                <a:ext uri="{FF2B5EF4-FFF2-40B4-BE49-F238E27FC236}">
                  <a16:creationId xmlns:a16="http://schemas.microsoft.com/office/drawing/2014/main" id="{996B0708-5B78-D71B-C8B0-91622CF5BA79}"/>
                </a:ext>
              </a:extLst>
            </p:cNvPr>
            <p:cNvSpPr/>
            <p:nvPr/>
          </p:nvSpPr>
          <p:spPr bwMode="auto">
            <a:xfrm>
              <a:off x="3090162" y="3467789"/>
              <a:ext cx="71120" cy="73660"/>
            </a:xfrm>
            <a:prstGeom prst="ellipse">
              <a:avLst/>
            </a:prstGeom>
            <a:solidFill>
              <a:srgbClr val="FFFF00"/>
            </a:solidFill>
            <a:ln w="9525" cap="flat" cmpd="sng" algn="ctr">
              <a:solidFill>
                <a:schemeClr val="tx1"/>
              </a:solidFill>
              <a:prstDash val="solid"/>
              <a:round/>
              <a:headEnd type="none" w="med" len="med"/>
              <a:tailEnd type="triangle" w="med" len="med"/>
            </a:ln>
            <a:effectLst/>
          </p:spPr>
          <p:txBody>
            <a:bodyPr rtlCol="0" anchor="ctr"/>
            <a:lstStyle/>
            <a:p>
              <a:pPr algn="ctr"/>
              <a:endParaRPr lang="en-US">
                <a:solidFill>
                  <a:srgbClr val="00B0F0"/>
                </a:solidFill>
              </a:endParaRPr>
            </a:p>
          </p:txBody>
        </p:sp>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C36A15C2-22A6-B301-F4FE-30B468A277C4}"/>
                  </a:ext>
                </a:extLst>
              </p:cNvPr>
              <p:cNvSpPr txBox="1"/>
              <p:nvPr/>
            </p:nvSpPr>
            <p:spPr>
              <a:xfrm>
                <a:off x="1164372" y="1475231"/>
                <a:ext cx="3016537" cy="315792"/>
              </a:xfrm>
              <a:prstGeom prst="rect">
                <a:avLst/>
              </a:prstGeom>
              <a:noFill/>
            </p:spPr>
            <p:txBody>
              <a:bodyPr wrap="square">
                <a:spAutoFit/>
              </a:bodyPr>
              <a:lstStyle/>
              <a:p>
                <a:pPr algn="ctr"/>
                <a:r>
                  <a:rPr lang="en-US" sz="1400" b="0" u="none" dirty="0">
                    <a:cs typeface="Arial" panose="020B0604020202020204" pitchFamily="34" charset="0"/>
                  </a:rPr>
                  <a:t>Sample </a:t>
                </a:r>
                <a14:m>
                  <m:oMath xmlns:m="http://schemas.openxmlformats.org/officeDocument/2006/math">
                    <m:r>
                      <a:rPr lang="en-US" sz="1400" b="0" i="1" u="none" smtClean="0">
                        <a:latin typeface="Cambria Math" panose="02040503050406030204" pitchFamily="18" charset="0"/>
                        <a:cs typeface="Arial" panose="020B0604020202020204" pitchFamily="34" charset="0"/>
                      </a:rPr>
                      <m:t>𝐶</m:t>
                    </m:r>
                    <m:sSup>
                      <m:sSupPr>
                        <m:ctrlPr>
                          <a:rPr lang="en-US" sz="1400" b="0" i="1" u="none" smtClean="0">
                            <a:latin typeface="Cambria Math" panose="02040503050406030204" pitchFamily="18" charset="0"/>
                            <a:cs typeface="Arial" panose="020B0604020202020204" pitchFamily="34" charset="0"/>
                          </a:rPr>
                        </m:ctrlPr>
                      </m:sSupPr>
                      <m:e>
                        <m:r>
                          <a:rPr lang="en-US" sz="1400" b="0" i="1" u="none" smtClean="0">
                            <a:latin typeface="Cambria Math" panose="02040503050406030204" pitchFamily="18" charset="0"/>
                            <a:cs typeface="Arial" panose="020B0604020202020204" pitchFamily="34" charset="0"/>
                          </a:rPr>
                          <m:t>𝐼</m:t>
                        </m:r>
                      </m:e>
                      <m:sup>
                        <m:r>
                          <a:rPr lang="en-US" sz="1400" b="0" i="1" u="none" smtClean="0">
                            <a:solidFill>
                              <a:srgbClr val="00B0F0"/>
                            </a:solidFill>
                            <a:latin typeface="Cambria Math" panose="02040503050406030204" pitchFamily="18" charset="0"/>
                            <a:cs typeface="Arial" panose="020B0604020202020204" pitchFamily="34" charset="0"/>
                          </a:rPr>
                          <m:t>90</m:t>
                        </m:r>
                      </m:sup>
                    </m:sSup>
                  </m:oMath>
                </a14:m>
                <a:r>
                  <a:rPr lang="en-US" sz="1400" b="0" u="none" dirty="0">
                    <a:cs typeface="Arial" panose="020B0604020202020204" pitchFamily="34" charset="0"/>
                  </a:rPr>
                  <a:t> vs </a:t>
                </a:r>
                <a14:m>
                  <m:oMath xmlns:m="http://schemas.openxmlformats.org/officeDocument/2006/math">
                    <m:r>
                      <a:rPr lang="en-US" sz="1400" b="0" i="1" u="none">
                        <a:latin typeface="Cambria Math" panose="02040503050406030204" pitchFamily="18" charset="0"/>
                        <a:cs typeface="Arial" panose="020B0604020202020204" pitchFamily="34" charset="0"/>
                      </a:rPr>
                      <m:t>𝑁</m:t>
                    </m:r>
                    <m:r>
                      <a:rPr lang="en-US" sz="1400" b="0" i="1" u="none">
                        <a:latin typeface="Cambria Math" panose="02040503050406030204" pitchFamily="18" charset="0"/>
                        <a:cs typeface="Arial" panose="020B0604020202020204" pitchFamily="34" charset="0"/>
                      </a:rPr>
                      <m:t>(0,1) </m:t>
                    </m:r>
                  </m:oMath>
                </a14:m>
                <a:r>
                  <a:rPr lang="en-US" sz="1400" b="0" u="none" dirty="0">
                    <a:cs typeface="Arial" panose="020B0604020202020204" pitchFamily="34" charset="0"/>
                  </a:rPr>
                  <a:t>Population</a:t>
                </a:r>
                <a:endParaRPr lang="en-US" sz="1400" dirty="0"/>
              </a:p>
            </p:txBody>
          </p:sp>
        </mc:Choice>
        <mc:Fallback xmlns="">
          <p:sp>
            <p:nvSpPr>
              <p:cNvPr id="97" name="TextBox 96">
                <a:extLst>
                  <a:ext uri="{FF2B5EF4-FFF2-40B4-BE49-F238E27FC236}">
                    <a16:creationId xmlns:a16="http://schemas.microsoft.com/office/drawing/2014/main" id="{C36A15C2-22A6-B301-F4FE-30B468A277C4}"/>
                  </a:ext>
                </a:extLst>
              </p:cNvPr>
              <p:cNvSpPr txBox="1">
                <a:spLocks noRot="1" noChangeAspect="1" noMove="1" noResize="1" noEditPoints="1" noAdjustHandles="1" noChangeArrowheads="1" noChangeShapeType="1" noTextEdit="1"/>
              </p:cNvSpPr>
              <p:nvPr/>
            </p:nvSpPr>
            <p:spPr>
              <a:xfrm>
                <a:off x="1164372" y="1475231"/>
                <a:ext cx="3016537" cy="315792"/>
              </a:xfrm>
              <a:prstGeom prst="rect">
                <a:avLst/>
              </a:prstGeom>
              <a:blipFill>
                <a:blip r:embed="rId5"/>
                <a:stretch>
                  <a:fillRect t="-3846" b="-15385"/>
                </a:stretch>
              </a:blipFill>
            </p:spPr>
            <p:txBody>
              <a:bodyPr/>
              <a:lstStyle/>
              <a:p>
                <a:r>
                  <a:rPr lang="en-US">
                    <a:noFill/>
                  </a:rPr>
                  <a:t> </a:t>
                </a:r>
              </a:p>
            </p:txBody>
          </p:sp>
        </mc:Fallback>
      </mc:AlternateContent>
      <p:grpSp>
        <p:nvGrpSpPr>
          <p:cNvPr id="98" name="Group 97">
            <a:extLst>
              <a:ext uri="{FF2B5EF4-FFF2-40B4-BE49-F238E27FC236}">
                <a16:creationId xmlns:a16="http://schemas.microsoft.com/office/drawing/2014/main" id="{135B6DAF-0C68-A3ED-2B83-DCA47B443966}"/>
              </a:ext>
            </a:extLst>
          </p:cNvPr>
          <p:cNvGrpSpPr/>
          <p:nvPr/>
        </p:nvGrpSpPr>
        <p:grpSpPr>
          <a:xfrm>
            <a:off x="2241522" y="2992705"/>
            <a:ext cx="1560576" cy="258386"/>
            <a:chOff x="2352928" y="3467789"/>
            <a:chExt cx="1560576" cy="258386"/>
          </a:xfrm>
        </p:grpSpPr>
        <p:cxnSp>
          <p:nvCxnSpPr>
            <p:cNvPr id="99" name="Straight Connector 98">
              <a:extLst>
                <a:ext uri="{FF2B5EF4-FFF2-40B4-BE49-F238E27FC236}">
                  <a16:creationId xmlns:a16="http://schemas.microsoft.com/office/drawing/2014/main" id="{5DA4E25A-67AD-4723-CE85-9346E7AB723E}"/>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00" name="TextBox 99">
              <a:extLst>
                <a:ext uri="{FF2B5EF4-FFF2-40B4-BE49-F238E27FC236}">
                  <a16:creationId xmlns:a16="http://schemas.microsoft.com/office/drawing/2014/main" id="{0E8D2F53-08BC-8C80-9530-234DB0681EF5}"/>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5</a:t>
              </a:r>
              <a:endParaRPr lang="en-US" sz="1400" b="0" u="none" dirty="0">
                <a:solidFill>
                  <a:srgbClr val="00B0F0"/>
                </a:solidFill>
                <a:cs typeface="Arial" pitchFamily="34" charset="0"/>
              </a:endParaRPr>
            </a:p>
          </p:txBody>
        </p:sp>
        <p:sp>
          <p:nvSpPr>
            <p:cNvPr id="101" name="Oval 100">
              <a:extLst>
                <a:ext uri="{FF2B5EF4-FFF2-40B4-BE49-F238E27FC236}">
                  <a16:creationId xmlns:a16="http://schemas.microsoft.com/office/drawing/2014/main" id="{C3082142-FA91-4C37-C6E1-D54313D0E86A}"/>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grpSp>
        <p:nvGrpSpPr>
          <p:cNvPr id="102" name="Group 101">
            <a:extLst>
              <a:ext uri="{FF2B5EF4-FFF2-40B4-BE49-F238E27FC236}">
                <a16:creationId xmlns:a16="http://schemas.microsoft.com/office/drawing/2014/main" id="{DD01B430-BB32-17A4-39D3-714997F2BC7C}"/>
              </a:ext>
            </a:extLst>
          </p:cNvPr>
          <p:cNvGrpSpPr/>
          <p:nvPr/>
        </p:nvGrpSpPr>
        <p:grpSpPr>
          <a:xfrm>
            <a:off x="1640838" y="2644453"/>
            <a:ext cx="1560576" cy="258386"/>
            <a:chOff x="2352928" y="3467789"/>
            <a:chExt cx="1560576" cy="258386"/>
          </a:xfrm>
        </p:grpSpPr>
        <p:cxnSp>
          <p:nvCxnSpPr>
            <p:cNvPr id="103" name="Straight Connector 102">
              <a:extLst>
                <a:ext uri="{FF2B5EF4-FFF2-40B4-BE49-F238E27FC236}">
                  <a16:creationId xmlns:a16="http://schemas.microsoft.com/office/drawing/2014/main" id="{3CC729DD-7953-8736-66EC-1B2DDD9C6F80}"/>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04" name="TextBox 103">
              <a:extLst>
                <a:ext uri="{FF2B5EF4-FFF2-40B4-BE49-F238E27FC236}">
                  <a16:creationId xmlns:a16="http://schemas.microsoft.com/office/drawing/2014/main" id="{50413AC4-A7F2-67E4-8032-795C767C023D}"/>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6</a:t>
              </a:r>
              <a:endParaRPr lang="en-US" sz="1400" b="0" u="none" dirty="0">
                <a:solidFill>
                  <a:srgbClr val="00B0F0"/>
                </a:solidFill>
                <a:cs typeface="Arial" pitchFamily="34" charset="0"/>
              </a:endParaRPr>
            </a:p>
          </p:txBody>
        </p:sp>
        <p:sp>
          <p:nvSpPr>
            <p:cNvPr id="105" name="Oval 104">
              <a:extLst>
                <a:ext uri="{FF2B5EF4-FFF2-40B4-BE49-F238E27FC236}">
                  <a16:creationId xmlns:a16="http://schemas.microsoft.com/office/drawing/2014/main" id="{19AD6858-33F5-0758-6325-B939907F2944}"/>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grpSp>
        <p:nvGrpSpPr>
          <p:cNvPr id="106" name="Group 105">
            <a:extLst>
              <a:ext uri="{FF2B5EF4-FFF2-40B4-BE49-F238E27FC236}">
                <a16:creationId xmlns:a16="http://schemas.microsoft.com/office/drawing/2014/main" id="{2C2AB489-20A1-CBBF-A96C-B77B31D67A9C}"/>
              </a:ext>
            </a:extLst>
          </p:cNvPr>
          <p:cNvGrpSpPr/>
          <p:nvPr/>
        </p:nvGrpSpPr>
        <p:grpSpPr>
          <a:xfrm>
            <a:off x="1364012" y="3785042"/>
            <a:ext cx="1560576" cy="258386"/>
            <a:chOff x="2352928" y="3467789"/>
            <a:chExt cx="1560576" cy="258386"/>
          </a:xfrm>
        </p:grpSpPr>
        <p:cxnSp>
          <p:nvCxnSpPr>
            <p:cNvPr id="107" name="Straight Connector 106">
              <a:extLst>
                <a:ext uri="{FF2B5EF4-FFF2-40B4-BE49-F238E27FC236}">
                  <a16:creationId xmlns:a16="http://schemas.microsoft.com/office/drawing/2014/main" id="{4A1B8A85-7EB7-4CBF-FCF0-974968B4DEF5}"/>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08" name="TextBox 107">
              <a:extLst>
                <a:ext uri="{FF2B5EF4-FFF2-40B4-BE49-F238E27FC236}">
                  <a16:creationId xmlns:a16="http://schemas.microsoft.com/office/drawing/2014/main" id="{6A39E8CD-AEB8-AA16-6024-ABCF7800D57E}"/>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7</a:t>
              </a:r>
              <a:endParaRPr lang="en-US" sz="1400" b="0" u="none" dirty="0">
                <a:solidFill>
                  <a:srgbClr val="00B0F0"/>
                </a:solidFill>
                <a:cs typeface="Arial" pitchFamily="34" charset="0"/>
              </a:endParaRPr>
            </a:p>
          </p:txBody>
        </p:sp>
        <p:sp>
          <p:nvSpPr>
            <p:cNvPr id="109" name="Oval 108">
              <a:extLst>
                <a:ext uri="{FF2B5EF4-FFF2-40B4-BE49-F238E27FC236}">
                  <a16:creationId xmlns:a16="http://schemas.microsoft.com/office/drawing/2014/main" id="{B7EDC0BE-435F-A23A-16A3-24C89C6F09AD}"/>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grpSp>
        <p:nvGrpSpPr>
          <p:cNvPr id="110" name="Group 109">
            <a:extLst>
              <a:ext uri="{FF2B5EF4-FFF2-40B4-BE49-F238E27FC236}">
                <a16:creationId xmlns:a16="http://schemas.microsoft.com/office/drawing/2014/main" id="{F626F8E3-D783-847F-4F28-75FDE225EDAF}"/>
              </a:ext>
            </a:extLst>
          </p:cNvPr>
          <p:cNvGrpSpPr/>
          <p:nvPr/>
        </p:nvGrpSpPr>
        <p:grpSpPr>
          <a:xfrm>
            <a:off x="2476449" y="3924495"/>
            <a:ext cx="1560576" cy="258386"/>
            <a:chOff x="2352928" y="3467789"/>
            <a:chExt cx="1560576" cy="258386"/>
          </a:xfrm>
        </p:grpSpPr>
        <p:cxnSp>
          <p:nvCxnSpPr>
            <p:cNvPr id="111" name="Straight Connector 110">
              <a:extLst>
                <a:ext uri="{FF2B5EF4-FFF2-40B4-BE49-F238E27FC236}">
                  <a16:creationId xmlns:a16="http://schemas.microsoft.com/office/drawing/2014/main" id="{87730A48-758C-FF2F-2D41-20D2E6260429}"/>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12" name="TextBox 111">
              <a:extLst>
                <a:ext uri="{FF2B5EF4-FFF2-40B4-BE49-F238E27FC236}">
                  <a16:creationId xmlns:a16="http://schemas.microsoft.com/office/drawing/2014/main" id="{B8273748-9645-9921-9866-4CF01F804B28}"/>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u="none" baseline="-25000" dirty="0">
                  <a:solidFill>
                    <a:srgbClr val="00B0F0"/>
                  </a:solidFill>
                  <a:cs typeface="Arial" pitchFamily="34" charset="0"/>
                </a:rPr>
                <a:t>8</a:t>
              </a:r>
              <a:endParaRPr lang="en-US" sz="1400" b="0" u="none" dirty="0">
                <a:solidFill>
                  <a:srgbClr val="00B0F0"/>
                </a:solidFill>
                <a:cs typeface="Arial" pitchFamily="34" charset="0"/>
              </a:endParaRPr>
            </a:p>
          </p:txBody>
        </p:sp>
        <p:sp>
          <p:nvSpPr>
            <p:cNvPr id="113" name="Oval 112">
              <a:extLst>
                <a:ext uri="{FF2B5EF4-FFF2-40B4-BE49-F238E27FC236}">
                  <a16:creationId xmlns:a16="http://schemas.microsoft.com/office/drawing/2014/main" id="{2EEC6430-EBEA-5BC6-50EC-7DD07812F049}"/>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grpSp>
        <p:nvGrpSpPr>
          <p:cNvPr id="114" name="Group 113">
            <a:extLst>
              <a:ext uri="{FF2B5EF4-FFF2-40B4-BE49-F238E27FC236}">
                <a16:creationId xmlns:a16="http://schemas.microsoft.com/office/drawing/2014/main" id="{070E777F-AC6A-E6E2-3B32-0C484915357B}"/>
              </a:ext>
            </a:extLst>
          </p:cNvPr>
          <p:cNvGrpSpPr/>
          <p:nvPr/>
        </p:nvGrpSpPr>
        <p:grpSpPr>
          <a:xfrm>
            <a:off x="1489300" y="3218570"/>
            <a:ext cx="1560576" cy="258386"/>
            <a:chOff x="2352928" y="3467789"/>
            <a:chExt cx="1560576" cy="258386"/>
          </a:xfrm>
        </p:grpSpPr>
        <p:cxnSp>
          <p:nvCxnSpPr>
            <p:cNvPr id="115" name="Straight Connector 114">
              <a:extLst>
                <a:ext uri="{FF2B5EF4-FFF2-40B4-BE49-F238E27FC236}">
                  <a16:creationId xmlns:a16="http://schemas.microsoft.com/office/drawing/2014/main" id="{96C15969-EF09-A235-EFFA-C74F4738681A}"/>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16" name="TextBox 115">
              <a:extLst>
                <a:ext uri="{FF2B5EF4-FFF2-40B4-BE49-F238E27FC236}">
                  <a16:creationId xmlns:a16="http://schemas.microsoft.com/office/drawing/2014/main" id="{3E52A655-1093-836D-E850-2403DA6821FC}"/>
                </a:ext>
              </a:extLst>
            </p:cNvPr>
            <p:cNvSpPr txBox="1"/>
            <p:nvPr/>
          </p:nvSpPr>
          <p:spPr>
            <a:xfrm>
              <a:off x="3021810" y="3526438"/>
              <a:ext cx="20782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z</a:t>
              </a:r>
              <a:r>
                <a:rPr lang="en-US" sz="1400" b="0" i="1" u="none" baseline="-25000" dirty="0">
                  <a:solidFill>
                    <a:srgbClr val="00B0F0"/>
                  </a:solidFill>
                  <a:cs typeface="Arial" pitchFamily="34" charset="0"/>
                </a:rPr>
                <a:t>9</a:t>
              </a:r>
              <a:endParaRPr lang="en-US" sz="1400" b="0" u="none" dirty="0">
                <a:solidFill>
                  <a:srgbClr val="00B0F0"/>
                </a:solidFill>
                <a:cs typeface="Arial" pitchFamily="34" charset="0"/>
              </a:endParaRPr>
            </a:p>
          </p:txBody>
        </p:sp>
        <p:sp>
          <p:nvSpPr>
            <p:cNvPr id="117" name="Oval 116">
              <a:extLst>
                <a:ext uri="{FF2B5EF4-FFF2-40B4-BE49-F238E27FC236}">
                  <a16:creationId xmlns:a16="http://schemas.microsoft.com/office/drawing/2014/main" id="{7F0E6A67-B4BC-204E-319F-1DEFEB708179}"/>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sp>
        <p:nvSpPr>
          <p:cNvPr id="118" name="TextBox 117">
            <a:extLst>
              <a:ext uri="{FF2B5EF4-FFF2-40B4-BE49-F238E27FC236}">
                <a16:creationId xmlns:a16="http://schemas.microsoft.com/office/drawing/2014/main" id="{B32D1EE9-1CE1-F330-BCF5-F3511136AC69}"/>
              </a:ext>
            </a:extLst>
          </p:cNvPr>
          <p:cNvSpPr txBox="1"/>
          <p:nvPr/>
        </p:nvSpPr>
        <p:spPr>
          <a:xfrm>
            <a:off x="3185793" y="2351907"/>
            <a:ext cx="495140" cy="253916"/>
          </a:xfrm>
          <a:prstGeom prst="rect">
            <a:avLst/>
          </a:prstGeom>
          <a:solidFill>
            <a:schemeClr val="bg1"/>
          </a:solidFill>
        </p:spPr>
        <p:txBody>
          <a:bodyPr wrap="square" rtlCol="0">
            <a:spAutoFit/>
          </a:bodyPr>
          <a:lstStyle/>
          <a:p>
            <a:pPr algn="l"/>
            <a:r>
              <a:rPr lang="en-US" sz="1050" b="0" u="none" dirty="0">
                <a:latin typeface="Arial" pitchFamily="34" charset="0"/>
                <a:cs typeface="Arial" pitchFamily="34" charset="0"/>
              </a:rPr>
              <a:t>1.65</a:t>
            </a:r>
          </a:p>
        </p:txBody>
      </p:sp>
      <p:sp>
        <p:nvSpPr>
          <p:cNvPr id="119" name="TextBox 118">
            <a:extLst>
              <a:ext uri="{FF2B5EF4-FFF2-40B4-BE49-F238E27FC236}">
                <a16:creationId xmlns:a16="http://schemas.microsoft.com/office/drawing/2014/main" id="{95B8190E-02BE-FCF7-AF49-D5B3328F1BDE}"/>
              </a:ext>
            </a:extLst>
          </p:cNvPr>
          <p:cNvSpPr txBox="1"/>
          <p:nvPr/>
        </p:nvSpPr>
        <p:spPr>
          <a:xfrm>
            <a:off x="1647189" y="2352176"/>
            <a:ext cx="495140" cy="253916"/>
          </a:xfrm>
          <a:prstGeom prst="rect">
            <a:avLst/>
          </a:prstGeom>
          <a:solidFill>
            <a:schemeClr val="bg1"/>
          </a:solidFill>
        </p:spPr>
        <p:txBody>
          <a:bodyPr wrap="square" rtlCol="0">
            <a:spAutoFit/>
          </a:bodyPr>
          <a:lstStyle/>
          <a:p>
            <a:pPr algn="l"/>
            <a:r>
              <a:rPr lang="en-US" sz="1050" b="0" u="none" dirty="0">
                <a:latin typeface="Arial" pitchFamily="34" charset="0"/>
                <a:cs typeface="Arial" pitchFamily="34" charset="0"/>
              </a:rPr>
              <a:t>1.65</a:t>
            </a:r>
          </a:p>
        </p:txBody>
      </p:sp>
      <p:sp>
        <p:nvSpPr>
          <p:cNvPr id="5" name="Freeform: Shape 4">
            <a:extLst>
              <a:ext uri="{FF2B5EF4-FFF2-40B4-BE49-F238E27FC236}">
                <a16:creationId xmlns:a16="http://schemas.microsoft.com/office/drawing/2014/main" id="{93A03B8F-4312-4408-7162-596994627C43}"/>
              </a:ext>
            </a:extLst>
          </p:cNvPr>
          <p:cNvSpPr/>
          <p:nvPr/>
        </p:nvSpPr>
        <p:spPr bwMode="auto">
          <a:xfrm>
            <a:off x="7683500" y="1612900"/>
            <a:ext cx="390531" cy="768350"/>
          </a:xfrm>
          <a:custGeom>
            <a:avLst/>
            <a:gdLst>
              <a:gd name="connsiteX0" fmla="*/ 0 w 390531"/>
              <a:gd name="connsiteY0" fmla="*/ 0 h 768350"/>
              <a:gd name="connsiteX1" fmla="*/ 374650 w 390531"/>
              <a:gd name="connsiteY1" fmla="*/ 381000 h 768350"/>
              <a:gd name="connsiteX2" fmla="*/ 285750 w 390531"/>
              <a:gd name="connsiteY2" fmla="*/ 768350 h 768350"/>
            </a:gdLst>
            <a:ahLst/>
            <a:cxnLst>
              <a:cxn ang="0">
                <a:pos x="connsiteX0" y="connsiteY0"/>
              </a:cxn>
              <a:cxn ang="0">
                <a:pos x="connsiteX1" y="connsiteY1"/>
              </a:cxn>
              <a:cxn ang="0">
                <a:pos x="connsiteX2" y="connsiteY2"/>
              </a:cxn>
            </a:cxnLst>
            <a:rect l="l" t="t" r="r" b="b"/>
            <a:pathLst>
              <a:path w="390531" h="768350">
                <a:moveTo>
                  <a:pt x="0" y="0"/>
                </a:moveTo>
                <a:cubicBezTo>
                  <a:pt x="163512" y="126471"/>
                  <a:pt x="327025" y="252942"/>
                  <a:pt x="374650" y="381000"/>
                </a:cubicBezTo>
                <a:cubicBezTo>
                  <a:pt x="422275" y="509058"/>
                  <a:pt x="354012" y="638704"/>
                  <a:pt x="285750" y="768350"/>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6" name="Oval 5">
            <a:extLst>
              <a:ext uri="{FF2B5EF4-FFF2-40B4-BE49-F238E27FC236}">
                <a16:creationId xmlns:a16="http://schemas.microsoft.com/office/drawing/2014/main" id="{1B7427E2-6B3A-2CB5-26D3-86FE47F95868}"/>
              </a:ext>
            </a:extLst>
          </p:cNvPr>
          <p:cNvSpPr/>
          <p:nvPr/>
        </p:nvSpPr>
        <p:spPr bwMode="auto">
          <a:xfrm>
            <a:off x="7413407" y="1368070"/>
            <a:ext cx="148281" cy="248604"/>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8" name="Freeform: Shape 7">
            <a:extLst>
              <a:ext uri="{FF2B5EF4-FFF2-40B4-BE49-F238E27FC236}">
                <a16:creationId xmlns:a16="http://schemas.microsoft.com/office/drawing/2014/main" id="{04920456-ECED-0780-3BC4-3940E3ACD880}"/>
              </a:ext>
            </a:extLst>
          </p:cNvPr>
          <p:cNvSpPr/>
          <p:nvPr/>
        </p:nvSpPr>
        <p:spPr bwMode="auto">
          <a:xfrm>
            <a:off x="7524961" y="1608879"/>
            <a:ext cx="742739" cy="2969472"/>
          </a:xfrm>
          <a:custGeom>
            <a:avLst/>
            <a:gdLst>
              <a:gd name="connsiteX0" fmla="*/ 0 w 390531"/>
              <a:gd name="connsiteY0" fmla="*/ 0 h 768350"/>
              <a:gd name="connsiteX1" fmla="*/ 374650 w 390531"/>
              <a:gd name="connsiteY1" fmla="*/ 381000 h 768350"/>
              <a:gd name="connsiteX2" fmla="*/ 285750 w 390531"/>
              <a:gd name="connsiteY2" fmla="*/ 768350 h 768350"/>
            </a:gdLst>
            <a:ahLst/>
            <a:cxnLst>
              <a:cxn ang="0">
                <a:pos x="connsiteX0" y="connsiteY0"/>
              </a:cxn>
              <a:cxn ang="0">
                <a:pos x="connsiteX1" y="connsiteY1"/>
              </a:cxn>
              <a:cxn ang="0">
                <a:pos x="connsiteX2" y="connsiteY2"/>
              </a:cxn>
            </a:cxnLst>
            <a:rect l="l" t="t" r="r" b="b"/>
            <a:pathLst>
              <a:path w="390531" h="768350">
                <a:moveTo>
                  <a:pt x="0" y="0"/>
                </a:moveTo>
                <a:cubicBezTo>
                  <a:pt x="163512" y="126471"/>
                  <a:pt x="327025" y="252942"/>
                  <a:pt x="374650" y="381000"/>
                </a:cubicBezTo>
                <a:cubicBezTo>
                  <a:pt x="422275" y="509058"/>
                  <a:pt x="354012" y="638704"/>
                  <a:pt x="285750" y="768350"/>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EE7A5B-E674-A975-1449-68722E561352}"/>
                  </a:ext>
                </a:extLst>
              </p:cNvPr>
              <p:cNvSpPr txBox="1"/>
              <p:nvPr/>
            </p:nvSpPr>
            <p:spPr>
              <a:xfrm>
                <a:off x="532082" y="5590682"/>
                <a:ext cx="2105000" cy="646331"/>
              </a:xfrm>
              <a:prstGeom prst="rect">
                <a:avLst/>
              </a:prstGeom>
              <a:noFill/>
            </p:spPr>
            <p:txBody>
              <a:bodyPr wrap="square" rtlCol="0">
                <a:spAutoFit/>
              </a:bodyPr>
              <a:lstStyle/>
              <a:p>
                <a:r>
                  <a:rPr lang="en-US" sz="1200" b="0" u="none" dirty="0">
                    <a:solidFill>
                      <a:schemeClr val="accent6"/>
                    </a:solidFill>
                    <a:cs typeface="Arial" pitchFamily="34" charset="0"/>
                  </a:rPr>
                  <a:t>This is the 1 out of ten draws whose </a:t>
                </a:r>
                <a14:m>
                  <m:oMath xmlns:m="http://schemas.openxmlformats.org/officeDocument/2006/math">
                    <m:r>
                      <a:rPr lang="en-US" sz="1200" b="0" i="1" u="none" smtClean="0">
                        <a:solidFill>
                          <a:schemeClr val="accent6"/>
                        </a:solidFill>
                        <a:latin typeface="Cambria Math" panose="02040503050406030204" pitchFamily="18" charset="0"/>
                        <a:cs typeface="Arial" pitchFamily="34" charset="0"/>
                      </a:rPr>
                      <m:t>𝐶</m:t>
                    </m:r>
                    <m:sSup>
                      <m:sSupPr>
                        <m:ctrlPr>
                          <a:rPr lang="en-US" sz="1200" b="0" i="1" u="none" smtClean="0">
                            <a:solidFill>
                              <a:schemeClr val="accent6"/>
                            </a:solidFill>
                            <a:latin typeface="Cambria Math" panose="02040503050406030204" pitchFamily="18" charset="0"/>
                            <a:cs typeface="Arial" pitchFamily="34" charset="0"/>
                          </a:rPr>
                        </m:ctrlPr>
                      </m:sSupPr>
                      <m:e>
                        <m:r>
                          <a:rPr lang="en-US" sz="1200" b="0" i="1" u="none" smtClean="0">
                            <a:solidFill>
                              <a:schemeClr val="accent6"/>
                            </a:solidFill>
                            <a:latin typeface="Cambria Math" panose="02040503050406030204" pitchFamily="18" charset="0"/>
                            <a:cs typeface="Arial" pitchFamily="34" charset="0"/>
                          </a:rPr>
                          <m:t>𝐼</m:t>
                        </m:r>
                      </m:e>
                      <m:sup>
                        <m:r>
                          <a:rPr lang="en-US" sz="1200" b="0" i="1" u="none" smtClean="0">
                            <a:solidFill>
                              <a:schemeClr val="accent6"/>
                            </a:solidFill>
                            <a:latin typeface="Cambria Math" panose="02040503050406030204" pitchFamily="18" charset="0"/>
                            <a:cs typeface="Arial" pitchFamily="34" charset="0"/>
                          </a:rPr>
                          <m:t>90</m:t>
                        </m:r>
                      </m:sup>
                    </m:sSup>
                  </m:oMath>
                </a14:m>
                <a:r>
                  <a:rPr lang="en-US" sz="1200" b="0" u="none" dirty="0">
                    <a:solidFill>
                      <a:schemeClr val="accent6"/>
                    </a:solidFill>
                    <a:cs typeface="Arial" pitchFamily="34" charset="0"/>
                  </a:rPr>
                  <a:t> does not contain the true mean </a:t>
                </a:r>
                <a14:m>
                  <m:oMath xmlns:m="http://schemas.openxmlformats.org/officeDocument/2006/math">
                    <m:r>
                      <m:rPr>
                        <m:sty m:val="p"/>
                      </m:rPr>
                      <a:rPr lang="en-US" sz="1200" b="0" i="1" u="none" smtClean="0">
                        <a:solidFill>
                          <a:srgbClr val="FF0000"/>
                        </a:solidFill>
                        <a:latin typeface="Cambria Math" panose="02040503050406030204" pitchFamily="18" charset="0"/>
                        <a:cs typeface="Arial" pitchFamily="34" charset="0"/>
                      </a:rPr>
                      <m:t>μ</m:t>
                    </m:r>
                  </m:oMath>
                </a14:m>
                <a:endParaRPr lang="en-US" sz="1200" b="0" u="none" dirty="0">
                  <a:cs typeface="Arial" pitchFamily="34" charset="0"/>
                </a:endParaRPr>
              </a:p>
            </p:txBody>
          </p:sp>
        </mc:Choice>
        <mc:Fallback xmlns="">
          <p:sp>
            <p:nvSpPr>
              <p:cNvPr id="9" name="TextBox 8">
                <a:extLst>
                  <a:ext uri="{FF2B5EF4-FFF2-40B4-BE49-F238E27FC236}">
                    <a16:creationId xmlns:a16="http://schemas.microsoft.com/office/drawing/2014/main" id="{A8EE7A5B-E674-A975-1449-68722E561352}"/>
                  </a:ext>
                </a:extLst>
              </p:cNvPr>
              <p:cNvSpPr txBox="1">
                <a:spLocks noRot="1" noChangeAspect="1" noMove="1" noResize="1" noEditPoints="1" noAdjustHandles="1" noChangeArrowheads="1" noChangeShapeType="1" noTextEdit="1"/>
              </p:cNvSpPr>
              <p:nvPr/>
            </p:nvSpPr>
            <p:spPr>
              <a:xfrm>
                <a:off x="532082" y="5590682"/>
                <a:ext cx="2105000" cy="646331"/>
              </a:xfrm>
              <a:prstGeom prst="rect">
                <a:avLst/>
              </a:prstGeom>
              <a:blipFill>
                <a:blip r:embed="rId6"/>
                <a:stretch>
                  <a:fillRect t="-943" b="-5660"/>
                </a:stretch>
              </a:blipFill>
            </p:spPr>
            <p:txBody>
              <a:bodyPr/>
              <a:lstStyle/>
              <a:p>
                <a:r>
                  <a:rPr lang="en-US">
                    <a:noFill/>
                  </a:rPr>
                  <a:t> </a:t>
                </a:r>
              </a:p>
            </p:txBody>
          </p:sp>
        </mc:Fallback>
      </mc:AlternateContent>
      <p:sp>
        <p:nvSpPr>
          <p:cNvPr id="10" name="Freeform: Shape 9">
            <a:extLst>
              <a:ext uri="{FF2B5EF4-FFF2-40B4-BE49-F238E27FC236}">
                <a16:creationId xmlns:a16="http://schemas.microsoft.com/office/drawing/2014/main" id="{00F152CB-75D5-1296-CBFA-C3F196C5C0F0}"/>
              </a:ext>
            </a:extLst>
          </p:cNvPr>
          <p:cNvSpPr/>
          <p:nvPr/>
        </p:nvSpPr>
        <p:spPr bwMode="auto">
          <a:xfrm>
            <a:off x="1949450" y="4864100"/>
            <a:ext cx="301485" cy="736600"/>
          </a:xfrm>
          <a:custGeom>
            <a:avLst/>
            <a:gdLst>
              <a:gd name="connsiteX0" fmla="*/ 279400 w 301485"/>
              <a:gd name="connsiteY0" fmla="*/ 0 h 736600"/>
              <a:gd name="connsiteX1" fmla="*/ 273050 w 301485"/>
              <a:gd name="connsiteY1" fmla="*/ 425450 h 736600"/>
              <a:gd name="connsiteX2" fmla="*/ 0 w 301485"/>
              <a:gd name="connsiteY2" fmla="*/ 736600 h 736600"/>
            </a:gdLst>
            <a:ahLst/>
            <a:cxnLst>
              <a:cxn ang="0">
                <a:pos x="connsiteX0" y="connsiteY0"/>
              </a:cxn>
              <a:cxn ang="0">
                <a:pos x="connsiteX1" y="connsiteY1"/>
              </a:cxn>
              <a:cxn ang="0">
                <a:pos x="connsiteX2" y="connsiteY2"/>
              </a:cxn>
            </a:cxnLst>
            <a:rect l="l" t="t" r="r" b="b"/>
            <a:pathLst>
              <a:path w="301485" h="736600">
                <a:moveTo>
                  <a:pt x="279400" y="0"/>
                </a:moveTo>
                <a:cubicBezTo>
                  <a:pt x="299508" y="151341"/>
                  <a:pt x="319617" y="302683"/>
                  <a:pt x="273050" y="425450"/>
                </a:cubicBezTo>
                <a:cubicBezTo>
                  <a:pt x="226483" y="548217"/>
                  <a:pt x="113241" y="642408"/>
                  <a:pt x="0" y="736600"/>
                </a:cubicBezTo>
              </a:path>
            </a:pathLst>
          </a:custGeom>
          <a:noFill/>
          <a:ln w="3175" cap="flat" cmpd="sng" algn="ctr">
            <a:solidFill>
              <a:schemeClr val="tx1"/>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120945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
                                            <p:txEl>
                                              <p:pRg st="11" end="1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95" presetID="1" presetClass="entr" presetSubtype="0" fill="hold" grpId="0" nodeType="withEffect">
                                  <p:stCondLst>
                                    <p:cond delay="0"/>
                                  </p:stCondLst>
                                  <p:childTnLst>
                                    <p:set>
                                      <p:cBhvr>
                                        <p:cTn id="9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
                                            <p:txEl>
                                              <p:pRg st="13" end="1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nimBg="1"/>
      <p:bldP spid="7" grpId="0" animBg="1"/>
      <p:bldP spid="78" grpId="0" animBg="1"/>
      <p:bldP spid="79" grpId="0" animBg="1"/>
      <p:bldP spid="5" grpId="0" animBg="1"/>
      <p:bldP spid="6" grpId="0" animBg="1"/>
      <p:bldP spid="8" grpId="0" animBg="1"/>
      <p:bldP spid="9" grpId="0"/>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E66F8-88E8-0910-033D-3F5E25049E6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66C38C8-5E96-2E6C-0C2B-FA922EA0D07F}"/>
                  </a:ext>
                </a:extLst>
              </p:cNvPr>
              <p:cNvSpPr>
                <a:spLocks noGrp="1"/>
              </p:cNvSpPr>
              <p:nvPr>
                <p:ph type="title"/>
              </p:nvPr>
            </p:nvSpPr>
            <p:spPr/>
            <p:txBody>
              <a:bodyPr/>
              <a:lstStyle/>
              <a:p>
                <a:r>
                  <a:rPr lang="en-US" dirty="0"/>
                  <a:t>Apply </a:t>
                </a:r>
                <a14:m>
                  <m:oMath xmlns:m="http://schemas.openxmlformats.org/officeDocument/2006/math">
                    <m:r>
                      <a:rPr lang="en-US" i="1" dirty="0" smtClean="0">
                        <a:latin typeface="Cambria Math" panose="02040503050406030204" pitchFamily="18" charset="0"/>
                      </a:rPr>
                      <m:t>𝐶𝐼</m:t>
                    </m:r>
                  </m:oMath>
                </a14:m>
                <a:r>
                  <a:rPr lang="en-US" dirty="0"/>
                  <a:t> Intuition to the Fox Poll</a:t>
                </a:r>
              </a:p>
            </p:txBody>
          </p:sp>
        </mc:Choice>
        <mc:Fallback xmlns="">
          <p:sp>
            <p:nvSpPr>
              <p:cNvPr id="2" name="Title 1">
                <a:extLst>
                  <a:ext uri="{FF2B5EF4-FFF2-40B4-BE49-F238E27FC236}">
                    <a16:creationId xmlns:a16="http://schemas.microsoft.com/office/drawing/2014/main" id="{466C38C8-5E96-2E6C-0C2B-FA922EA0D07F}"/>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6116105-17CC-8979-5F7F-106F21727868}"/>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63</a:t>
            </a:fld>
            <a:endParaRPr lang="en-GB" dirty="0"/>
          </a:p>
        </p:txBody>
      </p:sp>
      <p:grpSp>
        <p:nvGrpSpPr>
          <p:cNvPr id="25" name="Group 24">
            <a:extLst>
              <a:ext uri="{FF2B5EF4-FFF2-40B4-BE49-F238E27FC236}">
                <a16:creationId xmlns:a16="http://schemas.microsoft.com/office/drawing/2014/main" id="{3098B174-F536-7CB1-1C69-9BA60F6E60D0}"/>
              </a:ext>
            </a:extLst>
          </p:cNvPr>
          <p:cNvGrpSpPr>
            <a:grpSpLocks noChangeAspect="1"/>
          </p:cNvGrpSpPr>
          <p:nvPr/>
        </p:nvGrpSpPr>
        <p:grpSpPr>
          <a:xfrm>
            <a:off x="5171349" y="2183448"/>
            <a:ext cx="3011427" cy="1782841"/>
            <a:chOff x="3012869" y="4040949"/>
            <a:chExt cx="2157141" cy="1277082"/>
          </a:xfrm>
        </p:grpSpPr>
        <p:graphicFrame>
          <p:nvGraphicFramePr>
            <p:cNvPr id="26" name="Object 2">
              <a:extLst>
                <a:ext uri="{FF2B5EF4-FFF2-40B4-BE49-F238E27FC236}">
                  <a16:creationId xmlns:a16="http://schemas.microsoft.com/office/drawing/2014/main" id="{59F02FD7-75D7-4012-A097-A0A703EB4D8B}"/>
                </a:ext>
              </a:extLst>
            </p:cNvPr>
            <p:cNvGraphicFramePr>
              <a:graphicFrameLocks noChangeAspect="1"/>
            </p:cNvGraphicFramePr>
            <p:nvPr/>
          </p:nvGraphicFramePr>
          <p:xfrm>
            <a:off x="3012869" y="4040949"/>
            <a:ext cx="2157141" cy="1277082"/>
          </p:xfrm>
          <a:graphic>
            <a:graphicData uri="http://schemas.openxmlformats.org/drawingml/2006/chart">
              <c:chart xmlns:c="http://schemas.openxmlformats.org/drawingml/2006/chart" xmlns:r="http://schemas.openxmlformats.org/officeDocument/2006/relationships" r:id="rId3"/>
            </a:graphicData>
          </a:graphic>
        </p:graphicFrame>
        <p:cxnSp>
          <p:nvCxnSpPr>
            <p:cNvPr id="27" name="Straight Connector 26">
              <a:extLst>
                <a:ext uri="{FF2B5EF4-FFF2-40B4-BE49-F238E27FC236}">
                  <a16:creationId xmlns:a16="http://schemas.microsoft.com/office/drawing/2014/main" id="{C5E27C9F-6573-4AEA-F83F-1E6484C83D3D}"/>
                </a:ext>
              </a:extLst>
            </p:cNvPr>
            <p:cNvCxnSpPr/>
            <p:nvPr/>
          </p:nvCxnSpPr>
          <p:spPr>
            <a:xfrm>
              <a:off x="4091439" y="4797477"/>
              <a:ext cx="325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6D71F66-F6CF-BD1E-0C9A-A28717EC3098}"/>
                </a:ext>
              </a:extLst>
            </p:cNvPr>
            <p:cNvCxnSpPr/>
            <p:nvPr/>
          </p:nvCxnSpPr>
          <p:spPr>
            <a:xfrm flipV="1">
              <a:off x="4091439" y="4288592"/>
              <a:ext cx="0" cy="97199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1" name="Freeform: Shape 30">
            <a:extLst>
              <a:ext uri="{FF2B5EF4-FFF2-40B4-BE49-F238E27FC236}">
                <a16:creationId xmlns:a16="http://schemas.microsoft.com/office/drawing/2014/main" id="{E0C883D0-5973-8D8B-C37B-F3AA99574D54}"/>
              </a:ext>
            </a:extLst>
          </p:cNvPr>
          <p:cNvSpPr/>
          <p:nvPr/>
        </p:nvSpPr>
        <p:spPr bwMode="auto">
          <a:xfrm>
            <a:off x="6929966" y="2503078"/>
            <a:ext cx="598632" cy="642959"/>
          </a:xfrm>
          <a:custGeom>
            <a:avLst/>
            <a:gdLst>
              <a:gd name="connsiteX0" fmla="*/ 0 w 952500"/>
              <a:gd name="connsiteY0" fmla="*/ 732367 h 732367"/>
              <a:gd name="connsiteX1" fmla="*/ 321734 w 952500"/>
              <a:gd name="connsiteY1" fmla="*/ 190500 h 732367"/>
              <a:gd name="connsiteX2" fmla="*/ 952500 w 952500"/>
              <a:gd name="connsiteY2" fmla="*/ 0 h 732367"/>
            </a:gdLst>
            <a:ahLst/>
            <a:cxnLst>
              <a:cxn ang="0">
                <a:pos x="connsiteX0" y="connsiteY0"/>
              </a:cxn>
              <a:cxn ang="0">
                <a:pos x="connsiteX1" y="connsiteY1"/>
              </a:cxn>
              <a:cxn ang="0">
                <a:pos x="connsiteX2" y="connsiteY2"/>
              </a:cxn>
            </a:cxnLst>
            <a:rect l="l" t="t" r="r" b="b"/>
            <a:pathLst>
              <a:path w="952500" h="732367">
                <a:moveTo>
                  <a:pt x="0" y="732367"/>
                </a:moveTo>
                <a:cubicBezTo>
                  <a:pt x="81492" y="522464"/>
                  <a:pt x="162984" y="312561"/>
                  <a:pt x="321734" y="190500"/>
                </a:cubicBezTo>
                <a:cubicBezTo>
                  <a:pt x="480484" y="68439"/>
                  <a:pt x="716492" y="34219"/>
                  <a:pt x="952500" y="0"/>
                </a:cubicBezTo>
              </a:path>
            </a:pathLst>
          </a:custGeom>
          <a:noFill/>
          <a:ln w="9525" cap="flat" cmpd="sng" algn="ctr">
            <a:solidFill>
              <a:schemeClr val="tx1"/>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32" name="TextBox 31">
            <a:extLst>
              <a:ext uri="{FF2B5EF4-FFF2-40B4-BE49-F238E27FC236}">
                <a16:creationId xmlns:a16="http://schemas.microsoft.com/office/drawing/2014/main" id="{BB2E4CAC-C501-BF99-4800-9B7C9A51F5ED}"/>
              </a:ext>
            </a:extLst>
          </p:cNvPr>
          <p:cNvSpPr txBox="1"/>
          <p:nvPr/>
        </p:nvSpPr>
        <p:spPr>
          <a:xfrm>
            <a:off x="4442772" y="2780513"/>
            <a:ext cx="641522" cy="707886"/>
          </a:xfrm>
          <a:prstGeom prst="rect">
            <a:avLst/>
          </a:prstGeom>
          <a:noFill/>
        </p:spPr>
        <p:txBody>
          <a:bodyPr wrap="none" rtlCol="0">
            <a:spAutoFit/>
          </a:bodyPr>
          <a:lstStyle/>
          <a:p>
            <a:pPr algn="ctr"/>
            <a:r>
              <a:rPr lang="en-US" sz="4000" b="0" u="none" dirty="0">
                <a:solidFill>
                  <a:schemeClr val="bg1">
                    <a:lumMod val="50000"/>
                  </a:schemeClr>
                </a:solidFill>
                <a:latin typeface="Wingdings 3" panose="05040102010807070707" pitchFamily="18" charset="2"/>
                <a:cs typeface="Arial" panose="020B0604020202020204" pitchFamily="34" charset="0"/>
              </a:rPr>
              <a:t>g</a:t>
            </a:r>
            <a:endParaRPr lang="en-US" sz="4000" b="0" u="none" dirty="0">
              <a:solidFill>
                <a:schemeClr val="bg1">
                  <a:lumMod val="50000"/>
                </a:schemeClr>
              </a:solidFill>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DD1F86C-03AA-238C-8CA2-4FE909736096}"/>
              </a:ext>
            </a:extLst>
          </p:cNvPr>
          <p:cNvSpPr/>
          <p:nvPr/>
        </p:nvSpPr>
        <p:spPr bwMode="auto">
          <a:xfrm>
            <a:off x="6342380" y="2823788"/>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37" name="Oval 36">
            <a:extLst>
              <a:ext uri="{FF2B5EF4-FFF2-40B4-BE49-F238E27FC236}">
                <a16:creationId xmlns:a16="http://schemas.microsoft.com/office/drawing/2014/main" id="{5A27942E-B945-BF0E-DF0E-6972FFDF8510}"/>
              </a:ext>
            </a:extLst>
          </p:cNvPr>
          <p:cNvSpPr/>
          <p:nvPr/>
        </p:nvSpPr>
        <p:spPr bwMode="auto">
          <a:xfrm>
            <a:off x="6889828" y="2772949"/>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0" name="Oval 39">
            <a:extLst>
              <a:ext uri="{FF2B5EF4-FFF2-40B4-BE49-F238E27FC236}">
                <a16:creationId xmlns:a16="http://schemas.microsoft.com/office/drawing/2014/main" id="{1ED9169B-542B-BFDB-E5EE-075CC90DE914}"/>
              </a:ext>
            </a:extLst>
          </p:cNvPr>
          <p:cNvSpPr/>
          <p:nvPr/>
        </p:nvSpPr>
        <p:spPr bwMode="auto">
          <a:xfrm>
            <a:off x="6236397" y="3033537"/>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1" name="Freeform: Shape 40">
            <a:extLst>
              <a:ext uri="{FF2B5EF4-FFF2-40B4-BE49-F238E27FC236}">
                <a16:creationId xmlns:a16="http://schemas.microsoft.com/office/drawing/2014/main" id="{FE95D086-113B-F971-18DC-364EC14CC56C}"/>
              </a:ext>
            </a:extLst>
          </p:cNvPr>
          <p:cNvSpPr/>
          <p:nvPr/>
        </p:nvSpPr>
        <p:spPr bwMode="auto">
          <a:xfrm>
            <a:off x="1171575" y="2395446"/>
            <a:ext cx="5022850" cy="733243"/>
          </a:xfrm>
          <a:custGeom>
            <a:avLst/>
            <a:gdLst>
              <a:gd name="connsiteX0" fmla="*/ 0 w 5022850"/>
              <a:gd name="connsiteY0" fmla="*/ 701981 h 701981"/>
              <a:gd name="connsiteX1" fmla="*/ 2114550 w 5022850"/>
              <a:gd name="connsiteY1" fmla="*/ 306 h 701981"/>
              <a:gd name="connsiteX2" fmla="*/ 5022850 w 5022850"/>
              <a:gd name="connsiteY2" fmla="*/ 632131 h 701981"/>
            </a:gdLst>
            <a:ahLst/>
            <a:cxnLst>
              <a:cxn ang="0">
                <a:pos x="connsiteX0" y="connsiteY0"/>
              </a:cxn>
              <a:cxn ang="0">
                <a:pos x="connsiteX1" y="connsiteY1"/>
              </a:cxn>
              <a:cxn ang="0">
                <a:pos x="connsiteX2" y="connsiteY2"/>
              </a:cxn>
            </a:cxnLst>
            <a:rect l="l" t="t" r="r" b="b"/>
            <a:pathLst>
              <a:path w="5022850" h="701981">
                <a:moveTo>
                  <a:pt x="0" y="701981"/>
                </a:moveTo>
                <a:cubicBezTo>
                  <a:pt x="638704" y="356964"/>
                  <a:pt x="1277408" y="11948"/>
                  <a:pt x="2114550" y="306"/>
                </a:cubicBezTo>
                <a:cubicBezTo>
                  <a:pt x="2951692" y="-11336"/>
                  <a:pt x="3987271" y="310397"/>
                  <a:pt x="5022850" y="632131"/>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3" name="Freeform: Shape 42">
            <a:extLst>
              <a:ext uri="{FF2B5EF4-FFF2-40B4-BE49-F238E27FC236}">
                <a16:creationId xmlns:a16="http://schemas.microsoft.com/office/drawing/2014/main" id="{85C5E56E-4D79-8DC0-6510-DC94D7C3D555}"/>
              </a:ext>
            </a:extLst>
          </p:cNvPr>
          <p:cNvSpPr/>
          <p:nvPr/>
        </p:nvSpPr>
        <p:spPr bwMode="auto">
          <a:xfrm>
            <a:off x="1889760" y="2269387"/>
            <a:ext cx="4404360" cy="866140"/>
          </a:xfrm>
          <a:custGeom>
            <a:avLst/>
            <a:gdLst>
              <a:gd name="connsiteX0" fmla="*/ 0 w 4404360"/>
              <a:gd name="connsiteY0" fmla="*/ 1022137 h 1022137"/>
              <a:gd name="connsiteX1" fmla="*/ 1673860 w 4404360"/>
              <a:gd name="connsiteY1" fmla="*/ 6137 h 1022137"/>
              <a:gd name="connsiteX2" fmla="*/ 4404360 w 4404360"/>
              <a:gd name="connsiteY2" fmla="*/ 674157 h 1022137"/>
            </a:gdLst>
            <a:ahLst/>
            <a:cxnLst>
              <a:cxn ang="0">
                <a:pos x="connsiteX0" y="connsiteY0"/>
              </a:cxn>
              <a:cxn ang="0">
                <a:pos x="connsiteX1" y="connsiteY1"/>
              </a:cxn>
              <a:cxn ang="0">
                <a:pos x="connsiteX2" y="connsiteY2"/>
              </a:cxn>
            </a:cxnLst>
            <a:rect l="l" t="t" r="r" b="b"/>
            <a:pathLst>
              <a:path w="4404360" h="1022137">
                <a:moveTo>
                  <a:pt x="0" y="1022137"/>
                </a:moveTo>
                <a:cubicBezTo>
                  <a:pt x="469900" y="543135"/>
                  <a:pt x="939800" y="64134"/>
                  <a:pt x="1673860" y="6137"/>
                </a:cubicBezTo>
                <a:cubicBezTo>
                  <a:pt x="2407920" y="-51860"/>
                  <a:pt x="3406140" y="311148"/>
                  <a:pt x="4404360" y="674157"/>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6" name="Freeform: Shape 45">
            <a:extLst>
              <a:ext uri="{FF2B5EF4-FFF2-40B4-BE49-F238E27FC236}">
                <a16:creationId xmlns:a16="http://schemas.microsoft.com/office/drawing/2014/main" id="{74EF5295-E1ED-9477-C779-0830E1B6EE3B}"/>
              </a:ext>
            </a:extLst>
          </p:cNvPr>
          <p:cNvSpPr/>
          <p:nvPr/>
        </p:nvSpPr>
        <p:spPr bwMode="auto">
          <a:xfrm>
            <a:off x="2600960" y="2230169"/>
            <a:ext cx="4229100" cy="902818"/>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grpSp>
        <p:nvGrpSpPr>
          <p:cNvPr id="3" name="Group 2">
            <a:extLst>
              <a:ext uri="{FF2B5EF4-FFF2-40B4-BE49-F238E27FC236}">
                <a16:creationId xmlns:a16="http://schemas.microsoft.com/office/drawing/2014/main" id="{C7F5A57F-7683-A27C-B6E9-8A6E5CDE1719}"/>
              </a:ext>
            </a:extLst>
          </p:cNvPr>
          <p:cNvGrpSpPr/>
          <p:nvPr/>
        </p:nvGrpSpPr>
        <p:grpSpPr>
          <a:xfrm>
            <a:off x="227013" y="2752753"/>
            <a:ext cx="3980920" cy="1358535"/>
            <a:chOff x="227013" y="1788926"/>
            <a:chExt cx="3980920" cy="1358535"/>
          </a:xfrm>
        </p:grpSpPr>
        <p:sp>
          <p:nvSpPr>
            <p:cNvPr id="8" name="Oval 7">
              <a:extLst>
                <a:ext uri="{FF2B5EF4-FFF2-40B4-BE49-F238E27FC236}">
                  <a16:creationId xmlns:a16="http://schemas.microsoft.com/office/drawing/2014/main" id="{A6000775-B5DE-9019-2894-16A57E8A8DEA}"/>
                </a:ext>
              </a:extLst>
            </p:cNvPr>
            <p:cNvSpPr/>
            <p:nvPr/>
          </p:nvSpPr>
          <p:spPr bwMode="auto">
            <a:xfrm>
              <a:off x="227013" y="1788926"/>
              <a:ext cx="3980920" cy="1358535"/>
            </a:xfrm>
            <a:prstGeom prst="ellipse">
              <a:avLst/>
            </a:prstGeom>
            <a:noFill/>
            <a:ln w="2857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bg1">
                    <a:lumMod val="50000"/>
                  </a:schemeClr>
                </a:solidFill>
                <a:effectLst/>
                <a:latin typeface="Arial" panose="020B0604020202020204" pitchFamily="34" charset="0"/>
              </a:endParaRPr>
            </a:p>
          </p:txBody>
        </p:sp>
        <p:sp>
          <p:nvSpPr>
            <p:cNvPr id="9" name="TextBox 8">
              <a:extLst>
                <a:ext uri="{FF2B5EF4-FFF2-40B4-BE49-F238E27FC236}">
                  <a16:creationId xmlns:a16="http://schemas.microsoft.com/office/drawing/2014/main" id="{C2267B55-1C86-DC5D-90AC-046A5C6990A3}"/>
                </a:ext>
              </a:extLst>
            </p:cNvPr>
            <p:cNvSpPr txBox="1"/>
            <p:nvPr/>
          </p:nvSpPr>
          <p:spPr>
            <a:xfrm>
              <a:off x="1706437" y="1809122"/>
              <a:ext cx="1022071" cy="307777"/>
            </a:xfrm>
            <a:prstGeom prst="rect">
              <a:avLst/>
            </a:prstGeom>
            <a:noFill/>
            <a:ln>
              <a:solidFill>
                <a:schemeClr val="bg1">
                  <a:lumMod val="50000"/>
                </a:schemeClr>
              </a:solidFill>
            </a:ln>
          </p:spPr>
          <p:txBody>
            <a:bodyPr wrap="square" rtlCol="0">
              <a:spAutoFit/>
            </a:bodyPr>
            <a:lstStyle/>
            <a:p>
              <a:pPr algn="ctr"/>
              <a:r>
                <a:rPr lang="en-US" sz="1400" b="0" u="none" dirty="0">
                  <a:solidFill>
                    <a:schemeClr val="bg1">
                      <a:lumMod val="50000"/>
                    </a:schemeClr>
                  </a:solidFill>
                  <a:latin typeface="Arial" pitchFamily="34" charset="0"/>
                  <a:cs typeface="Arial" pitchFamily="34" charset="0"/>
                </a:rPr>
                <a:t>Population</a:t>
              </a:r>
            </a:p>
          </p:txBody>
        </p:sp>
        <p:grpSp>
          <p:nvGrpSpPr>
            <p:cNvPr id="10" name="Group 9">
              <a:extLst>
                <a:ext uri="{FF2B5EF4-FFF2-40B4-BE49-F238E27FC236}">
                  <a16:creationId xmlns:a16="http://schemas.microsoft.com/office/drawing/2014/main" id="{FE4717D3-486C-7D9B-879A-B286D88EA412}"/>
                </a:ext>
              </a:extLst>
            </p:cNvPr>
            <p:cNvGrpSpPr/>
            <p:nvPr/>
          </p:nvGrpSpPr>
          <p:grpSpPr>
            <a:xfrm>
              <a:off x="848213" y="2170629"/>
              <a:ext cx="2737771" cy="503242"/>
              <a:chOff x="1560342" y="2222205"/>
              <a:chExt cx="5802707" cy="1066622"/>
            </a:xfrm>
          </p:grpSpPr>
          <p:sp>
            <p:nvSpPr>
              <p:cNvPr id="12" name="Oval 11">
                <a:extLst>
                  <a:ext uri="{FF2B5EF4-FFF2-40B4-BE49-F238E27FC236}">
                    <a16:creationId xmlns:a16="http://schemas.microsoft.com/office/drawing/2014/main" id="{0494407D-3FCC-9C5D-88E7-4077C43C02C6}"/>
                  </a:ext>
                </a:extLst>
              </p:cNvPr>
              <p:cNvSpPr/>
              <p:nvPr/>
            </p:nvSpPr>
            <p:spPr bwMode="auto">
              <a:xfrm>
                <a:off x="1560342" y="2225571"/>
                <a:ext cx="1326398" cy="1063256"/>
              </a:xfrm>
              <a:prstGeom prst="ellipse">
                <a:avLst/>
              </a:prstGeom>
              <a:noFill/>
              <a:ln w="2857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bg1">
                      <a:lumMod val="50000"/>
                    </a:schemeClr>
                  </a:solidFill>
                  <a:effectLst/>
                  <a:latin typeface="Arial" panose="020B0604020202020204" pitchFamily="34" charset="0"/>
                </a:endParaRPr>
              </a:p>
            </p:txBody>
          </p:sp>
          <p:sp>
            <p:nvSpPr>
              <p:cNvPr id="13" name="Oval 12">
                <a:extLst>
                  <a:ext uri="{FF2B5EF4-FFF2-40B4-BE49-F238E27FC236}">
                    <a16:creationId xmlns:a16="http://schemas.microsoft.com/office/drawing/2014/main" id="{3F82D132-6B13-3A58-04E9-58D0D7F06C59}"/>
                  </a:ext>
                </a:extLst>
              </p:cNvPr>
              <p:cNvSpPr/>
              <p:nvPr/>
            </p:nvSpPr>
            <p:spPr bwMode="auto">
              <a:xfrm>
                <a:off x="3052445" y="2222205"/>
                <a:ext cx="1326398" cy="1063256"/>
              </a:xfrm>
              <a:prstGeom prst="ellipse">
                <a:avLst/>
              </a:prstGeom>
              <a:noFill/>
              <a:ln w="2857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bg1">
                      <a:lumMod val="50000"/>
                    </a:schemeClr>
                  </a:solidFill>
                  <a:effectLst/>
                  <a:latin typeface="Arial" panose="020B0604020202020204" pitchFamily="34" charset="0"/>
                </a:endParaRPr>
              </a:p>
            </p:txBody>
          </p:sp>
          <p:sp>
            <p:nvSpPr>
              <p:cNvPr id="14" name="TextBox 13">
                <a:extLst>
                  <a:ext uri="{FF2B5EF4-FFF2-40B4-BE49-F238E27FC236}">
                    <a16:creationId xmlns:a16="http://schemas.microsoft.com/office/drawing/2014/main" id="{519C2C75-303B-D40F-6259-1B4BF51DC505}"/>
                  </a:ext>
                </a:extLst>
              </p:cNvPr>
              <p:cNvSpPr txBox="1"/>
              <p:nvPr/>
            </p:nvSpPr>
            <p:spPr>
              <a:xfrm>
                <a:off x="2882224" y="2422570"/>
                <a:ext cx="1621944" cy="652334"/>
              </a:xfrm>
              <a:prstGeom prst="rect">
                <a:avLst/>
              </a:prstGeom>
              <a:noFill/>
              <a:ln>
                <a:noFill/>
              </a:ln>
            </p:spPr>
            <p:txBody>
              <a:bodyPr wrap="square" rtlCol="0">
                <a:spAutoFit/>
              </a:bodyPr>
              <a:lstStyle/>
              <a:p>
                <a:pPr algn="ctr"/>
                <a:r>
                  <a:rPr lang="en-US" sz="1400" b="0" u="none" dirty="0">
                    <a:solidFill>
                      <a:schemeClr val="bg1">
                        <a:lumMod val="50000"/>
                      </a:schemeClr>
                    </a:solidFill>
                    <a:latin typeface="Arial" pitchFamily="34" charset="0"/>
                    <a:cs typeface="Arial" pitchFamily="34" charset="0"/>
                  </a:rPr>
                  <a:t>Gallup</a:t>
                </a:r>
              </a:p>
            </p:txBody>
          </p:sp>
          <p:sp>
            <p:nvSpPr>
              <p:cNvPr id="15" name="Oval 14">
                <a:extLst>
                  <a:ext uri="{FF2B5EF4-FFF2-40B4-BE49-F238E27FC236}">
                    <a16:creationId xmlns:a16="http://schemas.microsoft.com/office/drawing/2014/main" id="{A7EC444B-4D8D-7105-6A54-6DCB96E3EA98}"/>
                  </a:ext>
                </a:extLst>
              </p:cNvPr>
              <p:cNvSpPr/>
              <p:nvPr/>
            </p:nvSpPr>
            <p:spPr bwMode="auto">
              <a:xfrm>
                <a:off x="4544548" y="2222205"/>
                <a:ext cx="1326398" cy="1063256"/>
              </a:xfrm>
              <a:prstGeom prst="ellipse">
                <a:avLst/>
              </a:prstGeom>
              <a:noFill/>
              <a:ln w="2857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bg1">
                      <a:lumMod val="50000"/>
                    </a:schemeClr>
                  </a:solidFill>
                  <a:effectLst/>
                  <a:latin typeface="Arial" panose="020B0604020202020204" pitchFamily="34" charset="0"/>
                </a:endParaRPr>
              </a:p>
            </p:txBody>
          </p:sp>
          <p:sp>
            <p:nvSpPr>
              <p:cNvPr id="16" name="TextBox 15">
                <a:extLst>
                  <a:ext uri="{FF2B5EF4-FFF2-40B4-BE49-F238E27FC236}">
                    <a16:creationId xmlns:a16="http://schemas.microsoft.com/office/drawing/2014/main" id="{7F378488-CB22-61E4-C3B0-0902CC1F2EE3}"/>
                  </a:ext>
                </a:extLst>
              </p:cNvPr>
              <p:cNvSpPr txBox="1"/>
              <p:nvPr/>
            </p:nvSpPr>
            <p:spPr>
              <a:xfrm>
                <a:off x="4493951" y="2410347"/>
                <a:ext cx="1478188" cy="652334"/>
              </a:xfrm>
              <a:prstGeom prst="rect">
                <a:avLst/>
              </a:prstGeom>
              <a:noFill/>
              <a:ln>
                <a:noFill/>
              </a:ln>
            </p:spPr>
            <p:txBody>
              <a:bodyPr wrap="square" rtlCol="0">
                <a:spAutoFit/>
              </a:bodyPr>
              <a:lstStyle/>
              <a:p>
                <a:pPr algn="ctr"/>
                <a:r>
                  <a:rPr lang="en-US" sz="1400" b="0" u="none" dirty="0">
                    <a:solidFill>
                      <a:schemeClr val="bg1">
                        <a:lumMod val="50000"/>
                      </a:schemeClr>
                    </a:solidFill>
                    <a:latin typeface="Arial" pitchFamily="34" charset="0"/>
                    <a:cs typeface="Arial" pitchFamily="34" charset="0"/>
                  </a:rPr>
                  <a:t>Zogby</a:t>
                </a:r>
              </a:p>
            </p:txBody>
          </p:sp>
          <p:sp>
            <p:nvSpPr>
              <p:cNvPr id="17" name="Oval 16">
                <a:extLst>
                  <a:ext uri="{FF2B5EF4-FFF2-40B4-BE49-F238E27FC236}">
                    <a16:creationId xmlns:a16="http://schemas.microsoft.com/office/drawing/2014/main" id="{DC48E277-16F3-C080-6F08-69FC33FA1167}"/>
                  </a:ext>
                </a:extLst>
              </p:cNvPr>
              <p:cNvSpPr/>
              <p:nvPr/>
            </p:nvSpPr>
            <p:spPr bwMode="auto">
              <a:xfrm>
                <a:off x="6036651" y="2222205"/>
                <a:ext cx="1326398" cy="1063256"/>
              </a:xfrm>
              <a:prstGeom prst="ellipse">
                <a:avLst/>
              </a:prstGeom>
              <a:noFill/>
              <a:ln w="2857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900" b="1" i="0" u="sng" strike="noStrike" cap="none" normalizeH="0" baseline="0" dirty="0">
                  <a:ln>
                    <a:noFill/>
                  </a:ln>
                  <a:solidFill>
                    <a:schemeClr val="bg1">
                      <a:lumMod val="50000"/>
                    </a:schemeClr>
                  </a:solidFill>
                  <a:effectLst/>
                  <a:latin typeface="Arial" panose="020B0604020202020204" pitchFamily="34" charset="0"/>
                </a:endParaRPr>
              </a:p>
            </p:txBody>
          </p:sp>
          <p:sp>
            <p:nvSpPr>
              <p:cNvPr id="18" name="TextBox 17">
                <a:extLst>
                  <a:ext uri="{FF2B5EF4-FFF2-40B4-BE49-F238E27FC236}">
                    <a16:creationId xmlns:a16="http://schemas.microsoft.com/office/drawing/2014/main" id="{36EAAAB6-42F3-B6F6-F39D-48B1AA58D72C}"/>
                  </a:ext>
                </a:extLst>
              </p:cNvPr>
              <p:cNvSpPr txBox="1"/>
              <p:nvPr/>
            </p:nvSpPr>
            <p:spPr>
              <a:xfrm>
                <a:off x="6121405" y="2425264"/>
                <a:ext cx="1094928" cy="652334"/>
              </a:xfrm>
              <a:prstGeom prst="rect">
                <a:avLst/>
              </a:prstGeom>
              <a:noFill/>
              <a:ln>
                <a:noFill/>
              </a:ln>
            </p:spPr>
            <p:txBody>
              <a:bodyPr wrap="square" rtlCol="0">
                <a:spAutoFit/>
              </a:bodyPr>
              <a:lstStyle/>
              <a:p>
                <a:pPr algn="ctr"/>
                <a:r>
                  <a:rPr lang="en-US" sz="1400" b="0" u="none" dirty="0">
                    <a:solidFill>
                      <a:schemeClr val="bg1">
                        <a:lumMod val="50000"/>
                      </a:schemeClr>
                    </a:solidFill>
                    <a:latin typeface="Arial" pitchFamily="34" charset="0"/>
                    <a:cs typeface="Arial" pitchFamily="34" charset="0"/>
                  </a:rPr>
                  <a:t>Etc</a:t>
                </a:r>
              </a:p>
            </p:txBody>
          </p:sp>
        </p:grpSp>
        <p:sp>
          <p:nvSpPr>
            <p:cNvPr id="11" name="TextBox 10">
              <a:extLst>
                <a:ext uri="{FF2B5EF4-FFF2-40B4-BE49-F238E27FC236}">
                  <a16:creationId xmlns:a16="http://schemas.microsoft.com/office/drawing/2014/main" id="{384FDA3D-2259-3679-521C-F18D75D3FCA6}"/>
                </a:ext>
              </a:extLst>
            </p:cNvPr>
            <p:cNvSpPr txBox="1"/>
            <p:nvPr/>
          </p:nvSpPr>
          <p:spPr>
            <a:xfrm>
              <a:off x="829161" y="2263801"/>
              <a:ext cx="644573" cy="307777"/>
            </a:xfrm>
            <a:prstGeom prst="rect">
              <a:avLst/>
            </a:prstGeom>
            <a:noFill/>
            <a:ln>
              <a:noFill/>
            </a:ln>
          </p:spPr>
          <p:txBody>
            <a:bodyPr wrap="square" rtlCol="0">
              <a:spAutoFit/>
            </a:bodyPr>
            <a:lstStyle/>
            <a:p>
              <a:pPr algn="ctr"/>
              <a:r>
                <a:rPr lang="en-US" sz="1400" b="0" u="none" dirty="0">
                  <a:solidFill>
                    <a:schemeClr val="bg1">
                      <a:lumMod val="50000"/>
                    </a:schemeClr>
                  </a:solidFill>
                  <a:latin typeface="Arial" pitchFamily="34" charset="0"/>
                  <a:cs typeface="Arial" pitchFamily="34" charset="0"/>
                </a:rPr>
                <a:t>Fox</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9F49544-8E5C-254A-4664-3DD5AE68E595}"/>
                    </a:ext>
                  </a:extLst>
                </p:cNvPr>
                <p:cNvSpPr txBox="1"/>
                <p:nvPr/>
              </p:nvSpPr>
              <p:spPr>
                <a:xfrm>
                  <a:off x="986614" y="2673585"/>
                  <a:ext cx="340558" cy="307777"/>
                </a:xfrm>
                <a:prstGeom prst="rect">
                  <a:avLst/>
                </a:prstGeom>
                <a:noFill/>
                <a:ln>
                  <a:solidFill>
                    <a:schemeClr val="bg1">
                      <a:lumMod val="50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chemeClr val="bg1">
                                    <a:lumMod val="50000"/>
                                  </a:schemeClr>
                                </a:solidFill>
                                <a:latin typeface="Cambria Math" panose="02040503050406030204" pitchFamily="18" charset="0"/>
                                <a:cs typeface="Arial" pitchFamily="34" charset="0"/>
                              </a:rPr>
                            </m:ctrlPr>
                          </m:sSubPr>
                          <m:e>
                            <m:acc>
                              <m:accPr>
                                <m:chr m:val="̅"/>
                                <m:ctrlPr>
                                  <a:rPr lang="en-US" sz="1400" b="0" i="1" u="none" dirty="0" smtClean="0">
                                    <a:solidFill>
                                      <a:schemeClr val="bg1">
                                        <a:lumMod val="50000"/>
                                      </a:schemeClr>
                                    </a:solidFill>
                                    <a:latin typeface="Cambria Math" panose="02040503050406030204" pitchFamily="18" charset="0"/>
                                    <a:cs typeface="Arial" pitchFamily="34" charset="0"/>
                                  </a:rPr>
                                </m:ctrlPr>
                              </m:accPr>
                              <m:e>
                                <m:r>
                                  <a:rPr lang="en-US" sz="1400" b="0" i="1" u="none" dirty="0" smtClean="0">
                                    <a:solidFill>
                                      <a:schemeClr val="bg1">
                                        <a:lumMod val="50000"/>
                                      </a:schemeClr>
                                    </a:solidFill>
                                    <a:latin typeface="Cambria Math" panose="02040503050406030204" pitchFamily="18" charset="0"/>
                                    <a:cs typeface="Arial" pitchFamily="34" charset="0"/>
                                  </a:rPr>
                                  <m:t>𝑥</m:t>
                                </m:r>
                              </m:e>
                            </m:acc>
                          </m:e>
                          <m:sub>
                            <m:r>
                              <a:rPr lang="en-US" sz="1400" b="0" i="1" u="none" dirty="0" smtClean="0">
                                <a:solidFill>
                                  <a:schemeClr val="bg1">
                                    <a:lumMod val="50000"/>
                                  </a:schemeClr>
                                </a:solidFill>
                                <a:latin typeface="Cambria Math" panose="02040503050406030204" pitchFamily="18" charset="0"/>
                                <a:cs typeface="Arial" pitchFamily="34" charset="0"/>
                              </a:rPr>
                              <m:t>1</m:t>
                            </m:r>
                          </m:sub>
                        </m:sSub>
                      </m:oMath>
                    </m:oMathPara>
                  </a14:m>
                  <a:endParaRPr lang="en-US" sz="1400" b="0" u="none" dirty="0">
                    <a:solidFill>
                      <a:schemeClr val="bg1">
                        <a:lumMod val="50000"/>
                      </a:schemeClr>
                    </a:solidFill>
                    <a:cs typeface="Arial" pitchFamily="34" charset="0"/>
                  </a:endParaRPr>
                </a:p>
              </p:txBody>
            </p:sp>
          </mc:Choice>
          <mc:Fallback xmlns="">
            <p:sp>
              <p:nvSpPr>
                <p:cNvPr id="34" name="TextBox 33">
                  <a:extLst>
                    <a:ext uri="{FF2B5EF4-FFF2-40B4-BE49-F238E27FC236}">
                      <a16:creationId xmlns:a16="http://schemas.microsoft.com/office/drawing/2014/main" id="{A9F49544-8E5C-254A-4664-3DD5AE68E595}"/>
                    </a:ext>
                  </a:extLst>
                </p:cNvPr>
                <p:cNvSpPr txBox="1">
                  <a:spLocks noRot="1" noChangeAspect="1" noMove="1" noResize="1" noEditPoints="1" noAdjustHandles="1" noChangeArrowheads="1" noChangeShapeType="1" noTextEdit="1"/>
                </p:cNvSpPr>
                <p:nvPr/>
              </p:nvSpPr>
              <p:spPr>
                <a:xfrm>
                  <a:off x="986614" y="2673585"/>
                  <a:ext cx="340558" cy="307777"/>
                </a:xfrm>
                <a:prstGeom prst="rect">
                  <a:avLst/>
                </a:prstGeom>
                <a:blipFill>
                  <a:blip r:embed="rId4"/>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F83EA0-E37A-B4D8-B9A4-D6618F9B0AFF}"/>
                    </a:ext>
                  </a:extLst>
                </p:cNvPr>
                <p:cNvSpPr txBox="1"/>
                <p:nvPr/>
              </p:nvSpPr>
              <p:spPr>
                <a:xfrm>
                  <a:off x="1734805" y="2667474"/>
                  <a:ext cx="340558" cy="307777"/>
                </a:xfrm>
                <a:prstGeom prst="rect">
                  <a:avLst/>
                </a:prstGeom>
                <a:noFill/>
                <a:ln>
                  <a:solidFill>
                    <a:schemeClr val="bg1">
                      <a:lumMod val="50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chemeClr val="bg1">
                                    <a:lumMod val="50000"/>
                                  </a:schemeClr>
                                </a:solidFill>
                                <a:latin typeface="Cambria Math" panose="02040503050406030204" pitchFamily="18" charset="0"/>
                                <a:cs typeface="Arial" pitchFamily="34" charset="0"/>
                              </a:rPr>
                            </m:ctrlPr>
                          </m:sSubPr>
                          <m:e>
                            <m:acc>
                              <m:accPr>
                                <m:chr m:val="̅"/>
                                <m:ctrlPr>
                                  <a:rPr lang="en-US" sz="1400" b="0" i="1" u="none" dirty="0" smtClean="0">
                                    <a:solidFill>
                                      <a:schemeClr val="bg1">
                                        <a:lumMod val="50000"/>
                                      </a:schemeClr>
                                    </a:solidFill>
                                    <a:latin typeface="Cambria Math" panose="02040503050406030204" pitchFamily="18" charset="0"/>
                                    <a:cs typeface="Arial" pitchFamily="34" charset="0"/>
                                  </a:rPr>
                                </m:ctrlPr>
                              </m:accPr>
                              <m:e>
                                <m:r>
                                  <a:rPr lang="en-US" sz="1400" b="0" i="1" u="none" dirty="0" smtClean="0">
                                    <a:solidFill>
                                      <a:schemeClr val="bg1">
                                        <a:lumMod val="50000"/>
                                      </a:schemeClr>
                                    </a:solidFill>
                                    <a:latin typeface="Cambria Math" panose="02040503050406030204" pitchFamily="18" charset="0"/>
                                    <a:cs typeface="Arial" pitchFamily="34" charset="0"/>
                                  </a:rPr>
                                  <m:t>𝑥</m:t>
                                </m:r>
                              </m:e>
                            </m:acc>
                          </m:e>
                          <m:sub>
                            <m:r>
                              <a:rPr lang="en-US" sz="1400" b="0" i="1" u="none" dirty="0" smtClean="0">
                                <a:solidFill>
                                  <a:schemeClr val="bg1">
                                    <a:lumMod val="50000"/>
                                  </a:schemeClr>
                                </a:solidFill>
                                <a:latin typeface="Cambria Math" panose="02040503050406030204" pitchFamily="18" charset="0"/>
                                <a:cs typeface="Arial" pitchFamily="34" charset="0"/>
                              </a:rPr>
                              <m:t>2</m:t>
                            </m:r>
                          </m:sub>
                        </m:sSub>
                      </m:oMath>
                    </m:oMathPara>
                  </a14:m>
                  <a:endParaRPr lang="en-US" sz="1400" b="0" u="none" dirty="0">
                    <a:solidFill>
                      <a:schemeClr val="bg1">
                        <a:lumMod val="50000"/>
                      </a:schemeClr>
                    </a:solidFill>
                    <a:cs typeface="Arial" pitchFamily="34" charset="0"/>
                  </a:endParaRPr>
                </a:p>
              </p:txBody>
            </p:sp>
          </mc:Choice>
          <mc:Fallback xmlns="">
            <p:sp>
              <p:nvSpPr>
                <p:cNvPr id="36" name="TextBox 35">
                  <a:extLst>
                    <a:ext uri="{FF2B5EF4-FFF2-40B4-BE49-F238E27FC236}">
                      <a16:creationId xmlns:a16="http://schemas.microsoft.com/office/drawing/2014/main" id="{F4F83EA0-E37A-B4D8-B9A4-D6618F9B0AFF}"/>
                    </a:ext>
                  </a:extLst>
                </p:cNvPr>
                <p:cNvSpPr txBox="1">
                  <a:spLocks noRot="1" noChangeAspect="1" noMove="1" noResize="1" noEditPoints="1" noAdjustHandles="1" noChangeArrowheads="1" noChangeShapeType="1" noTextEdit="1"/>
                </p:cNvSpPr>
                <p:nvPr/>
              </p:nvSpPr>
              <p:spPr>
                <a:xfrm>
                  <a:off x="1734805" y="2667474"/>
                  <a:ext cx="340558" cy="307777"/>
                </a:xfrm>
                <a:prstGeom prst="rect">
                  <a:avLst/>
                </a:prstGeom>
                <a:blipFill>
                  <a:blip r:embed="rId5"/>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332AA4D-3E31-96B2-8DE4-6006F75B65AC}"/>
                    </a:ext>
                  </a:extLst>
                </p:cNvPr>
                <p:cNvSpPr txBox="1"/>
                <p:nvPr/>
              </p:nvSpPr>
              <p:spPr>
                <a:xfrm>
                  <a:off x="2437198" y="2661124"/>
                  <a:ext cx="340558" cy="307777"/>
                </a:xfrm>
                <a:prstGeom prst="rect">
                  <a:avLst/>
                </a:prstGeom>
                <a:noFill/>
                <a:ln>
                  <a:solidFill>
                    <a:schemeClr val="bg1">
                      <a:lumMod val="50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chemeClr val="bg1">
                                    <a:lumMod val="50000"/>
                                  </a:schemeClr>
                                </a:solidFill>
                                <a:latin typeface="Cambria Math" panose="02040503050406030204" pitchFamily="18" charset="0"/>
                                <a:cs typeface="Arial" pitchFamily="34" charset="0"/>
                              </a:rPr>
                            </m:ctrlPr>
                          </m:sSubPr>
                          <m:e>
                            <m:acc>
                              <m:accPr>
                                <m:chr m:val="̅"/>
                                <m:ctrlPr>
                                  <a:rPr lang="en-US" sz="1400" b="0" i="1" u="none" dirty="0" smtClean="0">
                                    <a:solidFill>
                                      <a:schemeClr val="bg1">
                                        <a:lumMod val="50000"/>
                                      </a:schemeClr>
                                    </a:solidFill>
                                    <a:latin typeface="Cambria Math" panose="02040503050406030204" pitchFamily="18" charset="0"/>
                                    <a:cs typeface="Arial" pitchFamily="34" charset="0"/>
                                  </a:rPr>
                                </m:ctrlPr>
                              </m:accPr>
                              <m:e>
                                <m:r>
                                  <a:rPr lang="en-US" sz="1400" b="0" i="1" u="none" dirty="0">
                                    <a:solidFill>
                                      <a:schemeClr val="bg1">
                                        <a:lumMod val="50000"/>
                                      </a:schemeClr>
                                    </a:solidFill>
                                    <a:latin typeface="Cambria Math" panose="02040503050406030204" pitchFamily="18" charset="0"/>
                                    <a:cs typeface="Arial" pitchFamily="34" charset="0"/>
                                  </a:rPr>
                                  <m:t>𝑥</m:t>
                                </m:r>
                              </m:e>
                            </m:acc>
                          </m:e>
                          <m:sub>
                            <m:r>
                              <a:rPr lang="en-US" sz="1400" b="0" i="1" u="none" dirty="0" smtClean="0">
                                <a:solidFill>
                                  <a:schemeClr val="bg1">
                                    <a:lumMod val="50000"/>
                                  </a:schemeClr>
                                </a:solidFill>
                                <a:latin typeface="Cambria Math" panose="02040503050406030204" pitchFamily="18" charset="0"/>
                                <a:cs typeface="Arial" pitchFamily="34" charset="0"/>
                              </a:rPr>
                              <m:t>3</m:t>
                            </m:r>
                          </m:sub>
                        </m:sSub>
                      </m:oMath>
                    </m:oMathPara>
                  </a14:m>
                  <a:endParaRPr lang="en-US" sz="1400" b="0" u="none" dirty="0">
                    <a:solidFill>
                      <a:schemeClr val="bg1">
                        <a:lumMod val="50000"/>
                      </a:schemeClr>
                    </a:solidFill>
                    <a:cs typeface="Arial" pitchFamily="34" charset="0"/>
                  </a:endParaRPr>
                </a:p>
              </p:txBody>
            </p:sp>
          </mc:Choice>
          <mc:Fallback xmlns="">
            <p:sp>
              <p:nvSpPr>
                <p:cNvPr id="38" name="TextBox 37">
                  <a:extLst>
                    <a:ext uri="{FF2B5EF4-FFF2-40B4-BE49-F238E27FC236}">
                      <a16:creationId xmlns:a16="http://schemas.microsoft.com/office/drawing/2014/main" id="{0332AA4D-3E31-96B2-8DE4-6006F75B65AC}"/>
                    </a:ext>
                  </a:extLst>
                </p:cNvPr>
                <p:cNvSpPr txBox="1">
                  <a:spLocks noRot="1" noChangeAspect="1" noMove="1" noResize="1" noEditPoints="1" noAdjustHandles="1" noChangeArrowheads="1" noChangeShapeType="1" noTextEdit="1"/>
                </p:cNvSpPr>
                <p:nvPr/>
              </p:nvSpPr>
              <p:spPr>
                <a:xfrm>
                  <a:off x="2437198" y="2661124"/>
                  <a:ext cx="340558" cy="307777"/>
                </a:xfrm>
                <a:prstGeom prst="rect">
                  <a:avLst/>
                </a:prstGeom>
                <a:blipFill>
                  <a:blip r:embed="rId6"/>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33F31DB-A1DF-F271-2DFA-7586233176B8}"/>
                    </a:ext>
                  </a:extLst>
                </p:cNvPr>
                <p:cNvSpPr txBox="1"/>
                <p:nvPr/>
              </p:nvSpPr>
              <p:spPr>
                <a:xfrm>
                  <a:off x="3139591" y="2658330"/>
                  <a:ext cx="340558" cy="325089"/>
                </a:xfrm>
                <a:prstGeom prst="rect">
                  <a:avLst/>
                </a:prstGeom>
                <a:noFill/>
                <a:ln>
                  <a:solidFill>
                    <a:schemeClr val="bg1">
                      <a:lumMod val="50000"/>
                    </a:schemeClr>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400" b="0" i="1" u="none" dirty="0" smtClean="0">
                                <a:solidFill>
                                  <a:schemeClr val="bg1">
                                    <a:lumMod val="50000"/>
                                  </a:schemeClr>
                                </a:solidFill>
                                <a:latin typeface="Cambria Math" panose="02040503050406030204" pitchFamily="18" charset="0"/>
                                <a:cs typeface="Arial" pitchFamily="34" charset="0"/>
                              </a:rPr>
                            </m:ctrlPr>
                          </m:sSubPr>
                          <m:e>
                            <m:acc>
                              <m:accPr>
                                <m:chr m:val="̅"/>
                                <m:ctrlPr>
                                  <a:rPr lang="en-US" sz="1400" b="0" i="1" u="none" dirty="0" smtClean="0">
                                    <a:solidFill>
                                      <a:schemeClr val="bg1">
                                        <a:lumMod val="50000"/>
                                      </a:schemeClr>
                                    </a:solidFill>
                                    <a:latin typeface="Cambria Math" panose="02040503050406030204" pitchFamily="18" charset="0"/>
                                    <a:cs typeface="Arial" pitchFamily="34" charset="0"/>
                                  </a:rPr>
                                </m:ctrlPr>
                              </m:accPr>
                              <m:e>
                                <m:r>
                                  <a:rPr lang="en-US" sz="1400" b="0" i="1" u="none" dirty="0" smtClean="0">
                                    <a:solidFill>
                                      <a:schemeClr val="bg1">
                                        <a:lumMod val="50000"/>
                                      </a:schemeClr>
                                    </a:solidFill>
                                    <a:latin typeface="Cambria Math" panose="02040503050406030204" pitchFamily="18" charset="0"/>
                                    <a:cs typeface="Arial" pitchFamily="34" charset="0"/>
                                  </a:rPr>
                                  <m:t>𝑥</m:t>
                                </m:r>
                              </m:e>
                            </m:acc>
                          </m:e>
                          <m:sub>
                            <m:r>
                              <a:rPr lang="en-US" sz="1400" b="0" i="1" u="none" dirty="0" smtClean="0">
                                <a:solidFill>
                                  <a:schemeClr val="bg1">
                                    <a:lumMod val="50000"/>
                                  </a:schemeClr>
                                </a:solidFill>
                                <a:latin typeface="Cambria Math" panose="02040503050406030204" pitchFamily="18" charset="0"/>
                                <a:cs typeface="Arial" pitchFamily="34" charset="0"/>
                              </a:rPr>
                              <m:t>𝑗</m:t>
                            </m:r>
                          </m:sub>
                        </m:sSub>
                      </m:oMath>
                    </m:oMathPara>
                  </a14:m>
                  <a:endParaRPr lang="en-US" sz="1400" b="0" u="none" dirty="0">
                    <a:solidFill>
                      <a:schemeClr val="bg1">
                        <a:lumMod val="50000"/>
                      </a:schemeClr>
                    </a:solidFill>
                    <a:cs typeface="Arial" pitchFamily="34" charset="0"/>
                  </a:endParaRPr>
                </a:p>
              </p:txBody>
            </p:sp>
          </mc:Choice>
          <mc:Fallback xmlns="">
            <p:sp>
              <p:nvSpPr>
                <p:cNvPr id="39" name="TextBox 38">
                  <a:extLst>
                    <a:ext uri="{FF2B5EF4-FFF2-40B4-BE49-F238E27FC236}">
                      <a16:creationId xmlns:a16="http://schemas.microsoft.com/office/drawing/2014/main" id="{E33F31DB-A1DF-F271-2DFA-7586233176B8}"/>
                    </a:ext>
                  </a:extLst>
                </p:cNvPr>
                <p:cNvSpPr txBox="1">
                  <a:spLocks noRot="1" noChangeAspect="1" noMove="1" noResize="1" noEditPoints="1" noAdjustHandles="1" noChangeArrowheads="1" noChangeShapeType="1" noTextEdit="1"/>
                </p:cNvSpPr>
                <p:nvPr/>
              </p:nvSpPr>
              <p:spPr>
                <a:xfrm>
                  <a:off x="3139591" y="2658330"/>
                  <a:ext cx="340558" cy="325089"/>
                </a:xfrm>
                <a:prstGeom prst="rect">
                  <a:avLst/>
                </a:prstGeom>
                <a:blipFill>
                  <a:blip r:embed="rId7"/>
                  <a:stretch>
                    <a:fillRect/>
                  </a:stretch>
                </a:blipFill>
                <a:ln>
                  <a:solidFill>
                    <a:schemeClr val="bg1">
                      <a:lumMod val="50000"/>
                    </a:schemeClr>
                  </a:solidFill>
                </a:ln>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FFEF341B-9092-5458-181E-71DF57CA9FD3}"/>
              </a:ext>
            </a:extLst>
          </p:cNvPr>
          <p:cNvSpPr/>
          <p:nvPr/>
        </p:nvSpPr>
        <p:spPr bwMode="auto">
          <a:xfrm>
            <a:off x="7138721" y="3294756"/>
            <a:ext cx="101598" cy="1009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4" name="Freeform: Shape 43">
            <a:extLst>
              <a:ext uri="{FF2B5EF4-FFF2-40B4-BE49-F238E27FC236}">
                <a16:creationId xmlns:a16="http://schemas.microsoft.com/office/drawing/2014/main" id="{1A5FAF61-7834-1CA3-430E-D2D57F6621B6}"/>
              </a:ext>
            </a:extLst>
          </p:cNvPr>
          <p:cNvSpPr/>
          <p:nvPr/>
        </p:nvSpPr>
        <p:spPr bwMode="auto">
          <a:xfrm flipV="1">
            <a:off x="3556012" y="3251478"/>
            <a:ext cx="3540749" cy="368167"/>
          </a:xfrm>
          <a:custGeom>
            <a:avLst/>
            <a:gdLst>
              <a:gd name="connsiteX0" fmla="*/ 0 w 4229100"/>
              <a:gd name="connsiteY0" fmla="*/ 902818 h 902818"/>
              <a:gd name="connsiteX1" fmla="*/ 2545080 w 4229100"/>
              <a:gd name="connsiteY1" fmla="*/ 8738 h 902818"/>
              <a:gd name="connsiteX2" fmla="*/ 4229100 w 4229100"/>
              <a:gd name="connsiteY2" fmla="*/ 524358 h 902818"/>
            </a:gdLst>
            <a:ahLst/>
            <a:cxnLst>
              <a:cxn ang="0">
                <a:pos x="connsiteX0" y="connsiteY0"/>
              </a:cxn>
              <a:cxn ang="0">
                <a:pos x="connsiteX1" y="connsiteY1"/>
              </a:cxn>
              <a:cxn ang="0">
                <a:pos x="connsiteX2" y="connsiteY2"/>
              </a:cxn>
            </a:cxnLst>
            <a:rect l="l" t="t" r="r" b="b"/>
            <a:pathLst>
              <a:path w="4229100" h="902818">
                <a:moveTo>
                  <a:pt x="0" y="902818"/>
                </a:moveTo>
                <a:cubicBezTo>
                  <a:pt x="920115" y="487316"/>
                  <a:pt x="1840230" y="71815"/>
                  <a:pt x="2545080" y="8738"/>
                </a:cubicBezTo>
                <a:cubicBezTo>
                  <a:pt x="3249930" y="-54339"/>
                  <a:pt x="3739515" y="235009"/>
                  <a:pt x="4229100" y="524358"/>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dirty="0">
              <a:latin typeface="Arial" panose="020B0604020202020204" pitchFamily="34" charset="0"/>
            </a:endParaRPr>
          </a:p>
        </p:txBody>
      </p:sp>
      <p:sp>
        <p:nvSpPr>
          <p:cNvPr id="45" name="TextBox 44">
            <a:extLst>
              <a:ext uri="{FF2B5EF4-FFF2-40B4-BE49-F238E27FC236}">
                <a16:creationId xmlns:a16="http://schemas.microsoft.com/office/drawing/2014/main" id="{5C69111C-D2EF-566D-5655-7B4E5C81FE64}"/>
              </a:ext>
            </a:extLst>
          </p:cNvPr>
          <p:cNvSpPr txBox="1"/>
          <p:nvPr/>
        </p:nvSpPr>
        <p:spPr>
          <a:xfrm>
            <a:off x="4319909" y="3239582"/>
            <a:ext cx="822449" cy="600164"/>
          </a:xfrm>
          <a:prstGeom prst="rect">
            <a:avLst/>
          </a:prstGeom>
          <a:noFill/>
        </p:spPr>
        <p:txBody>
          <a:bodyPr wrap="square">
            <a:spAutoFit/>
          </a:bodyPr>
          <a:lstStyle/>
          <a:p>
            <a:pPr algn="ctr"/>
            <a:r>
              <a:rPr lang="en-US" sz="1100" b="0" u="none" dirty="0">
                <a:solidFill>
                  <a:schemeClr val="bg1">
                    <a:lumMod val="50000"/>
                  </a:schemeClr>
                </a:solidFill>
              </a:rPr>
              <a:t>Central Limit Theorem</a:t>
            </a:r>
          </a:p>
        </p:txBody>
      </p:sp>
      <p:sp>
        <p:nvSpPr>
          <p:cNvPr id="7" name="TextBox 6">
            <a:extLst>
              <a:ext uri="{FF2B5EF4-FFF2-40B4-BE49-F238E27FC236}">
                <a16:creationId xmlns:a16="http://schemas.microsoft.com/office/drawing/2014/main" id="{302525AD-2F58-0136-AD84-B38E2263EC25}"/>
              </a:ext>
            </a:extLst>
          </p:cNvPr>
          <p:cNvSpPr txBox="1"/>
          <p:nvPr/>
        </p:nvSpPr>
        <p:spPr>
          <a:xfrm>
            <a:off x="5257798" y="1938191"/>
            <a:ext cx="2823633" cy="338554"/>
          </a:xfrm>
          <a:prstGeom prst="rect">
            <a:avLst/>
          </a:prstGeom>
          <a:noFill/>
        </p:spPr>
        <p:txBody>
          <a:bodyPr wrap="square">
            <a:spAutoFit/>
          </a:bodyPr>
          <a:lstStyle/>
          <a:p>
            <a:pPr algn="ctr"/>
            <a:r>
              <a:rPr lang="en-US" sz="1600" b="0" u="none" dirty="0">
                <a:latin typeface="Arial" panose="020B0604020202020204" pitchFamily="34" charset="0"/>
                <a:cs typeface="Arial" panose="020B0604020202020204" pitchFamily="34" charset="0"/>
              </a:rPr>
              <a:t>Distribution of Poll Results</a:t>
            </a:r>
            <a:endParaRPr lang="en-US" sz="1600" dirty="0">
              <a:latin typeface="Arial" panose="020B0604020202020204" pitchFamily="34" charset="0"/>
            </a:endParaRPr>
          </a:p>
        </p:txBody>
      </p:sp>
      <p:grpSp>
        <p:nvGrpSpPr>
          <p:cNvPr id="47" name="Group 46">
            <a:extLst>
              <a:ext uri="{FF2B5EF4-FFF2-40B4-BE49-F238E27FC236}">
                <a16:creationId xmlns:a16="http://schemas.microsoft.com/office/drawing/2014/main" id="{44C007CA-91AB-D035-1FE1-A49C45698EFB}"/>
              </a:ext>
            </a:extLst>
          </p:cNvPr>
          <p:cNvGrpSpPr/>
          <p:nvPr/>
        </p:nvGrpSpPr>
        <p:grpSpPr>
          <a:xfrm>
            <a:off x="5598090" y="2476091"/>
            <a:ext cx="2035852" cy="1403444"/>
            <a:chOff x="5598090" y="2476091"/>
            <a:chExt cx="2035852" cy="1403444"/>
          </a:xfrm>
        </p:grpSpPr>
        <p:sp>
          <p:nvSpPr>
            <p:cNvPr id="48" name="Oval 47">
              <a:extLst>
                <a:ext uri="{FF2B5EF4-FFF2-40B4-BE49-F238E27FC236}">
                  <a16:creationId xmlns:a16="http://schemas.microsoft.com/office/drawing/2014/main" id="{4DC09992-475C-B64E-B39C-0A62F9BB8BE8}"/>
                </a:ext>
              </a:extLst>
            </p:cNvPr>
            <p:cNvSpPr/>
            <p:nvPr/>
          </p:nvSpPr>
          <p:spPr bwMode="auto">
            <a:xfrm>
              <a:off x="5845113" y="369260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9" name="Oval 48">
              <a:extLst>
                <a:ext uri="{FF2B5EF4-FFF2-40B4-BE49-F238E27FC236}">
                  <a16:creationId xmlns:a16="http://schemas.microsoft.com/office/drawing/2014/main" id="{9E75F38E-5B13-39AE-8686-6662E1336FF1}"/>
                </a:ext>
              </a:extLst>
            </p:cNvPr>
            <p:cNvSpPr/>
            <p:nvPr/>
          </p:nvSpPr>
          <p:spPr bwMode="auto">
            <a:xfrm>
              <a:off x="5994907" y="3498317"/>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0" name="Oval 49">
              <a:extLst>
                <a:ext uri="{FF2B5EF4-FFF2-40B4-BE49-F238E27FC236}">
                  <a16:creationId xmlns:a16="http://schemas.microsoft.com/office/drawing/2014/main" id="{7EB002B4-B0FC-200D-4226-A7DD994B50A2}"/>
                </a:ext>
              </a:extLst>
            </p:cNvPr>
            <p:cNvSpPr/>
            <p:nvPr/>
          </p:nvSpPr>
          <p:spPr bwMode="auto">
            <a:xfrm>
              <a:off x="5598090" y="380536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1" name="Oval 50">
              <a:extLst>
                <a:ext uri="{FF2B5EF4-FFF2-40B4-BE49-F238E27FC236}">
                  <a16:creationId xmlns:a16="http://schemas.microsoft.com/office/drawing/2014/main" id="{72085823-EE40-52FF-004C-FDCEC5D019DE}"/>
                </a:ext>
              </a:extLst>
            </p:cNvPr>
            <p:cNvSpPr/>
            <p:nvPr/>
          </p:nvSpPr>
          <p:spPr bwMode="auto">
            <a:xfrm>
              <a:off x="6129803" y="328033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2" name="Oval 51">
              <a:extLst>
                <a:ext uri="{FF2B5EF4-FFF2-40B4-BE49-F238E27FC236}">
                  <a16:creationId xmlns:a16="http://schemas.microsoft.com/office/drawing/2014/main" id="{FBAD6588-B981-C679-33F6-36445EC9308C}"/>
                </a:ext>
              </a:extLst>
            </p:cNvPr>
            <p:cNvSpPr/>
            <p:nvPr/>
          </p:nvSpPr>
          <p:spPr bwMode="auto">
            <a:xfrm>
              <a:off x="6449627" y="2621403"/>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3" name="Oval 52">
              <a:extLst>
                <a:ext uri="{FF2B5EF4-FFF2-40B4-BE49-F238E27FC236}">
                  <a16:creationId xmlns:a16="http://schemas.microsoft.com/office/drawing/2014/main" id="{4DD6C8F8-0E41-75EA-0BBD-A74162080C67}"/>
                </a:ext>
              </a:extLst>
            </p:cNvPr>
            <p:cNvSpPr/>
            <p:nvPr/>
          </p:nvSpPr>
          <p:spPr bwMode="auto">
            <a:xfrm>
              <a:off x="6628874" y="2476091"/>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4" name="Oval 53">
              <a:extLst>
                <a:ext uri="{FF2B5EF4-FFF2-40B4-BE49-F238E27FC236}">
                  <a16:creationId xmlns:a16="http://schemas.microsoft.com/office/drawing/2014/main" id="{A998E125-E9B7-7008-1EDB-A24685830040}"/>
                </a:ext>
              </a:extLst>
            </p:cNvPr>
            <p:cNvSpPr/>
            <p:nvPr/>
          </p:nvSpPr>
          <p:spPr bwMode="auto">
            <a:xfrm>
              <a:off x="6813651" y="2617418"/>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5" name="Oval 54">
              <a:extLst>
                <a:ext uri="{FF2B5EF4-FFF2-40B4-BE49-F238E27FC236}">
                  <a16:creationId xmlns:a16="http://schemas.microsoft.com/office/drawing/2014/main" id="{AE516C5C-AD2B-F050-CF53-66810D6928A8}"/>
                </a:ext>
              </a:extLst>
            </p:cNvPr>
            <p:cNvSpPr/>
            <p:nvPr/>
          </p:nvSpPr>
          <p:spPr bwMode="auto">
            <a:xfrm>
              <a:off x="7011325" y="3037780"/>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6" name="Oval 55">
              <a:extLst>
                <a:ext uri="{FF2B5EF4-FFF2-40B4-BE49-F238E27FC236}">
                  <a16:creationId xmlns:a16="http://schemas.microsoft.com/office/drawing/2014/main" id="{C62C4B2D-9A65-ED7F-E766-62D72BC838ED}"/>
                </a:ext>
              </a:extLst>
            </p:cNvPr>
            <p:cNvSpPr/>
            <p:nvPr/>
          </p:nvSpPr>
          <p:spPr bwMode="auto">
            <a:xfrm>
              <a:off x="7300115" y="3583425"/>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57" name="Oval 56">
              <a:extLst>
                <a:ext uri="{FF2B5EF4-FFF2-40B4-BE49-F238E27FC236}">
                  <a16:creationId xmlns:a16="http://schemas.microsoft.com/office/drawing/2014/main" id="{6D57482E-3AA5-BA18-0015-A83023A0283D}"/>
                </a:ext>
              </a:extLst>
            </p:cNvPr>
            <p:cNvSpPr/>
            <p:nvPr/>
          </p:nvSpPr>
          <p:spPr bwMode="auto">
            <a:xfrm>
              <a:off x="7549656" y="3768272"/>
              <a:ext cx="84286" cy="74175"/>
            </a:xfrm>
            <a:prstGeom prst="ellipse">
              <a:avLst/>
            </a:prstGeom>
            <a:solidFill>
              <a:schemeClr val="bg1"/>
            </a:solidFill>
            <a:ln w="381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78BBC40-89AC-4D45-4FA5-A13885D6FCDA}"/>
                  </a:ext>
                </a:extLst>
              </p:cNvPr>
              <p:cNvSpPr txBox="1"/>
              <p:nvPr/>
            </p:nvSpPr>
            <p:spPr>
              <a:xfrm>
                <a:off x="4417541" y="3890045"/>
                <a:ext cx="4593349" cy="11380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u="none" smtClean="0">
                          <a:solidFill>
                            <a:srgbClr val="FF0000"/>
                          </a:solidFill>
                          <a:latin typeface="Cambria Math" panose="02040503050406030204" pitchFamily="18" charset="0"/>
                        </a:rPr>
                        <m:t>𝜇</m:t>
                      </m:r>
                      <m:r>
                        <a:rPr lang="en-US" sz="1600" b="0" i="1" u="none" smtClean="0">
                          <a:solidFill>
                            <a:srgbClr val="000000"/>
                          </a:solidFill>
                          <a:latin typeface="Cambria Math" panose="02040503050406030204" pitchFamily="18" charset="0"/>
                        </a:rPr>
                        <m:t> </m:t>
                      </m:r>
                    </m:oMath>
                  </m:oMathPara>
                </a14:m>
                <a:endParaRPr lang="en-US" sz="1600" b="0" u="none" dirty="0">
                  <a:solidFill>
                    <a:srgbClr val="000000"/>
                  </a:solidFill>
                </a:endParaRPr>
              </a:p>
              <a:p>
                <a:pPr algn="ctr"/>
                <a:endParaRPr lang="en-US" sz="1600" b="0" u="none" dirty="0">
                  <a:solidFill>
                    <a:srgbClr val="000000"/>
                  </a:solidFill>
                </a:endParaRPr>
              </a:p>
              <a:p>
                <a:pPr algn="ctr"/>
                <a14:m>
                  <m:oMath xmlns:m="http://schemas.openxmlformats.org/officeDocument/2006/math">
                    <m:r>
                      <a:rPr lang="en-US" sz="1600" b="0" i="1" u="none" dirty="0" smtClean="0">
                        <a:latin typeface="Cambria Math" panose="02040503050406030204" pitchFamily="18" charset="0"/>
                        <a:cs typeface="Arial" panose="020B0604020202020204" pitchFamily="34" charset="0"/>
                      </a:rPr>
                      <m:t>𝑀𝑒𝑎𝑛</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𝑜𝑓</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𝑝𝑜𝑙𝑙𝑠</m:t>
                    </m:r>
                    <m:d>
                      <m:dPr>
                        <m:ctrlPr>
                          <a:rPr lang="en-US" sz="1600" b="0" i="1" u="none" dirty="0">
                            <a:latin typeface="Cambria Math" panose="02040503050406030204" pitchFamily="18" charset="0"/>
                            <a:cs typeface="Arial" panose="020B0604020202020204" pitchFamily="34" charset="0"/>
                          </a:rPr>
                        </m:ctrlPr>
                      </m:dPr>
                      <m:e>
                        <m:r>
                          <a:rPr lang="en-US" sz="1600" b="0" i="1" u="none" dirty="0" smtClean="0">
                            <a:latin typeface="Cambria Math" panose="02040503050406030204" pitchFamily="18" charset="0"/>
                            <a:cs typeface="Arial" panose="020B0604020202020204" pitchFamily="34" charset="0"/>
                          </a:rPr>
                          <m:t> </m:t>
                        </m:r>
                        <m:acc>
                          <m:accPr>
                            <m:chr m:val="̿"/>
                            <m:ctrlPr>
                              <a:rPr lang="en-US" sz="1600" b="0" i="1" u="none" dirty="0" smtClean="0">
                                <a:solidFill>
                                  <a:srgbClr val="00B0F0"/>
                                </a:solidFill>
                                <a:latin typeface="Cambria Math" panose="02040503050406030204" pitchFamily="18" charset="0"/>
                                <a:cs typeface="Arial" panose="020B0604020202020204" pitchFamily="34" charset="0"/>
                              </a:rPr>
                            </m:ctrlPr>
                          </m:accPr>
                          <m:e>
                            <m:r>
                              <a:rPr lang="en-US" sz="1600" b="0" i="1" u="none" dirty="0" smtClean="0">
                                <a:solidFill>
                                  <a:srgbClr val="00B0F0"/>
                                </a:solidFill>
                                <a:latin typeface="Cambria Math" panose="02040503050406030204" pitchFamily="18" charset="0"/>
                                <a:cs typeface="Arial" panose="020B0604020202020204" pitchFamily="34" charset="0"/>
                              </a:rPr>
                              <m:t>𝑥</m:t>
                            </m:r>
                          </m:e>
                        </m:acc>
                        <m:r>
                          <a:rPr lang="en-US" sz="1600" b="0" u="none">
                            <a:latin typeface="Cambria Math" panose="02040503050406030204" pitchFamily="18" charset="0"/>
                          </a:rPr>
                          <m:t>=</m:t>
                        </m:r>
                        <m:f>
                          <m:fPr>
                            <m:ctrlPr>
                              <a:rPr lang="en-US" sz="1600" b="0" i="1" u="none">
                                <a:latin typeface="Cambria Math" panose="02040503050406030204" pitchFamily="18" charset="0"/>
                              </a:rPr>
                            </m:ctrlPr>
                          </m:fPr>
                          <m:num>
                            <m:nary>
                              <m:naryPr>
                                <m:chr m:val="∑"/>
                                <m:limLoc m:val="subSup"/>
                                <m:ctrlPr>
                                  <a:rPr lang="en-US" sz="1600" b="0" i="1" u="none">
                                    <a:latin typeface="Cambria Math" panose="02040503050406030204" pitchFamily="18" charset="0"/>
                                  </a:rPr>
                                </m:ctrlPr>
                              </m:naryPr>
                              <m:sub>
                                <m:r>
                                  <a:rPr lang="en-US" sz="1600" b="0" i="1" u="none">
                                    <a:latin typeface="Cambria Math" panose="02040503050406030204" pitchFamily="18" charset="0"/>
                                  </a:rPr>
                                  <m:t>𝑗</m:t>
                                </m:r>
                                <m:r>
                                  <a:rPr lang="en-US" sz="1600" b="0" i="1" u="none">
                                    <a:latin typeface="Cambria Math" panose="02040503050406030204" pitchFamily="18" charset="0"/>
                                  </a:rPr>
                                  <m:t>=1</m:t>
                                </m:r>
                              </m:sub>
                              <m:sup>
                                <m:r>
                                  <a:rPr lang="en-US" sz="1600" b="0" i="1" u="none">
                                    <a:latin typeface="Cambria Math" panose="02040503050406030204" pitchFamily="18" charset="0"/>
                                  </a:rPr>
                                  <m:t>#</m:t>
                                </m:r>
                                <m:r>
                                  <a:rPr lang="en-US" sz="1600" b="0" i="1" u="none">
                                    <a:latin typeface="Cambria Math" panose="02040503050406030204" pitchFamily="18" charset="0"/>
                                  </a:rPr>
                                  <m:t>𝑃𝑜𝑙𝑙𝑠</m:t>
                                </m:r>
                              </m:sup>
                              <m:e>
                                <m:sSub>
                                  <m:sSubPr>
                                    <m:ctrlPr>
                                      <a:rPr lang="en-US" sz="1600" b="0" i="1" u="none" smtClean="0">
                                        <a:solidFill>
                                          <a:srgbClr val="00B0F0"/>
                                        </a:solidFill>
                                        <a:latin typeface="Cambria Math" panose="02040503050406030204" pitchFamily="18" charset="0"/>
                                      </a:rPr>
                                    </m:ctrlPr>
                                  </m:sSubPr>
                                  <m:e>
                                    <m:acc>
                                      <m:accPr>
                                        <m:chr m:val="̅"/>
                                        <m:ctrlPr>
                                          <a:rPr lang="en-US" sz="1600" b="0" i="1" u="none">
                                            <a:solidFill>
                                              <a:srgbClr val="00B0F0"/>
                                            </a:solidFill>
                                            <a:latin typeface="Cambria Math" panose="02040503050406030204" pitchFamily="18" charset="0"/>
                                          </a:rPr>
                                        </m:ctrlPr>
                                      </m:accPr>
                                      <m:e>
                                        <m:r>
                                          <a:rPr lang="en-US" sz="1600" b="0" i="1" u="none" smtClean="0">
                                            <a:solidFill>
                                              <a:srgbClr val="00B0F0"/>
                                            </a:solidFill>
                                            <a:latin typeface="Cambria Math" panose="02040503050406030204" pitchFamily="18" charset="0"/>
                                          </a:rPr>
                                          <m:t>𝑥</m:t>
                                        </m:r>
                                      </m:e>
                                    </m:acc>
                                  </m:e>
                                  <m:sub>
                                    <m:r>
                                      <a:rPr lang="en-US" sz="1600" b="0" i="1" u="none" smtClean="0">
                                        <a:solidFill>
                                          <a:srgbClr val="00B0F0"/>
                                        </a:solidFill>
                                        <a:latin typeface="Cambria Math" panose="02040503050406030204" pitchFamily="18" charset="0"/>
                                      </a:rPr>
                                      <m:t>𝑗</m:t>
                                    </m:r>
                                  </m:sub>
                                </m:sSub>
                              </m:e>
                            </m:nary>
                          </m:num>
                          <m:den>
                            <m:r>
                              <a:rPr lang="en-US" sz="1600" b="0" i="1" u="none">
                                <a:latin typeface="Cambria Math" panose="02040503050406030204" pitchFamily="18" charset="0"/>
                              </a:rPr>
                              <m:t>#</m:t>
                            </m:r>
                            <m:r>
                              <a:rPr lang="en-US" sz="1600" b="0" i="1" u="none">
                                <a:latin typeface="Cambria Math" panose="02040503050406030204" pitchFamily="18" charset="0"/>
                              </a:rPr>
                              <m:t>𝑃𝑜𝑙𝑙𝑠</m:t>
                            </m:r>
                          </m:den>
                        </m:f>
                      </m:e>
                    </m:d>
                    <m:r>
                      <a:rPr lang="en-US" sz="1600" b="0" i="1" u="none" dirty="0" smtClean="0">
                        <a:latin typeface="Cambria Math" panose="02040503050406030204" pitchFamily="18" charset="0"/>
                        <a:cs typeface="Arial" panose="020B0604020202020204" pitchFamily="34" charset="0"/>
                      </a:rPr>
                      <m:t>𝑐𝑜𝑛𝑣𝑒𝑟𝑔𝑒𝑠</m:t>
                    </m:r>
                    <m:r>
                      <a:rPr lang="en-US" sz="1600" b="0" i="1" u="none" dirty="0" smtClean="0">
                        <a:latin typeface="Cambria Math" panose="02040503050406030204" pitchFamily="18" charset="0"/>
                        <a:cs typeface="Arial" panose="020B0604020202020204" pitchFamily="34" charset="0"/>
                      </a:rPr>
                      <m:t> </m:t>
                    </m:r>
                    <m:r>
                      <a:rPr lang="en-US" sz="1600" b="0" i="1" u="none" dirty="0" smtClean="0">
                        <a:latin typeface="Cambria Math" panose="02040503050406030204" pitchFamily="18" charset="0"/>
                        <a:cs typeface="Arial" panose="020B0604020202020204" pitchFamily="34" charset="0"/>
                      </a:rPr>
                      <m:t>𝑡𝑜</m:t>
                    </m:r>
                    <m:r>
                      <a:rPr lang="en-US" sz="1600" b="0" i="1" u="none" dirty="0" smtClean="0">
                        <a:latin typeface="Cambria Math" panose="02040503050406030204" pitchFamily="18" charset="0"/>
                        <a:cs typeface="Arial" panose="020B0604020202020204" pitchFamily="34" charset="0"/>
                      </a:rPr>
                      <m:t> </m:t>
                    </m:r>
                    <m:r>
                      <a:rPr lang="en-US" sz="1600" b="0" i="1" u="none" dirty="0">
                        <a:solidFill>
                          <a:srgbClr val="FF0000"/>
                        </a:solidFill>
                        <a:latin typeface="Cambria Math" panose="02040503050406030204" pitchFamily="18" charset="0"/>
                        <a:cs typeface="Arial" panose="020B0604020202020204" pitchFamily="34" charset="0"/>
                      </a:rPr>
                      <m:t>𝜇</m:t>
                    </m:r>
                  </m:oMath>
                </a14:m>
                <a:r>
                  <a:rPr lang="en-US" sz="1600" b="0" u="none" dirty="0">
                    <a:cs typeface="Arial" panose="020B0604020202020204" pitchFamily="34" charset="0"/>
                  </a:rPr>
                  <a:t> </a:t>
                </a:r>
              </a:p>
            </p:txBody>
          </p:sp>
        </mc:Choice>
        <mc:Fallback xmlns="">
          <p:sp>
            <p:nvSpPr>
              <p:cNvPr id="58" name="TextBox 57">
                <a:extLst>
                  <a:ext uri="{FF2B5EF4-FFF2-40B4-BE49-F238E27FC236}">
                    <a16:creationId xmlns:a16="http://schemas.microsoft.com/office/drawing/2014/main" id="{C78BBC40-89AC-4D45-4FA5-A13885D6FCDA}"/>
                  </a:ext>
                </a:extLst>
              </p:cNvPr>
              <p:cNvSpPr txBox="1">
                <a:spLocks noRot="1" noChangeAspect="1" noMove="1" noResize="1" noEditPoints="1" noAdjustHandles="1" noChangeArrowheads="1" noChangeShapeType="1" noTextEdit="1"/>
              </p:cNvSpPr>
              <p:nvPr/>
            </p:nvSpPr>
            <p:spPr>
              <a:xfrm>
                <a:off x="4417541" y="3890045"/>
                <a:ext cx="4593349" cy="113800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FD0C72C-EED8-252B-4AB4-D60EAC57227D}"/>
                  </a:ext>
                </a:extLst>
              </p:cNvPr>
              <p:cNvSpPr txBox="1"/>
              <p:nvPr/>
            </p:nvSpPr>
            <p:spPr>
              <a:xfrm>
                <a:off x="7476835" y="2301768"/>
                <a:ext cx="1692195" cy="433965"/>
              </a:xfrm>
              <a:prstGeom prst="rect">
                <a:avLst/>
              </a:prstGeom>
              <a:noFill/>
            </p:spPr>
            <p:txBody>
              <a:bodyPr wrap="none" rtlCol="0">
                <a:spAutoFit/>
              </a:bodyPr>
              <a:lstStyle/>
              <a:p>
                <a:pPr algn="ctr"/>
                <a14:m>
                  <m:oMath xmlns:m="http://schemas.openxmlformats.org/officeDocument/2006/math">
                    <m:r>
                      <a:rPr lang="en-US" sz="1600" b="0" i="1" u="none" dirty="0" smtClean="0">
                        <a:solidFill>
                          <a:srgbClr val="EB971B"/>
                        </a:solidFill>
                        <a:latin typeface="Cambria Math" panose="02040503050406030204" pitchFamily="18" charset="0"/>
                        <a:cs typeface="Arial" panose="020B0604020202020204" pitchFamily="34" charset="0"/>
                      </a:rPr>
                      <m:t>𝑆𝑡𝑑</m:t>
                    </m:r>
                    <m:r>
                      <a:rPr lang="en-US" sz="1600" b="0" i="1" u="none" dirty="0" smtClean="0">
                        <a:solidFill>
                          <a:srgbClr val="EB971B"/>
                        </a:solidFill>
                        <a:latin typeface="Cambria Math" panose="02040503050406030204" pitchFamily="18" charset="0"/>
                        <a:cs typeface="Arial" panose="020B0604020202020204" pitchFamily="34" charset="0"/>
                      </a:rPr>
                      <m:t> </m:t>
                    </m:r>
                    <m:r>
                      <a:rPr lang="en-US" sz="1600" b="0" i="1" u="none" dirty="0" smtClean="0">
                        <a:solidFill>
                          <a:srgbClr val="EB971B"/>
                        </a:solidFill>
                        <a:latin typeface="Cambria Math" panose="02040503050406030204" pitchFamily="18" charset="0"/>
                        <a:cs typeface="Arial" panose="020B0604020202020204" pitchFamily="34" charset="0"/>
                      </a:rPr>
                      <m:t>𝐸𝑟𝑟</m:t>
                    </m:r>
                    <m:r>
                      <a:rPr lang="en-US" sz="1600" b="0" i="1" u="none" dirty="0" smtClean="0">
                        <a:solidFill>
                          <a:srgbClr val="EB971B"/>
                        </a:solidFill>
                        <a:latin typeface="Cambria Math" panose="02040503050406030204" pitchFamily="18" charset="0"/>
                        <a:cs typeface="Arial" panose="020B0604020202020204" pitchFamily="34" charset="0"/>
                      </a:rPr>
                      <m:t>(</m:t>
                    </m:r>
                    <m:acc>
                      <m:accPr>
                        <m:chr m:val="̅"/>
                        <m:ctrlPr>
                          <a:rPr lang="en-US" sz="1600" b="0" i="1" u="none">
                            <a:solidFill>
                              <a:srgbClr val="00B0F0"/>
                            </a:solidFill>
                            <a:latin typeface="Cambria Math" panose="02040503050406030204" pitchFamily="18" charset="0"/>
                          </a:rPr>
                        </m:ctrlPr>
                      </m:accPr>
                      <m:e>
                        <m:r>
                          <a:rPr lang="en-US" sz="1600" b="0" i="1" u="none">
                            <a:solidFill>
                              <a:srgbClr val="00B0F0"/>
                            </a:solidFill>
                            <a:latin typeface="Cambria Math" panose="02040503050406030204" pitchFamily="18" charset="0"/>
                          </a:rPr>
                          <m:t>𝑥</m:t>
                        </m:r>
                      </m:e>
                    </m:acc>
                    <m:r>
                      <a:rPr lang="en-US" sz="1600" b="0" i="1" u="none" dirty="0" smtClean="0">
                        <a:solidFill>
                          <a:srgbClr val="EB971B"/>
                        </a:solidFill>
                        <a:latin typeface="Cambria Math" panose="02040503050406030204" pitchFamily="18" charset="0"/>
                        <a:cs typeface="Arial" panose="020B0604020202020204" pitchFamily="34" charset="0"/>
                      </a:rPr>
                      <m:t>)</m:t>
                    </m:r>
                    <m:r>
                      <a:rPr lang="en-US" sz="1600" b="0" i="1" u="none" dirty="0">
                        <a:solidFill>
                          <a:schemeClr val="accent6"/>
                        </a:solidFill>
                        <a:latin typeface="Cambria Math" panose="02040503050406030204" pitchFamily="18" charset="0"/>
                        <a:cs typeface="Arial" panose="020B0604020202020204" pitchFamily="34" charset="0"/>
                      </a:rPr>
                      <m:t>=</m:t>
                    </m:r>
                    <m:f>
                      <m:fPr>
                        <m:ctrlPr>
                          <a:rPr lang="en-US" sz="1600" b="0" i="1" u="none">
                            <a:latin typeface="Cambria Math" panose="02040503050406030204" pitchFamily="18" charset="0"/>
                          </a:rPr>
                        </m:ctrlPr>
                      </m:fPr>
                      <m:num>
                        <m:r>
                          <a:rPr lang="en-US" sz="1600" b="0" i="1" u="none">
                            <a:solidFill>
                              <a:srgbClr val="FF0000"/>
                            </a:solidFill>
                            <a:latin typeface="Cambria Math" panose="02040503050406030204" pitchFamily="18" charset="0"/>
                          </a:rPr>
                          <m:t>𝜎</m:t>
                        </m:r>
                      </m:num>
                      <m:den>
                        <m:rad>
                          <m:radPr>
                            <m:degHide m:val="on"/>
                            <m:ctrlPr>
                              <a:rPr lang="en-US" sz="1600" b="0" i="1" u="none">
                                <a:latin typeface="Cambria Math" panose="02040503050406030204" pitchFamily="18" charset="0"/>
                              </a:rPr>
                            </m:ctrlPr>
                          </m:radPr>
                          <m:deg/>
                          <m:e>
                            <m:r>
                              <a:rPr lang="en-US" sz="1600" b="0" i="1" u="none" smtClean="0">
                                <a:solidFill>
                                  <a:srgbClr val="00B0F0"/>
                                </a:solidFill>
                                <a:latin typeface="Cambria Math" panose="02040503050406030204" pitchFamily="18" charset="0"/>
                              </a:rPr>
                              <m:t>𝑁</m:t>
                            </m:r>
                          </m:e>
                        </m:rad>
                      </m:den>
                    </m:f>
                  </m:oMath>
                </a14:m>
                <a:r>
                  <a:rPr lang="en-US" sz="1400" b="0" u="none" dirty="0">
                    <a:cs typeface="Arial" panose="020B0604020202020204" pitchFamily="34" charset="0"/>
                  </a:rPr>
                  <a:t> </a:t>
                </a:r>
              </a:p>
            </p:txBody>
          </p:sp>
        </mc:Choice>
        <mc:Fallback xmlns="">
          <p:sp>
            <p:nvSpPr>
              <p:cNvPr id="29" name="TextBox 28">
                <a:extLst>
                  <a:ext uri="{FF2B5EF4-FFF2-40B4-BE49-F238E27FC236}">
                    <a16:creationId xmlns:a16="http://schemas.microsoft.com/office/drawing/2014/main" id="{0FD0C72C-EED8-252B-4AB4-D60EAC57227D}"/>
                  </a:ext>
                </a:extLst>
              </p:cNvPr>
              <p:cNvSpPr txBox="1">
                <a:spLocks noRot="1" noChangeAspect="1" noMove="1" noResize="1" noEditPoints="1" noAdjustHandles="1" noChangeArrowheads="1" noChangeShapeType="1" noTextEdit="1"/>
              </p:cNvSpPr>
              <p:nvPr/>
            </p:nvSpPr>
            <p:spPr>
              <a:xfrm>
                <a:off x="7476835" y="2301768"/>
                <a:ext cx="1692195" cy="433965"/>
              </a:xfrm>
              <a:prstGeom prst="rect">
                <a:avLst/>
              </a:prstGeom>
              <a:blipFill>
                <a:blip r:embed="rId9"/>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1EBC0181-B508-8771-F6A9-C1FBBF48492B}"/>
              </a:ext>
            </a:extLst>
          </p:cNvPr>
          <p:cNvSpPr/>
          <p:nvPr/>
        </p:nvSpPr>
        <p:spPr bwMode="auto">
          <a:xfrm>
            <a:off x="4386311" y="1692875"/>
            <a:ext cx="4698951" cy="3410465"/>
          </a:xfrm>
          <a:prstGeom prst="rect">
            <a:avLst/>
          </a:prstGeom>
          <a:noFill/>
          <a:ln w="9525" cap="flat" cmpd="sng" algn="ctr">
            <a:solidFill>
              <a:srgbClr val="FF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194147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1293-E27A-70B3-C2C4-DF1C4FD175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5FA2FDC-8F09-0479-2A37-661863377C57}"/>
                  </a:ext>
                </a:extLst>
              </p:cNvPr>
              <p:cNvSpPr>
                <a:spLocks noGrp="1"/>
              </p:cNvSpPr>
              <p:nvPr>
                <p:ph type="title"/>
              </p:nvPr>
            </p:nvSpPr>
            <p:spPr/>
            <p:txBody>
              <a:bodyPr/>
              <a:lstStyle/>
              <a:p>
                <a:r>
                  <a:rPr lang="en-US" dirty="0"/>
                  <a:t>Fox Poll 95% Confidence Interval (</a:t>
                </a:r>
                <a14:m>
                  <m:oMath xmlns:m="http://schemas.openxmlformats.org/officeDocument/2006/math">
                    <m:r>
                      <a:rPr lang="en-US" i="1" dirty="0" smtClean="0">
                        <a:latin typeface="Cambria Math" panose="02040503050406030204" pitchFamily="18" charset="0"/>
                      </a:rPr>
                      <m:t>𝐶</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𝐼</m:t>
                        </m:r>
                      </m:e>
                      <m:sup>
                        <m:r>
                          <a:rPr lang="en-US" b="0" i="1" dirty="0" smtClean="0">
                            <a:latin typeface="Cambria Math" panose="02040503050406030204" pitchFamily="18" charset="0"/>
                          </a:rPr>
                          <m:t>95</m:t>
                        </m:r>
                      </m:sup>
                    </m:sSup>
                  </m:oMath>
                </a14:m>
                <a:r>
                  <a:rPr lang="en-US" dirty="0"/>
                  <a:t>)</a:t>
                </a:r>
              </a:p>
            </p:txBody>
          </p:sp>
        </mc:Choice>
        <mc:Fallback xmlns="">
          <p:sp>
            <p:nvSpPr>
              <p:cNvPr id="2" name="Title 1">
                <a:extLst>
                  <a:ext uri="{FF2B5EF4-FFF2-40B4-BE49-F238E27FC236}">
                    <a16:creationId xmlns:a16="http://schemas.microsoft.com/office/drawing/2014/main" id="{236625DC-3F28-6B30-6C51-F77DF7D271E9}"/>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EF63E0C-6EAC-D32B-24F2-1516B74A0429}"/>
              </a:ext>
            </a:extLst>
          </p:cNvPr>
          <p:cNvPicPr>
            <a:picLocks noChangeAspect="1"/>
          </p:cNvPicPr>
          <p:nvPr/>
        </p:nvPicPr>
        <p:blipFill>
          <a:blip r:embed="rId3"/>
          <a:stretch>
            <a:fillRect/>
          </a:stretch>
        </p:blipFill>
        <p:spPr>
          <a:xfrm>
            <a:off x="58737" y="1938638"/>
            <a:ext cx="4825015" cy="3437924"/>
          </a:xfrm>
          <a:prstGeom prst="rect">
            <a:avLst/>
          </a:prstGeom>
        </p:spPr>
      </p:pic>
      <p:cxnSp>
        <p:nvCxnSpPr>
          <p:cNvPr id="6" name="Straight Connector 5">
            <a:extLst>
              <a:ext uri="{FF2B5EF4-FFF2-40B4-BE49-F238E27FC236}">
                <a16:creationId xmlns:a16="http://schemas.microsoft.com/office/drawing/2014/main" id="{D9A98F0E-07CA-F868-6008-13427E36F0C5}"/>
              </a:ext>
            </a:extLst>
          </p:cNvPr>
          <p:cNvCxnSpPr/>
          <p:nvPr/>
        </p:nvCxnSpPr>
        <p:spPr bwMode="auto">
          <a:xfrm>
            <a:off x="2671713" y="3799703"/>
            <a:ext cx="547224" cy="0"/>
          </a:xfrm>
          <a:prstGeom prst="line">
            <a:avLst/>
          </a:prstGeom>
          <a:solidFill>
            <a:schemeClr val="accent1"/>
          </a:solidFill>
          <a:ln w="9525" cap="flat" cmpd="sng" algn="ctr">
            <a:solidFill>
              <a:srgbClr val="00B0F0"/>
            </a:solidFill>
            <a:prstDash val="dash"/>
            <a:round/>
            <a:headEnd type="none" w="med" len="med"/>
            <a:tailEnd type="none" w="med" len="med"/>
          </a:ln>
          <a:effec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325D73-2918-0423-4A6B-8D03380CD0A3}"/>
                  </a:ext>
                </a:extLst>
              </p:cNvPr>
              <p:cNvSpPr txBox="1"/>
              <p:nvPr/>
            </p:nvSpPr>
            <p:spPr>
              <a:xfrm>
                <a:off x="3237472" y="3115980"/>
                <a:ext cx="1646280" cy="442942"/>
              </a:xfrm>
              <a:prstGeom prst="rect">
                <a:avLst/>
              </a:prstGeom>
              <a:noFill/>
            </p:spPr>
            <p:txBody>
              <a:bodyPr wrap="squar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m:t>
                    </m:r>
                    <m:r>
                      <a:rPr lang="en-US" sz="1400" b="0" i="1" u="none" dirty="0">
                        <a:solidFill>
                          <a:srgbClr val="EB971B"/>
                        </a:solidFill>
                        <a:latin typeface="Cambria Math" panose="02040503050406030204" pitchFamily="18" charset="0"/>
                        <a:cs typeface="Arial" panose="020B0604020202020204" pitchFamily="34" charset="0"/>
                      </a:rPr>
                      <m:t>𝑡𝑑</m:t>
                    </m:r>
                    <m:r>
                      <a:rPr lang="en-US" sz="1400" b="0" i="1" u="none" dirty="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m:t>
                    </m:r>
                    <m:r>
                      <a:rPr lang="en-US" sz="1400" b="0" i="1" u="none" dirty="0">
                        <a:solidFill>
                          <a:srgbClr val="EB971B"/>
                        </a:solidFill>
                        <a:latin typeface="Cambria Math" panose="02040503050406030204" pitchFamily="18" charset="0"/>
                        <a:cs typeface="Arial" panose="020B0604020202020204" pitchFamily="34" charset="0"/>
                      </a:rPr>
                      <m:t>𝑟</m:t>
                    </m:r>
                    <m:r>
                      <a:rPr lang="en-US" sz="1400" b="0" i="1" u="none" dirty="0" smtClean="0">
                        <a:solidFill>
                          <a:srgbClr val="EB971B"/>
                        </a:solidFill>
                        <a:latin typeface="Cambria Math" panose="02040503050406030204" pitchFamily="18" charset="0"/>
                        <a:cs typeface="Arial" panose="020B0604020202020204" pitchFamily="34" charset="0"/>
                      </a:rPr>
                      <m:t>𝑟</m:t>
                    </m:r>
                    <m:r>
                      <m:rPr>
                        <m:nor/>
                      </m:rPr>
                      <a:rPr lang="en-US" sz="1400" b="0" i="0" u="none" dirty="0">
                        <a:solidFill>
                          <a:srgbClr val="EB971B"/>
                        </a:solidFill>
                        <a:latin typeface="Cambria Math" panose="02040503050406030204" pitchFamily="18" charset="0"/>
                        <a:cs typeface="Arial" panose="020B0604020202020204" pitchFamily="34" charset="0"/>
                      </a:rPr>
                      <m:t>(</m:t>
                    </m:r>
                    <m:r>
                      <m:rPr>
                        <m:nor/>
                      </m:rPr>
                      <a:rPr lang="en-US" sz="1400" b="0" i="0" u="none">
                        <a:solidFill>
                          <a:srgbClr val="00B0F0"/>
                        </a:solidFill>
                        <a:latin typeface="Cambria Math" panose="02040503050406030204" pitchFamily="18" charset="0"/>
                      </a:rPr>
                      <m:t>𝑥</m:t>
                    </m:r>
                    <m:r>
                      <m:rPr>
                        <m:nor/>
                      </m:rPr>
                      <a:rPr lang="en-US" sz="1400" b="0" i="0" u="none">
                        <a:solidFill>
                          <a:srgbClr val="00B0F0"/>
                        </a:solidFill>
                        <a:latin typeface="Cambria Math" panose="02040503050406030204" pitchFamily="18" charset="0"/>
                      </a:rPr>
                      <m:t> ̅)</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800" b="0" i="1" u="none">
                            <a:solidFill>
                              <a:schemeClr val="accent6"/>
                            </a:solidFill>
                            <a:latin typeface="Cambria Math" panose="02040503050406030204" pitchFamily="18" charset="0"/>
                            <a:cs typeface="Arial" panose="020B0604020202020204" pitchFamily="34" charset="0"/>
                          </a:rPr>
                        </m:ctrlPr>
                      </m:fPr>
                      <m:num>
                        <m:r>
                          <a:rPr lang="en-US" sz="18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800" b="0" i="1" u="none">
                                <a:solidFill>
                                  <a:schemeClr val="accent6"/>
                                </a:solidFill>
                                <a:latin typeface="Cambria Math" panose="02040503050406030204" pitchFamily="18" charset="0"/>
                                <a:cs typeface="Arial" panose="020B0604020202020204" pitchFamily="34" charset="0"/>
                              </a:rPr>
                            </m:ctrlPr>
                          </m:radPr>
                          <m:deg/>
                          <m:e>
                            <m:r>
                              <a:rPr lang="en-US" sz="1800" b="0" i="1" u="none">
                                <a:solidFill>
                                  <a:schemeClr val="accent6"/>
                                </a:solidFill>
                                <a:latin typeface="Cambria Math" panose="02040503050406030204" pitchFamily="18" charset="0"/>
                                <a:cs typeface="Arial" panose="020B0604020202020204" pitchFamily="34" charset="0"/>
                              </a:rPr>
                              <m:t>𝑁</m:t>
                            </m:r>
                          </m:e>
                        </m:rad>
                      </m:den>
                    </m:f>
                  </m:oMath>
                </a14:m>
                <a:r>
                  <a:rPr lang="en-US" sz="1800" b="0" u="none" dirty="0">
                    <a:solidFill>
                      <a:schemeClr val="accent6"/>
                    </a:solidFill>
                    <a:cs typeface="Arial" panose="020B0604020202020204" pitchFamily="34" charset="0"/>
                  </a:rPr>
                  <a:t> </a:t>
                </a:r>
              </a:p>
            </p:txBody>
          </p:sp>
        </mc:Choice>
        <mc:Fallback xmlns="">
          <p:sp>
            <p:nvSpPr>
              <p:cNvPr id="7" name="TextBox 6">
                <a:extLst>
                  <a:ext uri="{FF2B5EF4-FFF2-40B4-BE49-F238E27FC236}">
                    <a16:creationId xmlns:a16="http://schemas.microsoft.com/office/drawing/2014/main" id="{27325D73-2918-0423-4A6B-8D03380CD0A3}"/>
                  </a:ext>
                </a:extLst>
              </p:cNvPr>
              <p:cNvSpPr txBox="1">
                <a:spLocks noRot="1" noChangeAspect="1" noMove="1" noResize="1" noEditPoints="1" noAdjustHandles="1" noChangeArrowheads="1" noChangeShapeType="1" noTextEdit="1"/>
              </p:cNvSpPr>
              <p:nvPr/>
            </p:nvSpPr>
            <p:spPr>
              <a:xfrm>
                <a:off x="3237472" y="3115980"/>
                <a:ext cx="1646280" cy="442942"/>
              </a:xfrm>
              <a:prstGeom prst="rect">
                <a:avLst/>
              </a:prstGeom>
              <a:blipFill>
                <a:blip r:embed="rId4"/>
                <a:stretch>
                  <a:fillRect t="-8219" b="-2740"/>
                </a:stretch>
              </a:blipFill>
            </p:spPr>
            <p:txBody>
              <a:bodyPr/>
              <a:lstStyle/>
              <a:p>
                <a:r>
                  <a:rPr lang="en-US">
                    <a:noFill/>
                  </a:rPr>
                  <a:t> </a:t>
                </a:r>
              </a:p>
            </p:txBody>
          </p:sp>
        </mc:Fallback>
      </mc:AlternateContent>
      <p:sp>
        <p:nvSpPr>
          <p:cNvPr id="8" name="Freeform: Shape 7">
            <a:extLst>
              <a:ext uri="{FF2B5EF4-FFF2-40B4-BE49-F238E27FC236}">
                <a16:creationId xmlns:a16="http://schemas.microsoft.com/office/drawing/2014/main" id="{D92FC513-A01A-DC9D-D0A1-E78F62D54D0C}"/>
              </a:ext>
            </a:extLst>
          </p:cNvPr>
          <p:cNvSpPr/>
          <p:nvPr/>
        </p:nvSpPr>
        <p:spPr bwMode="auto">
          <a:xfrm>
            <a:off x="2811164" y="3311611"/>
            <a:ext cx="426308" cy="420130"/>
          </a:xfrm>
          <a:custGeom>
            <a:avLst/>
            <a:gdLst>
              <a:gd name="connsiteX0" fmla="*/ 0 w 426308"/>
              <a:gd name="connsiteY0" fmla="*/ 420130 h 420130"/>
              <a:gd name="connsiteX1" fmla="*/ 98854 w 426308"/>
              <a:gd name="connsiteY1" fmla="*/ 129746 h 420130"/>
              <a:gd name="connsiteX2" fmla="*/ 426308 w 426308"/>
              <a:gd name="connsiteY2" fmla="*/ 0 h 420130"/>
            </a:gdLst>
            <a:ahLst/>
            <a:cxnLst>
              <a:cxn ang="0">
                <a:pos x="connsiteX0" y="connsiteY0"/>
              </a:cxn>
              <a:cxn ang="0">
                <a:pos x="connsiteX1" y="connsiteY1"/>
              </a:cxn>
              <a:cxn ang="0">
                <a:pos x="connsiteX2" y="connsiteY2"/>
              </a:cxn>
            </a:cxnLst>
            <a:rect l="l" t="t" r="r" b="b"/>
            <a:pathLst>
              <a:path w="426308" h="420130">
                <a:moveTo>
                  <a:pt x="0" y="420130"/>
                </a:moveTo>
                <a:cubicBezTo>
                  <a:pt x="13901" y="309949"/>
                  <a:pt x="27803" y="199768"/>
                  <a:pt x="98854" y="129746"/>
                </a:cubicBezTo>
                <a:cubicBezTo>
                  <a:pt x="169905" y="59724"/>
                  <a:pt x="298106" y="29862"/>
                  <a:pt x="426308" y="0"/>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5254D35-363F-34CE-E942-906C97217726}"/>
                  </a:ext>
                </a:extLst>
              </p:cNvPr>
              <p:cNvSpPr txBox="1"/>
              <p:nvPr/>
            </p:nvSpPr>
            <p:spPr>
              <a:xfrm>
                <a:off x="2591757" y="5037818"/>
                <a:ext cx="196977" cy="276999"/>
              </a:xfrm>
              <a:prstGeom prst="rect">
                <a:avLst/>
              </a:prstGeom>
              <a:solidFill>
                <a:schemeClr val="bg1"/>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FF0000"/>
                          </a:solidFill>
                          <a:latin typeface="Cambria Math" panose="02040503050406030204" pitchFamily="18" charset="0"/>
                          <a:cs typeface="Arial" pitchFamily="34" charset="0"/>
                        </a:rPr>
                        <m:t>𝜇</m:t>
                      </m:r>
                    </m:oMath>
                  </m:oMathPara>
                </a14:m>
                <a:endParaRPr lang="en-US" sz="1800" b="0" u="none" dirty="0">
                  <a:solidFill>
                    <a:srgbClr val="FF0000"/>
                  </a:solidFill>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BCCEEB-2473-43D1-1450-E3D72CB06416}"/>
                  </a:ext>
                </a:extLst>
              </p:cNvPr>
              <p:cNvSpPr txBox="1">
                <a:spLocks noRot="1" noChangeAspect="1" noMove="1" noResize="1" noEditPoints="1" noAdjustHandles="1" noChangeArrowheads="1" noChangeShapeType="1" noTextEdit="1"/>
              </p:cNvSpPr>
              <p:nvPr/>
            </p:nvSpPr>
            <p:spPr>
              <a:xfrm>
                <a:off x="2591757" y="5037818"/>
                <a:ext cx="196977" cy="276999"/>
              </a:xfrm>
              <a:prstGeom prst="rect">
                <a:avLst/>
              </a:prstGeom>
              <a:blipFill>
                <a:blip r:embed="rId5"/>
                <a:stretch>
                  <a:fillRect l="-43750" r="-625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E8FA2A0-E29D-58AA-5E47-7694F9F0FE06}"/>
                  </a:ext>
                </a:extLst>
              </p:cNvPr>
              <p:cNvSpPr txBox="1"/>
              <p:nvPr/>
            </p:nvSpPr>
            <p:spPr>
              <a:xfrm>
                <a:off x="5067300" y="1133720"/>
                <a:ext cx="4017963" cy="4654159"/>
              </a:xfrm>
              <a:prstGeom prst="rect">
                <a:avLst/>
              </a:prstGeom>
              <a:solidFill>
                <a:schemeClr val="bg1"/>
              </a:solidFill>
              <a:ln>
                <a:noFill/>
              </a:ln>
            </p:spPr>
            <p:txBody>
              <a:bodyPr wrap="square" rtlCol="0">
                <a:spAutoFit/>
              </a:bodyPr>
              <a:lstStyle/>
              <a:p>
                <a:r>
                  <a:rPr lang="en-US" sz="1400" b="0" u="none" dirty="0">
                    <a:solidFill>
                      <a:schemeClr val="accent6"/>
                    </a:solidFill>
                    <a:cs typeface="Arial" panose="020B0604020202020204" pitchFamily="34" charset="0"/>
                  </a:rPr>
                  <a:t>We know from the Central Limit Theorem that the mean vote for candidate A across polls is normally distributed:</a:t>
                </a:r>
              </a:p>
              <a:p>
                <a:pPr algn="ctr"/>
                <a14:m>
                  <m:oMathPara xmlns:m="http://schemas.openxmlformats.org/officeDocument/2006/math">
                    <m:oMathParaPr>
                      <m:jc m:val="centerGroup"/>
                    </m:oMathParaPr>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a:solidFill>
                            <a:schemeClr val="accent6"/>
                          </a:solidFill>
                          <a:latin typeface="Cambria Math" panose="02040503050406030204" pitchFamily="18" charset="0"/>
                          <a:cs typeface="Arial" panose="020B0604020202020204" pitchFamily="34" charset="0"/>
                        </a:rPr>
                        <m:t>~</m:t>
                      </m:r>
                      <m:r>
                        <a:rPr lang="en-US" sz="1400" b="0" i="1" u="none">
                          <a:solidFill>
                            <a:schemeClr val="accent6"/>
                          </a:solidFill>
                          <a:latin typeface="Cambria Math" panose="02040503050406030204" pitchFamily="18" charset="0"/>
                          <a:cs typeface="Arial" panose="020B0604020202020204" pitchFamily="34" charset="0"/>
                        </a:rPr>
                        <m:t>𝑁</m:t>
                      </m:r>
                      <m:d>
                        <m:dPr>
                          <m:ctrlPr>
                            <a:rPr lang="en-US" sz="1400" b="0" i="1" u="none">
                              <a:solidFill>
                                <a:schemeClr val="accent6"/>
                              </a:solidFill>
                              <a:latin typeface="Cambria Math" panose="02040503050406030204" pitchFamily="18" charset="0"/>
                              <a:cs typeface="Arial" panose="020B0604020202020204" pitchFamily="34" charset="0"/>
                            </a:rPr>
                          </m:ctrlPr>
                        </m:dPr>
                        <m:e>
                          <m:r>
                            <a:rPr lang="en-US" sz="1400" b="0" i="1" u="none">
                              <a:solidFill>
                                <a:srgbClr val="FF0000"/>
                              </a:solidFill>
                              <a:latin typeface="Cambria Math" panose="02040503050406030204" pitchFamily="18" charset="0"/>
                              <a:cs typeface="Arial" panose="020B0604020202020204" pitchFamily="34" charset="0"/>
                            </a:rPr>
                            <m:t>𝜇</m:t>
                          </m:r>
                          <m:r>
                            <a:rPr lang="en-US" sz="1400" b="0" i="1" u="none">
                              <a:solidFill>
                                <a:srgbClr val="FF0000"/>
                              </a:solidFill>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smtClean="0">
                                      <a:solidFill>
                                        <a:srgbClr val="00B0F0"/>
                                      </a:solidFill>
                                      <a:latin typeface="Cambria Math" panose="02040503050406030204" pitchFamily="18" charset="0"/>
                                      <a:cs typeface="Arial" panose="020B0604020202020204" pitchFamily="34" charset="0"/>
                                    </a:rPr>
                                    <m:t>𝑁</m:t>
                                  </m:r>
                                </m:e>
                              </m:rad>
                            </m:den>
                          </m:f>
                        </m:e>
                      </m:d>
                      <m:r>
                        <a:rPr lang="en-US" sz="1400" b="0" i="1" u="none">
                          <a:solidFill>
                            <a:schemeClr val="accent6"/>
                          </a:solidFill>
                          <a:latin typeface="Cambria Math" panose="02040503050406030204" pitchFamily="18" charset="0"/>
                        </a:rPr>
                        <m:t> </m:t>
                      </m:r>
                    </m:oMath>
                  </m:oMathPara>
                </a14:m>
                <a:endParaRPr lang="en-US" sz="1400" b="0" u="none" dirty="0">
                  <a:solidFill>
                    <a:schemeClr val="accent6"/>
                  </a:solidFill>
                </a:endParaRPr>
              </a:p>
              <a:p>
                <a:pPr algn="ctr"/>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We know the Fox poll (</a:t>
                </a:r>
                <a14:m>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a:solidFill>
                          <a:srgbClr val="00B0F0"/>
                        </a:solidFill>
                        <a:latin typeface="Cambria Math" panose="02040503050406030204" pitchFamily="18" charset="0"/>
                        <a:cs typeface="Arial" panose="020B0604020202020204" pitchFamily="34" charset="0"/>
                      </a:rPr>
                      <m:t>=</m:t>
                    </m:r>
                    <m:r>
                      <a:rPr lang="en-US" sz="1400" b="0" i="1" u="none">
                        <a:solidFill>
                          <a:srgbClr val="00B0F0"/>
                        </a:solidFill>
                        <a:latin typeface="Cambria Math" panose="02040503050406030204" pitchFamily="18" charset="0"/>
                        <a:cs typeface="Arial" panose="020B0604020202020204" pitchFamily="34" charset="0"/>
                      </a:rPr>
                      <m:t>51</m:t>
                    </m:r>
                  </m:oMath>
                </a14:m>
                <a:r>
                  <a:rPr lang="en-US" sz="1400" b="0" u="none" dirty="0">
                    <a:solidFill>
                      <a:schemeClr val="accent6"/>
                    </a:solidFill>
                    <a:cs typeface="Arial" panose="020B0604020202020204" pitchFamily="34" charset="0"/>
                  </a:rPr>
                  <a:t>) is somewhere on this distribution but not exactly where</a:t>
                </a: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We know 95% of the time, the true mean </a:t>
                </a:r>
                <a14:m>
                  <m:oMath xmlns:m="http://schemas.openxmlformats.org/officeDocument/2006/math">
                    <m:r>
                      <a:rPr lang="en-US" sz="1400" b="0" i="1" u="none">
                        <a:solidFill>
                          <a:srgbClr val="FF0000"/>
                        </a:solidFill>
                        <a:latin typeface="Cambria Math" panose="02040503050406030204" pitchFamily="18" charset="0"/>
                        <a:cs typeface="Arial" panose="020B0604020202020204" pitchFamily="34" charset="0"/>
                      </a:rPr>
                      <m:t>𝜇</m:t>
                    </m:r>
                  </m:oMath>
                </a14:m>
                <a:r>
                  <a:rPr lang="en-US" sz="1400" b="0" u="none" dirty="0">
                    <a:solidFill>
                      <a:schemeClr val="accent6"/>
                    </a:solidFill>
                    <a:cs typeface="Arial" panose="020B0604020202020204" pitchFamily="34" charset="0"/>
                  </a:rPr>
                  <a:t> will be captured by </a:t>
                </a:r>
                <a:endParaRPr lang="en-US" sz="1400" b="0" i="1" u="none" dirty="0">
                  <a:solidFill>
                    <a:srgbClr val="00B0F0"/>
                  </a:solidFill>
                  <a:latin typeface="Cambria Math" panose="02040503050406030204" pitchFamily="18" charset="0"/>
                  <a:cs typeface="Arial" panose="020B0604020202020204" pitchFamily="34" charset="0"/>
                </a:endParaRPr>
              </a:p>
              <a:p>
                <a:endParaRPr lang="en-US" sz="1400" b="0" i="1" u="none" dirty="0">
                  <a:solidFill>
                    <a:srgbClr val="00B0F0"/>
                  </a:solidFill>
                  <a:latin typeface="Cambria Math" panose="02040503050406030204" pitchFamily="18" charset="0"/>
                  <a:cs typeface="Arial" panose="020B0604020202020204" pitchFamily="34" charset="0"/>
                </a:endParaRPr>
              </a:p>
              <a:p>
                <a:pPr algn="ctr"/>
                <a14:m>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rgbClr val="00B0F0"/>
                                </a:solidFill>
                                <a:latin typeface="Cambria Math" panose="02040503050406030204" pitchFamily="18" charset="0"/>
                                <a:cs typeface="Arial" panose="020B0604020202020204" pitchFamily="34" charset="0"/>
                              </a:rPr>
                              <m:t>𝑁</m:t>
                            </m:r>
                          </m:e>
                        </m:rad>
                      </m:den>
                    </m:f>
                  </m:oMath>
                </a14:m>
                <a:r>
                  <a:rPr lang="en-US" sz="1400" b="0" u="none" dirty="0">
                    <a:solidFill>
                      <a:srgbClr val="EB971B"/>
                    </a:solidFill>
                    <a:cs typeface="Arial" panose="020B0604020202020204" pitchFamily="34" charset="0"/>
                  </a:rPr>
                  <a:t> </a:t>
                </a:r>
                <a:r>
                  <a:rPr lang="en-US" sz="1400" b="0" u="none" dirty="0">
                    <a:solidFill>
                      <a:schemeClr val="accent6"/>
                    </a:solidFill>
                    <a:cs typeface="Arial" panose="020B0604020202020204" pitchFamily="34" charset="0"/>
                  </a:rPr>
                  <a:t>or</a:t>
                </a:r>
                <a:r>
                  <a:rPr lang="en-US" sz="1400" b="0" u="none" dirty="0">
                    <a:solidFill>
                      <a:srgbClr val="EB971B"/>
                    </a:solidFill>
                    <a:cs typeface="Arial" panose="020B0604020202020204" pitchFamily="34" charset="0"/>
                  </a:rPr>
                  <a:t> </a:t>
                </a:r>
                <a14:m>
                  <m:oMath xmlns:m="http://schemas.openxmlformats.org/officeDocument/2006/math">
                    <m:r>
                      <a:rPr lang="en-US" sz="1400" b="0" i="1" u="none" smtClean="0">
                        <a:solidFill>
                          <a:srgbClr val="00B0F0"/>
                        </a:solidFill>
                        <a:latin typeface="Cambria Math" panose="02040503050406030204" pitchFamily="18" charset="0"/>
                        <a:cs typeface="Arial" panose="020B0604020202020204" pitchFamily="34" charset="0"/>
                      </a:rPr>
                      <m:t>51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rgbClr val="00B0F0"/>
                                </a:solidFill>
                                <a:latin typeface="Cambria Math" panose="02040503050406030204" pitchFamily="18" charset="0"/>
                                <a:cs typeface="Arial" panose="020B0604020202020204" pitchFamily="34" charset="0"/>
                              </a:rPr>
                              <m:t>𝑁</m:t>
                            </m:r>
                          </m:e>
                        </m:rad>
                      </m:den>
                    </m:f>
                  </m:oMath>
                </a14:m>
                <a:endParaRPr lang="en-US" sz="1400" b="0" u="none" dirty="0">
                  <a:solidFill>
                    <a:srgbClr val="EB971B"/>
                  </a:solidFill>
                  <a:cs typeface="Arial" panose="020B0604020202020204" pitchFamily="34" charset="0"/>
                </a:endParaRPr>
              </a:p>
              <a:p>
                <a:pPr algn="ctr"/>
                <a:endParaRPr lang="en-US" sz="1400" b="0" u="none" dirty="0">
                  <a:solidFill>
                    <a:srgbClr val="EB971B"/>
                  </a:solidFill>
                  <a:cs typeface="Arial" panose="020B0604020202020204" pitchFamily="34" charset="0"/>
                </a:endParaRPr>
              </a:p>
              <a:p>
                <a:r>
                  <a:rPr lang="en-US" sz="1400" b="0" u="none" dirty="0">
                    <a:solidFill>
                      <a:schemeClr val="accent6"/>
                    </a:solidFill>
                    <a:cs typeface="Arial" panose="020B0604020202020204" pitchFamily="34" charset="0"/>
                  </a:rPr>
                  <a:t>Note: we don’t know the population </a:t>
                </a:r>
                <a14:m>
                  <m:oMath xmlns:m="http://schemas.openxmlformats.org/officeDocument/2006/math">
                    <m:r>
                      <a:rPr lang="en-US" sz="1400" b="0" i="1" u="none">
                        <a:solidFill>
                          <a:srgbClr val="FF0000"/>
                        </a:solidFill>
                        <a:latin typeface="Cambria Math" panose="02040503050406030204" pitchFamily="18" charset="0"/>
                        <a:cs typeface="Arial" panose="020B0604020202020204" pitchFamily="34" charset="0"/>
                      </a:rPr>
                      <m:t>𝜎</m:t>
                    </m:r>
                  </m:oMath>
                </a14:m>
                <a:r>
                  <a:rPr lang="en-US" sz="1400" b="0" u="none" dirty="0">
                    <a:solidFill>
                      <a:schemeClr val="accent6"/>
                    </a:solidFill>
                    <a:cs typeface="Arial" panose="020B0604020202020204" pitchFamily="34" charset="0"/>
                  </a:rPr>
                  <a:t>, so we use the sample standard deviation from the Fox poll (</a:t>
                </a:r>
                <a14:m>
                  <m:oMath xmlns:m="http://schemas.openxmlformats.org/officeDocument/2006/math">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a:rPr lang="en-US" sz="1400" b="0" i="1" u="none" dirty="0">
                            <a:solidFill>
                              <a:srgbClr val="00B0F0"/>
                            </a:solidFill>
                            <a:latin typeface="Cambria Math" panose="02040503050406030204" pitchFamily="18" charset="0"/>
                            <a:cs typeface="Arial" panose="020B0604020202020204" pitchFamily="34" charset="0"/>
                          </a:rPr>
                          <m:t>𝜎</m:t>
                        </m:r>
                      </m:e>
                    </m:acc>
                  </m:oMath>
                </a14:m>
                <a:r>
                  <a:rPr lang="en-US" sz="1400" b="0" u="none" dirty="0">
                    <a:solidFill>
                      <a:schemeClr val="accent6"/>
                    </a:solidFill>
                    <a:cs typeface="Arial" panose="020B0604020202020204" pitchFamily="34" charset="0"/>
                  </a:rPr>
                  <a:t>) in its place</a:t>
                </a:r>
              </a:p>
              <a:p>
                <a:pPr algn="ctr"/>
                <a14:m>
                  <m:oMath xmlns:m="http://schemas.openxmlformats.org/officeDocument/2006/math">
                    <m:acc>
                      <m:accPr>
                        <m:chr m:val="̂"/>
                        <m:ctrlPr>
                          <a:rPr lang="en-US" sz="1400" i="1" u="none" smtClean="0">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𝜎</m:t>
                        </m:r>
                      </m:e>
                    </m:acc>
                    <m:r>
                      <a:rPr lang="en-US" sz="1400" i="1" u="none">
                        <a:solidFill>
                          <a:schemeClr val="accent6"/>
                        </a:solidFill>
                        <a:latin typeface="Cambria Math" panose="02040503050406030204" pitchFamily="18" charset="0"/>
                      </a:rPr>
                      <m:t>=</m:t>
                    </m:r>
                    <m:rad>
                      <m:radPr>
                        <m:degHide m:val="on"/>
                        <m:ctrlPr>
                          <a:rPr lang="en-US" sz="1400" i="1" u="none">
                            <a:solidFill>
                              <a:schemeClr val="accent6"/>
                            </a:solidFill>
                            <a:latin typeface="Cambria Math" panose="02040503050406030204" pitchFamily="18" charset="0"/>
                          </a:rPr>
                        </m:ctrlPr>
                      </m:radPr>
                      <m:deg/>
                      <m:e>
                        <m:f>
                          <m:fPr>
                            <m:ctrlPr>
                              <a:rPr lang="en-US" sz="1400" i="1" u="none">
                                <a:solidFill>
                                  <a:schemeClr val="accent6"/>
                                </a:solidFill>
                                <a:latin typeface="Cambria Math" panose="02040503050406030204" pitchFamily="18" charset="0"/>
                              </a:rPr>
                            </m:ctrlPr>
                          </m:fPr>
                          <m:num>
                            <m:nary>
                              <m:naryPr>
                                <m:chr m:val="∑"/>
                                <m:ctrlPr>
                                  <a:rPr lang="en-US" sz="1400" i="1" u="none">
                                    <a:solidFill>
                                      <a:schemeClr val="accent6"/>
                                    </a:solidFill>
                                    <a:latin typeface="Cambria Math" panose="02040503050406030204" pitchFamily="18" charset="0"/>
                                  </a:rPr>
                                </m:ctrlPr>
                              </m:naryPr>
                              <m:sub>
                                <m:r>
                                  <a:rPr lang="en-US" sz="1400" i="1" u="none">
                                    <a:solidFill>
                                      <a:schemeClr val="accent6"/>
                                    </a:solidFill>
                                    <a:latin typeface="Cambria Math" panose="02040503050406030204" pitchFamily="18" charset="0"/>
                                  </a:rPr>
                                  <m:t>𝑖</m:t>
                                </m:r>
                                <m:r>
                                  <a:rPr lang="en-US" sz="1400" i="1" u="none">
                                    <a:solidFill>
                                      <a:schemeClr val="accent6"/>
                                    </a:solidFill>
                                    <a:latin typeface="Cambria Math" panose="02040503050406030204" pitchFamily="18" charset="0"/>
                                  </a:rPr>
                                  <m:t>=</m:t>
                                </m:r>
                                <m:r>
                                  <a:rPr lang="en-US" sz="1400" i="1" u="none">
                                    <a:solidFill>
                                      <a:schemeClr val="accent6"/>
                                    </a:solidFill>
                                    <a:latin typeface="Cambria Math" panose="02040503050406030204" pitchFamily="18" charset="0"/>
                                  </a:rPr>
                                  <m:t>1</m:t>
                                </m:r>
                              </m:sub>
                              <m:sup>
                                <m:r>
                                  <a:rPr lang="en-US" sz="1400" i="1" u="none">
                                    <a:solidFill>
                                      <a:schemeClr val="accent6"/>
                                    </a:solidFill>
                                    <a:latin typeface="Cambria Math" panose="02040503050406030204" pitchFamily="18" charset="0"/>
                                  </a:rPr>
                                  <m:t>𝑁</m:t>
                                </m:r>
                              </m:sup>
                              <m:e>
                                <m:r>
                                  <a:rPr lang="en-US" sz="1400" i="1" u="none">
                                    <a:solidFill>
                                      <a:schemeClr val="accent6"/>
                                    </a:solidFill>
                                    <a:latin typeface="Cambria Math" panose="02040503050406030204" pitchFamily="18" charset="0"/>
                                  </a:rPr>
                                  <m:t>(</m:t>
                                </m:r>
                                <m:sSub>
                                  <m:sSubPr>
                                    <m:ctrlPr>
                                      <a:rPr lang="en-US" sz="1400" i="1" u="none" smtClean="0">
                                        <a:solidFill>
                                          <a:srgbClr val="00B0F0"/>
                                        </a:solidFill>
                                        <a:latin typeface="Cambria Math" panose="02040503050406030204" pitchFamily="18" charset="0"/>
                                      </a:rPr>
                                    </m:ctrlPr>
                                  </m:sSubPr>
                                  <m:e>
                                    <m:r>
                                      <a:rPr lang="en-US" sz="1400" i="1" u="none">
                                        <a:solidFill>
                                          <a:srgbClr val="00B0F0"/>
                                        </a:solidFill>
                                        <a:latin typeface="Cambria Math" panose="02040503050406030204" pitchFamily="18" charset="0"/>
                                      </a:rPr>
                                      <m:t>𝑥</m:t>
                                    </m:r>
                                  </m:e>
                                  <m:sub>
                                    <m:r>
                                      <a:rPr lang="en-US" sz="1400" i="1" u="none">
                                        <a:solidFill>
                                          <a:srgbClr val="00B0F0"/>
                                        </a:solidFill>
                                        <a:latin typeface="Cambria Math" panose="02040503050406030204" pitchFamily="18" charset="0"/>
                                      </a:rPr>
                                      <m:t>𝑖</m:t>
                                    </m:r>
                                  </m:sub>
                                </m:sSub>
                                <m:r>
                                  <a:rPr lang="en-US" sz="1400" i="1" u="none">
                                    <a:solidFill>
                                      <a:schemeClr val="accent6"/>
                                    </a:solidFill>
                                    <a:latin typeface="Cambria Math" panose="02040503050406030204" pitchFamily="18" charset="0"/>
                                  </a:rPr>
                                  <m:t>−</m:t>
                                </m:r>
                                <m:bar>
                                  <m:barPr>
                                    <m:pos m:val="top"/>
                                    <m:ctrlPr>
                                      <a:rPr lang="en-US" sz="1400" i="1" u="none" smtClean="0">
                                        <a:solidFill>
                                          <a:srgbClr val="00B0F0"/>
                                        </a:solidFill>
                                        <a:latin typeface="Cambria Math" panose="02040503050406030204" pitchFamily="18" charset="0"/>
                                      </a:rPr>
                                    </m:ctrlPr>
                                  </m:barPr>
                                  <m:e>
                                    <m:r>
                                      <a:rPr lang="en-US" sz="1400" i="1" u="none">
                                        <a:solidFill>
                                          <a:srgbClr val="00B0F0"/>
                                        </a:solidFill>
                                        <a:latin typeface="Cambria Math" panose="02040503050406030204" pitchFamily="18" charset="0"/>
                                      </a:rPr>
                                      <m:t>𝑥</m:t>
                                    </m:r>
                                  </m:e>
                                </m:bar>
                                <m:sSup>
                                  <m:sSupPr>
                                    <m:ctrlPr>
                                      <a:rPr lang="en-US" sz="1400" i="1" u="none">
                                        <a:solidFill>
                                          <a:schemeClr val="accent6"/>
                                        </a:solidFill>
                                        <a:latin typeface="Cambria Math" panose="02040503050406030204" pitchFamily="18" charset="0"/>
                                      </a:rPr>
                                    </m:ctrlPr>
                                  </m:sSupPr>
                                  <m:e>
                                    <m:r>
                                      <a:rPr lang="en-US" sz="1400" i="1" u="none">
                                        <a:solidFill>
                                          <a:schemeClr val="accent6"/>
                                        </a:solidFill>
                                        <a:latin typeface="Cambria Math" panose="02040503050406030204" pitchFamily="18" charset="0"/>
                                      </a:rPr>
                                      <m:t>)</m:t>
                                    </m:r>
                                  </m:e>
                                  <m:sup>
                                    <m:r>
                                      <a:rPr lang="en-US" sz="1400" i="1" u="none">
                                        <a:solidFill>
                                          <a:schemeClr val="accent6"/>
                                        </a:solidFill>
                                        <a:latin typeface="Cambria Math" panose="02040503050406030204" pitchFamily="18" charset="0"/>
                                      </a:rPr>
                                      <m:t>2</m:t>
                                    </m:r>
                                  </m:sup>
                                </m:sSup>
                              </m:e>
                            </m:nary>
                          </m:num>
                          <m:den>
                            <m:r>
                              <a:rPr lang="en-US" sz="1400" i="1" u="none" smtClean="0">
                                <a:solidFill>
                                  <a:srgbClr val="00B0F0"/>
                                </a:solidFill>
                                <a:latin typeface="Cambria Math" panose="02040503050406030204" pitchFamily="18" charset="0"/>
                              </a:rPr>
                              <m:t>𝑁</m:t>
                            </m:r>
                            <m:r>
                              <a:rPr lang="en-US" sz="1400" b="0" i="1" u="none">
                                <a:solidFill>
                                  <a:schemeClr val="accent6"/>
                                </a:solidFill>
                                <a:latin typeface="Cambria Math" panose="02040503050406030204" pitchFamily="18" charset="0"/>
                              </a:rPr>
                              <m:t>−</m:t>
                            </m:r>
                            <m:r>
                              <a:rPr lang="en-US" sz="1400" b="0" i="1" u="none">
                                <a:solidFill>
                                  <a:schemeClr val="accent6"/>
                                </a:solidFill>
                                <a:latin typeface="Cambria Math" panose="02040503050406030204" pitchFamily="18" charset="0"/>
                              </a:rPr>
                              <m:t>1</m:t>
                            </m:r>
                          </m:den>
                        </m:f>
                      </m:e>
                    </m:rad>
                  </m:oMath>
                </a14:m>
                <a:r>
                  <a:rPr lang="en-US" sz="1400" b="0" u="none" dirty="0">
                    <a:solidFill>
                      <a:srgbClr val="EB971B"/>
                    </a:solidFill>
                    <a:cs typeface="Arial" panose="020B0604020202020204" pitchFamily="34" charset="0"/>
                  </a:rPr>
                  <a:t> </a:t>
                </a:r>
              </a:p>
              <a:p>
                <a:pPr algn="ctr"/>
                <a:endParaRPr lang="en-US" sz="1400" b="0" u="none" dirty="0">
                  <a:solidFill>
                    <a:srgbClr val="EB971B"/>
                  </a:solidFill>
                  <a:cs typeface="Arial" panose="020B0604020202020204" pitchFamily="34" charset="0"/>
                </a:endParaRPr>
              </a:p>
            </p:txBody>
          </p:sp>
        </mc:Choice>
        <mc:Fallback xmlns="">
          <p:sp>
            <p:nvSpPr>
              <p:cNvPr id="10" name="TextBox 9">
                <a:extLst>
                  <a:ext uri="{FF2B5EF4-FFF2-40B4-BE49-F238E27FC236}">
                    <a16:creationId xmlns:a16="http://schemas.microsoft.com/office/drawing/2014/main" id="{AE8FA2A0-E29D-58AA-5E47-7694F9F0FE06}"/>
                  </a:ext>
                </a:extLst>
              </p:cNvPr>
              <p:cNvSpPr txBox="1">
                <a:spLocks noRot="1" noChangeAspect="1" noMove="1" noResize="1" noEditPoints="1" noAdjustHandles="1" noChangeArrowheads="1" noChangeShapeType="1" noTextEdit="1"/>
              </p:cNvSpPr>
              <p:nvPr/>
            </p:nvSpPr>
            <p:spPr>
              <a:xfrm>
                <a:off x="5067300" y="1133720"/>
                <a:ext cx="4017963" cy="4654159"/>
              </a:xfrm>
              <a:prstGeom prst="rect">
                <a:avLst/>
              </a:prstGeom>
              <a:blipFill>
                <a:blip r:embed="rId6"/>
                <a:stretch>
                  <a:fillRect l="-455" t="-262" r="-1214"/>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DBCD405F-6E7B-0B1D-6DD7-9AF7EA421AB1}"/>
              </a:ext>
            </a:extLst>
          </p:cNvPr>
          <p:cNvSpPr txBox="1"/>
          <p:nvPr/>
        </p:nvSpPr>
        <p:spPr>
          <a:xfrm>
            <a:off x="657697" y="5353391"/>
            <a:ext cx="4065095" cy="338554"/>
          </a:xfrm>
          <a:prstGeom prst="rect">
            <a:avLst/>
          </a:prstGeom>
          <a:noFill/>
        </p:spPr>
        <p:txBody>
          <a:bodyPr wrap="square" rtlCol="0">
            <a:spAutoFit/>
          </a:bodyPr>
          <a:lstStyle/>
          <a:p>
            <a:pPr algn="ctr"/>
            <a:r>
              <a:rPr lang="en-US" sz="1600" b="0" u="none" dirty="0">
                <a:cs typeface="Arial" panose="020B0604020202020204" pitchFamily="34" charset="0"/>
              </a:rPr>
              <a:t>True support for candidate A</a:t>
            </a:r>
          </a:p>
        </p:txBody>
      </p:sp>
      <p:cxnSp>
        <p:nvCxnSpPr>
          <p:cNvPr id="12" name="Straight Connector 11">
            <a:extLst>
              <a:ext uri="{FF2B5EF4-FFF2-40B4-BE49-F238E27FC236}">
                <a16:creationId xmlns:a16="http://schemas.microsoft.com/office/drawing/2014/main" id="{05BE12AC-DCE0-E76F-A331-7E577CE93F5B}"/>
              </a:ext>
            </a:extLst>
          </p:cNvPr>
          <p:cNvCxnSpPr/>
          <p:nvPr/>
        </p:nvCxnSpPr>
        <p:spPr bwMode="auto">
          <a:xfrm>
            <a:off x="1690956" y="250489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39D28919-C164-FA7B-0061-70329A0ADE6B}"/>
              </a:ext>
            </a:extLst>
          </p:cNvPr>
          <p:cNvSpPr txBox="1"/>
          <p:nvPr/>
        </p:nvSpPr>
        <p:spPr>
          <a:xfrm>
            <a:off x="2310352" y="2547145"/>
            <a:ext cx="31187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Fox</a:t>
            </a:r>
            <a:endParaRPr lang="en-US" sz="1400" b="0" u="none" dirty="0">
              <a:solidFill>
                <a:srgbClr val="00B0F0"/>
              </a:solidFill>
              <a:cs typeface="Arial" pitchFamily="34" charset="0"/>
            </a:endParaRPr>
          </a:p>
        </p:txBody>
      </p:sp>
      <p:sp>
        <p:nvSpPr>
          <p:cNvPr id="14" name="Oval 13">
            <a:extLst>
              <a:ext uri="{FF2B5EF4-FFF2-40B4-BE49-F238E27FC236}">
                <a16:creationId xmlns:a16="http://schemas.microsoft.com/office/drawing/2014/main" id="{C0921EE7-FA01-560E-6378-97A27072AA81}"/>
              </a:ext>
            </a:extLst>
          </p:cNvPr>
          <p:cNvSpPr/>
          <p:nvPr/>
        </p:nvSpPr>
        <p:spPr bwMode="auto">
          <a:xfrm>
            <a:off x="2428190" y="246806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9426BDE-A4E4-D32B-217C-B48DE410B2BE}"/>
                  </a:ext>
                </a:extLst>
              </p:cNvPr>
              <p:cNvSpPr txBox="1"/>
              <p:nvPr/>
            </p:nvSpPr>
            <p:spPr>
              <a:xfrm>
                <a:off x="1017344" y="1976479"/>
                <a:ext cx="1061751" cy="308161"/>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r>
                            <a:rPr lang="en-US" sz="1050" b="0" i="1" u="none">
                              <a:solidFill>
                                <a:srgbClr val="FF0000"/>
                              </a:solidFill>
                              <a:latin typeface="Cambria Math" panose="02040503050406030204" pitchFamily="18" charset="0"/>
                            </a:rPr>
                            <m:t>𝜎</m:t>
                          </m:r>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17" name="TextBox 16">
                <a:extLst>
                  <a:ext uri="{FF2B5EF4-FFF2-40B4-BE49-F238E27FC236}">
                    <a16:creationId xmlns:a16="http://schemas.microsoft.com/office/drawing/2014/main" id="{69426BDE-A4E4-D32B-217C-B48DE410B2BE}"/>
                  </a:ext>
                </a:extLst>
              </p:cNvPr>
              <p:cNvSpPr txBox="1">
                <a:spLocks noRot="1" noChangeAspect="1" noMove="1" noResize="1" noEditPoints="1" noAdjustHandles="1" noChangeArrowheads="1" noChangeShapeType="1" noTextEdit="1"/>
              </p:cNvSpPr>
              <p:nvPr/>
            </p:nvSpPr>
            <p:spPr>
              <a:xfrm>
                <a:off x="1017344" y="1976479"/>
                <a:ext cx="1061751" cy="308161"/>
              </a:xfrm>
              <a:prstGeom prst="rect">
                <a:avLst/>
              </a:prstGeom>
              <a:blipFill>
                <a:blip r:embed="rId7"/>
                <a:stretch>
                  <a:fillRect b="-9804"/>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FF5E349F-DDAE-3E67-2462-BBB31543A66B}"/>
              </a:ext>
            </a:extLst>
          </p:cNvPr>
          <p:cNvCxnSpPr/>
          <p:nvPr/>
        </p:nvCxnSpPr>
        <p:spPr bwMode="auto">
          <a:xfrm>
            <a:off x="3251532" y="2340481"/>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3439A9DA-173F-7E36-492A-45212C8034BD}"/>
              </a:ext>
            </a:extLst>
          </p:cNvPr>
          <p:cNvCxnSpPr/>
          <p:nvPr/>
        </p:nvCxnSpPr>
        <p:spPr bwMode="auto">
          <a:xfrm>
            <a:off x="1690956" y="2340482"/>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AF079CD-877C-56FF-5454-8720C7CB8DAA}"/>
                  </a:ext>
                </a:extLst>
              </p:cNvPr>
              <p:cNvSpPr txBox="1"/>
              <p:nvPr/>
            </p:nvSpPr>
            <p:spPr>
              <a:xfrm>
                <a:off x="2985210" y="1974897"/>
                <a:ext cx="992430" cy="308161"/>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r>
                            <a:rPr lang="en-US" sz="1050" b="0" i="1" u="none" smtClean="0">
                              <a:solidFill>
                                <a:srgbClr val="FF0000"/>
                              </a:solidFill>
                              <a:latin typeface="Cambria Math" panose="02040503050406030204" pitchFamily="18" charset="0"/>
                            </a:rPr>
                            <m:t>𝜎</m:t>
                          </m:r>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21" name="TextBox 20">
                <a:extLst>
                  <a:ext uri="{FF2B5EF4-FFF2-40B4-BE49-F238E27FC236}">
                    <a16:creationId xmlns:a16="http://schemas.microsoft.com/office/drawing/2014/main" id="{0AF079CD-877C-56FF-5454-8720C7CB8DAA}"/>
                  </a:ext>
                </a:extLst>
              </p:cNvPr>
              <p:cNvSpPr txBox="1">
                <a:spLocks noRot="1" noChangeAspect="1" noMove="1" noResize="1" noEditPoints="1" noAdjustHandles="1" noChangeArrowheads="1" noChangeShapeType="1" noTextEdit="1"/>
              </p:cNvSpPr>
              <p:nvPr/>
            </p:nvSpPr>
            <p:spPr>
              <a:xfrm>
                <a:off x="2985210" y="1974897"/>
                <a:ext cx="992430" cy="308161"/>
              </a:xfrm>
              <a:prstGeom prst="rect">
                <a:avLst/>
              </a:prstGeom>
              <a:blipFill>
                <a:blip r:embed="rId8"/>
                <a:stretch>
                  <a:fillRect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544579F-3477-B417-B589-C2A58C60CDDF}"/>
                  </a:ext>
                </a:extLst>
              </p:cNvPr>
              <p:cNvSpPr txBox="1"/>
              <p:nvPr/>
            </p:nvSpPr>
            <p:spPr>
              <a:xfrm>
                <a:off x="1164372" y="1475231"/>
                <a:ext cx="3016537" cy="391261"/>
              </a:xfrm>
              <a:prstGeom prst="rect">
                <a:avLst/>
              </a:prstGeom>
              <a:noFill/>
            </p:spPr>
            <p:txBody>
              <a:bodyPr wrap="square">
                <a:spAutoFit/>
              </a:bodyPr>
              <a:lstStyle/>
              <a:p>
                <a:pPr algn="ctr"/>
                <a:r>
                  <a:rPr lang="en-US" sz="1400" b="0" u="none" dirty="0">
                    <a:cs typeface="Arial" panose="020B0604020202020204" pitchFamily="34" charset="0"/>
                  </a:rPr>
                  <a:t>Distribution of Poll Results,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r>
                      <a:rPr lang="en-US" sz="1400" b="0" i="1" u="none" dirty="0" smtClean="0">
                        <a:latin typeface="Cambria Math" panose="02040503050406030204" pitchFamily="18" charset="0"/>
                        <a:cs typeface="Arial" panose="020B0604020202020204" pitchFamily="34" charset="0"/>
                      </a:rPr>
                      <m:t>(</m:t>
                    </m:r>
                    <m:r>
                      <a:rPr lang="en-US" sz="1400" b="0" i="1" u="none" dirty="0" smtClean="0">
                        <a:solidFill>
                          <a:srgbClr val="FF0000"/>
                        </a:solidFill>
                        <a:latin typeface="Cambria Math" panose="02040503050406030204" pitchFamily="18" charset="0"/>
                        <a:cs typeface="Arial" panose="020B0604020202020204" pitchFamily="34" charset="0"/>
                      </a:rPr>
                      <m:t>𝜇</m:t>
                    </m:r>
                    <m:r>
                      <a:rPr lang="en-US" sz="1400" b="0" i="1" u="none" dirty="0" smtClean="0">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r>
                      <a:rPr lang="en-US" sz="1400" b="0" i="1" u="none" dirty="0" smtClean="0">
                        <a:latin typeface="Cambria Math" panose="02040503050406030204" pitchFamily="18" charset="0"/>
                        <a:cs typeface="Arial" panose="020B0604020202020204" pitchFamily="34" charset="0"/>
                      </a:rPr>
                      <m:t>)</m:t>
                    </m:r>
                  </m:oMath>
                </a14:m>
                <a:endParaRPr lang="en-US" sz="1400" dirty="0"/>
              </a:p>
            </p:txBody>
          </p:sp>
        </mc:Choice>
        <mc:Fallback xmlns="">
          <p:sp>
            <p:nvSpPr>
              <p:cNvPr id="4" name="TextBox 3">
                <a:extLst>
                  <a:ext uri="{FF2B5EF4-FFF2-40B4-BE49-F238E27FC236}">
                    <a16:creationId xmlns:a16="http://schemas.microsoft.com/office/drawing/2014/main" id="{F544579F-3477-B417-B589-C2A58C60CDDF}"/>
                  </a:ext>
                </a:extLst>
              </p:cNvPr>
              <p:cNvSpPr txBox="1">
                <a:spLocks noRot="1" noChangeAspect="1" noMove="1" noResize="1" noEditPoints="1" noAdjustHandles="1" noChangeArrowheads="1" noChangeShapeType="1" noTextEdit="1"/>
              </p:cNvSpPr>
              <p:nvPr/>
            </p:nvSpPr>
            <p:spPr>
              <a:xfrm>
                <a:off x="1164372" y="1475231"/>
                <a:ext cx="3016537" cy="391261"/>
              </a:xfrm>
              <a:prstGeom prst="rect">
                <a:avLst/>
              </a:prstGeom>
              <a:blipFill>
                <a:blip r:embed="rId9"/>
                <a:stretch>
                  <a:fillRect l="-202"/>
                </a:stretch>
              </a:blipFill>
            </p:spPr>
            <p:txBody>
              <a:bodyPr/>
              <a:lstStyle/>
              <a:p>
                <a:r>
                  <a:rPr lang="en-US">
                    <a:noFill/>
                  </a:rPr>
                  <a:t> </a:t>
                </a:r>
              </a:p>
            </p:txBody>
          </p:sp>
        </mc:Fallback>
      </mc:AlternateContent>
    </p:spTree>
    <p:extLst>
      <p:ext uri="{BB962C8B-B14F-4D97-AF65-F5344CB8AC3E}">
        <p14:creationId xmlns:p14="http://schemas.microsoft.com/office/powerpoint/2010/main" val="174727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3" grpId="0" animBg="1"/>
      <p:bldP spid="14" grpId="0" animBg="1"/>
      <p:bldP spid="17" grpId="0" animBg="1"/>
      <p:bldP spid="2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72B90-AF9D-61C4-E4BF-D6F7C5383A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0DFBB51-4EA8-786C-7224-FF4911C26FE3}"/>
                  </a:ext>
                </a:extLst>
              </p:cNvPr>
              <p:cNvSpPr>
                <a:spLocks noGrp="1"/>
              </p:cNvSpPr>
              <p:nvPr>
                <p:ph type="title"/>
              </p:nvPr>
            </p:nvSpPr>
            <p:spPr/>
            <p:txBody>
              <a:bodyPr/>
              <a:lstStyle/>
              <a:p>
                <a:r>
                  <a:rPr lang="en-US" dirty="0"/>
                  <a:t>Fox Poll 95% Confidence Interval (</a:t>
                </a:r>
                <a14:m>
                  <m:oMath xmlns:m="http://schemas.openxmlformats.org/officeDocument/2006/math">
                    <m:r>
                      <a:rPr lang="en-US" i="1" dirty="0" smtClean="0">
                        <a:latin typeface="Cambria Math" panose="02040503050406030204" pitchFamily="18" charset="0"/>
                      </a:rPr>
                      <m:t>𝐶</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𝐼</m:t>
                        </m:r>
                      </m:e>
                      <m:sup>
                        <m:r>
                          <a:rPr lang="en-US" b="0" i="1" dirty="0" smtClean="0">
                            <a:latin typeface="Cambria Math" panose="02040503050406030204" pitchFamily="18" charset="0"/>
                          </a:rPr>
                          <m:t>95</m:t>
                        </m:r>
                      </m:sup>
                    </m:sSup>
                  </m:oMath>
                </a14:m>
                <a:r>
                  <a:rPr lang="en-US" dirty="0"/>
                  <a:t>)</a:t>
                </a:r>
              </a:p>
            </p:txBody>
          </p:sp>
        </mc:Choice>
        <mc:Fallback xmlns="">
          <p:sp>
            <p:nvSpPr>
              <p:cNvPr id="2" name="Title 1">
                <a:extLst>
                  <a:ext uri="{FF2B5EF4-FFF2-40B4-BE49-F238E27FC236}">
                    <a16:creationId xmlns:a16="http://schemas.microsoft.com/office/drawing/2014/main" id="{236625DC-3F28-6B30-6C51-F77DF7D271E9}"/>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E328570-D911-1F1C-07A8-0CC4BE73CB7C}"/>
              </a:ext>
            </a:extLst>
          </p:cNvPr>
          <p:cNvPicPr>
            <a:picLocks noChangeAspect="1"/>
          </p:cNvPicPr>
          <p:nvPr/>
        </p:nvPicPr>
        <p:blipFill>
          <a:blip r:embed="rId3"/>
          <a:stretch>
            <a:fillRect/>
          </a:stretch>
        </p:blipFill>
        <p:spPr>
          <a:xfrm>
            <a:off x="58737" y="1938638"/>
            <a:ext cx="4825015" cy="3437924"/>
          </a:xfrm>
          <a:prstGeom prst="rect">
            <a:avLst/>
          </a:prstGeom>
        </p:spPr>
      </p:pic>
      <p:cxnSp>
        <p:nvCxnSpPr>
          <p:cNvPr id="6" name="Straight Connector 5">
            <a:extLst>
              <a:ext uri="{FF2B5EF4-FFF2-40B4-BE49-F238E27FC236}">
                <a16:creationId xmlns:a16="http://schemas.microsoft.com/office/drawing/2014/main" id="{8C01EBDD-320E-805B-5F1A-C2E29CB0A9F3}"/>
              </a:ext>
            </a:extLst>
          </p:cNvPr>
          <p:cNvCxnSpPr/>
          <p:nvPr/>
        </p:nvCxnSpPr>
        <p:spPr bwMode="auto">
          <a:xfrm>
            <a:off x="2671713" y="3799703"/>
            <a:ext cx="547224" cy="0"/>
          </a:xfrm>
          <a:prstGeom prst="line">
            <a:avLst/>
          </a:prstGeom>
          <a:solidFill>
            <a:schemeClr val="accent1"/>
          </a:solidFill>
          <a:ln w="9525" cap="flat" cmpd="sng" algn="ctr">
            <a:solidFill>
              <a:srgbClr val="00B0F0"/>
            </a:solidFill>
            <a:prstDash val="dash"/>
            <a:round/>
            <a:headEnd type="none" w="med" len="med"/>
            <a:tailEnd type="none" w="med" len="med"/>
          </a:ln>
          <a:effectLst/>
        </p:spPr>
      </p:cxnSp>
      <p:sp>
        <p:nvSpPr>
          <p:cNvPr id="8" name="Freeform: Shape 7">
            <a:extLst>
              <a:ext uri="{FF2B5EF4-FFF2-40B4-BE49-F238E27FC236}">
                <a16:creationId xmlns:a16="http://schemas.microsoft.com/office/drawing/2014/main" id="{932C480A-BE6E-3A03-1B2F-DBFC23C4F017}"/>
              </a:ext>
            </a:extLst>
          </p:cNvPr>
          <p:cNvSpPr/>
          <p:nvPr/>
        </p:nvSpPr>
        <p:spPr bwMode="auto">
          <a:xfrm>
            <a:off x="2811164" y="3311611"/>
            <a:ext cx="426308" cy="420130"/>
          </a:xfrm>
          <a:custGeom>
            <a:avLst/>
            <a:gdLst>
              <a:gd name="connsiteX0" fmla="*/ 0 w 426308"/>
              <a:gd name="connsiteY0" fmla="*/ 420130 h 420130"/>
              <a:gd name="connsiteX1" fmla="*/ 98854 w 426308"/>
              <a:gd name="connsiteY1" fmla="*/ 129746 h 420130"/>
              <a:gd name="connsiteX2" fmla="*/ 426308 w 426308"/>
              <a:gd name="connsiteY2" fmla="*/ 0 h 420130"/>
            </a:gdLst>
            <a:ahLst/>
            <a:cxnLst>
              <a:cxn ang="0">
                <a:pos x="connsiteX0" y="connsiteY0"/>
              </a:cxn>
              <a:cxn ang="0">
                <a:pos x="connsiteX1" y="connsiteY1"/>
              </a:cxn>
              <a:cxn ang="0">
                <a:pos x="connsiteX2" y="connsiteY2"/>
              </a:cxn>
            </a:cxnLst>
            <a:rect l="l" t="t" r="r" b="b"/>
            <a:pathLst>
              <a:path w="426308" h="420130">
                <a:moveTo>
                  <a:pt x="0" y="420130"/>
                </a:moveTo>
                <a:cubicBezTo>
                  <a:pt x="13901" y="309949"/>
                  <a:pt x="27803" y="199768"/>
                  <a:pt x="98854" y="129746"/>
                </a:cubicBezTo>
                <a:cubicBezTo>
                  <a:pt x="169905" y="59724"/>
                  <a:pt x="298106" y="29862"/>
                  <a:pt x="426308" y="0"/>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D9061C-8B1C-A300-6526-1F9E9EFF4A96}"/>
                  </a:ext>
                </a:extLst>
              </p:cNvPr>
              <p:cNvSpPr txBox="1"/>
              <p:nvPr/>
            </p:nvSpPr>
            <p:spPr>
              <a:xfrm>
                <a:off x="2591757" y="5037818"/>
                <a:ext cx="196977" cy="276999"/>
              </a:xfrm>
              <a:prstGeom prst="rect">
                <a:avLst/>
              </a:prstGeom>
              <a:solidFill>
                <a:schemeClr val="bg1"/>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FF0000"/>
                          </a:solidFill>
                          <a:latin typeface="Cambria Math" panose="02040503050406030204" pitchFamily="18" charset="0"/>
                          <a:cs typeface="Arial" pitchFamily="34" charset="0"/>
                        </a:rPr>
                        <m:t>𝜇</m:t>
                      </m:r>
                    </m:oMath>
                  </m:oMathPara>
                </a14:m>
                <a:endParaRPr lang="en-US" sz="1800" b="0" u="none" dirty="0">
                  <a:solidFill>
                    <a:srgbClr val="FF0000"/>
                  </a:solidFill>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BCCEEB-2473-43D1-1450-E3D72CB06416}"/>
                  </a:ext>
                </a:extLst>
              </p:cNvPr>
              <p:cNvSpPr txBox="1">
                <a:spLocks noRot="1" noChangeAspect="1" noMove="1" noResize="1" noEditPoints="1" noAdjustHandles="1" noChangeArrowheads="1" noChangeShapeType="1" noTextEdit="1"/>
              </p:cNvSpPr>
              <p:nvPr/>
            </p:nvSpPr>
            <p:spPr>
              <a:xfrm>
                <a:off x="2591757" y="5037818"/>
                <a:ext cx="196977" cy="276999"/>
              </a:xfrm>
              <a:prstGeom prst="rect">
                <a:avLst/>
              </a:prstGeom>
              <a:blipFill>
                <a:blip r:embed="rId5"/>
                <a:stretch>
                  <a:fillRect l="-43750" r="-625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7F1509B-F18E-5BAF-7745-78CCF3D4ABBE}"/>
                  </a:ext>
                </a:extLst>
              </p:cNvPr>
              <p:cNvSpPr txBox="1"/>
              <p:nvPr/>
            </p:nvSpPr>
            <p:spPr>
              <a:xfrm>
                <a:off x="5067300" y="1133720"/>
                <a:ext cx="4017963" cy="4438716"/>
              </a:xfrm>
              <a:prstGeom prst="rect">
                <a:avLst/>
              </a:prstGeom>
              <a:solidFill>
                <a:schemeClr val="bg1"/>
              </a:solidFill>
              <a:ln>
                <a:noFill/>
              </a:ln>
            </p:spPr>
            <p:txBody>
              <a:bodyPr wrap="square" rtlCol="0">
                <a:spAutoFit/>
              </a:bodyPr>
              <a:lstStyle/>
              <a:p>
                <a:r>
                  <a:rPr lang="en-US" sz="1400" b="0" u="none" dirty="0">
                    <a:solidFill>
                      <a:schemeClr val="accent6"/>
                    </a:solidFill>
                    <a:cs typeface="Arial" panose="020B0604020202020204" pitchFamily="34" charset="0"/>
                  </a:rPr>
                  <a:t>We know from the Central Limit Theorem that the mean vote for candidate A across polls is normally distributed:</a:t>
                </a:r>
              </a:p>
              <a:p>
                <a:pPr algn="ctr"/>
                <a14:m>
                  <m:oMathPara xmlns:m="http://schemas.openxmlformats.org/officeDocument/2006/math">
                    <m:oMathParaPr>
                      <m:jc m:val="centerGroup"/>
                    </m:oMathParaPr>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a:solidFill>
                            <a:schemeClr val="accent6"/>
                          </a:solidFill>
                          <a:latin typeface="Cambria Math" panose="02040503050406030204" pitchFamily="18" charset="0"/>
                          <a:cs typeface="Arial" panose="020B0604020202020204" pitchFamily="34" charset="0"/>
                        </a:rPr>
                        <m:t>~</m:t>
                      </m:r>
                      <m:r>
                        <a:rPr lang="en-US" sz="1400" b="0" i="1" u="none">
                          <a:solidFill>
                            <a:schemeClr val="accent6"/>
                          </a:solidFill>
                          <a:latin typeface="Cambria Math" panose="02040503050406030204" pitchFamily="18" charset="0"/>
                          <a:cs typeface="Arial" panose="020B0604020202020204" pitchFamily="34" charset="0"/>
                        </a:rPr>
                        <m:t>𝑁</m:t>
                      </m:r>
                      <m:d>
                        <m:dPr>
                          <m:ctrlPr>
                            <a:rPr lang="en-US" sz="1400" b="0" i="1" u="none">
                              <a:solidFill>
                                <a:schemeClr val="accent6"/>
                              </a:solidFill>
                              <a:latin typeface="Cambria Math" panose="02040503050406030204" pitchFamily="18" charset="0"/>
                              <a:cs typeface="Arial" panose="020B0604020202020204" pitchFamily="34" charset="0"/>
                            </a:rPr>
                          </m:ctrlPr>
                        </m:dPr>
                        <m:e>
                          <m:r>
                            <a:rPr lang="en-US" sz="1400" b="0" i="1" u="none">
                              <a:solidFill>
                                <a:srgbClr val="FF0000"/>
                              </a:solidFill>
                              <a:latin typeface="Cambria Math" panose="02040503050406030204" pitchFamily="18" charset="0"/>
                              <a:cs typeface="Arial" panose="020B0604020202020204" pitchFamily="34" charset="0"/>
                            </a:rPr>
                            <m:t>𝜇</m:t>
                          </m:r>
                          <m:r>
                            <a:rPr lang="en-US" sz="1400" b="0" i="1" u="none">
                              <a:solidFill>
                                <a:srgbClr val="FF0000"/>
                              </a:solidFill>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e>
                      </m:d>
                      <m:r>
                        <a:rPr lang="en-US" sz="1400" b="0" i="1" u="none">
                          <a:solidFill>
                            <a:schemeClr val="accent6"/>
                          </a:solidFill>
                          <a:latin typeface="Cambria Math" panose="02040503050406030204" pitchFamily="18" charset="0"/>
                        </a:rPr>
                        <m:t> </m:t>
                      </m:r>
                    </m:oMath>
                  </m:oMathPara>
                </a14:m>
                <a:endParaRPr lang="en-US" sz="1400" b="0" u="none" dirty="0">
                  <a:solidFill>
                    <a:schemeClr val="accent6"/>
                  </a:solidFill>
                </a:endParaRPr>
              </a:p>
              <a:p>
                <a:pPr algn="ctr"/>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We know the Fox poll (</a:t>
                </a:r>
                <a14:m>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a:solidFill>
                          <a:srgbClr val="00B0F0"/>
                        </a:solidFill>
                        <a:latin typeface="Cambria Math" panose="02040503050406030204" pitchFamily="18" charset="0"/>
                        <a:cs typeface="Arial" panose="020B0604020202020204" pitchFamily="34" charset="0"/>
                      </a:rPr>
                      <m:t>=51</m:t>
                    </m:r>
                  </m:oMath>
                </a14:m>
                <a:r>
                  <a:rPr lang="en-US" sz="1400" b="0" u="none" dirty="0">
                    <a:solidFill>
                      <a:schemeClr val="accent6"/>
                    </a:solidFill>
                    <a:cs typeface="Arial" panose="020B0604020202020204" pitchFamily="34" charset="0"/>
                  </a:rPr>
                  <a:t>) is somewhere on this distribution but not exactly where</a:t>
                </a:r>
              </a:p>
              <a:p>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We know 95% of the time, the true mean </a:t>
                </a:r>
                <a14:m>
                  <m:oMath xmlns:m="http://schemas.openxmlformats.org/officeDocument/2006/math">
                    <m:r>
                      <a:rPr lang="en-US" sz="1400" b="0" i="1" u="none">
                        <a:solidFill>
                          <a:srgbClr val="FF0000"/>
                        </a:solidFill>
                        <a:latin typeface="Cambria Math" panose="02040503050406030204" pitchFamily="18" charset="0"/>
                        <a:cs typeface="Arial" panose="020B0604020202020204" pitchFamily="34" charset="0"/>
                      </a:rPr>
                      <m:t>𝜇</m:t>
                    </m:r>
                  </m:oMath>
                </a14:m>
                <a:r>
                  <a:rPr lang="en-US" sz="1400" b="0" u="none" dirty="0">
                    <a:solidFill>
                      <a:schemeClr val="accent6"/>
                    </a:solidFill>
                    <a:cs typeface="Arial" panose="020B0604020202020204" pitchFamily="34" charset="0"/>
                  </a:rPr>
                  <a:t> will be captured by </a:t>
                </a:r>
                <a:endParaRPr lang="en-US" sz="1400" b="0" i="1" u="none" dirty="0">
                  <a:solidFill>
                    <a:srgbClr val="00B0F0"/>
                  </a:solidFill>
                  <a:latin typeface="Cambria Math" panose="02040503050406030204" pitchFamily="18" charset="0"/>
                  <a:cs typeface="Arial" panose="020B0604020202020204" pitchFamily="34" charset="0"/>
                </a:endParaRPr>
              </a:p>
              <a:p>
                <a:endParaRPr lang="en-US" sz="1400" b="0" i="1" u="none" dirty="0">
                  <a:solidFill>
                    <a:srgbClr val="00B0F0"/>
                  </a:solidFill>
                  <a:latin typeface="Cambria Math" panose="02040503050406030204" pitchFamily="18" charset="0"/>
                  <a:cs typeface="Arial" panose="020B0604020202020204" pitchFamily="34" charset="0"/>
                </a:endParaRPr>
              </a:p>
              <a:p>
                <a:pPr algn="ctr"/>
                <a14:m>
                  <m:oMath xmlns:m="http://schemas.openxmlformats.org/officeDocument/2006/math">
                    <m:acc>
                      <m:accPr>
                        <m:chr m:val="̅"/>
                        <m:ctrlPr>
                          <a:rPr lang="en-US" sz="1400" b="0" i="1" u="none">
                            <a:solidFill>
                              <a:srgbClr val="00B0F0"/>
                            </a:solidFill>
                            <a:latin typeface="Cambria Math" panose="02040503050406030204" pitchFamily="18" charset="0"/>
                            <a:cs typeface="Arial" panose="020B0604020202020204" pitchFamily="34" charset="0"/>
                          </a:rPr>
                        </m:ctrlPr>
                      </m:accPr>
                      <m:e>
                        <m:r>
                          <a:rPr lang="en-US" sz="1400" b="0" i="1" u="none">
                            <a:solidFill>
                              <a:srgbClr val="00B0F0"/>
                            </a:solidFill>
                            <a:latin typeface="Cambria Math" panose="02040503050406030204" pitchFamily="18" charset="0"/>
                            <a:cs typeface="Arial" panose="020B0604020202020204" pitchFamily="34" charset="0"/>
                          </a:rPr>
                          <m:t>𝑥</m:t>
                        </m:r>
                      </m:e>
                    </m:acc>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±1.96∗</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rgbClr val="00B0F0"/>
                                </a:solidFill>
                                <a:latin typeface="Cambria Math" panose="02040503050406030204" pitchFamily="18" charset="0"/>
                                <a:cs typeface="Arial" panose="020B0604020202020204" pitchFamily="34" charset="0"/>
                              </a:rPr>
                              <m:t>𝑁</m:t>
                            </m:r>
                          </m:e>
                        </m:rad>
                      </m:den>
                    </m:f>
                    <m:r>
                      <m:rPr>
                        <m:nor/>
                      </m:rPr>
                      <a:rPr lang="en-US" sz="1400" b="0" i="0" u="none" dirty="0">
                        <a:solidFill>
                          <a:srgbClr val="EB971B"/>
                        </a:solidFill>
                        <a:cs typeface="Arial" panose="020B0604020202020204" pitchFamily="34" charset="0"/>
                      </a:rPr>
                      <m:t> </m:t>
                    </m:r>
                    <m:r>
                      <m:rPr>
                        <m:nor/>
                      </m:rPr>
                      <a:rPr lang="en-US" sz="1400" b="0" i="0" u="none" dirty="0">
                        <a:solidFill>
                          <a:schemeClr val="accent6"/>
                        </a:solidFill>
                        <a:cs typeface="Arial" panose="020B0604020202020204" pitchFamily="34" charset="0"/>
                      </a:rPr>
                      <m:t>or</m:t>
                    </m:r>
                    <m:r>
                      <m:rPr>
                        <m:nor/>
                      </m:rPr>
                      <a:rPr lang="en-US" sz="1400" b="0" i="0" u="none" dirty="0">
                        <a:solidFill>
                          <a:srgbClr val="EB971B"/>
                        </a:solidFill>
                        <a:cs typeface="Arial" panose="020B0604020202020204" pitchFamily="34" charset="0"/>
                      </a:rPr>
                      <m:t> </m:t>
                    </m:r>
                    <m:r>
                      <a:rPr lang="en-US" sz="1400" b="0" i="1" u="none">
                        <a:solidFill>
                          <a:srgbClr val="00B0F0"/>
                        </a:solidFill>
                        <a:latin typeface="Cambria Math" panose="02040503050406030204" pitchFamily="18" charset="0"/>
                        <a:cs typeface="Arial" panose="020B0604020202020204" pitchFamily="34" charset="0"/>
                      </a:rPr>
                      <m:t>51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±1.96∗</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rgbClr val="00B0F0"/>
                                </a:solidFill>
                                <a:latin typeface="Cambria Math" panose="02040503050406030204" pitchFamily="18" charset="0"/>
                                <a:cs typeface="Arial" panose="020B0604020202020204" pitchFamily="34" charset="0"/>
                              </a:rPr>
                              <m:t>𝑁</m:t>
                            </m:r>
                          </m:e>
                        </m:rad>
                      </m:den>
                    </m:f>
                  </m:oMath>
                </a14:m>
                <a:r>
                  <a:rPr lang="en-US" sz="1400" b="0" u="none" dirty="0">
                    <a:solidFill>
                      <a:srgbClr val="EB971B"/>
                    </a:solidFill>
                    <a:cs typeface="Arial" panose="020B0604020202020204" pitchFamily="34" charset="0"/>
                  </a:rPr>
                  <a:t> </a:t>
                </a:r>
              </a:p>
              <a:p>
                <a:pPr algn="ctr"/>
                <a:endParaRPr lang="en-US" sz="1400" b="0" u="none" dirty="0">
                  <a:solidFill>
                    <a:srgbClr val="EB971B"/>
                  </a:solidFill>
                  <a:cs typeface="Arial" panose="020B0604020202020204" pitchFamily="34" charset="0"/>
                </a:endParaRPr>
              </a:p>
              <a:p>
                <a:r>
                  <a:rPr lang="en-US" sz="1400" b="0" u="none" dirty="0">
                    <a:solidFill>
                      <a:schemeClr val="accent6"/>
                    </a:solidFill>
                    <a:cs typeface="Arial" panose="020B0604020202020204" pitchFamily="34" charset="0"/>
                  </a:rPr>
                  <a:t>Note: we don’t know the population </a:t>
                </a:r>
                <a14:m>
                  <m:oMath xmlns:m="http://schemas.openxmlformats.org/officeDocument/2006/math">
                    <m:r>
                      <a:rPr lang="en-US" sz="1400" b="0" i="1" u="none">
                        <a:solidFill>
                          <a:srgbClr val="FF0000"/>
                        </a:solidFill>
                        <a:latin typeface="Cambria Math" panose="02040503050406030204" pitchFamily="18" charset="0"/>
                        <a:cs typeface="Arial" panose="020B0604020202020204" pitchFamily="34" charset="0"/>
                      </a:rPr>
                      <m:t>𝜎</m:t>
                    </m:r>
                  </m:oMath>
                </a14:m>
                <a:r>
                  <a:rPr lang="en-US" sz="1400" b="0" u="none" dirty="0">
                    <a:solidFill>
                      <a:schemeClr val="accent6"/>
                    </a:solidFill>
                    <a:cs typeface="Arial" panose="020B0604020202020204" pitchFamily="34" charset="0"/>
                  </a:rPr>
                  <a:t>, so we use the sample standard deviation from the Fox poll (</a:t>
                </a:r>
                <a14:m>
                  <m:oMath xmlns:m="http://schemas.openxmlformats.org/officeDocument/2006/math">
                    <m:acc>
                      <m:accPr>
                        <m:chr m:val="̂"/>
                        <m:ctrlPr>
                          <a:rPr lang="en-US" sz="1400" b="0" i="1" u="none" dirty="0">
                            <a:solidFill>
                              <a:srgbClr val="00B0F0"/>
                            </a:solidFill>
                            <a:latin typeface="Cambria Math" panose="02040503050406030204" pitchFamily="18" charset="0"/>
                            <a:cs typeface="Arial" panose="020B0604020202020204" pitchFamily="34" charset="0"/>
                          </a:rPr>
                        </m:ctrlPr>
                      </m:accPr>
                      <m:e>
                        <m:r>
                          <a:rPr lang="en-US" sz="1400" b="0" i="1" u="none" dirty="0">
                            <a:solidFill>
                              <a:srgbClr val="00B0F0"/>
                            </a:solidFill>
                            <a:latin typeface="Cambria Math" panose="02040503050406030204" pitchFamily="18" charset="0"/>
                            <a:cs typeface="Arial" panose="020B0604020202020204" pitchFamily="34" charset="0"/>
                          </a:rPr>
                          <m:t>𝜎</m:t>
                        </m:r>
                      </m:e>
                    </m:acc>
                  </m:oMath>
                </a14:m>
                <a:r>
                  <a:rPr lang="en-US" sz="1400" b="0" u="none" dirty="0">
                    <a:solidFill>
                      <a:schemeClr val="accent6"/>
                    </a:solidFill>
                    <a:cs typeface="Arial" panose="020B0604020202020204" pitchFamily="34" charset="0"/>
                  </a:rPr>
                  <a:t>) in its place</a:t>
                </a:r>
              </a:p>
              <a:p>
                <a:pPr algn="ctr"/>
                <a14:m>
                  <m:oMath xmlns:m="http://schemas.openxmlformats.org/officeDocument/2006/math">
                    <m:acc>
                      <m:accPr>
                        <m:chr m:val="̂"/>
                        <m:ctrlPr>
                          <a:rPr lang="en-US" sz="1400" i="1" u="none">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𝜎</m:t>
                        </m:r>
                      </m:e>
                    </m:acc>
                    <m:r>
                      <a:rPr lang="en-US" sz="1400" i="1" u="none">
                        <a:solidFill>
                          <a:schemeClr val="accent6"/>
                        </a:solidFill>
                        <a:latin typeface="Cambria Math" panose="02040503050406030204" pitchFamily="18" charset="0"/>
                      </a:rPr>
                      <m:t>=</m:t>
                    </m:r>
                    <m:rad>
                      <m:radPr>
                        <m:degHide m:val="on"/>
                        <m:ctrlPr>
                          <a:rPr lang="en-US" sz="1400" i="1" u="none">
                            <a:solidFill>
                              <a:schemeClr val="accent6"/>
                            </a:solidFill>
                            <a:latin typeface="Cambria Math" panose="02040503050406030204" pitchFamily="18" charset="0"/>
                          </a:rPr>
                        </m:ctrlPr>
                      </m:radPr>
                      <m:deg/>
                      <m:e>
                        <m:f>
                          <m:fPr>
                            <m:ctrlPr>
                              <a:rPr lang="en-US" sz="1400" i="1" u="none">
                                <a:solidFill>
                                  <a:schemeClr val="accent6"/>
                                </a:solidFill>
                                <a:latin typeface="Cambria Math" panose="02040503050406030204" pitchFamily="18" charset="0"/>
                              </a:rPr>
                            </m:ctrlPr>
                          </m:fPr>
                          <m:num>
                            <m:nary>
                              <m:naryPr>
                                <m:chr m:val="∑"/>
                                <m:ctrlPr>
                                  <a:rPr lang="en-US" sz="1400" i="1" u="none">
                                    <a:solidFill>
                                      <a:schemeClr val="accent6"/>
                                    </a:solidFill>
                                    <a:latin typeface="Cambria Math" panose="02040503050406030204" pitchFamily="18" charset="0"/>
                                  </a:rPr>
                                </m:ctrlPr>
                              </m:naryPr>
                              <m:sub>
                                <m:r>
                                  <a:rPr lang="en-US" sz="1400" i="1" u="none">
                                    <a:solidFill>
                                      <a:schemeClr val="accent6"/>
                                    </a:solidFill>
                                    <a:latin typeface="Cambria Math" panose="02040503050406030204" pitchFamily="18" charset="0"/>
                                  </a:rPr>
                                  <m:t>𝑖</m:t>
                                </m:r>
                                <m:r>
                                  <a:rPr lang="en-US" sz="1400" i="1" u="none">
                                    <a:solidFill>
                                      <a:schemeClr val="accent6"/>
                                    </a:solidFill>
                                    <a:latin typeface="Cambria Math" panose="02040503050406030204" pitchFamily="18" charset="0"/>
                                  </a:rPr>
                                  <m:t>=1</m:t>
                                </m:r>
                              </m:sub>
                              <m:sup>
                                <m:r>
                                  <a:rPr lang="en-US" sz="1400" i="1" u="none">
                                    <a:solidFill>
                                      <a:schemeClr val="accent6"/>
                                    </a:solidFill>
                                    <a:latin typeface="Cambria Math" panose="02040503050406030204" pitchFamily="18" charset="0"/>
                                  </a:rPr>
                                  <m:t>𝑁</m:t>
                                </m:r>
                              </m:sup>
                              <m:e>
                                <m:r>
                                  <a:rPr lang="en-US" sz="1400" i="1" u="none">
                                    <a:solidFill>
                                      <a:schemeClr val="accent6"/>
                                    </a:solidFill>
                                    <a:latin typeface="Cambria Math" panose="02040503050406030204" pitchFamily="18" charset="0"/>
                                  </a:rPr>
                                  <m:t>(</m:t>
                                </m:r>
                                <m:sSub>
                                  <m:sSubPr>
                                    <m:ctrlPr>
                                      <a:rPr lang="en-US" sz="1400" i="1" u="none">
                                        <a:solidFill>
                                          <a:srgbClr val="00B0F0"/>
                                        </a:solidFill>
                                        <a:latin typeface="Cambria Math" panose="02040503050406030204" pitchFamily="18" charset="0"/>
                                      </a:rPr>
                                    </m:ctrlPr>
                                  </m:sSubPr>
                                  <m:e>
                                    <m:r>
                                      <a:rPr lang="en-US" sz="1400" i="1" u="none">
                                        <a:solidFill>
                                          <a:srgbClr val="00B0F0"/>
                                        </a:solidFill>
                                        <a:latin typeface="Cambria Math" panose="02040503050406030204" pitchFamily="18" charset="0"/>
                                      </a:rPr>
                                      <m:t>𝑥</m:t>
                                    </m:r>
                                  </m:e>
                                  <m:sub>
                                    <m:r>
                                      <a:rPr lang="en-US" sz="1400" i="1" u="none">
                                        <a:solidFill>
                                          <a:srgbClr val="00B0F0"/>
                                        </a:solidFill>
                                        <a:latin typeface="Cambria Math" panose="02040503050406030204" pitchFamily="18" charset="0"/>
                                      </a:rPr>
                                      <m:t>𝑖</m:t>
                                    </m:r>
                                  </m:sub>
                                </m:sSub>
                                <m:r>
                                  <a:rPr lang="en-US" sz="1400" i="1" u="none">
                                    <a:solidFill>
                                      <a:schemeClr val="accent6"/>
                                    </a:solidFill>
                                    <a:latin typeface="Cambria Math" panose="02040503050406030204" pitchFamily="18" charset="0"/>
                                  </a:rPr>
                                  <m:t>−</m:t>
                                </m:r>
                                <m:bar>
                                  <m:barPr>
                                    <m:pos m:val="top"/>
                                    <m:ctrlPr>
                                      <a:rPr lang="en-US" sz="1400" i="1" u="none">
                                        <a:solidFill>
                                          <a:srgbClr val="00B0F0"/>
                                        </a:solidFill>
                                        <a:latin typeface="Cambria Math" panose="02040503050406030204" pitchFamily="18" charset="0"/>
                                      </a:rPr>
                                    </m:ctrlPr>
                                  </m:barPr>
                                  <m:e>
                                    <m:r>
                                      <a:rPr lang="en-US" sz="1400" i="1" u="none">
                                        <a:solidFill>
                                          <a:srgbClr val="00B0F0"/>
                                        </a:solidFill>
                                        <a:latin typeface="Cambria Math" panose="02040503050406030204" pitchFamily="18" charset="0"/>
                                      </a:rPr>
                                      <m:t>𝑥</m:t>
                                    </m:r>
                                  </m:e>
                                </m:bar>
                                <m:sSup>
                                  <m:sSupPr>
                                    <m:ctrlPr>
                                      <a:rPr lang="en-US" sz="1400" i="1" u="none">
                                        <a:solidFill>
                                          <a:schemeClr val="accent6"/>
                                        </a:solidFill>
                                        <a:latin typeface="Cambria Math" panose="02040503050406030204" pitchFamily="18" charset="0"/>
                                      </a:rPr>
                                    </m:ctrlPr>
                                  </m:sSupPr>
                                  <m:e>
                                    <m:r>
                                      <a:rPr lang="en-US" sz="1400" i="1" u="none">
                                        <a:solidFill>
                                          <a:schemeClr val="accent6"/>
                                        </a:solidFill>
                                        <a:latin typeface="Cambria Math" panose="02040503050406030204" pitchFamily="18" charset="0"/>
                                      </a:rPr>
                                      <m:t>)</m:t>
                                    </m:r>
                                  </m:e>
                                  <m:sup>
                                    <m:r>
                                      <a:rPr lang="en-US" sz="1400" i="1" u="none">
                                        <a:solidFill>
                                          <a:schemeClr val="accent6"/>
                                        </a:solidFill>
                                        <a:latin typeface="Cambria Math" panose="02040503050406030204" pitchFamily="18" charset="0"/>
                                      </a:rPr>
                                      <m:t>2</m:t>
                                    </m:r>
                                  </m:sup>
                                </m:sSup>
                              </m:e>
                            </m:nary>
                          </m:num>
                          <m:den>
                            <m:r>
                              <a:rPr lang="en-US" sz="1400" i="1" u="none">
                                <a:solidFill>
                                  <a:srgbClr val="00B0F0"/>
                                </a:solidFill>
                                <a:latin typeface="Cambria Math" panose="02040503050406030204" pitchFamily="18" charset="0"/>
                              </a:rPr>
                              <m:t>𝑁</m:t>
                            </m:r>
                            <m:r>
                              <a:rPr lang="en-US" sz="1400" b="0" i="1" u="none">
                                <a:solidFill>
                                  <a:schemeClr val="accent6"/>
                                </a:solidFill>
                                <a:latin typeface="Cambria Math" panose="02040503050406030204" pitchFamily="18" charset="0"/>
                              </a:rPr>
                              <m:t>−1</m:t>
                            </m:r>
                          </m:den>
                        </m:f>
                      </m:e>
                    </m:rad>
                  </m:oMath>
                </a14:m>
                <a:r>
                  <a:rPr lang="en-US" sz="1400" b="0" u="none" dirty="0">
                    <a:solidFill>
                      <a:srgbClr val="EB971B"/>
                    </a:solidFill>
                    <a:cs typeface="Arial" panose="020B0604020202020204" pitchFamily="34" charset="0"/>
                  </a:rPr>
                  <a:t> </a:t>
                </a:r>
              </a:p>
            </p:txBody>
          </p:sp>
        </mc:Choice>
        <mc:Fallback xmlns="">
          <p:sp>
            <p:nvSpPr>
              <p:cNvPr id="10" name="TextBox 9">
                <a:extLst>
                  <a:ext uri="{FF2B5EF4-FFF2-40B4-BE49-F238E27FC236}">
                    <a16:creationId xmlns:a16="http://schemas.microsoft.com/office/drawing/2014/main" id="{97F1509B-F18E-5BAF-7745-78CCF3D4ABBE}"/>
                  </a:ext>
                </a:extLst>
              </p:cNvPr>
              <p:cNvSpPr txBox="1">
                <a:spLocks noRot="1" noChangeAspect="1" noMove="1" noResize="1" noEditPoints="1" noAdjustHandles="1" noChangeArrowheads="1" noChangeShapeType="1" noTextEdit="1"/>
              </p:cNvSpPr>
              <p:nvPr/>
            </p:nvSpPr>
            <p:spPr>
              <a:xfrm>
                <a:off x="5067300" y="1133720"/>
                <a:ext cx="4017963" cy="4438716"/>
              </a:xfrm>
              <a:prstGeom prst="rect">
                <a:avLst/>
              </a:prstGeom>
              <a:blipFill>
                <a:blip r:embed="rId6"/>
                <a:stretch>
                  <a:fillRect l="-455" t="-275" r="-1214"/>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64CBF26D-5E9E-1685-079E-6CDF08CFF036}"/>
              </a:ext>
            </a:extLst>
          </p:cNvPr>
          <p:cNvSpPr txBox="1"/>
          <p:nvPr/>
        </p:nvSpPr>
        <p:spPr>
          <a:xfrm>
            <a:off x="657697" y="5353391"/>
            <a:ext cx="4065095" cy="338554"/>
          </a:xfrm>
          <a:prstGeom prst="rect">
            <a:avLst/>
          </a:prstGeom>
          <a:noFill/>
        </p:spPr>
        <p:txBody>
          <a:bodyPr wrap="square" rtlCol="0">
            <a:spAutoFit/>
          </a:bodyPr>
          <a:lstStyle/>
          <a:p>
            <a:pPr algn="ctr"/>
            <a:r>
              <a:rPr lang="en-US" sz="1600" b="0" u="none" dirty="0">
                <a:cs typeface="Arial" panose="020B0604020202020204" pitchFamily="34" charset="0"/>
              </a:rPr>
              <a:t>True support for candidate A</a:t>
            </a:r>
          </a:p>
        </p:txBody>
      </p:sp>
      <p:cxnSp>
        <p:nvCxnSpPr>
          <p:cNvPr id="12" name="Straight Connector 11">
            <a:extLst>
              <a:ext uri="{FF2B5EF4-FFF2-40B4-BE49-F238E27FC236}">
                <a16:creationId xmlns:a16="http://schemas.microsoft.com/office/drawing/2014/main" id="{C701B243-FAD2-72B5-9F6C-3E34EE5013DD}"/>
              </a:ext>
            </a:extLst>
          </p:cNvPr>
          <p:cNvCxnSpPr/>
          <p:nvPr/>
        </p:nvCxnSpPr>
        <p:spPr bwMode="auto">
          <a:xfrm>
            <a:off x="1690956" y="250489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3745F0A6-3384-951E-82FB-5852A48EAAB7}"/>
              </a:ext>
            </a:extLst>
          </p:cNvPr>
          <p:cNvSpPr txBox="1"/>
          <p:nvPr/>
        </p:nvSpPr>
        <p:spPr>
          <a:xfrm>
            <a:off x="2310352" y="2547145"/>
            <a:ext cx="31187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Fox</a:t>
            </a:r>
            <a:endParaRPr lang="en-US" sz="1400" b="0" u="none" dirty="0">
              <a:solidFill>
                <a:srgbClr val="00B0F0"/>
              </a:solidFill>
              <a:cs typeface="Arial" pitchFamily="34" charset="0"/>
            </a:endParaRPr>
          </a:p>
        </p:txBody>
      </p:sp>
      <p:sp>
        <p:nvSpPr>
          <p:cNvPr id="14" name="Oval 13">
            <a:extLst>
              <a:ext uri="{FF2B5EF4-FFF2-40B4-BE49-F238E27FC236}">
                <a16:creationId xmlns:a16="http://schemas.microsoft.com/office/drawing/2014/main" id="{32481FE7-42DB-355E-8F79-967F70720FF9}"/>
              </a:ext>
            </a:extLst>
          </p:cNvPr>
          <p:cNvSpPr/>
          <p:nvPr/>
        </p:nvSpPr>
        <p:spPr bwMode="auto">
          <a:xfrm>
            <a:off x="2428190" y="246806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57F3329-3C2F-1091-37AB-CB43D1B1149D}"/>
                  </a:ext>
                </a:extLst>
              </p:cNvPr>
              <p:cNvSpPr txBox="1"/>
              <p:nvPr/>
            </p:nvSpPr>
            <p:spPr>
              <a:xfrm>
                <a:off x="1017345" y="1976479"/>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−1.96∗</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smtClean="0">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17" name="TextBox 16">
                <a:extLst>
                  <a:ext uri="{FF2B5EF4-FFF2-40B4-BE49-F238E27FC236}">
                    <a16:creationId xmlns:a16="http://schemas.microsoft.com/office/drawing/2014/main" id="{457F3329-3C2F-1091-37AB-CB43D1B1149D}"/>
                  </a:ext>
                </a:extLst>
              </p:cNvPr>
              <p:cNvSpPr txBox="1">
                <a:spLocks noRot="1" noChangeAspect="1" noMove="1" noResize="1" noEditPoints="1" noAdjustHandles="1" noChangeArrowheads="1" noChangeShapeType="1" noTextEdit="1"/>
              </p:cNvSpPr>
              <p:nvPr/>
            </p:nvSpPr>
            <p:spPr>
              <a:xfrm>
                <a:off x="1017345" y="1976479"/>
                <a:ext cx="992430" cy="337785"/>
              </a:xfrm>
              <a:prstGeom prst="rect">
                <a:avLst/>
              </a:prstGeom>
              <a:blipFill>
                <a:blip r:embed="rId7"/>
                <a:stretch>
                  <a:fillRect t="-14286" r="-9816" b="-8929"/>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B5A62D54-EF29-7459-F611-99612958EE59}"/>
              </a:ext>
            </a:extLst>
          </p:cNvPr>
          <p:cNvCxnSpPr/>
          <p:nvPr/>
        </p:nvCxnSpPr>
        <p:spPr bwMode="auto">
          <a:xfrm>
            <a:off x="3251532" y="2340481"/>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BC980667-3DD0-754C-F351-C752947E644F}"/>
              </a:ext>
            </a:extLst>
          </p:cNvPr>
          <p:cNvCxnSpPr/>
          <p:nvPr/>
        </p:nvCxnSpPr>
        <p:spPr bwMode="auto">
          <a:xfrm>
            <a:off x="1690956" y="2340482"/>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791044F-354C-8712-96FE-A1BD94BC2F32}"/>
                  </a:ext>
                </a:extLst>
              </p:cNvPr>
              <p:cNvSpPr txBox="1"/>
              <p:nvPr/>
            </p:nvSpPr>
            <p:spPr>
              <a:xfrm>
                <a:off x="2985210" y="1974897"/>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−1.96∗</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smtClean="0">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21" name="TextBox 20">
                <a:extLst>
                  <a:ext uri="{FF2B5EF4-FFF2-40B4-BE49-F238E27FC236}">
                    <a16:creationId xmlns:a16="http://schemas.microsoft.com/office/drawing/2014/main" id="{8791044F-354C-8712-96FE-A1BD94BC2F32}"/>
                  </a:ext>
                </a:extLst>
              </p:cNvPr>
              <p:cNvSpPr txBox="1">
                <a:spLocks noRot="1" noChangeAspect="1" noMove="1" noResize="1" noEditPoints="1" noAdjustHandles="1" noChangeArrowheads="1" noChangeShapeType="1" noTextEdit="1"/>
              </p:cNvSpPr>
              <p:nvPr/>
            </p:nvSpPr>
            <p:spPr>
              <a:xfrm>
                <a:off x="2985210" y="1974897"/>
                <a:ext cx="992430" cy="337785"/>
              </a:xfrm>
              <a:prstGeom prst="rect">
                <a:avLst/>
              </a:prstGeom>
              <a:blipFill>
                <a:blip r:embed="rId8"/>
                <a:stretch>
                  <a:fillRect t="-16364" r="-9816" b="-10909"/>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30408DF7-2974-8BD3-2519-D3155D7B4B15}"/>
              </a:ext>
            </a:extLst>
          </p:cNvPr>
          <p:cNvSpPr/>
          <p:nvPr/>
        </p:nvSpPr>
        <p:spPr bwMode="auto">
          <a:xfrm>
            <a:off x="3724593" y="1950261"/>
            <a:ext cx="170688" cy="188866"/>
          </a:xfrm>
          <a:prstGeom prst="ellipse">
            <a:avLst/>
          </a:pr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p>
        </p:txBody>
      </p:sp>
      <p:sp>
        <p:nvSpPr>
          <p:cNvPr id="4" name="Oval 3">
            <a:extLst>
              <a:ext uri="{FF2B5EF4-FFF2-40B4-BE49-F238E27FC236}">
                <a16:creationId xmlns:a16="http://schemas.microsoft.com/office/drawing/2014/main" id="{0BE23903-B910-2E7E-F8CD-CF20BE37B3B3}"/>
              </a:ext>
            </a:extLst>
          </p:cNvPr>
          <p:cNvSpPr/>
          <p:nvPr/>
        </p:nvSpPr>
        <p:spPr bwMode="auto">
          <a:xfrm>
            <a:off x="1773555" y="1950261"/>
            <a:ext cx="170688" cy="188866"/>
          </a:xfrm>
          <a:prstGeom prst="ellipse">
            <a:avLst/>
          </a:pr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p>
        </p:txBody>
      </p:sp>
      <p:sp>
        <p:nvSpPr>
          <p:cNvPr id="15" name="Oval 14">
            <a:extLst>
              <a:ext uri="{FF2B5EF4-FFF2-40B4-BE49-F238E27FC236}">
                <a16:creationId xmlns:a16="http://schemas.microsoft.com/office/drawing/2014/main" id="{0320B176-0D0F-9C29-136B-B5048DFED8CD}"/>
              </a:ext>
            </a:extLst>
          </p:cNvPr>
          <p:cNvSpPr/>
          <p:nvPr/>
        </p:nvSpPr>
        <p:spPr bwMode="auto">
          <a:xfrm>
            <a:off x="6425184" y="5118784"/>
            <a:ext cx="170688" cy="188866"/>
          </a:xfrm>
          <a:prstGeom prst="ellipse">
            <a:avLst/>
          </a:pr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p>
        </p:txBody>
      </p:sp>
      <p:sp>
        <p:nvSpPr>
          <p:cNvPr id="16" name="Freeform: Shape 15">
            <a:extLst>
              <a:ext uri="{FF2B5EF4-FFF2-40B4-BE49-F238E27FC236}">
                <a16:creationId xmlns:a16="http://schemas.microsoft.com/office/drawing/2014/main" id="{7C16150C-FDF4-537A-5985-BFECCD754633}"/>
              </a:ext>
            </a:extLst>
          </p:cNvPr>
          <p:cNvSpPr/>
          <p:nvPr/>
        </p:nvSpPr>
        <p:spPr bwMode="auto">
          <a:xfrm>
            <a:off x="1844040" y="2121408"/>
            <a:ext cx="4593517" cy="3129480"/>
          </a:xfrm>
          <a:custGeom>
            <a:avLst/>
            <a:gdLst>
              <a:gd name="connsiteX0" fmla="*/ 4612395 w 4612395"/>
              <a:gd name="connsiteY0" fmla="*/ 3401568 h 3401568"/>
              <a:gd name="connsiteX1" fmla="*/ 723147 w 4612395"/>
              <a:gd name="connsiteY1" fmla="*/ 1103376 h 3401568"/>
              <a:gd name="connsiteX2" fmla="*/ 9915 w 4612395"/>
              <a:gd name="connsiteY2" fmla="*/ 0 h 3401568"/>
            </a:gdLst>
            <a:ahLst/>
            <a:cxnLst>
              <a:cxn ang="0">
                <a:pos x="connsiteX0" y="connsiteY0"/>
              </a:cxn>
              <a:cxn ang="0">
                <a:pos x="connsiteX1" y="connsiteY1"/>
              </a:cxn>
              <a:cxn ang="0">
                <a:pos x="connsiteX2" y="connsiteY2"/>
              </a:cxn>
            </a:cxnLst>
            <a:rect l="l" t="t" r="r" b="b"/>
            <a:pathLst>
              <a:path w="4612395" h="3401568">
                <a:moveTo>
                  <a:pt x="4612395" y="3401568"/>
                </a:moveTo>
                <a:cubicBezTo>
                  <a:pt x="3051311" y="2535936"/>
                  <a:pt x="1490227" y="1670304"/>
                  <a:pt x="723147" y="1103376"/>
                </a:cubicBezTo>
                <a:cubicBezTo>
                  <a:pt x="-43933" y="536448"/>
                  <a:pt x="-17009" y="268224"/>
                  <a:pt x="9915" y="0"/>
                </a:cubicBezTo>
              </a:path>
            </a:pathLst>
          </a:cu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solidFill>
                <a:srgbClr val="EB971B"/>
              </a:solidFill>
            </a:endParaRPr>
          </a:p>
        </p:txBody>
      </p:sp>
      <p:sp>
        <p:nvSpPr>
          <p:cNvPr id="18" name="Freeform: Shape 17">
            <a:extLst>
              <a:ext uri="{FF2B5EF4-FFF2-40B4-BE49-F238E27FC236}">
                <a16:creationId xmlns:a16="http://schemas.microsoft.com/office/drawing/2014/main" id="{55CCEFAF-C35E-DAFF-0B21-463A378B5A90}"/>
              </a:ext>
            </a:extLst>
          </p:cNvPr>
          <p:cNvSpPr/>
          <p:nvPr/>
        </p:nvSpPr>
        <p:spPr bwMode="auto">
          <a:xfrm>
            <a:off x="3790125" y="2119924"/>
            <a:ext cx="2647442" cy="3130964"/>
          </a:xfrm>
          <a:custGeom>
            <a:avLst/>
            <a:gdLst>
              <a:gd name="connsiteX0" fmla="*/ 4612395 w 4612395"/>
              <a:gd name="connsiteY0" fmla="*/ 3401568 h 3401568"/>
              <a:gd name="connsiteX1" fmla="*/ 723147 w 4612395"/>
              <a:gd name="connsiteY1" fmla="*/ 1103376 h 3401568"/>
              <a:gd name="connsiteX2" fmla="*/ 9915 w 4612395"/>
              <a:gd name="connsiteY2" fmla="*/ 0 h 3401568"/>
            </a:gdLst>
            <a:ahLst/>
            <a:cxnLst>
              <a:cxn ang="0">
                <a:pos x="connsiteX0" y="connsiteY0"/>
              </a:cxn>
              <a:cxn ang="0">
                <a:pos x="connsiteX1" y="connsiteY1"/>
              </a:cxn>
              <a:cxn ang="0">
                <a:pos x="connsiteX2" y="connsiteY2"/>
              </a:cxn>
            </a:cxnLst>
            <a:rect l="l" t="t" r="r" b="b"/>
            <a:pathLst>
              <a:path w="4612395" h="3401568">
                <a:moveTo>
                  <a:pt x="4612395" y="3401568"/>
                </a:moveTo>
                <a:cubicBezTo>
                  <a:pt x="3051311" y="2535936"/>
                  <a:pt x="1490227" y="1670304"/>
                  <a:pt x="723147" y="1103376"/>
                </a:cubicBezTo>
                <a:cubicBezTo>
                  <a:pt x="-43933" y="536448"/>
                  <a:pt x="-17009" y="268224"/>
                  <a:pt x="9915" y="0"/>
                </a:cubicBezTo>
              </a:path>
            </a:pathLst>
          </a:custGeom>
          <a:noFill/>
          <a:ln w="9525" cap="flat" cmpd="sng" algn="ctr">
            <a:solidFill>
              <a:srgbClr val="EB971B"/>
            </a:solidFill>
            <a:prstDash val="solid"/>
            <a:round/>
            <a:headEnd type="none" w="med" len="med"/>
            <a:tailEnd type="triangle" w="med" len="med"/>
          </a:ln>
          <a:effectLst/>
        </p:spPr>
        <p:txBody>
          <a:bodyPr rtlCol="0" anchor="ctr"/>
          <a:lstStyle/>
          <a:p>
            <a:pPr algn="ctr"/>
            <a:endParaRPr lang="en-US">
              <a:solidFill>
                <a:srgbClr val="EB971B"/>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868C499-4872-4A1F-9F81-F20DAE489AFE}"/>
                  </a:ext>
                </a:extLst>
              </p:cNvPr>
              <p:cNvSpPr txBox="1"/>
              <p:nvPr/>
            </p:nvSpPr>
            <p:spPr>
              <a:xfrm>
                <a:off x="1164372" y="1475231"/>
                <a:ext cx="3016537" cy="391261"/>
              </a:xfrm>
              <a:prstGeom prst="rect">
                <a:avLst/>
              </a:prstGeom>
              <a:noFill/>
            </p:spPr>
            <p:txBody>
              <a:bodyPr wrap="square">
                <a:spAutoFit/>
              </a:bodyPr>
              <a:lstStyle/>
              <a:p>
                <a:pPr algn="ctr"/>
                <a:r>
                  <a:rPr lang="en-US" sz="1400" b="0" u="none" dirty="0">
                    <a:cs typeface="Arial" panose="020B0604020202020204" pitchFamily="34" charset="0"/>
                  </a:rPr>
                  <a:t>Distribution of Poll Results,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r>
                      <a:rPr lang="en-US" sz="1400" b="0" i="1" u="none" dirty="0" smtClean="0">
                        <a:latin typeface="Cambria Math" panose="02040503050406030204" pitchFamily="18" charset="0"/>
                        <a:cs typeface="Arial" panose="020B0604020202020204" pitchFamily="34" charset="0"/>
                      </a:rPr>
                      <m:t>(</m:t>
                    </m:r>
                    <m:r>
                      <a:rPr lang="en-US" sz="1400" b="0" i="1" u="none" dirty="0" smtClean="0">
                        <a:solidFill>
                          <a:srgbClr val="FF0000"/>
                        </a:solidFill>
                        <a:latin typeface="Cambria Math" panose="02040503050406030204" pitchFamily="18" charset="0"/>
                        <a:cs typeface="Arial" panose="020B0604020202020204" pitchFamily="34" charset="0"/>
                      </a:rPr>
                      <m:t>𝜇</m:t>
                    </m:r>
                    <m:r>
                      <a:rPr lang="en-US" sz="1400" b="0" i="1" u="none" dirty="0" smtClean="0">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r>
                      <a:rPr lang="en-US" sz="1400" b="0" i="1" u="none" dirty="0" smtClean="0">
                        <a:latin typeface="Cambria Math" panose="02040503050406030204" pitchFamily="18" charset="0"/>
                        <a:cs typeface="Arial" panose="020B0604020202020204" pitchFamily="34" charset="0"/>
                      </a:rPr>
                      <m:t>)</m:t>
                    </m:r>
                  </m:oMath>
                </a14:m>
                <a:endParaRPr lang="en-US" sz="1400" dirty="0"/>
              </a:p>
            </p:txBody>
          </p:sp>
        </mc:Choice>
        <mc:Fallback xmlns="">
          <p:sp>
            <p:nvSpPr>
              <p:cNvPr id="25" name="TextBox 24">
                <a:extLst>
                  <a:ext uri="{FF2B5EF4-FFF2-40B4-BE49-F238E27FC236}">
                    <a16:creationId xmlns:a16="http://schemas.microsoft.com/office/drawing/2014/main" id="{B868C499-4872-4A1F-9F81-F20DAE489AFE}"/>
                  </a:ext>
                </a:extLst>
              </p:cNvPr>
              <p:cNvSpPr txBox="1">
                <a:spLocks noRot="1" noChangeAspect="1" noMove="1" noResize="1" noEditPoints="1" noAdjustHandles="1" noChangeArrowheads="1" noChangeShapeType="1" noTextEdit="1"/>
              </p:cNvSpPr>
              <p:nvPr/>
            </p:nvSpPr>
            <p:spPr>
              <a:xfrm>
                <a:off x="1164372" y="1475231"/>
                <a:ext cx="3016537" cy="391261"/>
              </a:xfrm>
              <a:prstGeom prst="rect">
                <a:avLst/>
              </a:prstGeom>
              <a:blipFill>
                <a:blip r:embed="rId9"/>
                <a:stretch>
                  <a:fillRect l="-2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64A8818-B80B-7902-DDCA-44D03CDA941C}"/>
                  </a:ext>
                </a:extLst>
              </p:cNvPr>
              <p:cNvSpPr txBox="1"/>
              <p:nvPr/>
            </p:nvSpPr>
            <p:spPr>
              <a:xfrm>
                <a:off x="3237472" y="3115980"/>
                <a:ext cx="1646280" cy="442942"/>
              </a:xfrm>
              <a:prstGeom prst="rect">
                <a:avLst/>
              </a:prstGeom>
              <a:noFill/>
            </p:spPr>
            <p:txBody>
              <a:bodyPr wrap="squar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m:t>
                    </m:r>
                    <m:r>
                      <a:rPr lang="en-US" sz="1400" b="0" i="1" u="none" dirty="0">
                        <a:solidFill>
                          <a:srgbClr val="EB971B"/>
                        </a:solidFill>
                        <a:latin typeface="Cambria Math" panose="02040503050406030204" pitchFamily="18" charset="0"/>
                        <a:cs typeface="Arial" panose="020B0604020202020204" pitchFamily="34" charset="0"/>
                      </a:rPr>
                      <m:t>𝑡𝑑</m:t>
                    </m:r>
                    <m:r>
                      <a:rPr lang="en-US" sz="1400" b="0" i="1" u="none" dirty="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m:t>
                    </m:r>
                    <m:r>
                      <a:rPr lang="en-US" sz="1400" b="0" i="1" u="none" dirty="0">
                        <a:solidFill>
                          <a:srgbClr val="EB971B"/>
                        </a:solidFill>
                        <a:latin typeface="Cambria Math" panose="02040503050406030204" pitchFamily="18" charset="0"/>
                        <a:cs typeface="Arial" panose="020B0604020202020204" pitchFamily="34" charset="0"/>
                      </a:rPr>
                      <m:t>𝑟</m:t>
                    </m:r>
                    <m:r>
                      <a:rPr lang="en-US" sz="1400" b="0" i="1" u="none" dirty="0" smtClean="0">
                        <a:solidFill>
                          <a:srgbClr val="EB971B"/>
                        </a:solidFill>
                        <a:latin typeface="Cambria Math" panose="02040503050406030204" pitchFamily="18" charset="0"/>
                        <a:cs typeface="Arial" panose="020B0604020202020204" pitchFamily="34" charset="0"/>
                      </a:rPr>
                      <m:t>𝑟</m:t>
                    </m:r>
                    <m:r>
                      <m:rPr>
                        <m:nor/>
                      </m:rPr>
                      <a:rPr lang="en-US" sz="1400" b="0" i="0" u="none" dirty="0">
                        <a:solidFill>
                          <a:srgbClr val="EB971B"/>
                        </a:solidFill>
                        <a:latin typeface="Cambria Math" panose="02040503050406030204" pitchFamily="18" charset="0"/>
                        <a:cs typeface="Arial" panose="020B0604020202020204" pitchFamily="34" charset="0"/>
                      </a:rPr>
                      <m:t>(</m:t>
                    </m:r>
                    <m:r>
                      <m:rPr>
                        <m:nor/>
                      </m:rPr>
                      <a:rPr lang="en-US" sz="1400" b="0" i="0" u="none">
                        <a:solidFill>
                          <a:srgbClr val="00B0F0"/>
                        </a:solidFill>
                        <a:latin typeface="Cambria Math" panose="02040503050406030204" pitchFamily="18" charset="0"/>
                      </a:rPr>
                      <m:t>𝑥</m:t>
                    </m:r>
                    <m:r>
                      <m:rPr>
                        <m:nor/>
                      </m:rPr>
                      <a:rPr lang="en-US" sz="1400" b="0" i="0" u="none">
                        <a:solidFill>
                          <a:srgbClr val="00B0F0"/>
                        </a:solidFill>
                        <a:latin typeface="Cambria Math" panose="02040503050406030204" pitchFamily="18" charset="0"/>
                      </a:rPr>
                      <m:t> ̅)</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800" b="0" i="1" u="none">
                            <a:solidFill>
                              <a:schemeClr val="accent6"/>
                            </a:solidFill>
                            <a:latin typeface="Cambria Math" panose="02040503050406030204" pitchFamily="18" charset="0"/>
                            <a:cs typeface="Arial" panose="020B0604020202020204" pitchFamily="34" charset="0"/>
                          </a:rPr>
                        </m:ctrlPr>
                      </m:fPr>
                      <m:num>
                        <m:r>
                          <a:rPr lang="en-US" sz="18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800" b="0" i="1" u="none">
                                <a:solidFill>
                                  <a:schemeClr val="accent6"/>
                                </a:solidFill>
                                <a:latin typeface="Cambria Math" panose="02040503050406030204" pitchFamily="18" charset="0"/>
                                <a:cs typeface="Arial" panose="020B0604020202020204" pitchFamily="34" charset="0"/>
                              </a:rPr>
                            </m:ctrlPr>
                          </m:radPr>
                          <m:deg/>
                          <m:e>
                            <m:r>
                              <a:rPr lang="en-US" sz="1800" b="0" i="1" u="none">
                                <a:solidFill>
                                  <a:schemeClr val="accent6"/>
                                </a:solidFill>
                                <a:latin typeface="Cambria Math" panose="02040503050406030204" pitchFamily="18" charset="0"/>
                                <a:cs typeface="Arial" panose="020B0604020202020204" pitchFamily="34" charset="0"/>
                              </a:rPr>
                              <m:t>𝑁</m:t>
                            </m:r>
                          </m:e>
                        </m:rad>
                      </m:den>
                    </m:f>
                  </m:oMath>
                </a14:m>
                <a:r>
                  <a:rPr lang="en-US" sz="1800" b="0" u="none" dirty="0">
                    <a:solidFill>
                      <a:schemeClr val="accent6"/>
                    </a:solidFill>
                    <a:cs typeface="Arial" panose="020B0604020202020204" pitchFamily="34" charset="0"/>
                  </a:rPr>
                  <a:t> </a:t>
                </a:r>
              </a:p>
            </p:txBody>
          </p:sp>
        </mc:Choice>
        <mc:Fallback xmlns="">
          <p:sp>
            <p:nvSpPr>
              <p:cNvPr id="22" name="TextBox 21">
                <a:extLst>
                  <a:ext uri="{FF2B5EF4-FFF2-40B4-BE49-F238E27FC236}">
                    <a16:creationId xmlns:a16="http://schemas.microsoft.com/office/drawing/2014/main" id="{064A8818-B80B-7902-DDCA-44D03CDA941C}"/>
                  </a:ext>
                </a:extLst>
              </p:cNvPr>
              <p:cNvSpPr txBox="1">
                <a:spLocks noRot="1" noChangeAspect="1" noMove="1" noResize="1" noEditPoints="1" noAdjustHandles="1" noChangeArrowheads="1" noChangeShapeType="1" noTextEdit="1"/>
              </p:cNvSpPr>
              <p:nvPr/>
            </p:nvSpPr>
            <p:spPr>
              <a:xfrm>
                <a:off x="3237472" y="3115980"/>
                <a:ext cx="1646280" cy="442942"/>
              </a:xfrm>
              <a:prstGeom prst="rect">
                <a:avLst/>
              </a:prstGeom>
              <a:blipFill>
                <a:blip r:embed="rId10"/>
                <a:stretch>
                  <a:fillRect t="-8219" b="-2740"/>
                </a:stretch>
              </a:blipFill>
            </p:spPr>
            <p:txBody>
              <a:bodyPr/>
              <a:lstStyle/>
              <a:p>
                <a:r>
                  <a:rPr lang="en-US">
                    <a:noFill/>
                  </a:rPr>
                  <a:t> </a:t>
                </a:r>
              </a:p>
            </p:txBody>
          </p:sp>
        </mc:Fallback>
      </mc:AlternateContent>
    </p:spTree>
    <p:extLst>
      <p:ext uri="{BB962C8B-B14F-4D97-AF65-F5344CB8AC3E}">
        <p14:creationId xmlns:p14="http://schemas.microsoft.com/office/powerpoint/2010/main" val="8678113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F3A67-DC25-A960-08E0-C12A491A73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1E2CABC-D07F-0363-B351-9EB4562404FF}"/>
                  </a:ext>
                </a:extLst>
              </p:cNvPr>
              <p:cNvSpPr>
                <a:spLocks noGrp="1"/>
              </p:cNvSpPr>
              <p:nvPr>
                <p:ph type="title"/>
              </p:nvPr>
            </p:nvSpPr>
            <p:spPr/>
            <p:txBody>
              <a:bodyPr/>
              <a:lstStyle/>
              <a:p>
                <a:r>
                  <a:rPr lang="en-US" dirty="0"/>
                  <a:t>Fox Poll 95% Confidence Interval (</a:t>
                </a:r>
                <a14:m>
                  <m:oMath xmlns:m="http://schemas.openxmlformats.org/officeDocument/2006/math">
                    <m:r>
                      <a:rPr lang="en-US" i="1" dirty="0" smtClean="0">
                        <a:latin typeface="Cambria Math" panose="02040503050406030204" pitchFamily="18" charset="0"/>
                      </a:rPr>
                      <m:t>𝐶</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𝐼</m:t>
                        </m:r>
                      </m:e>
                      <m:sup>
                        <m:r>
                          <a:rPr lang="en-US" b="0" i="1" dirty="0" smtClean="0">
                            <a:latin typeface="Cambria Math" panose="02040503050406030204" pitchFamily="18" charset="0"/>
                          </a:rPr>
                          <m:t>95</m:t>
                        </m:r>
                      </m:sup>
                    </m:sSup>
                  </m:oMath>
                </a14:m>
                <a:r>
                  <a:rPr lang="en-US" dirty="0"/>
                  <a:t>)</a:t>
                </a:r>
              </a:p>
            </p:txBody>
          </p:sp>
        </mc:Choice>
        <mc:Fallback xmlns="">
          <p:sp>
            <p:nvSpPr>
              <p:cNvPr id="2" name="Title 1">
                <a:extLst>
                  <a:ext uri="{FF2B5EF4-FFF2-40B4-BE49-F238E27FC236}">
                    <a16:creationId xmlns:a16="http://schemas.microsoft.com/office/drawing/2014/main" id="{236625DC-3F28-6B30-6C51-F77DF7D271E9}"/>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E06FF994-EAFD-DB0E-2A9B-F769A3BDA301}"/>
              </a:ext>
            </a:extLst>
          </p:cNvPr>
          <p:cNvPicPr>
            <a:picLocks noChangeAspect="1"/>
          </p:cNvPicPr>
          <p:nvPr/>
        </p:nvPicPr>
        <p:blipFill>
          <a:blip r:embed="rId3"/>
          <a:stretch>
            <a:fillRect/>
          </a:stretch>
        </p:blipFill>
        <p:spPr>
          <a:xfrm>
            <a:off x="58737" y="1938638"/>
            <a:ext cx="4825015" cy="3437924"/>
          </a:xfrm>
          <a:prstGeom prst="rect">
            <a:avLst/>
          </a:prstGeom>
        </p:spPr>
      </p:pic>
      <p:cxnSp>
        <p:nvCxnSpPr>
          <p:cNvPr id="6" name="Straight Connector 5">
            <a:extLst>
              <a:ext uri="{FF2B5EF4-FFF2-40B4-BE49-F238E27FC236}">
                <a16:creationId xmlns:a16="http://schemas.microsoft.com/office/drawing/2014/main" id="{C673ACEC-E0DC-19C7-45C5-9CC1EC1456AF}"/>
              </a:ext>
            </a:extLst>
          </p:cNvPr>
          <p:cNvCxnSpPr/>
          <p:nvPr/>
        </p:nvCxnSpPr>
        <p:spPr bwMode="auto">
          <a:xfrm>
            <a:off x="2671713" y="3799703"/>
            <a:ext cx="547224" cy="0"/>
          </a:xfrm>
          <a:prstGeom prst="line">
            <a:avLst/>
          </a:prstGeom>
          <a:solidFill>
            <a:schemeClr val="accent1"/>
          </a:solidFill>
          <a:ln w="9525" cap="flat" cmpd="sng" algn="ctr">
            <a:solidFill>
              <a:srgbClr val="00B0F0"/>
            </a:solidFill>
            <a:prstDash val="dash"/>
            <a:round/>
            <a:headEnd type="none" w="med" len="med"/>
            <a:tailEnd type="none" w="med" len="med"/>
          </a:ln>
          <a:effectLst/>
        </p:spPr>
      </p:cxnSp>
      <p:sp>
        <p:nvSpPr>
          <p:cNvPr id="8" name="Freeform: Shape 7">
            <a:extLst>
              <a:ext uri="{FF2B5EF4-FFF2-40B4-BE49-F238E27FC236}">
                <a16:creationId xmlns:a16="http://schemas.microsoft.com/office/drawing/2014/main" id="{58B0858C-1197-4702-60E0-DFC295871811}"/>
              </a:ext>
            </a:extLst>
          </p:cNvPr>
          <p:cNvSpPr/>
          <p:nvPr/>
        </p:nvSpPr>
        <p:spPr bwMode="auto">
          <a:xfrm>
            <a:off x="2811164" y="3311611"/>
            <a:ext cx="426308" cy="420130"/>
          </a:xfrm>
          <a:custGeom>
            <a:avLst/>
            <a:gdLst>
              <a:gd name="connsiteX0" fmla="*/ 0 w 426308"/>
              <a:gd name="connsiteY0" fmla="*/ 420130 h 420130"/>
              <a:gd name="connsiteX1" fmla="*/ 98854 w 426308"/>
              <a:gd name="connsiteY1" fmla="*/ 129746 h 420130"/>
              <a:gd name="connsiteX2" fmla="*/ 426308 w 426308"/>
              <a:gd name="connsiteY2" fmla="*/ 0 h 420130"/>
            </a:gdLst>
            <a:ahLst/>
            <a:cxnLst>
              <a:cxn ang="0">
                <a:pos x="connsiteX0" y="connsiteY0"/>
              </a:cxn>
              <a:cxn ang="0">
                <a:pos x="connsiteX1" y="connsiteY1"/>
              </a:cxn>
              <a:cxn ang="0">
                <a:pos x="connsiteX2" y="connsiteY2"/>
              </a:cxn>
            </a:cxnLst>
            <a:rect l="l" t="t" r="r" b="b"/>
            <a:pathLst>
              <a:path w="426308" h="420130">
                <a:moveTo>
                  <a:pt x="0" y="420130"/>
                </a:moveTo>
                <a:cubicBezTo>
                  <a:pt x="13901" y="309949"/>
                  <a:pt x="27803" y="199768"/>
                  <a:pt x="98854" y="129746"/>
                </a:cubicBezTo>
                <a:cubicBezTo>
                  <a:pt x="169905" y="59724"/>
                  <a:pt x="298106" y="29862"/>
                  <a:pt x="426308" y="0"/>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E33FCF9-FD2D-D0A2-185F-51FB2CEC89C2}"/>
                  </a:ext>
                </a:extLst>
              </p:cNvPr>
              <p:cNvSpPr txBox="1"/>
              <p:nvPr/>
            </p:nvSpPr>
            <p:spPr>
              <a:xfrm>
                <a:off x="2591757" y="5037818"/>
                <a:ext cx="196977" cy="276999"/>
              </a:xfrm>
              <a:prstGeom prst="rect">
                <a:avLst/>
              </a:prstGeom>
              <a:solidFill>
                <a:schemeClr val="bg1"/>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FF0000"/>
                          </a:solidFill>
                          <a:latin typeface="Cambria Math" panose="02040503050406030204" pitchFamily="18" charset="0"/>
                          <a:cs typeface="Arial" pitchFamily="34" charset="0"/>
                        </a:rPr>
                        <m:t>𝜇</m:t>
                      </m:r>
                    </m:oMath>
                  </m:oMathPara>
                </a14:m>
                <a:endParaRPr lang="en-US" sz="1800" b="0" u="none" dirty="0">
                  <a:solidFill>
                    <a:srgbClr val="FF0000"/>
                  </a:solidFill>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BCCEEB-2473-43D1-1450-E3D72CB06416}"/>
                  </a:ext>
                </a:extLst>
              </p:cNvPr>
              <p:cNvSpPr txBox="1">
                <a:spLocks noRot="1" noChangeAspect="1" noMove="1" noResize="1" noEditPoints="1" noAdjustHandles="1" noChangeArrowheads="1" noChangeShapeType="1" noTextEdit="1"/>
              </p:cNvSpPr>
              <p:nvPr/>
            </p:nvSpPr>
            <p:spPr>
              <a:xfrm>
                <a:off x="2591757" y="5037818"/>
                <a:ext cx="196977" cy="276999"/>
              </a:xfrm>
              <a:prstGeom prst="rect">
                <a:avLst/>
              </a:prstGeom>
              <a:blipFill>
                <a:blip r:embed="rId5"/>
                <a:stretch>
                  <a:fillRect l="-43750" r="-625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AABAD9-A263-D5B9-21B4-03A161EE4FED}"/>
                  </a:ext>
                </a:extLst>
              </p:cNvPr>
              <p:cNvSpPr txBox="1"/>
              <p:nvPr/>
            </p:nvSpPr>
            <p:spPr>
              <a:xfrm>
                <a:off x="5073306" y="1133720"/>
                <a:ext cx="4017963" cy="5668675"/>
              </a:xfrm>
              <a:prstGeom prst="rect">
                <a:avLst/>
              </a:prstGeom>
              <a:solidFill>
                <a:schemeClr val="bg1"/>
              </a:solidFill>
              <a:ln>
                <a:noFill/>
              </a:ln>
            </p:spPr>
            <p:txBody>
              <a:bodyPr wrap="square" rtlCol="0">
                <a:noAutofit/>
              </a:bodyPr>
              <a:lstStyle/>
              <a:p>
                <a:r>
                  <a:rPr lang="en-US" sz="1400" b="0" u="none" dirty="0">
                    <a:solidFill>
                      <a:schemeClr val="bg1">
                        <a:lumMod val="50000"/>
                      </a:schemeClr>
                    </a:solidFill>
                    <a:cs typeface="Arial" panose="020B0604020202020204" pitchFamily="34" charset="0"/>
                  </a:rPr>
                  <a:t>We know from the Central Limit Theorem that the mean vote for candidate A across polls is normally distributed:</a:t>
                </a:r>
              </a:p>
              <a:p>
                <a:pPr algn="ctr"/>
                <a14:m>
                  <m:oMathPara xmlns:m="http://schemas.openxmlformats.org/officeDocument/2006/math">
                    <m:oMathParaPr>
                      <m:jc m:val="centerGroup"/>
                    </m:oMathParaPr>
                    <m:oMath xmlns:m="http://schemas.openxmlformats.org/officeDocument/2006/math">
                      <m:acc>
                        <m:accPr>
                          <m:chr m:val="̅"/>
                          <m:ctrlPr>
                            <a:rPr lang="en-US" sz="1400" b="0" i="1" u="none">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a:solidFill>
                            <a:schemeClr val="bg1">
                              <a:lumMod val="50000"/>
                            </a:schemeClr>
                          </a:solidFill>
                          <a:latin typeface="Cambria Math" panose="02040503050406030204" pitchFamily="18" charset="0"/>
                          <a:cs typeface="Arial" panose="020B0604020202020204" pitchFamily="34" charset="0"/>
                        </a:rPr>
                        <m:t>~</m:t>
                      </m:r>
                      <m:r>
                        <a:rPr lang="en-US" sz="1400" b="0" i="1" u="none">
                          <a:solidFill>
                            <a:schemeClr val="bg1">
                              <a:lumMod val="50000"/>
                            </a:schemeClr>
                          </a:solidFill>
                          <a:latin typeface="Cambria Math" panose="02040503050406030204" pitchFamily="18" charset="0"/>
                          <a:cs typeface="Arial" panose="020B0604020202020204" pitchFamily="34" charset="0"/>
                        </a:rPr>
                        <m:t>𝑁</m:t>
                      </m:r>
                      <m:d>
                        <m:dPr>
                          <m:ctrlPr>
                            <a:rPr lang="en-US" sz="1400" b="0" i="1" u="none">
                              <a:solidFill>
                                <a:schemeClr val="bg1">
                                  <a:lumMod val="50000"/>
                                </a:schemeClr>
                              </a:solidFill>
                              <a:latin typeface="Cambria Math" panose="02040503050406030204" pitchFamily="18" charset="0"/>
                              <a:cs typeface="Arial" panose="020B0604020202020204" pitchFamily="34" charset="0"/>
                            </a:rPr>
                          </m:ctrlPr>
                        </m:dPr>
                        <m:e>
                          <m:r>
                            <a:rPr lang="en-US" sz="1400" b="0" i="1" u="none">
                              <a:solidFill>
                                <a:schemeClr val="bg1">
                                  <a:lumMod val="50000"/>
                                </a:schemeClr>
                              </a:solidFill>
                              <a:latin typeface="Cambria Math" panose="02040503050406030204" pitchFamily="18" charset="0"/>
                              <a:cs typeface="Arial" panose="020B0604020202020204" pitchFamily="34" charset="0"/>
                            </a:rPr>
                            <m:t>𝜇</m:t>
                          </m:r>
                          <m:r>
                            <a:rPr lang="en-US" sz="1400" b="0" i="1" u="none">
                              <a:solidFill>
                                <a:schemeClr val="bg1">
                                  <a:lumMod val="50000"/>
                                </a:schemeClr>
                              </a:solidFill>
                              <a:latin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e>
                      </m:d>
                      <m:r>
                        <a:rPr lang="en-US" sz="1400" b="0" i="1" u="none">
                          <a:solidFill>
                            <a:schemeClr val="bg1">
                              <a:lumMod val="50000"/>
                            </a:schemeClr>
                          </a:solidFill>
                          <a:latin typeface="Cambria Math" panose="02040503050406030204" pitchFamily="18" charset="0"/>
                        </a:rPr>
                        <m:t> </m:t>
                      </m:r>
                    </m:oMath>
                  </m:oMathPara>
                </a14:m>
                <a:endParaRPr lang="en-US" sz="1400" b="0" u="none" dirty="0">
                  <a:solidFill>
                    <a:schemeClr val="bg1">
                      <a:lumMod val="50000"/>
                    </a:schemeClr>
                  </a:solidFill>
                </a:endParaRPr>
              </a:p>
              <a:p>
                <a:pPr algn="ctr"/>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We know the Fox poll (</a:t>
                </a:r>
                <a14:m>
                  <m:oMath xmlns:m="http://schemas.openxmlformats.org/officeDocument/2006/math">
                    <m:acc>
                      <m:accPr>
                        <m:chr m:val="̅"/>
                        <m:ctrlPr>
                          <a:rPr lang="en-US" sz="1400" b="0" i="1" u="none">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a:solidFill>
                          <a:schemeClr val="bg1">
                            <a:lumMod val="50000"/>
                          </a:schemeClr>
                        </a:solidFill>
                        <a:latin typeface="Cambria Math" panose="02040503050406030204" pitchFamily="18" charset="0"/>
                        <a:cs typeface="Arial" panose="020B0604020202020204" pitchFamily="34" charset="0"/>
                      </a:rPr>
                      <m:t>=</m:t>
                    </m:r>
                    <m:r>
                      <a:rPr lang="en-US" sz="1400" b="0" i="1" u="none">
                        <a:solidFill>
                          <a:schemeClr val="bg1">
                            <a:lumMod val="50000"/>
                          </a:schemeClr>
                        </a:solidFill>
                        <a:latin typeface="Cambria Math" panose="02040503050406030204" pitchFamily="18" charset="0"/>
                        <a:cs typeface="Arial" panose="020B0604020202020204" pitchFamily="34" charset="0"/>
                      </a:rPr>
                      <m:t>51</m:t>
                    </m:r>
                  </m:oMath>
                </a14:m>
                <a:r>
                  <a:rPr lang="en-US" sz="1400" b="0" u="none" dirty="0">
                    <a:solidFill>
                      <a:schemeClr val="bg1">
                        <a:lumMod val="50000"/>
                      </a:schemeClr>
                    </a:solidFill>
                    <a:cs typeface="Arial" panose="020B0604020202020204" pitchFamily="34" charset="0"/>
                  </a:rPr>
                  <a:t>) is somewhere on this distribution but not exactly where</a:t>
                </a:r>
              </a:p>
              <a:p>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We know 95% of the time, the true mean </a:t>
                </a:r>
                <a14:m>
                  <m:oMath xmlns:m="http://schemas.openxmlformats.org/officeDocument/2006/math">
                    <m:r>
                      <a:rPr lang="en-US" sz="1400" b="0" i="1" u="none">
                        <a:solidFill>
                          <a:schemeClr val="bg1">
                            <a:lumMod val="50000"/>
                          </a:schemeClr>
                        </a:solidFill>
                        <a:latin typeface="Cambria Math" panose="02040503050406030204" pitchFamily="18" charset="0"/>
                        <a:cs typeface="Arial" panose="020B0604020202020204" pitchFamily="34" charset="0"/>
                      </a:rPr>
                      <m:t>𝜇</m:t>
                    </m:r>
                  </m:oMath>
                </a14:m>
                <a:r>
                  <a:rPr lang="en-US" sz="1400" b="0" u="none" dirty="0">
                    <a:solidFill>
                      <a:schemeClr val="bg1">
                        <a:lumMod val="50000"/>
                      </a:schemeClr>
                    </a:solidFill>
                    <a:cs typeface="Arial" panose="020B0604020202020204" pitchFamily="34" charset="0"/>
                  </a:rPr>
                  <a:t> will be captured by </a:t>
                </a:r>
                <a:endParaRPr lang="en-US" sz="1400" b="0" i="1" u="none" dirty="0">
                  <a:solidFill>
                    <a:schemeClr val="bg1">
                      <a:lumMod val="50000"/>
                    </a:schemeClr>
                  </a:solidFill>
                  <a:latin typeface="Cambria Math" panose="02040503050406030204" pitchFamily="18" charset="0"/>
                  <a:cs typeface="Arial" panose="020B0604020202020204" pitchFamily="34" charset="0"/>
                </a:endParaRPr>
              </a:p>
              <a:p>
                <a:endParaRPr lang="en-US" sz="1400" b="0" i="1" u="none" dirty="0">
                  <a:solidFill>
                    <a:schemeClr val="bg1">
                      <a:lumMod val="50000"/>
                    </a:schemeClr>
                  </a:solidFill>
                  <a:latin typeface="Cambria Math" panose="02040503050406030204" pitchFamily="18" charset="0"/>
                  <a:cs typeface="Arial" panose="020B0604020202020204" pitchFamily="34" charset="0"/>
                </a:endParaRPr>
              </a:p>
              <a:p>
                <a:pPr algn="ctr"/>
                <a14:m>
                  <m:oMath xmlns:m="http://schemas.openxmlformats.org/officeDocument/2006/math">
                    <m:acc>
                      <m:accPr>
                        <m:chr m:val="̅"/>
                        <m:ctrlPr>
                          <a:rPr lang="en-US" sz="1400" b="0" i="1" u="none">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r>
                      <m:rPr>
                        <m:nor/>
                      </m:rPr>
                      <a:rPr lang="en-US" sz="1400" b="0" i="0" u="none" dirty="0">
                        <a:solidFill>
                          <a:schemeClr val="bg1">
                            <a:lumMod val="50000"/>
                          </a:schemeClr>
                        </a:solidFill>
                        <a:cs typeface="Arial" panose="020B0604020202020204" pitchFamily="34" charset="0"/>
                      </a:rPr>
                      <m:t> </m:t>
                    </m:r>
                    <m:r>
                      <m:rPr>
                        <m:nor/>
                      </m:rPr>
                      <a:rPr lang="en-US" sz="1400" b="0" i="0" u="none" dirty="0">
                        <a:solidFill>
                          <a:schemeClr val="bg1">
                            <a:lumMod val="50000"/>
                          </a:schemeClr>
                        </a:solidFill>
                        <a:cs typeface="Arial" panose="020B0604020202020204" pitchFamily="34" charset="0"/>
                      </a:rPr>
                      <m:t>or</m:t>
                    </m:r>
                    <m:r>
                      <m:rPr>
                        <m:nor/>
                      </m:rPr>
                      <a:rPr lang="en-US" sz="1400" b="0" i="0" u="none" dirty="0">
                        <a:solidFill>
                          <a:schemeClr val="bg1">
                            <a:lumMod val="50000"/>
                          </a:schemeClr>
                        </a:solidFill>
                        <a:cs typeface="Arial" panose="020B0604020202020204" pitchFamily="34" charset="0"/>
                      </a:rPr>
                      <m:t> </m:t>
                    </m:r>
                    <m:r>
                      <a:rPr lang="en-US" sz="1400" b="0" i="1" u="none">
                        <a:solidFill>
                          <a:schemeClr val="bg1">
                            <a:lumMod val="50000"/>
                          </a:schemeClr>
                        </a:solidFill>
                        <a:latin typeface="Cambria Math" panose="02040503050406030204" pitchFamily="18" charset="0"/>
                        <a:cs typeface="Arial" panose="020B0604020202020204" pitchFamily="34" charset="0"/>
                      </a:rPr>
                      <m:t>51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oMath>
                </a14:m>
                <a:r>
                  <a:rPr lang="en-US" sz="1400" b="0" u="none" dirty="0">
                    <a:solidFill>
                      <a:schemeClr val="bg1">
                        <a:lumMod val="50000"/>
                      </a:schemeClr>
                    </a:solidFill>
                    <a:cs typeface="Arial" panose="020B0604020202020204" pitchFamily="34" charset="0"/>
                  </a:rPr>
                  <a:t> </a:t>
                </a:r>
              </a:p>
              <a:p>
                <a:pPr algn="ctr"/>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Note: we don’t know the population </a:t>
                </a:r>
                <a14:m>
                  <m:oMath xmlns:m="http://schemas.openxmlformats.org/officeDocument/2006/math">
                    <m:r>
                      <a:rPr lang="en-US" sz="1400" b="0" i="1" u="none">
                        <a:solidFill>
                          <a:schemeClr val="bg1">
                            <a:lumMod val="50000"/>
                          </a:schemeClr>
                        </a:solidFill>
                        <a:latin typeface="Cambria Math" panose="02040503050406030204" pitchFamily="18" charset="0"/>
                        <a:cs typeface="Arial" panose="020B0604020202020204" pitchFamily="34" charset="0"/>
                      </a:rPr>
                      <m:t>𝜎</m:t>
                    </m:r>
                  </m:oMath>
                </a14:m>
                <a:r>
                  <a:rPr lang="en-US" sz="1400" b="0" u="none" dirty="0">
                    <a:solidFill>
                      <a:schemeClr val="bg1">
                        <a:lumMod val="50000"/>
                      </a:schemeClr>
                    </a:solidFill>
                    <a:cs typeface="Arial" panose="020B0604020202020204" pitchFamily="34" charset="0"/>
                  </a:rPr>
                  <a:t>, so we use the sample standard deviation from the Fox poll (</a:t>
                </a:r>
                <a14:m>
                  <m:oMath xmlns:m="http://schemas.openxmlformats.org/officeDocument/2006/math">
                    <m:acc>
                      <m:accPr>
                        <m:chr m:val="̂"/>
                        <m:ctrlPr>
                          <a:rPr lang="en-US" sz="1400" b="0" i="1" u="none" dirty="0">
                            <a:solidFill>
                              <a:schemeClr val="bg1">
                                <a:lumMod val="50000"/>
                              </a:schemeClr>
                            </a:solidFill>
                            <a:latin typeface="Cambria Math" panose="02040503050406030204" pitchFamily="18" charset="0"/>
                            <a:cs typeface="Arial" panose="020B0604020202020204" pitchFamily="34" charset="0"/>
                          </a:rPr>
                        </m:ctrlPr>
                      </m:accPr>
                      <m:e>
                        <m:r>
                          <a:rPr lang="en-US" sz="1400" b="0" i="1" u="none" dirty="0">
                            <a:solidFill>
                              <a:schemeClr val="bg1">
                                <a:lumMod val="50000"/>
                              </a:schemeClr>
                            </a:solidFill>
                            <a:latin typeface="Cambria Math" panose="02040503050406030204" pitchFamily="18" charset="0"/>
                            <a:cs typeface="Arial" panose="020B0604020202020204" pitchFamily="34" charset="0"/>
                          </a:rPr>
                          <m:t>𝜎</m:t>
                        </m:r>
                      </m:e>
                    </m:acc>
                  </m:oMath>
                </a14:m>
                <a:r>
                  <a:rPr lang="en-US" sz="1400" b="0" u="none" dirty="0">
                    <a:solidFill>
                      <a:schemeClr val="bg1">
                        <a:lumMod val="50000"/>
                      </a:schemeClr>
                    </a:solidFill>
                    <a:cs typeface="Arial" panose="020B0604020202020204" pitchFamily="34" charset="0"/>
                  </a:rPr>
                  <a:t>) in its place</a:t>
                </a:r>
              </a:p>
              <a:p>
                <a:pPr algn="ctr"/>
                <a14:m>
                  <m:oMath xmlns:m="http://schemas.openxmlformats.org/officeDocument/2006/math">
                    <m:acc>
                      <m:accPr>
                        <m:chr m:val="̂"/>
                        <m:ctrlPr>
                          <a:rPr lang="en-US" sz="1400" i="1" u="none">
                            <a:solidFill>
                              <a:schemeClr val="bg1">
                                <a:lumMod val="50000"/>
                              </a:schemeClr>
                            </a:solidFill>
                            <a:latin typeface="Cambria Math" panose="02040503050406030204" pitchFamily="18" charset="0"/>
                          </a:rPr>
                        </m:ctrlPr>
                      </m:accPr>
                      <m:e>
                        <m:r>
                          <a:rPr lang="en-US" sz="1400" i="1" u="none">
                            <a:solidFill>
                              <a:schemeClr val="bg1">
                                <a:lumMod val="50000"/>
                              </a:schemeClr>
                            </a:solidFill>
                            <a:latin typeface="Cambria Math" panose="02040503050406030204" pitchFamily="18" charset="0"/>
                          </a:rPr>
                          <m:t>𝜎</m:t>
                        </m:r>
                      </m:e>
                    </m:acc>
                    <m:r>
                      <a:rPr lang="en-US" sz="1400" i="1" u="none">
                        <a:solidFill>
                          <a:schemeClr val="bg1">
                            <a:lumMod val="50000"/>
                          </a:schemeClr>
                        </a:solidFill>
                        <a:latin typeface="Cambria Math" panose="02040503050406030204" pitchFamily="18" charset="0"/>
                      </a:rPr>
                      <m:t>=</m:t>
                    </m:r>
                    <m:rad>
                      <m:radPr>
                        <m:degHide m:val="on"/>
                        <m:ctrlPr>
                          <a:rPr lang="en-US" sz="1400" i="1" u="none">
                            <a:solidFill>
                              <a:schemeClr val="bg1">
                                <a:lumMod val="50000"/>
                              </a:schemeClr>
                            </a:solidFill>
                            <a:latin typeface="Cambria Math" panose="02040503050406030204" pitchFamily="18" charset="0"/>
                          </a:rPr>
                        </m:ctrlPr>
                      </m:radPr>
                      <m:deg/>
                      <m:e>
                        <m:f>
                          <m:fPr>
                            <m:ctrlPr>
                              <a:rPr lang="en-US" sz="1400" i="1" u="none">
                                <a:solidFill>
                                  <a:schemeClr val="bg1">
                                    <a:lumMod val="50000"/>
                                  </a:schemeClr>
                                </a:solidFill>
                                <a:latin typeface="Cambria Math" panose="02040503050406030204" pitchFamily="18" charset="0"/>
                              </a:rPr>
                            </m:ctrlPr>
                          </m:fPr>
                          <m:num>
                            <m:nary>
                              <m:naryPr>
                                <m:chr m:val="∑"/>
                                <m:ctrlPr>
                                  <a:rPr lang="en-US" sz="1400" i="1" u="none">
                                    <a:solidFill>
                                      <a:schemeClr val="bg1">
                                        <a:lumMod val="50000"/>
                                      </a:schemeClr>
                                    </a:solidFill>
                                    <a:latin typeface="Cambria Math" panose="02040503050406030204" pitchFamily="18" charset="0"/>
                                  </a:rPr>
                                </m:ctrlPr>
                              </m:naryPr>
                              <m:sub>
                                <m:r>
                                  <a:rPr lang="en-US" sz="1400" i="1" u="none">
                                    <a:solidFill>
                                      <a:schemeClr val="bg1">
                                        <a:lumMod val="50000"/>
                                      </a:schemeClr>
                                    </a:solidFill>
                                    <a:latin typeface="Cambria Math" panose="02040503050406030204" pitchFamily="18" charset="0"/>
                                  </a:rPr>
                                  <m:t>𝑖</m:t>
                                </m:r>
                                <m:r>
                                  <a:rPr lang="en-US" sz="1400" i="1" u="none">
                                    <a:solidFill>
                                      <a:schemeClr val="bg1">
                                        <a:lumMod val="50000"/>
                                      </a:schemeClr>
                                    </a:solidFill>
                                    <a:latin typeface="Cambria Math" panose="02040503050406030204" pitchFamily="18" charset="0"/>
                                  </a:rPr>
                                  <m:t>=</m:t>
                                </m:r>
                                <m:r>
                                  <a:rPr lang="en-US" sz="1400" i="1" u="none">
                                    <a:solidFill>
                                      <a:schemeClr val="bg1">
                                        <a:lumMod val="50000"/>
                                      </a:schemeClr>
                                    </a:solidFill>
                                    <a:latin typeface="Cambria Math" panose="02040503050406030204" pitchFamily="18" charset="0"/>
                                  </a:rPr>
                                  <m:t>1</m:t>
                                </m:r>
                              </m:sub>
                              <m:sup>
                                <m:r>
                                  <a:rPr lang="en-US" sz="1400" i="1" u="none">
                                    <a:solidFill>
                                      <a:schemeClr val="bg1">
                                        <a:lumMod val="50000"/>
                                      </a:schemeClr>
                                    </a:solidFill>
                                    <a:latin typeface="Cambria Math" panose="02040503050406030204" pitchFamily="18" charset="0"/>
                                  </a:rPr>
                                  <m:t>𝑁</m:t>
                                </m:r>
                              </m:sup>
                              <m:e>
                                <m:r>
                                  <a:rPr lang="en-US" sz="1400" i="1" u="none">
                                    <a:solidFill>
                                      <a:schemeClr val="bg1">
                                        <a:lumMod val="50000"/>
                                      </a:schemeClr>
                                    </a:solidFill>
                                    <a:latin typeface="Cambria Math" panose="02040503050406030204" pitchFamily="18" charset="0"/>
                                  </a:rPr>
                                  <m:t>(</m:t>
                                </m:r>
                                <m:sSub>
                                  <m:sSubPr>
                                    <m:ctrlPr>
                                      <a:rPr lang="en-US" sz="1400" i="1" u="none">
                                        <a:solidFill>
                                          <a:schemeClr val="bg1">
                                            <a:lumMod val="50000"/>
                                          </a:schemeClr>
                                        </a:solidFill>
                                        <a:latin typeface="Cambria Math" panose="02040503050406030204" pitchFamily="18" charset="0"/>
                                      </a:rPr>
                                    </m:ctrlPr>
                                  </m:sSubPr>
                                  <m:e>
                                    <m:r>
                                      <a:rPr lang="en-US" sz="1400" i="1" u="none">
                                        <a:solidFill>
                                          <a:schemeClr val="bg1">
                                            <a:lumMod val="50000"/>
                                          </a:schemeClr>
                                        </a:solidFill>
                                        <a:latin typeface="Cambria Math" panose="02040503050406030204" pitchFamily="18" charset="0"/>
                                      </a:rPr>
                                      <m:t>𝑥</m:t>
                                    </m:r>
                                  </m:e>
                                  <m:sub>
                                    <m:r>
                                      <a:rPr lang="en-US" sz="1400" i="1" u="none">
                                        <a:solidFill>
                                          <a:schemeClr val="bg1">
                                            <a:lumMod val="50000"/>
                                          </a:schemeClr>
                                        </a:solidFill>
                                        <a:latin typeface="Cambria Math" panose="02040503050406030204" pitchFamily="18" charset="0"/>
                                      </a:rPr>
                                      <m:t>𝑖</m:t>
                                    </m:r>
                                  </m:sub>
                                </m:sSub>
                                <m:r>
                                  <a:rPr lang="en-US" sz="1400" i="1" u="none">
                                    <a:solidFill>
                                      <a:schemeClr val="bg1">
                                        <a:lumMod val="50000"/>
                                      </a:schemeClr>
                                    </a:solidFill>
                                    <a:latin typeface="Cambria Math" panose="02040503050406030204" pitchFamily="18" charset="0"/>
                                  </a:rPr>
                                  <m:t>−</m:t>
                                </m:r>
                                <m:bar>
                                  <m:barPr>
                                    <m:pos m:val="top"/>
                                    <m:ctrlPr>
                                      <a:rPr lang="en-US" sz="1400" i="1" u="none">
                                        <a:solidFill>
                                          <a:schemeClr val="bg1">
                                            <a:lumMod val="50000"/>
                                          </a:schemeClr>
                                        </a:solidFill>
                                        <a:latin typeface="Cambria Math" panose="02040503050406030204" pitchFamily="18" charset="0"/>
                                      </a:rPr>
                                    </m:ctrlPr>
                                  </m:barPr>
                                  <m:e>
                                    <m:r>
                                      <a:rPr lang="en-US" sz="1400" i="1" u="none">
                                        <a:solidFill>
                                          <a:schemeClr val="bg1">
                                            <a:lumMod val="50000"/>
                                          </a:schemeClr>
                                        </a:solidFill>
                                        <a:latin typeface="Cambria Math" panose="02040503050406030204" pitchFamily="18" charset="0"/>
                                      </a:rPr>
                                      <m:t>𝑥</m:t>
                                    </m:r>
                                  </m:e>
                                </m:bar>
                                <m:sSup>
                                  <m:sSupPr>
                                    <m:ctrlPr>
                                      <a:rPr lang="en-US" sz="1400" i="1" u="none">
                                        <a:solidFill>
                                          <a:schemeClr val="bg1">
                                            <a:lumMod val="50000"/>
                                          </a:schemeClr>
                                        </a:solidFill>
                                        <a:latin typeface="Cambria Math" panose="02040503050406030204" pitchFamily="18" charset="0"/>
                                      </a:rPr>
                                    </m:ctrlPr>
                                  </m:sSupPr>
                                  <m:e>
                                    <m:r>
                                      <a:rPr lang="en-US" sz="1400" i="1" u="none">
                                        <a:solidFill>
                                          <a:schemeClr val="bg1">
                                            <a:lumMod val="50000"/>
                                          </a:schemeClr>
                                        </a:solidFill>
                                        <a:latin typeface="Cambria Math" panose="02040503050406030204" pitchFamily="18" charset="0"/>
                                      </a:rPr>
                                      <m:t>)</m:t>
                                    </m:r>
                                  </m:e>
                                  <m:sup>
                                    <m:r>
                                      <a:rPr lang="en-US" sz="1400" i="1" u="none">
                                        <a:solidFill>
                                          <a:schemeClr val="bg1">
                                            <a:lumMod val="50000"/>
                                          </a:schemeClr>
                                        </a:solidFill>
                                        <a:latin typeface="Cambria Math" panose="02040503050406030204" pitchFamily="18" charset="0"/>
                                      </a:rPr>
                                      <m:t>2</m:t>
                                    </m:r>
                                  </m:sup>
                                </m:sSup>
                              </m:e>
                            </m:nary>
                          </m:num>
                          <m:den>
                            <m:r>
                              <a:rPr lang="en-US" sz="1400" i="1" u="none">
                                <a:solidFill>
                                  <a:schemeClr val="bg1">
                                    <a:lumMod val="50000"/>
                                  </a:schemeClr>
                                </a:solidFill>
                                <a:latin typeface="Cambria Math" panose="02040503050406030204" pitchFamily="18" charset="0"/>
                              </a:rPr>
                              <m:t>𝑁</m:t>
                            </m:r>
                            <m:r>
                              <a:rPr lang="en-US" sz="1400" b="0" i="1" u="none">
                                <a:solidFill>
                                  <a:schemeClr val="bg1">
                                    <a:lumMod val="50000"/>
                                  </a:schemeClr>
                                </a:solidFill>
                                <a:latin typeface="Cambria Math" panose="02040503050406030204" pitchFamily="18" charset="0"/>
                              </a:rPr>
                              <m:t>−</m:t>
                            </m:r>
                            <m:r>
                              <a:rPr lang="en-US" sz="1400" b="0" i="1" u="none">
                                <a:solidFill>
                                  <a:schemeClr val="bg1">
                                    <a:lumMod val="50000"/>
                                  </a:schemeClr>
                                </a:solidFill>
                                <a:latin typeface="Cambria Math" panose="02040503050406030204" pitchFamily="18" charset="0"/>
                              </a:rPr>
                              <m:t>1</m:t>
                            </m:r>
                          </m:den>
                        </m:f>
                      </m:e>
                    </m:rad>
                  </m:oMath>
                </a14:m>
                <a:r>
                  <a:rPr lang="en-US" sz="1400" b="0" u="none" dirty="0">
                    <a:solidFill>
                      <a:schemeClr val="bg1">
                        <a:lumMod val="50000"/>
                      </a:schemeClr>
                    </a:solidFill>
                    <a:cs typeface="Arial" panose="020B0604020202020204" pitchFamily="34" charset="0"/>
                  </a:rPr>
                  <a:t> </a:t>
                </a:r>
              </a:p>
              <a:p>
                <a:pPr algn="ctr"/>
                <a:endParaRPr lang="en-US" sz="1400" b="0" u="none" dirty="0">
                  <a:solidFill>
                    <a:srgbClr val="EB971B"/>
                  </a:solidFill>
                  <a:cs typeface="Arial" panose="020B0604020202020204" pitchFamily="34" charset="0"/>
                </a:endParaRPr>
              </a:p>
            </p:txBody>
          </p:sp>
        </mc:Choice>
        <mc:Fallback xmlns="">
          <p:sp>
            <p:nvSpPr>
              <p:cNvPr id="10" name="TextBox 9">
                <a:extLst>
                  <a:ext uri="{FF2B5EF4-FFF2-40B4-BE49-F238E27FC236}">
                    <a16:creationId xmlns:a16="http://schemas.microsoft.com/office/drawing/2014/main" id="{2DAABAD9-A263-D5B9-21B4-03A161EE4FED}"/>
                  </a:ext>
                </a:extLst>
              </p:cNvPr>
              <p:cNvSpPr txBox="1">
                <a:spLocks noRot="1" noChangeAspect="1" noMove="1" noResize="1" noEditPoints="1" noAdjustHandles="1" noChangeArrowheads="1" noChangeShapeType="1" noTextEdit="1"/>
              </p:cNvSpPr>
              <p:nvPr/>
            </p:nvSpPr>
            <p:spPr>
              <a:xfrm>
                <a:off x="5073306" y="1133720"/>
                <a:ext cx="4017963" cy="5668675"/>
              </a:xfrm>
              <a:prstGeom prst="rect">
                <a:avLst/>
              </a:prstGeom>
              <a:blipFill>
                <a:blip r:embed="rId6"/>
                <a:stretch>
                  <a:fillRect l="-455" t="-215" r="-1214"/>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8C7741B5-A505-927F-0CBE-77B6803786D3}"/>
              </a:ext>
            </a:extLst>
          </p:cNvPr>
          <p:cNvSpPr txBox="1"/>
          <p:nvPr/>
        </p:nvSpPr>
        <p:spPr>
          <a:xfrm>
            <a:off x="657697" y="5353391"/>
            <a:ext cx="4065095" cy="338554"/>
          </a:xfrm>
          <a:prstGeom prst="rect">
            <a:avLst/>
          </a:prstGeom>
          <a:noFill/>
        </p:spPr>
        <p:txBody>
          <a:bodyPr wrap="square" rtlCol="0">
            <a:spAutoFit/>
          </a:bodyPr>
          <a:lstStyle/>
          <a:p>
            <a:pPr algn="ctr"/>
            <a:r>
              <a:rPr lang="en-US" sz="1600" b="0" u="none" dirty="0">
                <a:cs typeface="Arial" panose="020B0604020202020204" pitchFamily="34" charset="0"/>
              </a:rPr>
              <a:t>True support for candidate A</a:t>
            </a:r>
          </a:p>
        </p:txBody>
      </p:sp>
      <p:cxnSp>
        <p:nvCxnSpPr>
          <p:cNvPr id="12" name="Straight Connector 11">
            <a:extLst>
              <a:ext uri="{FF2B5EF4-FFF2-40B4-BE49-F238E27FC236}">
                <a16:creationId xmlns:a16="http://schemas.microsoft.com/office/drawing/2014/main" id="{8E4850C1-F0A7-D1D6-8D38-F4F28752FA0F}"/>
              </a:ext>
            </a:extLst>
          </p:cNvPr>
          <p:cNvCxnSpPr/>
          <p:nvPr/>
        </p:nvCxnSpPr>
        <p:spPr bwMode="auto">
          <a:xfrm>
            <a:off x="1690956" y="250489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25FDB370-8CCD-0E30-0ACF-FF43B3203127}"/>
              </a:ext>
            </a:extLst>
          </p:cNvPr>
          <p:cNvSpPr txBox="1"/>
          <p:nvPr/>
        </p:nvSpPr>
        <p:spPr>
          <a:xfrm>
            <a:off x="2310352" y="2547145"/>
            <a:ext cx="31187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Fox</a:t>
            </a:r>
            <a:endParaRPr lang="en-US" sz="1400" b="0" u="none" dirty="0">
              <a:solidFill>
                <a:srgbClr val="00B0F0"/>
              </a:solidFill>
              <a:cs typeface="Arial" pitchFamily="34" charset="0"/>
            </a:endParaRPr>
          </a:p>
        </p:txBody>
      </p:sp>
      <p:sp>
        <p:nvSpPr>
          <p:cNvPr id="14" name="Oval 13">
            <a:extLst>
              <a:ext uri="{FF2B5EF4-FFF2-40B4-BE49-F238E27FC236}">
                <a16:creationId xmlns:a16="http://schemas.microsoft.com/office/drawing/2014/main" id="{BC7797FA-C1DA-8C54-39CE-9E27AAB84322}"/>
              </a:ext>
            </a:extLst>
          </p:cNvPr>
          <p:cNvSpPr/>
          <p:nvPr/>
        </p:nvSpPr>
        <p:spPr bwMode="auto">
          <a:xfrm>
            <a:off x="2428190" y="246806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cxnSp>
        <p:nvCxnSpPr>
          <p:cNvPr id="19" name="Straight Connector 18">
            <a:extLst>
              <a:ext uri="{FF2B5EF4-FFF2-40B4-BE49-F238E27FC236}">
                <a16:creationId xmlns:a16="http://schemas.microsoft.com/office/drawing/2014/main" id="{E8A1F17F-D287-ED3D-C9EE-A233CE8C5776}"/>
              </a:ext>
            </a:extLst>
          </p:cNvPr>
          <p:cNvCxnSpPr/>
          <p:nvPr/>
        </p:nvCxnSpPr>
        <p:spPr bwMode="auto">
          <a:xfrm>
            <a:off x="3251532" y="2340481"/>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E5E2EF81-C750-8FBC-5B57-CB941B15BB97}"/>
              </a:ext>
            </a:extLst>
          </p:cNvPr>
          <p:cNvCxnSpPr/>
          <p:nvPr/>
        </p:nvCxnSpPr>
        <p:spPr bwMode="auto">
          <a:xfrm>
            <a:off x="1690956" y="2340482"/>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0BB3F0-26D5-E1AA-5532-6F4093217A5F}"/>
                  </a:ext>
                </a:extLst>
              </p:cNvPr>
              <p:cNvSpPr txBox="1"/>
              <p:nvPr/>
            </p:nvSpPr>
            <p:spPr>
              <a:xfrm>
                <a:off x="2985210" y="1974897"/>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a:solidFill>
                            <a:srgbClr val="00B0F0"/>
                          </a:solidFill>
                          <a:latin typeface="Cambria Math" panose="02040503050406030204" pitchFamily="18" charset="0"/>
                          <a:cs typeface="Arial" panose="020B0604020202020204" pitchFamily="34" charset="0"/>
                        </a:rPr>
                        <m:t>51</m:t>
                      </m:r>
                      <m:r>
                        <a:rPr lang="en-US" sz="105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21" name="TextBox 20">
                <a:extLst>
                  <a:ext uri="{FF2B5EF4-FFF2-40B4-BE49-F238E27FC236}">
                    <a16:creationId xmlns:a16="http://schemas.microsoft.com/office/drawing/2014/main" id="{000BB3F0-26D5-E1AA-5532-6F4093217A5F}"/>
                  </a:ext>
                </a:extLst>
              </p:cNvPr>
              <p:cNvSpPr txBox="1">
                <a:spLocks noRot="1" noChangeAspect="1" noMove="1" noResize="1" noEditPoints="1" noAdjustHandles="1" noChangeArrowheads="1" noChangeShapeType="1" noTextEdit="1"/>
              </p:cNvSpPr>
              <p:nvPr/>
            </p:nvSpPr>
            <p:spPr>
              <a:xfrm>
                <a:off x="2985210" y="1974897"/>
                <a:ext cx="992430" cy="337785"/>
              </a:xfrm>
              <a:prstGeom prst="rect">
                <a:avLst/>
              </a:prstGeom>
              <a:blipFill>
                <a:blip r:embed="rId7"/>
                <a:stretch>
                  <a:fillRect t="-16364" r="-9816"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6073FFA-54D9-F6D2-F5DE-7AA349DFE72C}"/>
                  </a:ext>
                </a:extLst>
              </p:cNvPr>
              <p:cNvSpPr txBox="1"/>
              <p:nvPr/>
            </p:nvSpPr>
            <p:spPr>
              <a:xfrm>
                <a:off x="1164372" y="1475231"/>
                <a:ext cx="3016537" cy="391261"/>
              </a:xfrm>
              <a:prstGeom prst="rect">
                <a:avLst/>
              </a:prstGeom>
              <a:noFill/>
            </p:spPr>
            <p:txBody>
              <a:bodyPr wrap="square">
                <a:spAutoFit/>
              </a:bodyPr>
              <a:lstStyle/>
              <a:p>
                <a:pPr algn="ctr"/>
                <a:r>
                  <a:rPr lang="en-US" sz="1400" b="0" u="none" dirty="0">
                    <a:cs typeface="Arial" panose="020B0604020202020204" pitchFamily="34" charset="0"/>
                  </a:rPr>
                  <a:t>Distribution of Poll Results,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r>
                      <a:rPr lang="en-US" sz="1400" b="0" i="1" u="none" dirty="0" smtClean="0">
                        <a:latin typeface="Cambria Math" panose="02040503050406030204" pitchFamily="18" charset="0"/>
                        <a:cs typeface="Arial" panose="020B0604020202020204" pitchFamily="34" charset="0"/>
                      </a:rPr>
                      <m:t>(</m:t>
                    </m:r>
                    <m:r>
                      <a:rPr lang="en-US" sz="1400" b="0" i="1" u="none" dirty="0" smtClean="0">
                        <a:solidFill>
                          <a:srgbClr val="FF0000"/>
                        </a:solidFill>
                        <a:latin typeface="Cambria Math" panose="02040503050406030204" pitchFamily="18" charset="0"/>
                        <a:cs typeface="Arial" panose="020B0604020202020204" pitchFamily="34" charset="0"/>
                      </a:rPr>
                      <m:t>𝜇</m:t>
                    </m:r>
                    <m:r>
                      <a:rPr lang="en-US" sz="1400" b="0" i="1" u="none" dirty="0" smtClean="0">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r>
                      <a:rPr lang="en-US" sz="1400" b="0" i="1" u="none" dirty="0" smtClean="0">
                        <a:latin typeface="Cambria Math" panose="02040503050406030204" pitchFamily="18" charset="0"/>
                        <a:cs typeface="Arial" panose="020B0604020202020204" pitchFamily="34" charset="0"/>
                      </a:rPr>
                      <m:t>)</m:t>
                    </m:r>
                  </m:oMath>
                </a14:m>
                <a:endParaRPr lang="en-US" sz="1400" dirty="0"/>
              </a:p>
            </p:txBody>
          </p:sp>
        </mc:Choice>
        <mc:Fallback xmlns="">
          <p:sp>
            <p:nvSpPr>
              <p:cNvPr id="4" name="TextBox 3">
                <a:extLst>
                  <a:ext uri="{FF2B5EF4-FFF2-40B4-BE49-F238E27FC236}">
                    <a16:creationId xmlns:a16="http://schemas.microsoft.com/office/drawing/2014/main" id="{F544579F-3477-B417-B589-C2A58C60CDDF}"/>
                  </a:ext>
                </a:extLst>
              </p:cNvPr>
              <p:cNvSpPr txBox="1">
                <a:spLocks noRot="1" noChangeAspect="1" noMove="1" noResize="1" noEditPoints="1" noAdjustHandles="1" noChangeArrowheads="1" noChangeShapeType="1" noTextEdit="1"/>
              </p:cNvSpPr>
              <p:nvPr/>
            </p:nvSpPr>
            <p:spPr>
              <a:xfrm>
                <a:off x="1164372" y="1475231"/>
                <a:ext cx="3016537" cy="391261"/>
              </a:xfrm>
              <a:prstGeom prst="rect">
                <a:avLst/>
              </a:prstGeom>
              <a:blipFill>
                <a:blip r:embed="rId9"/>
                <a:stretch>
                  <a:fillRect l="-202"/>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1DB0AD15-9C4F-D66B-37EF-60AF662E262F}"/>
              </a:ext>
            </a:extLst>
          </p:cNvPr>
          <p:cNvSpPr/>
          <p:nvPr/>
        </p:nvSpPr>
        <p:spPr bwMode="auto">
          <a:xfrm>
            <a:off x="3724593" y="1950261"/>
            <a:ext cx="170688" cy="188866"/>
          </a:xfrm>
          <a:prstGeom prst="ellipse">
            <a:avLst/>
          </a:prstGeom>
          <a:noFill/>
          <a:ln w="317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p:sp>
        <p:nvSpPr>
          <p:cNvPr id="16" name="Oval 15">
            <a:extLst>
              <a:ext uri="{FF2B5EF4-FFF2-40B4-BE49-F238E27FC236}">
                <a16:creationId xmlns:a16="http://schemas.microsoft.com/office/drawing/2014/main" id="{345461B3-DA8E-6C4E-15C3-795E1A8DD665}"/>
              </a:ext>
            </a:extLst>
          </p:cNvPr>
          <p:cNvSpPr/>
          <p:nvPr/>
        </p:nvSpPr>
        <p:spPr bwMode="auto">
          <a:xfrm>
            <a:off x="6425184" y="5118784"/>
            <a:ext cx="170688" cy="188866"/>
          </a:xfrm>
          <a:prstGeom prst="ellipse">
            <a:avLst/>
          </a:prstGeom>
          <a:noFill/>
          <a:ln w="317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p:sp>
        <p:nvSpPr>
          <p:cNvPr id="22" name="Freeform: Shape 21">
            <a:extLst>
              <a:ext uri="{FF2B5EF4-FFF2-40B4-BE49-F238E27FC236}">
                <a16:creationId xmlns:a16="http://schemas.microsoft.com/office/drawing/2014/main" id="{D6FB8097-128D-35E0-3524-CC953542D81F}"/>
              </a:ext>
            </a:extLst>
          </p:cNvPr>
          <p:cNvSpPr/>
          <p:nvPr/>
        </p:nvSpPr>
        <p:spPr bwMode="auto">
          <a:xfrm>
            <a:off x="3790125" y="2119924"/>
            <a:ext cx="2647442" cy="3130964"/>
          </a:xfrm>
          <a:custGeom>
            <a:avLst/>
            <a:gdLst>
              <a:gd name="connsiteX0" fmla="*/ 4612395 w 4612395"/>
              <a:gd name="connsiteY0" fmla="*/ 3401568 h 3401568"/>
              <a:gd name="connsiteX1" fmla="*/ 723147 w 4612395"/>
              <a:gd name="connsiteY1" fmla="*/ 1103376 h 3401568"/>
              <a:gd name="connsiteX2" fmla="*/ 9915 w 4612395"/>
              <a:gd name="connsiteY2" fmla="*/ 0 h 3401568"/>
            </a:gdLst>
            <a:ahLst/>
            <a:cxnLst>
              <a:cxn ang="0">
                <a:pos x="connsiteX0" y="connsiteY0"/>
              </a:cxn>
              <a:cxn ang="0">
                <a:pos x="connsiteX1" y="connsiteY1"/>
              </a:cxn>
              <a:cxn ang="0">
                <a:pos x="connsiteX2" y="connsiteY2"/>
              </a:cxn>
            </a:cxnLst>
            <a:rect l="l" t="t" r="r" b="b"/>
            <a:pathLst>
              <a:path w="4612395" h="3401568">
                <a:moveTo>
                  <a:pt x="4612395" y="3401568"/>
                </a:moveTo>
                <a:cubicBezTo>
                  <a:pt x="3051311" y="2535936"/>
                  <a:pt x="1490227" y="1670304"/>
                  <a:pt x="723147" y="1103376"/>
                </a:cubicBezTo>
                <a:cubicBezTo>
                  <a:pt x="-43933" y="536448"/>
                  <a:pt x="-17009" y="268224"/>
                  <a:pt x="9915" y="0"/>
                </a:cubicBezTo>
              </a:path>
            </a:pathLst>
          </a:custGeom>
          <a:noFill/>
          <a:ln w="317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solidFill>
                <a:srgbClr val="EB971B"/>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71DAFFF-7A76-8A65-7807-446385E64A0A}"/>
                  </a:ext>
                </a:extLst>
              </p:cNvPr>
              <p:cNvSpPr txBox="1"/>
              <p:nvPr/>
            </p:nvSpPr>
            <p:spPr>
              <a:xfrm>
                <a:off x="1017345" y="1976479"/>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smtClean="0">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23" name="TextBox 22">
                <a:extLst>
                  <a:ext uri="{FF2B5EF4-FFF2-40B4-BE49-F238E27FC236}">
                    <a16:creationId xmlns:a16="http://schemas.microsoft.com/office/drawing/2014/main" id="{371DAFFF-7A76-8A65-7807-446385E64A0A}"/>
                  </a:ext>
                </a:extLst>
              </p:cNvPr>
              <p:cNvSpPr txBox="1">
                <a:spLocks noRot="1" noChangeAspect="1" noMove="1" noResize="1" noEditPoints="1" noAdjustHandles="1" noChangeArrowheads="1" noChangeShapeType="1" noTextEdit="1"/>
              </p:cNvSpPr>
              <p:nvPr/>
            </p:nvSpPr>
            <p:spPr>
              <a:xfrm>
                <a:off x="1017345" y="1976479"/>
                <a:ext cx="992430" cy="337785"/>
              </a:xfrm>
              <a:prstGeom prst="rect">
                <a:avLst/>
              </a:prstGeom>
              <a:blipFill>
                <a:blip r:embed="rId10"/>
                <a:stretch>
                  <a:fillRect t="-14286" r="-9816" b="-8929"/>
                </a:stretch>
              </a:blipFill>
            </p:spPr>
            <p:txBody>
              <a:bodyPr/>
              <a:lstStyle/>
              <a:p>
                <a:r>
                  <a:rPr lang="en-US">
                    <a:noFill/>
                  </a:rPr>
                  <a:t> </a:t>
                </a:r>
              </a:p>
            </p:txBody>
          </p:sp>
        </mc:Fallback>
      </mc:AlternateContent>
      <p:sp>
        <p:nvSpPr>
          <p:cNvPr id="18" name="Freeform: Shape 17">
            <a:extLst>
              <a:ext uri="{FF2B5EF4-FFF2-40B4-BE49-F238E27FC236}">
                <a16:creationId xmlns:a16="http://schemas.microsoft.com/office/drawing/2014/main" id="{2D410A16-C832-C14C-64EE-E0F23E67F0CD}"/>
              </a:ext>
            </a:extLst>
          </p:cNvPr>
          <p:cNvSpPr/>
          <p:nvPr/>
        </p:nvSpPr>
        <p:spPr bwMode="auto">
          <a:xfrm>
            <a:off x="1844040" y="2121408"/>
            <a:ext cx="4593517" cy="3129480"/>
          </a:xfrm>
          <a:custGeom>
            <a:avLst/>
            <a:gdLst>
              <a:gd name="connsiteX0" fmla="*/ 4612395 w 4612395"/>
              <a:gd name="connsiteY0" fmla="*/ 3401568 h 3401568"/>
              <a:gd name="connsiteX1" fmla="*/ 723147 w 4612395"/>
              <a:gd name="connsiteY1" fmla="*/ 1103376 h 3401568"/>
              <a:gd name="connsiteX2" fmla="*/ 9915 w 4612395"/>
              <a:gd name="connsiteY2" fmla="*/ 0 h 3401568"/>
            </a:gdLst>
            <a:ahLst/>
            <a:cxnLst>
              <a:cxn ang="0">
                <a:pos x="connsiteX0" y="connsiteY0"/>
              </a:cxn>
              <a:cxn ang="0">
                <a:pos x="connsiteX1" y="connsiteY1"/>
              </a:cxn>
              <a:cxn ang="0">
                <a:pos x="connsiteX2" y="connsiteY2"/>
              </a:cxn>
            </a:cxnLst>
            <a:rect l="l" t="t" r="r" b="b"/>
            <a:pathLst>
              <a:path w="4612395" h="3401568">
                <a:moveTo>
                  <a:pt x="4612395" y="3401568"/>
                </a:moveTo>
                <a:cubicBezTo>
                  <a:pt x="3051311" y="2535936"/>
                  <a:pt x="1490227" y="1670304"/>
                  <a:pt x="723147" y="1103376"/>
                </a:cubicBezTo>
                <a:cubicBezTo>
                  <a:pt x="-43933" y="536448"/>
                  <a:pt x="-17009" y="268224"/>
                  <a:pt x="9915" y="0"/>
                </a:cubicBezTo>
              </a:path>
            </a:pathLst>
          </a:custGeom>
          <a:noFill/>
          <a:ln w="317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solidFill>
                <a:srgbClr val="EB971B"/>
              </a:solidFill>
            </a:endParaRPr>
          </a:p>
        </p:txBody>
      </p:sp>
      <p:sp>
        <p:nvSpPr>
          <p:cNvPr id="24" name="Oval 23">
            <a:extLst>
              <a:ext uri="{FF2B5EF4-FFF2-40B4-BE49-F238E27FC236}">
                <a16:creationId xmlns:a16="http://schemas.microsoft.com/office/drawing/2014/main" id="{C7EF83D2-2EAE-3869-F5B5-2C55EBE3C40C}"/>
              </a:ext>
            </a:extLst>
          </p:cNvPr>
          <p:cNvSpPr/>
          <p:nvPr/>
        </p:nvSpPr>
        <p:spPr bwMode="auto">
          <a:xfrm>
            <a:off x="1773555" y="1950261"/>
            <a:ext cx="170688" cy="188866"/>
          </a:xfrm>
          <a:prstGeom prst="ellipse">
            <a:avLst/>
          </a:prstGeom>
          <a:noFill/>
          <a:ln w="317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p:sp>
        <p:nvSpPr>
          <p:cNvPr id="25" name="Oval 24">
            <a:extLst>
              <a:ext uri="{FF2B5EF4-FFF2-40B4-BE49-F238E27FC236}">
                <a16:creationId xmlns:a16="http://schemas.microsoft.com/office/drawing/2014/main" id="{98106401-DAB4-C8A4-89BE-5E209A13814F}"/>
              </a:ext>
            </a:extLst>
          </p:cNvPr>
          <p:cNvSpPr/>
          <p:nvPr/>
        </p:nvSpPr>
        <p:spPr bwMode="auto">
          <a:xfrm>
            <a:off x="7136027" y="5201033"/>
            <a:ext cx="346236" cy="233367"/>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26" name="Freeform: Shape 25">
            <a:extLst>
              <a:ext uri="{FF2B5EF4-FFF2-40B4-BE49-F238E27FC236}">
                <a16:creationId xmlns:a16="http://schemas.microsoft.com/office/drawing/2014/main" id="{04DC7191-4E31-4E4D-B59D-04C9C5C78258}"/>
              </a:ext>
            </a:extLst>
          </p:cNvPr>
          <p:cNvSpPr/>
          <p:nvPr/>
        </p:nvSpPr>
        <p:spPr bwMode="auto">
          <a:xfrm>
            <a:off x="5776784" y="5378793"/>
            <a:ext cx="1365421" cy="510564"/>
          </a:xfrm>
          <a:custGeom>
            <a:avLst/>
            <a:gdLst>
              <a:gd name="connsiteX0" fmla="*/ 1550773 w 1550773"/>
              <a:gd name="connsiteY0" fmla="*/ 0 h 203887"/>
              <a:gd name="connsiteX1" fmla="*/ 284206 w 1550773"/>
              <a:gd name="connsiteY1" fmla="*/ 61784 h 203887"/>
              <a:gd name="connsiteX2" fmla="*/ 0 w 1550773"/>
              <a:gd name="connsiteY2" fmla="*/ 203887 h 203887"/>
            </a:gdLst>
            <a:ahLst/>
            <a:cxnLst>
              <a:cxn ang="0">
                <a:pos x="connsiteX0" y="connsiteY0"/>
              </a:cxn>
              <a:cxn ang="0">
                <a:pos x="connsiteX1" y="connsiteY1"/>
              </a:cxn>
              <a:cxn ang="0">
                <a:pos x="connsiteX2" y="connsiteY2"/>
              </a:cxn>
            </a:cxnLst>
            <a:rect l="l" t="t" r="r" b="b"/>
            <a:pathLst>
              <a:path w="1550773" h="203887">
                <a:moveTo>
                  <a:pt x="1550773" y="0"/>
                </a:moveTo>
                <a:cubicBezTo>
                  <a:pt x="1046720" y="13901"/>
                  <a:pt x="542668" y="27803"/>
                  <a:pt x="284206" y="61784"/>
                </a:cubicBezTo>
                <a:cubicBezTo>
                  <a:pt x="25744" y="95765"/>
                  <a:pt x="12872" y="149826"/>
                  <a:pt x="0" y="203887"/>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6260B08-9833-54C5-443D-42C1D99ABBA9}"/>
                  </a:ext>
                </a:extLst>
              </p:cNvPr>
              <p:cNvSpPr txBox="1"/>
              <p:nvPr/>
            </p:nvSpPr>
            <p:spPr>
              <a:xfrm>
                <a:off x="3237472" y="3115980"/>
                <a:ext cx="1646280" cy="442942"/>
              </a:xfrm>
              <a:prstGeom prst="rect">
                <a:avLst/>
              </a:prstGeom>
              <a:noFill/>
            </p:spPr>
            <p:txBody>
              <a:bodyPr wrap="squar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m:t>
                    </m:r>
                    <m:r>
                      <a:rPr lang="en-US" sz="1400" b="0" i="1" u="none" dirty="0">
                        <a:solidFill>
                          <a:srgbClr val="EB971B"/>
                        </a:solidFill>
                        <a:latin typeface="Cambria Math" panose="02040503050406030204" pitchFamily="18" charset="0"/>
                        <a:cs typeface="Arial" panose="020B0604020202020204" pitchFamily="34" charset="0"/>
                      </a:rPr>
                      <m:t>𝑡𝑑</m:t>
                    </m:r>
                    <m:r>
                      <a:rPr lang="en-US" sz="1400" b="0" i="1" u="none" dirty="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m:t>
                    </m:r>
                    <m:r>
                      <a:rPr lang="en-US" sz="1400" b="0" i="1" u="none" dirty="0">
                        <a:solidFill>
                          <a:srgbClr val="EB971B"/>
                        </a:solidFill>
                        <a:latin typeface="Cambria Math" panose="02040503050406030204" pitchFamily="18" charset="0"/>
                        <a:cs typeface="Arial" panose="020B0604020202020204" pitchFamily="34" charset="0"/>
                      </a:rPr>
                      <m:t>𝑟</m:t>
                    </m:r>
                    <m:r>
                      <a:rPr lang="en-US" sz="1400" b="0" i="1" u="none" dirty="0" smtClean="0">
                        <a:solidFill>
                          <a:srgbClr val="EB971B"/>
                        </a:solidFill>
                        <a:latin typeface="Cambria Math" panose="02040503050406030204" pitchFamily="18" charset="0"/>
                        <a:cs typeface="Arial" panose="020B0604020202020204" pitchFamily="34" charset="0"/>
                      </a:rPr>
                      <m:t>𝑟</m:t>
                    </m:r>
                    <m:r>
                      <m:rPr>
                        <m:nor/>
                      </m:rPr>
                      <a:rPr lang="en-US" sz="1400" b="0" i="0" u="none" dirty="0">
                        <a:solidFill>
                          <a:srgbClr val="EB971B"/>
                        </a:solidFill>
                        <a:latin typeface="Cambria Math" panose="02040503050406030204" pitchFamily="18" charset="0"/>
                        <a:cs typeface="Arial" panose="020B0604020202020204" pitchFamily="34" charset="0"/>
                      </a:rPr>
                      <m:t>(</m:t>
                    </m:r>
                    <m:r>
                      <m:rPr>
                        <m:nor/>
                      </m:rPr>
                      <a:rPr lang="en-US" sz="1400" b="0" i="0" u="none">
                        <a:solidFill>
                          <a:srgbClr val="00B0F0"/>
                        </a:solidFill>
                        <a:latin typeface="Cambria Math" panose="02040503050406030204" pitchFamily="18" charset="0"/>
                      </a:rPr>
                      <m:t>𝑥</m:t>
                    </m:r>
                    <m:r>
                      <m:rPr>
                        <m:nor/>
                      </m:rPr>
                      <a:rPr lang="en-US" sz="1400" b="0" i="0" u="none">
                        <a:solidFill>
                          <a:srgbClr val="00B0F0"/>
                        </a:solidFill>
                        <a:latin typeface="Cambria Math" panose="02040503050406030204" pitchFamily="18" charset="0"/>
                      </a:rPr>
                      <m:t> ̅)</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800" b="0" i="1" u="none">
                            <a:solidFill>
                              <a:schemeClr val="accent6"/>
                            </a:solidFill>
                            <a:latin typeface="Cambria Math" panose="02040503050406030204" pitchFamily="18" charset="0"/>
                            <a:cs typeface="Arial" panose="020B0604020202020204" pitchFamily="34" charset="0"/>
                          </a:rPr>
                        </m:ctrlPr>
                      </m:fPr>
                      <m:num>
                        <m:r>
                          <a:rPr lang="en-US" sz="18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800" b="0" i="1" u="none">
                                <a:solidFill>
                                  <a:schemeClr val="accent6"/>
                                </a:solidFill>
                                <a:latin typeface="Cambria Math" panose="02040503050406030204" pitchFamily="18" charset="0"/>
                                <a:cs typeface="Arial" panose="020B0604020202020204" pitchFamily="34" charset="0"/>
                              </a:rPr>
                            </m:ctrlPr>
                          </m:radPr>
                          <m:deg/>
                          <m:e>
                            <m:r>
                              <a:rPr lang="en-US" sz="1800" b="0" i="1" u="none">
                                <a:solidFill>
                                  <a:schemeClr val="accent6"/>
                                </a:solidFill>
                                <a:latin typeface="Cambria Math" panose="02040503050406030204" pitchFamily="18" charset="0"/>
                                <a:cs typeface="Arial" panose="020B0604020202020204" pitchFamily="34" charset="0"/>
                              </a:rPr>
                              <m:t>𝑁</m:t>
                            </m:r>
                          </m:e>
                        </m:rad>
                      </m:den>
                    </m:f>
                  </m:oMath>
                </a14:m>
                <a:r>
                  <a:rPr lang="en-US" sz="1800" b="0" u="none" dirty="0">
                    <a:solidFill>
                      <a:schemeClr val="accent6"/>
                    </a:solidFill>
                    <a:cs typeface="Arial" panose="020B0604020202020204" pitchFamily="34" charset="0"/>
                  </a:rPr>
                  <a:t> </a:t>
                </a:r>
              </a:p>
            </p:txBody>
          </p:sp>
        </mc:Choice>
        <mc:Fallback xmlns="">
          <p:sp>
            <p:nvSpPr>
              <p:cNvPr id="15" name="TextBox 14">
                <a:extLst>
                  <a:ext uri="{FF2B5EF4-FFF2-40B4-BE49-F238E27FC236}">
                    <a16:creationId xmlns:a16="http://schemas.microsoft.com/office/drawing/2014/main" id="{B6260B08-9833-54C5-443D-42C1D99ABBA9}"/>
                  </a:ext>
                </a:extLst>
              </p:cNvPr>
              <p:cNvSpPr txBox="1">
                <a:spLocks noRot="1" noChangeAspect="1" noMove="1" noResize="1" noEditPoints="1" noAdjustHandles="1" noChangeArrowheads="1" noChangeShapeType="1" noTextEdit="1"/>
              </p:cNvSpPr>
              <p:nvPr/>
            </p:nvSpPr>
            <p:spPr>
              <a:xfrm>
                <a:off x="3237472" y="3115980"/>
                <a:ext cx="1646280" cy="442942"/>
              </a:xfrm>
              <a:prstGeom prst="rect">
                <a:avLst/>
              </a:prstGeom>
              <a:blipFill>
                <a:blip r:embed="rId11"/>
                <a:stretch>
                  <a:fillRect t="-8219" b="-2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D7A25C0-5F8C-DECF-5719-7575CACB49BC}"/>
                  </a:ext>
                </a:extLst>
              </p:cNvPr>
              <p:cNvSpPr txBox="1"/>
              <p:nvPr/>
            </p:nvSpPr>
            <p:spPr>
              <a:xfrm>
                <a:off x="5530748" y="5889357"/>
                <a:ext cx="3556793" cy="817788"/>
              </a:xfrm>
              <a:prstGeom prst="rect">
                <a:avLst/>
              </a:prstGeom>
              <a:solidFill>
                <a:schemeClr val="accent3">
                  <a:lumMod val="95000"/>
                </a:schemeClr>
              </a:solidFill>
              <a:ln w="3175">
                <a:solidFill>
                  <a:srgbClr val="FF0000"/>
                </a:solidFill>
              </a:ln>
            </p:spPr>
            <p:txBody>
              <a:bodyPr wrap="square" rtlCol="0">
                <a:spAutoFit/>
              </a:bodyPr>
              <a:lstStyle/>
              <a:p>
                <a:r>
                  <a:rPr lang="en-US" sz="1100" b="0" u="none" dirty="0">
                    <a:solidFill>
                      <a:schemeClr val="accent6"/>
                    </a:solidFill>
                    <a:cs typeface="Arial" panose="020B0604020202020204" pitchFamily="34" charset="0"/>
                  </a:rPr>
                  <a:t>See next two hidden slides for intuition about why the variance of a population is </a:t>
                </a:r>
                <a14:m>
                  <m:oMath xmlns:m="http://schemas.openxmlformats.org/officeDocument/2006/math">
                    <m:sSup>
                      <m:sSupPr>
                        <m:ctrlPr>
                          <a:rPr lang="en-US" sz="1100" b="0" i="1" u="none" smtClean="0">
                            <a:solidFill>
                              <a:srgbClr val="FF0000"/>
                            </a:solidFill>
                            <a:latin typeface="Cambria Math" panose="02040503050406030204" pitchFamily="18" charset="0"/>
                          </a:rPr>
                        </m:ctrlPr>
                      </m:sSupPr>
                      <m:e>
                        <m:r>
                          <a:rPr lang="en-US" sz="1100" b="0" i="1" u="none" smtClean="0">
                            <a:solidFill>
                              <a:srgbClr val="FF0000"/>
                            </a:solidFill>
                            <a:latin typeface="Cambria Math" panose="02040503050406030204" pitchFamily="18" charset="0"/>
                          </a:rPr>
                          <m:t>𝜎</m:t>
                        </m:r>
                      </m:e>
                      <m:sup>
                        <m:r>
                          <a:rPr lang="en-US" sz="1100" b="0" i="1" u="none" smtClean="0">
                            <a:solidFill>
                              <a:srgbClr val="FF0000"/>
                            </a:solidFill>
                            <a:latin typeface="Cambria Math" panose="02040503050406030204" pitchFamily="18" charset="0"/>
                          </a:rPr>
                          <m:t>2</m:t>
                        </m:r>
                      </m:sup>
                    </m:sSup>
                    <m:r>
                      <a:rPr lang="en-US" sz="1100" b="0" i="1" u="none" smtClean="0">
                        <a:solidFill>
                          <a:schemeClr val="accent6"/>
                        </a:solidFill>
                        <a:latin typeface="Cambria Math" panose="02040503050406030204" pitchFamily="18" charset="0"/>
                      </a:rPr>
                      <m:t>=</m:t>
                    </m:r>
                    <m:f>
                      <m:fPr>
                        <m:ctrlPr>
                          <a:rPr lang="en-US" sz="1100" b="0" i="1" u="none">
                            <a:solidFill>
                              <a:schemeClr val="accent6"/>
                            </a:solidFill>
                            <a:latin typeface="Cambria Math" panose="02040503050406030204" pitchFamily="18" charset="0"/>
                          </a:rPr>
                        </m:ctrlPr>
                      </m:fPr>
                      <m:num>
                        <m:nary>
                          <m:naryPr>
                            <m:chr m:val="∑"/>
                            <m:ctrlPr>
                              <a:rPr lang="en-US" sz="1100" b="0" i="1" u="none">
                                <a:solidFill>
                                  <a:schemeClr val="accent6"/>
                                </a:solidFill>
                                <a:latin typeface="Cambria Math" panose="02040503050406030204" pitchFamily="18" charset="0"/>
                              </a:rPr>
                            </m:ctrlPr>
                          </m:naryPr>
                          <m:sub>
                            <m:r>
                              <a:rPr lang="en-US" sz="1100" b="0" i="1" u="none">
                                <a:solidFill>
                                  <a:schemeClr val="accent6"/>
                                </a:solidFill>
                                <a:latin typeface="Cambria Math" panose="02040503050406030204" pitchFamily="18" charset="0"/>
                              </a:rPr>
                              <m:t>𝑖</m:t>
                            </m:r>
                            <m:r>
                              <a:rPr lang="en-US" sz="1100" b="0" i="1" u="none">
                                <a:solidFill>
                                  <a:schemeClr val="accent6"/>
                                </a:solidFill>
                                <a:latin typeface="Cambria Math" panose="02040503050406030204" pitchFamily="18" charset="0"/>
                              </a:rPr>
                              <m:t>=</m:t>
                            </m:r>
                            <m:r>
                              <a:rPr lang="en-US" sz="1100" b="0" i="1" u="none">
                                <a:solidFill>
                                  <a:schemeClr val="accent6"/>
                                </a:solidFill>
                                <a:latin typeface="Cambria Math" panose="02040503050406030204" pitchFamily="18" charset="0"/>
                              </a:rPr>
                              <m:t>1</m:t>
                            </m:r>
                          </m:sub>
                          <m:sup>
                            <m:r>
                              <a:rPr lang="en-US" sz="1100" b="0" i="1" u="none">
                                <a:solidFill>
                                  <a:schemeClr val="accent6"/>
                                </a:solidFill>
                                <a:latin typeface="Cambria Math" panose="02040503050406030204" pitchFamily="18" charset="0"/>
                              </a:rPr>
                              <m:t>𝑁</m:t>
                            </m:r>
                          </m:sup>
                          <m:e>
                            <m:r>
                              <a:rPr lang="en-US" sz="1100" b="0" i="1" u="none">
                                <a:solidFill>
                                  <a:schemeClr val="accent6"/>
                                </a:solidFill>
                                <a:latin typeface="Cambria Math" panose="02040503050406030204" pitchFamily="18" charset="0"/>
                              </a:rPr>
                              <m:t>(</m:t>
                            </m:r>
                            <m:sSub>
                              <m:sSubPr>
                                <m:ctrlPr>
                                  <a:rPr lang="en-US" sz="1100" b="0" i="1" u="none">
                                    <a:solidFill>
                                      <a:schemeClr val="accent6"/>
                                    </a:solidFill>
                                    <a:latin typeface="Cambria Math" panose="02040503050406030204" pitchFamily="18" charset="0"/>
                                  </a:rPr>
                                </m:ctrlPr>
                              </m:sSubPr>
                              <m:e>
                                <m:r>
                                  <a:rPr lang="en-US" sz="1100" b="0" i="1" u="none">
                                    <a:solidFill>
                                      <a:schemeClr val="accent6"/>
                                    </a:solidFill>
                                    <a:latin typeface="Cambria Math" panose="02040503050406030204" pitchFamily="18" charset="0"/>
                                  </a:rPr>
                                  <m:t>𝑥</m:t>
                                </m:r>
                              </m:e>
                              <m:sub>
                                <m:r>
                                  <a:rPr lang="en-US" sz="1100" b="0" i="1" u="none">
                                    <a:solidFill>
                                      <a:schemeClr val="accent6"/>
                                    </a:solidFill>
                                    <a:latin typeface="Cambria Math" panose="02040503050406030204" pitchFamily="18" charset="0"/>
                                  </a:rPr>
                                  <m:t>𝑖</m:t>
                                </m:r>
                              </m:sub>
                            </m:sSub>
                            <m:r>
                              <a:rPr lang="en-US" sz="1100" b="0" i="1" u="none">
                                <a:solidFill>
                                  <a:schemeClr val="accent6"/>
                                </a:solidFill>
                                <a:latin typeface="Cambria Math" panose="02040503050406030204" pitchFamily="18" charset="0"/>
                              </a:rPr>
                              <m:t>−</m:t>
                            </m:r>
                            <m:bar>
                              <m:barPr>
                                <m:pos m:val="top"/>
                                <m:ctrlPr>
                                  <a:rPr lang="en-US" sz="1100" b="0" i="1" u="none">
                                    <a:solidFill>
                                      <a:schemeClr val="accent6"/>
                                    </a:solidFill>
                                    <a:latin typeface="Cambria Math" panose="02040503050406030204" pitchFamily="18" charset="0"/>
                                  </a:rPr>
                                </m:ctrlPr>
                              </m:barPr>
                              <m:e>
                                <m:r>
                                  <a:rPr lang="en-US" sz="1100" b="0" i="1" u="none">
                                    <a:solidFill>
                                      <a:schemeClr val="accent6"/>
                                    </a:solidFill>
                                    <a:latin typeface="Cambria Math" panose="02040503050406030204" pitchFamily="18" charset="0"/>
                                  </a:rPr>
                                  <m:t>𝑥</m:t>
                                </m:r>
                              </m:e>
                            </m:bar>
                            <m:sSup>
                              <m:sSupPr>
                                <m:ctrlPr>
                                  <a:rPr lang="en-US" sz="1100" b="0" i="1" u="none">
                                    <a:solidFill>
                                      <a:schemeClr val="accent6"/>
                                    </a:solidFill>
                                    <a:latin typeface="Cambria Math" panose="02040503050406030204" pitchFamily="18" charset="0"/>
                                  </a:rPr>
                                </m:ctrlPr>
                              </m:sSupPr>
                              <m:e>
                                <m:r>
                                  <a:rPr lang="en-US" sz="1100" b="0" i="1" u="none">
                                    <a:solidFill>
                                      <a:schemeClr val="accent6"/>
                                    </a:solidFill>
                                    <a:latin typeface="Cambria Math" panose="02040503050406030204" pitchFamily="18" charset="0"/>
                                  </a:rPr>
                                  <m:t>)</m:t>
                                </m:r>
                              </m:e>
                              <m:sup>
                                <m:r>
                                  <a:rPr lang="en-US" sz="1100" b="0" i="1" u="none">
                                    <a:solidFill>
                                      <a:schemeClr val="accent6"/>
                                    </a:solidFill>
                                    <a:latin typeface="Cambria Math" panose="02040503050406030204" pitchFamily="18" charset="0"/>
                                  </a:rPr>
                                  <m:t>2</m:t>
                                </m:r>
                              </m:sup>
                            </m:sSup>
                          </m:e>
                        </m:nary>
                      </m:num>
                      <m:den>
                        <m:r>
                          <a:rPr lang="en-US" sz="1100" b="0" i="1" u="none">
                            <a:solidFill>
                              <a:schemeClr val="accent6"/>
                            </a:solidFill>
                            <a:latin typeface="Cambria Math" panose="02040503050406030204" pitchFamily="18" charset="0"/>
                          </a:rPr>
                          <m:t>𝑁</m:t>
                        </m:r>
                      </m:den>
                    </m:f>
                  </m:oMath>
                </a14:m>
                <a:r>
                  <a:rPr lang="en-US" sz="1100" b="0" u="none" dirty="0">
                    <a:solidFill>
                      <a:schemeClr val="bg1">
                        <a:lumMod val="50000"/>
                      </a:schemeClr>
                    </a:solidFill>
                    <a:cs typeface="Arial" panose="020B0604020202020204" pitchFamily="34" charset="0"/>
                  </a:rPr>
                  <a:t> </a:t>
                </a:r>
                <a:r>
                  <a:rPr lang="en-US" sz="1100" b="0" u="none" dirty="0">
                    <a:solidFill>
                      <a:schemeClr val="accent6"/>
                    </a:solidFill>
                    <a:cs typeface="Arial" panose="020B0604020202020204" pitchFamily="34" charset="0"/>
                  </a:rPr>
                  <a:t>while the variance of a sample is </a:t>
                </a:r>
                <a14:m>
                  <m:oMath xmlns:m="http://schemas.openxmlformats.org/officeDocument/2006/math">
                    <m:sSup>
                      <m:sSupPr>
                        <m:ctrlPr>
                          <a:rPr lang="en-US" sz="1100" b="0" i="1" u="none" dirty="0" smtClean="0">
                            <a:solidFill>
                              <a:srgbClr val="00B0F0"/>
                            </a:solidFill>
                            <a:latin typeface="Cambria Math" panose="02040503050406030204" pitchFamily="18" charset="0"/>
                          </a:rPr>
                        </m:ctrlPr>
                      </m:sSupPr>
                      <m:e>
                        <m:acc>
                          <m:accPr>
                            <m:chr m:val="̂"/>
                            <m:ctrlPr>
                              <a:rPr lang="en-US" sz="1100" b="0" i="1" u="none" smtClean="0">
                                <a:solidFill>
                                  <a:srgbClr val="00B0F0"/>
                                </a:solidFill>
                                <a:latin typeface="Cambria Math" panose="02040503050406030204" pitchFamily="18" charset="0"/>
                              </a:rPr>
                            </m:ctrlPr>
                          </m:accPr>
                          <m:e>
                            <m:r>
                              <a:rPr lang="en-US" sz="1100" b="0" i="1" u="none">
                                <a:solidFill>
                                  <a:srgbClr val="00B0F0"/>
                                </a:solidFill>
                                <a:latin typeface="Cambria Math" panose="02040503050406030204" pitchFamily="18" charset="0"/>
                              </a:rPr>
                              <m:t>𝜎</m:t>
                            </m:r>
                          </m:e>
                        </m:acc>
                      </m:e>
                      <m:sup>
                        <m:r>
                          <a:rPr lang="en-US" sz="1100" b="0" i="1" u="none" dirty="0" smtClean="0">
                            <a:solidFill>
                              <a:srgbClr val="00B0F0"/>
                            </a:solidFill>
                            <a:latin typeface="Cambria Math" panose="02040503050406030204" pitchFamily="18" charset="0"/>
                          </a:rPr>
                          <m:t>2</m:t>
                        </m:r>
                      </m:sup>
                    </m:sSup>
                    <m:r>
                      <a:rPr lang="en-US" sz="1100" b="0" i="1" u="none" smtClean="0">
                        <a:solidFill>
                          <a:srgbClr val="FF0000"/>
                        </a:solidFill>
                        <a:latin typeface="Cambria Math" panose="02040503050406030204" pitchFamily="18" charset="0"/>
                      </a:rPr>
                      <m:t> </m:t>
                    </m:r>
                    <m:r>
                      <a:rPr lang="en-US" sz="1100" b="0" i="1" u="none">
                        <a:solidFill>
                          <a:schemeClr val="accent6"/>
                        </a:solidFill>
                        <a:latin typeface="Cambria Math" panose="02040503050406030204" pitchFamily="18" charset="0"/>
                      </a:rPr>
                      <m:t>=</m:t>
                    </m:r>
                    <m:f>
                      <m:fPr>
                        <m:ctrlPr>
                          <a:rPr lang="en-US" sz="1100" b="0" i="1" u="none">
                            <a:solidFill>
                              <a:schemeClr val="accent6"/>
                            </a:solidFill>
                            <a:latin typeface="Cambria Math" panose="02040503050406030204" pitchFamily="18" charset="0"/>
                          </a:rPr>
                        </m:ctrlPr>
                      </m:fPr>
                      <m:num>
                        <m:nary>
                          <m:naryPr>
                            <m:chr m:val="∑"/>
                            <m:ctrlPr>
                              <a:rPr lang="en-US" sz="1100" b="0" i="1" u="none">
                                <a:solidFill>
                                  <a:schemeClr val="accent6"/>
                                </a:solidFill>
                                <a:latin typeface="Cambria Math" panose="02040503050406030204" pitchFamily="18" charset="0"/>
                              </a:rPr>
                            </m:ctrlPr>
                          </m:naryPr>
                          <m:sub>
                            <m:r>
                              <a:rPr lang="en-US" sz="1100" b="0" i="1" u="none">
                                <a:solidFill>
                                  <a:schemeClr val="accent6"/>
                                </a:solidFill>
                                <a:latin typeface="Cambria Math" panose="02040503050406030204" pitchFamily="18" charset="0"/>
                              </a:rPr>
                              <m:t>𝑖</m:t>
                            </m:r>
                            <m:r>
                              <a:rPr lang="en-US" sz="1100" b="0" i="1" u="none">
                                <a:solidFill>
                                  <a:schemeClr val="accent6"/>
                                </a:solidFill>
                                <a:latin typeface="Cambria Math" panose="02040503050406030204" pitchFamily="18" charset="0"/>
                              </a:rPr>
                              <m:t>=</m:t>
                            </m:r>
                            <m:r>
                              <a:rPr lang="en-US" sz="1100" b="0" i="1" u="none">
                                <a:solidFill>
                                  <a:schemeClr val="accent6"/>
                                </a:solidFill>
                                <a:latin typeface="Cambria Math" panose="02040503050406030204" pitchFamily="18" charset="0"/>
                              </a:rPr>
                              <m:t>1</m:t>
                            </m:r>
                          </m:sub>
                          <m:sup>
                            <m:r>
                              <a:rPr lang="en-US" sz="1100" b="0" i="1" u="none">
                                <a:solidFill>
                                  <a:schemeClr val="accent6"/>
                                </a:solidFill>
                                <a:latin typeface="Cambria Math" panose="02040503050406030204" pitchFamily="18" charset="0"/>
                              </a:rPr>
                              <m:t>𝑁</m:t>
                            </m:r>
                          </m:sup>
                          <m:e>
                            <m:r>
                              <a:rPr lang="en-US" sz="1100" b="0" i="1" u="none">
                                <a:solidFill>
                                  <a:schemeClr val="accent6"/>
                                </a:solidFill>
                                <a:latin typeface="Cambria Math" panose="02040503050406030204" pitchFamily="18" charset="0"/>
                              </a:rPr>
                              <m:t>(</m:t>
                            </m:r>
                            <m:sSub>
                              <m:sSubPr>
                                <m:ctrlPr>
                                  <a:rPr lang="en-US" sz="1100" b="0" i="1" u="none">
                                    <a:solidFill>
                                      <a:schemeClr val="accent6"/>
                                    </a:solidFill>
                                    <a:latin typeface="Cambria Math" panose="02040503050406030204" pitchFamily="18" charset="0"/>
                                  </a:rPr>
                                </m:ctrlPr>
                              </m:sSubPr>
                              <m:e>
                                <m:r>
                                  <a:rPr lang="en-US" sz="1100" b="0" i="1" u="none">
                                    <a:solidFill>
                                      <a:schemeClr val="accent6"/>
                                    </a:solidFill>
                                    <a:latin typeface="Cambria Math" panose="02040503050406030204" pitchFamily="18" charset="0"/>
                                  </a:rPr>
                                  <m:t>𝑥</m:t>
                                </m:r>
                              </m:e>
                              <m:sub>
                                <m:r>
                                  <a:rPr lang="en-US" sz="1100" b="0" i="1" u="none">
                                    <a:solidFill>
                                      <a:schemeClr val="accent6"/>
                                    </a:solidFill>
                                    <a:latin typeface="Cambria Math" panose="02040503050406030204" pitchFamily="18" charset="0"/>
                                  </a:rPr>
                                  <m:t>𝑖</m:t>
                                </m:r>
                              </m:sub>
                            </m:sSub>
                            <m:r>
                              <a:rPr lang="en-US" sz="1100" b="0" i="1" u="none">
                                <a:solidFill>
                                  <a:schemeClr val="accent6"/>
                                </a:solidFill>
                                <a:latin typeface="Cambria Math" panose="02040503050406030204" pitchFamily="18" charset="0"/>
                              </a:rPr>
                              <m:t>−</m:t>
                            </m:r>
                            <m:bar>
                              <m:barPr>
                                <m:pos m:val="top"/>
                                <m:ctrlPr>
                                  <a:rPr lang="en-US" sz="1100" b="0" i="1" u="none">
                                    <a:solidFill>
                                      <a:schemeClr val="accent6"/>
                                    </a:solidFill>
                                    <a:latin typeface="Cambria Math" panose="02040503050406030204" pitchFamily="18" charset="0"/>
                                  </a:rPr>
                                </m:ctrlPr>
                              </m:barPr>
                              <m:e>
                                <m:r>
                                  <a:rPr lang="en-US" sz="1100" b="0" i="1" u="none">
                                    <a:solidFill>
                                      <a:schemeClr val="accent6"/>
                                    </a:solidFill>
                                    <a:latin typeface="Cambria Math" panose="02040503050406030204" pitchFamily="18" charset="0"/>
                                  </a:rPr>
                                  <m:t>𝑥</m:t>
                                </m:r>
                              </m:e>
                            </m:bar>
                            <m:sSup>
                              <m:sSupPr>
                                <m:ctrlPr>
                                  <a:rPr lang="en-US" sz="1100" b="0" i="1" u="none">
                                    <a:solidFill>
                                      <a:schemeClr val="accent6"/>
                                    </a:solidFill>
                                    <a:latin typeface="Cambria Math" panose="02040503050406030204" pitchFamily="18" charset="0"/>
                                  </a:rPr>
                                </m:ctrlPr>
                              </m:sSupPr>
                              <m:e>
                                <m:r>
                                  <a:rPr lang="en-US" sz="1100" b="0" i="1" u="none">
                                    <a:solidFill>
                                      <a:schemeClr val="accent6"/>
                                    </a:solidFill>
                                    <a:latin typeface="Cambria Math" panose="02040503050406030204" pitchFamily="18" charset="0"/>
                                  </a:rPr>
                                  <m:t>)</m:t>
                                </m:r>
                              </m:e>
                              <m:sup>
                                <m:r>
                                  <a:rPr lang="en-US" sz="1100" b="0" i="1" u="none">
                                    <a:solidFill>
                                      <a:schemeClr val="accent6"/>
                                    </a:solidFill>
                                    <a:latin typeface="Cambria Math" panose="02040503050406030204" pitchFamily="18" charset="0"/>
                                  </a:rPr>
                                  <m:t>2</m:t>
                                </m:r>
                              </m:sup>
                            </m:sSup>
                          </m:e>
                        </m:nary>
                      </m:num>
                      <m:den>
                        <m:r>
                          <a:rPr lang="en-US" sz="1100" b="0" i="1" u="none">
                            <a:solidFill>
                              <a:schemeClr val="accent6"/>
                            </a:solidFill>
                            <a:latin typeface="Cambria Math" panose="02040503050406030204" pitchFamily="18" charset="0"/>
                          </a:rPr>
                          <m:t>𝑁</m:t>
                        </m:r>
                        <m:r>
                          <a:rPr lang="en-US" sz="1100" b="0" i="1" u="none">
                            <a:solidFill>
                              <a:schemeClr val="accent6"/>
                            </a:solidFill>
                            <a:latin typeface="Cambria Math" panose="02040503050406030204" pitchFamily="18" charset="0"/>
                          </a:rPr>
                          <m:t>−</m:t>
                        </m:r>
                        <m:r>
                          <a:rPr lang="en-US" sz="1100" b="0" i="1" u="none">
                            <a:solidFill>
                              <a:schemeClr val="accent6"/>
                            </a:solidFill>
                            <a:latin typeface="Cambria Math" panose="02040503050406030204" pitchFamily="18" charset="0"/>
                          </a:rPr>
                          <m:t>1</m:t>
                        </m:r>
                      </m:den>
                    </m:f>
                  </m:oMath>
                </a14:m>
                <a:r>
                  <a:rPr lang="en-US" sz="1100" b="0" u="none" dirty="0">
                    <a:solidFill>
                      <a:schemeClr val="accent6"/>
                    </a:solidFill>
                    <a:cs typeface="Arial" pitchFamily="34" charset="0"/>
                  </a:rPr>
                  <a:t> </a:t>
                </a:r>
              </a:p>
            </p:txBody>
          </p:sp>
        </mc:Choice>
        <mc:Fallback xmlns="">
          <p:sp>
            <p:nvSpPr>
              <p:cNvPr id="17" name="TextBox 16">
                <a:extLst>
                  <a:ext uri="{FF2B5EF4-FFF2-40B4-BE49-F238E27FC236}">
                    <a16:creationId xmlns:a16="http://schemas.microsoft.com/office/drawing/2014/main" id="{3D7A25C0-5F8C-DECF-5719-7575CACB49BC}"/>
                  </a:ext>
                </a:extLst>
              </p:cNvPr>
              <p:cNvSpPr txBox="1">
                <a:spLocks noRot="1" noChangeAspect="1" noMove="1" noResize="1" noEditPoints="1" noAdjustHandles="1" noChangeArrowheads="1" noChangeShapeType="1" noTextEdit="1"/>
              </p:cNvSpPr>
              <p:nvPr/>
            </p:nvSpPr>
            <p:spPr>
              <a:xfrm>
                <a:off x="5530748" y="5889357"/>
                <a:ext cx="3556793" cy="817788"/>
              </a:xfrm>
              <a:prstGeom prst="rect">
                <a:avLst/>
              </a:prstGeom>
              <a:blipFill>
                <a:blip r:embed="rId12"/>
                <a:stretch>
                  <a:fillRect t="-741" b="-18519"/>
                </a:stretch>
              </a:blipFill>
              <a:ln w="3175">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58691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EDE42-7B7F-FD6A-66EF-958E8C8A646B}"/>
              </a:ext>
            </a:extLst>
          </p:cNvPr>
          <p:cNvSpPr>
            <a:spLocks noGrp="1"/>
          </p:cNvSpPr>
          <p:nvPr>
            <p:ph type="title"/>
          </p:nvPr>
        </p:nvSpPr>
        <p:spPr/>
        <p:txBody>
          <a:bodyPr/>
          <a:lstStyle/>
          <a:p>
            <a:r>
              <a:rPr lang="en-US" dirty="0"/>
              <a:t>Degrees of Freedom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EA6636-F708-AF15-2C4C-1BFB1D2E1513}"/>
                  </a:ext>
                </a:extLst>
              </p:cNvPr>
              <p:cNvSpPr>
                <a:spLocks noGrp="1"/>
              </p:cNvSpPr>
              <p:nvPr>
                <p:ph idx="1"/>
              </p:nvPr>
            </p:nvSpPr>
            <p:spPr/>
            <p:txBody>
              <a:bodyPr/>
              <a:lstStyle/>
              <a:p>
                <a:r>
                  <a:rPr lang="en-US" sz="1600" dirty="0"/>
                  <a:t>A sample has </a:t>
                </a:r>
                <a14:m>
                  <m:oMath xmlns:m="http://schemas.openxmlformats.org/officeDocument/2006/math">
                    <m:r>
                      <a:rPr lang="en-US" sz="1600" i="1" dirty="0" smtClean="0">
                        <a:latin typeface="Cambria Math" panose="02040503050406030204" pitchFamily="18" charset="0"/>
                      </a:rPr>
                      <m:t>𝑁</m:t>
                    </m:r>
                  </m:oMath>
                </a14:m>
                <a:r>
                  <a:rPr lang="en-US" sz="1600" dirty="0"/>
                  <a:t> observations, or </a:t>
                </a:r>
                <a14:m>
                  <m:oMath xmlns:m="http://schemas.openxmlformats.org/officeDocument/2006/math">
                    <m:r>
                      <a:rPr lang="en-US" sz="1600" i="1" dirty="0">
                        <a:latin typeface="Cambria Math" panose="02040503050406030204" pitchFamily="18" charset="0"/>
                      </a:rPr>
                      <m:t>𝑁</m:t>
                    </m:r>
                  </m:oMath>
                </a14:m>
                <a:r>
                  <a:rPr lang="en-US" sz="1600" dirty="0"/>
                  <a:t> pieces of information, and this information is used to estimate sample parameters like the mean </a:t>
                </a:r>
                <a14:m>
                  <m:oMath xmlns:m="http://schemas.openxmlformats.org/officeDocument/2006/math">
                    <m:acc>
                      <m:accPr>
                        <m:chr m:val="̅"/>
                        <m:ctrlPr>
                          <a:rPr lang="en-US" sz="1600" b="0" i="1" smtClean="0">
                            <a:solidFill>
                              <a:srgbClr val="00B0F0"/>
                            </a:solidFill>
                            <a:latin typeface="Cambria Math" panose="02040503050406030204" pitchFamily="18" charset="0"/>
                          </a:rPr>
                        </m:ctrlPr>
                      </m:accPr>
                      <m:e>
                        <m:r>
                          <a:rPr lang="en-US" sz="1600" b="0" i="1" smtClean="0">
                            <a:solidFill>
                              <a:srgbClr val="00B0F0"/>
                            </a:solidFill>
                            <a:latin typeface="Cambria Math" panose="02040503050406030204" pitchFamily="18" charset="0"/>
                          </a:rPr>
                          <m:t>𝑥</m:t>
                        </m:r>
                      </m:e>
                    </m:acc>
                    <m:r>
                      <a:rPr lang="en-US" sz="1600" b="0" i="1" smtClean="0">
                        <a:solidFill>
                          <a:schemeClr val="accent6"/>
                        </a:solidFill>
                        <a:latin typeface="Cambria Math" panose="02040503050406030204" pitchFamily="18" charset="0"/>
                      </a:rPr>
                      <m:t>=</m:t>
                    </m:r>
                    <m:f>
                      <m:fPr>
                        <m:ctrlPr>
                          <a:rPr lang="en-US" sz="1600" i="1" smtClean="0">
                            <a:solidFill>
                              <a:schemeClr val="accent6"/>
                            </a:solidFill>
                            <a:latin typeface="Cambria Math" panose="02040503050406030204" pitchFamily="18" charset="0"/>
                          </a:rPr>
                        </m:ctrlPr>
                      </m:fPr>
                      <m:num>
                        <m:nary>
                          <m:naryPr>
                            <m:chr m:val="∑"/>
                            <m:limLoc m:val="subSup"/>
                            <m:supHide m:val="on"/>
                            <m:ctrlPr>
                              <a:rPr lang="en-US" sz="1600" i="1" smtClean="0">
                                <a:solidFill>
                                  <a:schemeClr val="accent6"/>
                                </a:solidFill>
                                <a:latin typeface="Cambria Math" panose="02040503050406030204" pitchFamily="18" charset="0"/>
                              </a:rPr>
                            </m:ctrlPr>
                          </m:naryPr>
                          <m:sub>
                            <m:r>
                              <m:rPr>
                                <m:brk m:alnAt="9"/>
                              </m:rPr>
                              <a:rPr lang="en-US" sz="1600" b="0" i="1" smtClean="0">
                                <a:solidFill>
                                  <a:schemeClr val="accent6"/>
                                </a:solidFill>
                                <a:latin typeface="Cambria Math" panose="02040503050406030204" pitchFamily="18" charset="0"/>
                              </a:rPr>
                              <m:t>𝑖</m:t>
                            </m:r>
                          </m:sub>
                          <m:sup/>
                          <m:e>
                            <m:sSub>
                              <m:sSubPr>
                                <m:ctrlPr>
                                  <a:rPr lang="en-US" sz="1600" b="0" i="1" smtClean="0">
                                    <a:solidFill>
                                      <a:schemeClr val="accent6"/>
                                    </a:solidFill>
                                    <a:latin typeface="Cambria Math" panose="02040503050406030204" pitchFamily="18" charset="0"/>
                                  </a:rPr>
                                </m:ctrlPr>
                              </m:sSubPr>
                              <m:e>
                                <m:r>
                                  <a:rPr lang="en-US" sz="1600" b="0" i="1" smtClean="0">
                                    <a:solidFill>
                                      <a:schemeClr val="accent6"/>
                                    </a:solidFill>
                                    <a:latin typeface="Cambria Math" panose="02040503050406030204" pitchFamily="18" charset="0"/>
                                  </a:rPr>
                                  <m:t>𝑥</m:t>
                                </m:r>
                              </m:e>
                              <m:sub>
                                <m:r>
                                  <a:rPr lang="en-US" sz="1600" b="0" i="1" smtClean="0">
                                    <a:solidFill>
                                      <a:schemeClr val="accent6"/>
                                    </a:solidFill>
                                    <a:latin typeface="Cambria Math" panose="02040503050406030204" pitchFamily="18" charset="0"/>
                                  </a:rPr>
                                  <m:t>𝑖</m:t>
                                </m:r>
                              </m:sub>
                            </m:sSub>
                          </m:e>
                        </m:nary>
                      </m:num>
                      <m:den>
                        <m:r>
                          <a:rPr lang="en-US" sz="1600" b="0" i="1" smtClean="0">
                            <a:solidFill>
                              <a:schemeClr val="accent6"/>
                            </a:solidFill>
                            <a:latin typeface="Cambria Math" panose="02040503050406030204" pitchFamily="18" charset="0"/>
                          </a:rPr>
                          <m:t>𝑁</m:t>
                        </m:r>
                      </m:den>
                    </m:f>
                  </m:oMath>
                </a14:m>
                <a:endParaRPr lang="en-US" sz="1600" dirty="0">
                  <a:solidFill>
                    <a:schemeClr val="accent6"/>
                  </a:solidFill>
                </a:endParaRPr>
              </a:p>
              <a:p>
                <a:endParaRPr lang="en-US" sz="1600" dirty="0"/>
              </a:p>
              <a:p>
                <a:r>
                  <a:rPr lang="en-US" sz="1600" dirty="0"/>
                  <a:t>Each piece of information is referred to as a “degree of freedom”</a:t>
                </a:r>
              </a:p>
              <a:p>
                <a:endParaRPr lang="en-US" sz="1600" dirty="0"/>
              </a:p>
              <a:p>
                <a:r>
                  <a:rPr lang="en-US" sz="1600" dirty="0"/>
                  <a:t>We use </a:t>
                </a:r>
                <a14:m>
                  <m:oMath xmlns:m="http://schemas.openxmlformats.org/officeDocument/2006/math">
                    <m:acc>
                      <m:accPr>
                        <m:chr m:val="̅"/>
                        <m:ctrlPr>
                          <a:rPr lang="en-US" sz="1600" i="1">
                            <a:solidFill>
                              <a:srgbClr val="00B0F0"/>
                            </a:solidFill>
                            <a:latin typeface="Cambria Math" panose="02040503050406030204" pitchFamily="18" charset="0"/>
                          </a:rPr>
                        </m:ctrlPr>
                      </m:accPr>
                      <m:e>
                        <m:r>
                          <a:rPr lang="en-US" sz="1600" i="1">
                            <a:solidFill>
                              <a:srgbClr val="00B0F0"/>
                            </a:solidFill>
                            <a:latin typeface="Cambria Math" panose="02040503050406030204" pitchFamily="18" charset="0"/>
                          </a:rPr>
                          <m:t>𝑥</m:t>
                        </m:r>
                      </m:e>
                    </m:acc>
                    <m:r>
                      <a:rPr lang="en-US" sz="1600" i="1">
                        <a:solidFill>
                          <a:srgbClr val="00B0F0"/>
                        </a:solidFill>
                        <a:latin typeface="Cambria Math" panose="02040503050406030204" pitchFamily="18" charset="0"/>
                      </a:rPr>
                      <m:t> </m:t>
                    </m:r>
                  </m:oMath>
                </a14:m>
                <a:r>
                  <a:rPr lang="en-US" sz="1600" dirty="0"/>
                  <a:t> to compute the sample standard deviation </a:t>
                </a:r>
                <a14:m>
                  <m:oMath xmlns:m="http://schemas.openxmlformats.org/officeDocument/2006/math">
                    <m:acc>
                      <m:accPr>
                        <m:chr m:val="̂"/>
                        <m:ctrlPr>
                          <a:rPr lang="en-US" sz="1600" b="0" i="1" smtClean="0">
                            <a:solidFill>
                              <a:srgbClr val="00B0F0"/>
                            </a:solidFill>
                            <a:latin typeface="Cambria Math" panose="02040503050406030204" pitchFamily="18" charset="0"/>
                          </a:rPr>
                        </m:ctrlPr>
                      </m:accPr>
                      <m:e>
                        <m:r>
                          <a:rPr lang="en-US" sz="1600" b="0" i="1" smtClean="0">
                            <a:solidFill>
                              <a:srgbClr val="00B0F0"/>
                            </a:solidFill>
                            <a:latin typeface="Cambria Math" panose="02040503050406030204" pitchFamily="18" charset="0"/>
                          </a:rPr>
                          <m:t>𝜎</m:t>
                        </m:r>
                      </m:e>
                    </m:acc>
                    <m:r>
                      <a:rPr lang="en-US" sz="1600" i="1">
                        <a:solidFill>
                          <a:schemeClr val="accent6"/>
                        </a:solidFill>
                        <a:latin typeface="Cambria Math" panose="02040503050406030204" pitchFamily="18" charset="0"/>
                      </a:rPr>
                      <m:t>=</m:t>
                    </m:r>
                    <m:rad>
                      <m:radPr>
                        <m:degHide m:val="on"/>
                        <m:ctrlPr>
                          <a:rPr lang="en-US" sz="1600" i="1">
                            <a:solidFill>
                              <a:schemeClr val="accent6"/>
                            </a:solidFill>
                            <a:latin typeface="Cambria Math" panose="02040503050406030204" pitchFamily="18" charset="0"/>
                          </a:rPr>
                        </m:ctrlPr>
                      </m:radPr>
                      <m:deg/>
                      <m:e>
                        <m:f>
                          <m:fPr>
                            <m:ctrlPr>
                              <a:rPr lang="en-US" sz="1600" i="1">
                                <a:solidFill>
                                  <a:schemeClr val="accent6"/>
                                </a:solidFill>
                                <a:latin typeface="Cambria Math" panose="02040503050406030204" pitchFamily="18" charset="0"/>
                              </a:rPr>
                            </m:ctrlPr>
                          </m:fPr>
                          <m:num>
                            <m:nary>
                              <m:naryPr>
                                <m:chr m:val="∑"/>
                                <m:ctrlPr>
                                  <a:rPr lang="en-US" sz="1600" i="1">
                                    <a:solidFill>
                                      <a:schemeClr val="accent6"/>
                                    </a:solidFill>
                                    <a:latin typeface="Cambria Math" panose="02040503050406030204" pitchFamily="18" charset="0"/>
                                  </a:rPr>
                                </m:ctrlPr>
                              </m:naryPr>
                              <m:sub>
                                <m:r>
                                  <a:rPr lang="en-US" sz="1600" i="1">
                                    <a:solidFill>
                                      <a:schemeClr val="accent6"/>
                                    </a:solidFill>
                                    <a:latin typeface="Cambria Math" panose="02040503050406030204" pitchFamily="18" charset="0"/>
                                  </a:rPr>
                                  <m:t>𝑖</m:t>
                                </m:r>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1</m:t>
                                </m:r>
                              </m:sub>
                              <m:sup>
                                <m:r>
                                  <a:rPr lang="en-US" sz="1600" i="1">
                                    <a:solidFill>
                                      <a:schemeClr val="accent6"/>
                                    </a:solidFill>
                                    <a:latin typeface="Cambria Math" panose="02040503050406030204" pitchFamily="18" charset="0"/>
                                  </a:rPr>
                                  <m:t>𝑁</m:t>
                                </m:r>
                              </m:sup>
                              <m:e>
                                <m:r>
                                  <a:rPr lang="en-US" sz="1600" i="1">
                                    <a:solidFill>
                                      <a:schemeClr val="accent6"/>
                                    </a:solidFill>
                                    <a:latin typeface="Cambria Math" panose="02040503050406030204" pitchFamily="18" charset="0"/>
                                  </a:rPr>
                                  <m:t>(</m:t>
                                </m:r>
                                <m:sSub>
                                  <m:sSubPr>
                                    <m:ctrlPr>
                                      <a:rPr lang="en-US" sz="1600" i="1">
                                        <a:solidFill>
                                          <a:schemeClr val="accent6"/>
                                        </a:solidFill>
                                        <a:latin typeface="Cambria Math" panose="02040503050406030204" pitchFamily="18" charset="0"/>
                                      </a:rPr>
                                    </m:ctrlPr>
                                  </m:sSubPr>
                                  <m:e>
                                    <m:r>
                                      <a:rPr lang="en-US" sz="1600" i="1">
                                        <a:solidFill>
                                          <a:schemeClr val="accent6"/>
                                        </a:solidFill>
                                        <a:latin typeface="Cambria Math" panose="02040503050406030204" pitchFamily="18" charset="0"/>
                                      </a:rPr>
                                      <m:t>𝑥</m:t>
                                    </m:r>
                                  </m:e>
                                  <m:sub>
                                    <m:r>
                                      <a:rPr lang="en-US" sz="1600" i="1">
                                        <a:solidFill>
                                          <a:schemeClr val="accent6"/>
                                        </a:solidFill>
                                        <a:latin typeface="Cambria Math" panose="02040503050406030204" pitchFamily="18" charset="0"/>
                                      </a:rPr>
                                      <m:t>𝑖</m:t>
                                    </m:r>
                                  </m:sub>
                                </m:sSub>
                                <m:r>
                                  <a:rPr lang="en-US" sz="1600" i="1">
                                    <a:solidFill>
                                      <a:schemeClr val="accent6"/>
                                    </a:solidFill>
                                    <a:latin typeface="Cambria Math" panose="02040503050406030204" pitchFamily="18" charset="0"/>
                                  </a:rPr>
                                  <m:t>−</m:t>
                                </m:r>
                                <m:bar>
                                  <m:barPr>
                                    <m:pos m:val="top"/>
                                    <m:ctrlPr>
                                      <a:rPr lang="en-US" sz="1600" i="1" smtClean="0">
                                        <a:solidFill>
                                          <a:srgbClr val="00B0F0"/>
                                        </a:solidFill>
                                        <a:latin typeface="Cambria Math" panose="02040503050406030204" pitchFamily="18" charset="0"/>
                                      </a:rPr>
                                    </m:ctrlPr>
                                  </m:barPr>
                                  <m:e>
                                    <m:r>
                                      <a:rPr lang="en-US" sz="1600" i="1">
                                        <a:solidFill>
                                          <a:srgbClr val="00B0F0"/>
                                        </a:solidFill>
                                        <a:latin typeface="Cambria Math" panose="02040503050406030204" pitchFamily="18" charset="0"/>
                                      </a:rPr>
                                      <m:t>𝑥</m:t>
                                    </m:r>
                                  </m:e>
                                </m:bar>
                                <m:sSup>
                                  <m:sSupPr>
                                    <m:ctrlPr>
                                      <a:rPr lang="en-US" sz="1600" i="1">
                                        <a:solidFill>
                                          <a:schemeClr val="accent6"/>
                                        </a:solidFill>
                                        <a:latin typeface="Cambria Math" panose="02040503050406030204" pitchFamily="18" charset="0"/>
                                      </a:rPr>
                                    </m:ctrlPr>
                                  </m:sSupPr>
                                  <m:e>
                                    <m:r>
                                      <a:rPr lang="en-US" sz="1600" i="1">
                                        <a:solidFill>
                                          <a:schemeClr val="accent6"/>
                                        </a:solidFill>
                                        <a:latin typeface="Cambria Math" panose="02040503050406030204" pitchFamily="18" charset="0"/>
                                      </a:rPr>
                                      <m:t>)</m:t>
                                    </m:r>
                                  </m:e>
                                  <m:sup>
                                    <m:r>
                                      <a:rPr lang="en-US" sz="1600" i="1">
                                        <a:solidFill>
                                          <a:schemeClr val="accent6"/>
                                        </a:solidFill>
                                        <a:latin typeface="Cambria Math" panose="02040503050406030204" pitchFamily="18" charset="0"/>
                                      </a:rPr>
                                      <m:t>2</m:t>
                                    </m:r>
                                  </m:sup>
                                </m:sSup>
                              </m:e>
                            </m:nary>
                          </m:num>
                          <m:den>
                            <m:r>
                              <a:rPr lang="en-US" sz="1600" i="1">
                                <a:solidFill>
                                  <a:schemeClr val="accent6"/>
                                </a:solidFill>
                                <a:latin typeface="Cambria Math" panose="02040503050406030204" pitchFamily="18" charset="0"/>
                              </a:rPr>
                              <m:t>𝑁</m:t>
                            </m:r>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1</m:t>
                            </m:r>
                          </m:den>
                        </m:f>
                      </m:e>
                    </m:rad>
                  </m:oMath>
                </a14:m>
                <a:r>
                  <a:rPr lang="en-US" sz="1600" dirty="0"/>
                  <a:t>. Because of that, there are only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“free” deviations in the numerator. Why? Because once you know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deviations, you can figure out the last one using the equation for the mean, </a:t>
                </a:r>
                <a14:m>
                  <m:oMath xmlns:m="http://schemas.openxmlformats.org/officeDocument/2006/math">
                    <m:nary>
                      <m:naryPr>
                        <m:chr m:val="∑"/>
                        <m:ctrlPr>
                          <a:rPr lang="en-US" sz="1600" i="1">
                            <a:solidFill>
                              <a:schemeClr val="accent6"/>
                            </a:solidFill>
                            <a:latin typeface="Cambria Math" panose="02040503050406030204" pitchFamily="18" charset="0"/>
                          </a:rPr>
                        </m:ctrlPr>
                      </m:naryPr>
                      <m:sub>
                        <m:r>
                          <a:rPr lang="en-US" sz="1600" i="1">
                            <a:solidFill>
                              <a:schemeClr val="accent6"/>
                            </a:solidFill>
                            <a:latin typeface="Cambria Math" panose="02040503050406030204" pitchFamily="18" charset="0"/>
                          </a:rPr>
                          <m:t>𝑖</m:t>
                        </m:r>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1</m:t>
                        </m:r>
                      </m:sub>
                      <m:sup>
                        <m:r>
                          <a:rPr lang="en-US" sz="1600" i="1">
                            <a:solidFill>
                              <a:schemeClr val="accent6"/>
                            </a:solidFill>
                            <a:latin typeface="Cambria Math" panose="02040503050406030204" pitchFamily="18" charset="0"/>
                          </a:rPr>
                          <m:t>𝑁</m:t>
                        </m:r>
                      </m:sup>
                      <m:e>
                        <m:sSub>
                          <m:sSubPr>
                            <m:ctrlPr>
                              <a:rPr lang="en-US" sz="1600" i="1">
                                <a:solidFill>
                                  <a:schemeClr val="accent6"/>
                                </a:solidFill>
                                <a:latin typeface="Cambria Math" panose="02040503050406030204" pitchFamily="18" charset="0"/>
                              </a:rPr>
                            </m:ctrlPr>
                          </m:sSubPr>
                          <m:e>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𝑥</m:t>
                            </m:r>
                          </m:e>
                          <m:sub>
                            <m:r>
                              <a:rPr lang="en-US" sz="1600" i="1">
                                <a:solidFill>
                                  <a:schemeClr val="accent6"/>
                                </a:solidFill>
                                <a:latin typeface="Cambria Math" panose="02040503050406030204" pitchFamily="18" charset="0"/>
                              </a:rPr>
                              <m:t>𝑖</m:t>
                            </m:r>
                          </m:sub>
                        </m:sSub>
                        <m:r>
                          <a:rPr lang="en-US" sz="1600" i="1">
                            <a:solidFill>
                              <a:schemeClr val="accent6"/>
                            </a:solidFill>
                            <a:latin typeface="Cambria Math" panose="02040503050406030204" pitchFamily="18" charset="0"/>
                          </a:rPr>
                          <m:t>−</m:t>
                        </m:r>
                        <m:bar>
                          <m:barPr>
                            <m:pos m:val="top"/>
                            <m:ctrlPr>
                              <a:rPr lang="en-US" sz="1600" i="1">
                                <a:solidFill>
                                  <a:srgbClr val="00B0F0"/>
                                </a:solidFill>
                                <a:latin typeface="Cambria Math" panose="02040503050406030204" pitchFamily="18" charset="0"/>
                              </a:rPr>
                            </m:ctrlPr>
                          </m:barPr>
                          <m:e>
                            <m:r>
                              <a:rPr lang="en-US" sz="1600" i="1">
                                <a:solidFill>
                                  <a:srgbClr val="00B0F0"/>
                                </a:solidFill>
                                <a:latin typeface="Cambria Math" panose="02040503050406030204" pitchFamily="18" charset="0"/>
                              </a:rPr>
                              <m:t>𝑥</m:t>
                            </m:r>
                          </m:e>
                        </m:bar>
                        <m:r>
                          <a:rPr lang="en-US" sz="1600" i="1">
                            <a:solidFill>
                              <a:schemeClr val="accent6"/>
                            </a:solidFill>
                            <a:latin typeface="Cambria Math" panose="02040503050406030204" pitchFamily="18" charset="0"/>
                          </a:rPr>
                          <m:t>)</m:t>
                        </m:r>
                      </m:e>
                    </m:nary>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0</m:t>
                    </m:r>
                  </m:oMath>
                </a14:m>
                <a:r>
                  <a:rPr lang="en-US" sz="1600" dirty="0"/>
                  <a:t>. So, the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deviations in the numerator are “standardized” by dividing by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in the denominator. </a:t>
                </a:r>
              </a:p>
              <a:p>
                <a:endParaRPr lang="en-US" sz="1600" dirty="0"/>
              </a:p>
              <a:p>
                <a:r>
                  <a:rPr lang="en-US" sz="1600" dirty="0"/>
                  <a:t>Can you see that dividing by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is more conservative than dividing by </a:t>
                </a:r>
                <a14:m>
                  <m:oMath xmlns:m="http://schemas.openxmlformats.org/officeDocument/2006/math">
                    <m:r>
                      <a:rPr lang="en-US" sz="1600" b="0" i="1" smtClean="0">
                        <a:latin typeface="Cambria Math" panose="02040503050406030204" pitchFamily="18" charset="0"/>
                      </a:rPr>
                      <m:t>𝑁</m:t>
                    </m:r>
                  </m:oMath>
                </a14:m>
                <a:r>
                  <a:rPr lang="en-US" sz="1600" dirty="0"/>
                  <a:t>, because it makes </a:t>
                </a:r>
                <a14:m>
                  <m:oMath xmlns:m="http://schemas.openxmlformats.org/officeDocument/2006/math">
                    <m:acc>
                      <m:accPr>
                        <m:chr m:val="̂"/>
                        <m:ctrlPr>
                          <a:rPr lang="en-US" sz="1600" i="1">
                            <a:solidFill>
                              <a:srgbClr val="00B0F0"/>
                            </a:solidFill>
                            <a:latin typeface="Cambria Math" panose="02040503050406030204" pitchFamily="18" charset="0"/>
                          </a:rPr>
                        </m:ctrlPr>
                      </m:accPr>
                      <m:e>
                        <m:r>
                          <a:rPr lang="en-US" sz="1600" i="1">
                            <a:solidFill>
                              <a:srgbClr val="00B0F0"/>
                            </a:solidFill>
                            <a:latin typeface="Cambria Math" panose="02040503050406030204" pitchFamily="18" charset="0"/>
                          </a:rPr>
                          <m:t>𝜎</m:t>
                        </m:r>
                      </m:e>
                    </m:acc>
                    <m:r>
                      <a:rPr lang="en-US" sz="1600" i="1">
                        <a:solidFill>
                          <a:srgbClr val="00B0F0"/>
                        </a:solidFill>
                        <a:latin typeface="Cambria Math" panose="02040503050406030204" pitchFamily="18" charset="0"/>
                      </a:rPr>
                      <m:t> </m:t>
                    </m:r>
                  </m:oMath>
                </a14:m>
                <a:r>
                  <a:rPr lang="en-US" sz="1600" dirty="0"/>
                  <a:t>slightly larger. Here, too, this reflects the fact that we lose a piece of information (compared to using the population) when we use the sample</a:t>
                </a:r>
              </a:p>
              <a:p>
                <a:r>
                  <a:rPr lang="en-US" sz="1600" dirty="0"/>
                  <a:t>By contrast, the population standard deviation </a:t>
                </a:r>
                <a14:m>
                  <m:oMath xmlns:m="http://schemas.openxmlformats.org/officeDocument/2006/math">
                    <m:r>
                      <a:rPr lang="en-US" sz="1600" i="1" smtClean="0">
                        <a:solidFill>
                          <a:srgbClr val="FF0000"/>
                        </a:solidFill>
                        <a:latin typeface="Cambria Math" panose="02040503050406030204" pitchFamily="18" charset="0"/>
                      </a:rPr>
                      <m:t>𝜎</m:t>
                    </m:r>
                    <m:r>
                      <a:rPr lang="en-US" sz="1600" i="1">
                        <a:solidFill>
                          <a:schemeClr val="accent6"/>
                        </a:solidFill>
                        <a:latin typeface="Cambria Math" panose="02040503050406030204" pitchFamily="18" charset="0"/>
                      </a:rPr>
                      <m:t>=</m:t>
                    </m:r>
                    <m:rad>
                      <m:radPr>
                        <m:degHide m:val="on"/>
                        <m:ctrlPr>
                          <a:rPr lang="en-US" sz="1600" i="1">
                            <a:solidFill>
                              <a:schemeClr val="accent6"/>
                            </a:solidFill>
                            <a:latin typeface="Cambria Math" panose="02040503050406030204" pitchFamily="18" charset="0"/>
                          </a:rPr>
                        </m:ctrlPr>
                      </m:radPr>
                      <m:deg/>
                      <m:e>
                        <m:f>
                          <m:fPr>
                            <m:ctrlPr>
                              <a:rPr lang="en-US" sz="1600" i="1">
                                <a:solidFill>
                                  <a:schemeClr val="accent6"/>
                                </a:solidFill>
                                <a:latin typeface="Cambria Math" panose="02040503050406030204" pitchFamily="18" charset="0"/>
                              </a:rPr>
                            </m:ctrlPr>
                          </m:fPr>
                          <m:num>
                            <m:nary>
                              <m:naryPr>
                                <m:chr m:val="∑"/>
                                <m:ctrlPr>
                                  <a:rPr lang="en-US" sz="1600" i="1">
                                    <a:solidFill>
                                      <a:schemeClr val="accent6"/>
                                    </a:solidFill>
                                    <a:latin typeface="Cambria Math" panose="02040503050406030204" pitchFamily="18" charset="0"/>
                                  </a:rPr>
                                </m:ctrlPr>
                              </m:naryPr>
                              <m:sub>
                                <m:r>
                                  <a:rPr lang="en-US" sz="1600" i="1">
                                    <a:solidFill>
                                      <a:schemeClr val="accent6"/>
                                    </a:solidFill>
                                    <a:latin typeface="Cambria Math" panose="02040503050406030204" pitchFamily="18" charset="0"/>
                                  </a:rPr>
                                  <m:t>𝑖</m:t>
                                </m:r>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1</m:t>
                                </m:r>
                              </m:sub>
                              <m:sup>
                                <m:r>
                                  <a:rPr lang="en-US" sz="1600" i="1">
                                    <a:solidFill>
                                      <a:schemeClr val="accent6"/>
                                    </a:solidFill>
                                    <a:latin typeface="Cambria Math" panose="02040503050406030204" pitchFamily="18" charset="0"/>
                                  </a:rPr>
                                  <m:t>𝑁</m:t>
                                </m:r>
                              </m:sup>
                              <m:e>
                                <m:r>
                                  <a:rPr lang="en-US" sz="1600" i="1">
                                    <a:solidFill>
                                      <a:schemeClr val="accent6"/>
                                    </a:solidFill>
                                    <a:latin typeface="Cambria Math" panose="02040503050406030204" pitchFamily="18" charset="0"/>
                                  </a:rPr>
                                  <m:t>(</m:t>
                                </m:r>
                                <m:sSub>
                                  <m:sSubPr>
                                    <m:ctrlPr>
                                      <a:rPr lang="en-US" sz="1600" i="1">
                                        <a:solidFill>
                                          <a:schemeClr val="accent6"/>
                                        </a:solidFill>
                                        <a:latin typeface="Cambria Math" panose="02040503050406030204" pitchFamily="18" charset="0"/>
                                      </a:rPr>
                                    </m:ctrlPr>
                                  </m:sSubPr>
                                  <m:e>
                                    <m:r>
                                      <a:rPr lang="en-US" sz="1600" i="1">
                                        <a:solidFill>
                                          <a:schemeClr val="accent6"/>
                                        </a:solidFill>
                                        <a:latin typeface="Cambria Math" panose="02040503050406030204" pitchFamily="18" charset="0"/>
                                      </a:rPr>
                                      <m:t>𝑥</m:t>
                                    </m:r>
                                  </m:e>
                                  <m:sub>
                                    <m:r>
                                      <a:rPr lang="en-US" sz="1600" i="1">
                                        <a:solidFill>
                                          <a:schemeClr val="accent6"/>
                                        </a:solidFill>
                                        <a:latin typeface="Cambria Math" panose="02040503050406030204" pitchFamily="18" charset="0"/>
                                      </a:rPr>
                                      <m:t>𝑖</m:t>
                                    </m:r>
                                  </m:sub>
                                </m:sSub>
                                <m:r>
                                  <a:rPr lang="en-US" sz="1600" i="1">
                                    <a:solidFill>
                                      <a:schemeClr val="accent6"/>
                                    </a:solidFill>
                                    <a:latin typeface="Cambria Math" panose="02040503050406030204" pitchFamily="18" charset="0"/>
                                  </a:rPr>
                                  <m:t>−</m:t>
                                </m:r>
                                <m:r>
                                  <a:rPr lang="en-US" sz="1600" b="0" i="1" smtClean="0">
                                    <a:solidFill>
                                      <a:srgbClr val="FF0000"/>
                                    </a:solidFill>
                                    <a:latin typeface="Cambria Math" panose="02040503050406030204" pitchFamily="18" charset="0"/>
                                  </a:rPr>
                                  <m:t>𝜇</m:t>
                                </m:r>
                                <m:sSup>
                                  <m:sSupPr>
                                    <m:ctrlPr>
                                      <a:rPr lang="en-US" sz="1600" i="1">
                                        <a:solidFill>
                                          <a:schemeClr val="accent6"/>
                                        </a:solidFill>
                                        <a:latin typeface="Cambria Math" panose="02040503050406030204" pitchFamily="18" charset="0"/>
                                      </a:rPr>
                                    </m:ctrlPr>
                                  </m:sSupPr>
                                  <m:e>
                                    <m:r>
                                      <a:rPr lang="en-US" sz="1600" i="1">
                                        <a:solidFill>
                                          <a:schemeClr val="accent6"/>
                                        </a:solidFill>
                                        <a:latin typeface="Cambria Math" panose="02040503050406030204" pitchFamily="18" charset="0"/>
                                      </a:rPr>
                                      <m:t>)</m:t>
                                    </m:r>
                                  </m:e>
                                  <m:sup>
                                    <m:r>
                                      <a:rPr lang="en-US" sz="1600" i="1">
                                        <a:solidFill>
                                          <a:schemeClr val="accent6"/>
                                        </a:solidFill>
                                        <a:latin typeface="Cambria Math" panose="02040503050406030204" pitchFamily="18" charset="0"/>
                                      </a:rPr>
                                      <m:t>2</m:t>
                                    </m:r>
                                  </m:sup>
                                </m:sSup>
                              </m:e>
                            </m:nary>
                          </m:num>
                          <m:den>
                            <m:r>
                              <a:rPr lang="en-US" sz="1600" i="1">
                                <a:solidFill>
                                  <a:schemeClr val="accent6"/>
                                </a:solidFill>
                                <a:latin typeface="Cambria Math" panose="02040503050406030204" pitchFamily="18" charset="0"/>
                              </a:rPr>
                              <m:t>𝑁</m:t>
                            </m:r>
                            <m:r>
                              <a:rPr lang="en-US" sz="1600" i="1">
                                <a:solidFill>
                                  <a:schemeClr val="accent6"/>
                                </a:solidFill>
                                <a:latin typeface="Cambria Math" panose="02040503050406030204" pitchFamily="18" charset="0"/>
                              </a:rPr>
                              <m:t>−</m:t>
                            </m:r>
                            <m:r>
                              <a:rPr lang="en-US" sz="1600" i="1">
                                <a:solidFill>
                                  <a:schemeClr val="accent6"/>
                                </a:solidFill>
                                <a:latin typeface="Cambria Math" panose="02040503050406030204" pitchFamily="18" charset="0"/>
                              </a:rPr>
                              <m:t>1</m:t>
                            </m:r>
                          </m:den>
                        </m:f>
                      </m:e>
                    </m:rad>
                  </m:oMath>
                </a14:m>
                <a:r>
                  <a:rPr lang="en-US" sz="1600" dirty="0"/>
                  <a:t> has N pieces of information in the numerator because </a:t>
                </a:r>
                <a14:m>
                  <m:oMath xmlns:m="http://schemas.openxmlformats.org/officeDocument/2006/math">
                    <m:r>
                      <a:rPr lang="en-US" sz="1600" b="0" i="1" smtClean="0">
                        <a:solidFill>
                          <a:srgbClr val="FF0000"/>
                        </a:solidFill>
                        <a:latin typeface="Cambria Math" panose="02040503050406030204" pitchFamily="18" charset="0"/>
                      </a:rPr>
                      <m:t>𝜇</m:t>
                    </m:r>
                  </m:oMath>
                </a14:m>
                <a:r>
                  <a:rPr lang="en-US" sz="1600" dirty="0"/>
                  <a:t> is the true parameter; it is not an estimate. So, for the population, if you know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m:t>
                    </m:r>
                    <m:r>
                      <a:rPr lang="en-US" sz="1600" b="0" i="1" smtClean="0">
                        <a:latin typeface="Cambria Math" panose="02040503050406030204" pitchFamily="18" charset="0"/>
                      </a:rPr>
                      <m:t>1</m:t>
                    </m:r>
                    <m:r>
                      <a:rPr lang="en-US" sz="1600" b="0" i="1" smtClean="0">
                        <a:latin typeface="Cambria Math" panose="02040503050406030204" pitchFamily="18" charset="0"/>
                      </a:rPr>
                      <m:t> </m:t>
                    </m:r>
                  </m:oMath>
                </a14:m>
                <a:r>
                  <a:rPr lang="en-US" sz="1600" dirty="0"/>
                  <a:t>deviations, the last one is not given to you mechanically by use of a mean formula.</a:t>
                </a:r>
              </a:p>
            </p:txBody>
          </p:sp>
        </mc:Choice>
        <mc:Fallback xmlns="">
          <p:sp>
            <p:nvSpPr>
              <p:cNvPr id="3" name="Content Placeholder 2">
                <a:extLst>
                  <a:ext uri="{FF2B5EF4-FFF2-40B4-BE49-F238E27FC236}">
                    <a16:creationId xmlns:a16="http://schemas.microsoft.com/office/drawing/2014/main" id="{CCEA6636-F708-AF15-2C4C-1BFB1D2E1513}"/>
                  </a:ext>
                </a:extLst>
              </p:cNvPr>
              <p:cNvSpPr>
                <a:spLocks noGrp="1" noRot="1" noChangeAspect="1" noMove="1" noResize="1" noEditPoints="1" noAdjustHandles="1" noChangeArrowheads="1" noChangeShapeType="1" noTextEdit="1"/>
              </p:cNvSpPr>
              <p:nvPr>
                <p:ph idx="1"/>
              </p:nvPr>
            </p:nvSpPr>
            <p:spPr>
              <a:blipFill>
                <a:blip r:embed="rId2"/>
                <a:stretch>
                  <a:fillRect l="-289" t="-317"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AD4AB17-782E-743F-53C3-3E539F389728}"/>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67</a:t>
            </a:fld>
            <a:endParaRPr lang="en-GB" dirty="0"/>
          </a:p>
        </p:txBody>
      </p:sp>
    </p:spTree>
    <p:extLst>
      <p:ext uri="{BB962C8B-B14F-4D97-AF65-F5344CB8AC3E}">
        <p14:creationId xmlns:p14="http://schemas.microsoft.com/office/powerpoint/2010/main" val="890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A3B40-5910-44D1-80FF-09CBF0AD3128}"/>
              </a:ext>
            </a:extLst>
          </p:cNvPr>
          <p:cNvSpPr>
            <a:spLocks noGrp="1"/>
          </p:cNvSpPr>
          <p:nvPr>
            <p:ph type="title"/>
          </p:nvPr>
        </p:nvSpPr>
        <p:spPr/>
        <p:txBody>
          <a:bodyPr/>
          <a:lstStyle/>
          <a:p>
            <a:r>
              <a:rPr lang="en-US" dirty="0"/>
              <a:t>Population Variance vs Sample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AF0A57-9254-467C-BFD5-3F245D92DAC3}"/>
                  </a:ext>
                </a:extLst>
              </p:cNvPr>
              <p:cNvSpPr>
                <a:spLocks noGrp="1"/>
              </p:cNvSpPr>
              <p:nvPr>
                <p:ph idx="1"/>
              </p:nvPr>
            </p:nvSpPr>
            <p:spPr/>
            <p:txBody>
              <a:bodyPr/>
              <a:lstStyle/>
              <a:p>
                <a:r>
                  <a:rPr lang="en-US" sz="1800" dirty="0"/>
                  <a:t>The variance of a continuous variable in a </a:t>
                </a:r>
                <a:r>
                  <a:rPr lang="en-US" sz="1800" u="sng" dirty="0"/>
                  <a:t>population</a:t>
                </a:r>
                <a:r>
                  <a:rPr lang="en-US" sz="1800" dirty="0"/>
                  <a:t> is</a:t>
                </a:r>
              </a:p>
              <a:p>
                <a:pPr marL="0" indent="0" algn="ctr">
                  <a:buNone/>
                </a:pPr>
                <a:endParaRPr lang="en-US" sz="1800" i="1" dirty="0">
                  <a:solidFill>
                    <a:srgbClr val="000000"/>
                  </a:solidFill>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p>
                        <m:sSupPr>
                          <m:ctrlPr>
                            <a:rPr lang="en-US" sz="1800" i="1">
                              <a:solidFill>
                                <a:srgbClr val="000000"/>
                              </a:solidFill>
                              <a:latin typeface="Cambria Math" panose="02040503050406030204" pitchFamily="18" charset="0"/>
                            </a:rPr>
                          </m:ctrlPr>
                        </m:sSupPr>
                        <m:e>
                          <m:r>
                            <a:rPr lang="en-US" sz="1800" i="1" smtClean="0">
                              <a:solidFill>
                                <a:srgbClr val="FF0000"/>
                              </a:solidFill>
                              <a:latin typeface="Cambria Math" panose="02040503050406030204" pitchFamily="18" charset="0"/>
                            </a:rPr>
                            <m:t>𝜎</m:t>
                          </m:r>
                        </m:e>
                        <m:sup>
                          <m:r>
                            <a:rPr lang="en-US" sz="1800" i="1">
                              <a:solidFill>
                                <a:srgbClr val="000000"/>
                              </a:solidFill>
                              <a:latin typeface="Cambria Math" panose="02040503050406030204" pitchFamily="18" charset="0"/>
                            </a:rPr>
                            <m:t>2</m:t>
                          </m:r>
                        </m:sup>
                      </m:sSup>
                      <m:r>
                        <a:rPr lang="en-US" sz="1800" i="1" u="none">
                          <a:solidFill>
                            <a:srgbClr val="000000"/>
                          </a:solidFill>
                          <a:latin typeface="Cambria Math" panose="02040503050406030204" pitchFamily="18" charset="0"/>
                        </a:rPr>
                        <m:t>=</m:t>
                      </m:r>
                      <m:f>
                        <m:fPr>
                          <m:ctrlPr>
                            <a:rPr lang="en-US" sz="1800" i="1" u="none">
                              <a:solidFill>
                                <a:srgbClr val="000000"/>
                              </a:solidFill>
                              <a:latin typeface="Cambria Math" panose="02040503050406030204" pitchFamily="18" charset="0"/>
                            </a:rPr>
                          </m:ctrlPr>
                        </m:fPr>
                        <m:num>
                          <m:nary>
                            <m:naryPr>
                              <m:chr m:val="∑"/>
                              <m:ctrlPr>
                                <a:rPr lang="en-US" sz="1800" i="1" u="none">
                                  <a:solidFill>
                                    <a:srgbClr val="000000"/>
                                  </a:solidFill>
                                  <a:latin typeface="Cambria Math" panose="02040503050406030204" pitchFamily="18" charset="0"/>
                                </a:rPr>
                              </m:ctrlPr>
                            </m:naryPr>
                            <m:sub>
                              <m:r>
                                <a:rPr lang="en-US" sz="1800" i="1" u="none">
                                  <a:solidFill>
                                    <a:srgbClr val="000000"/>
                                  </a:solidFill>
                                  <a:latin typeface="Cambria Math" panose="02040503050406030204" pitchFamily="18" charset="0"/>
                                </a:rPr>
                                <m:t>𝑖</m:t>
                              </m:r>
                              <m:r>
                                <a:rPr lang="en-US" sz="1800" i="1" u="none">
                                  <a:solidFill>
                                    <a:srgbClr val="000000"/>
                                  </a:solidFill>
                                  <a:latin typeface="Cambria Math" panose="02040503050406030204" pitchFamily="18" charset="0"/>
                                </a:rPr>
                                <m:t>=1</m:t>
                              </m:r>
                            </m:sub>
                            <m:sup>
                              <m:r>
                                <a:rPr lang="en-US" sz="1800" i="1" u="none">
                                  <a:solidFill>
                                    <a:srgbClr val="000000"/>
                                  </a:solidFill>
                                  <a:latin typeface="Cambria Math" panose="02040503050406030204" pitchFamily="18" charset="0"/>
                                </a:rPr>
                                <m:t>𝑁</m:t>
                              </m:r>
                            </m:sup>
                            <m:e>
                              <m:r>
                                <a:rPr lang="en-US" sz="1800" i="1" u="none">
                                  <a:solidFill>
                                    <a:srgbClr val="000000"/>
                                  </a:solidFill>
                                  <a:latin typeface="Cambria Math" panose="02040503050406030204" pitchFamily="18" charset="0"/>
                                </a:rPr>
                                <m:t>(</m:t>
                              </m:r>
                              <m:sSub>
                                <m:sSubPr>
                                  <m:ctrlPr>
                                    <a:rPr lang="en-US" sz="1800" b="0" i="1" u="none">
                                      <a:solidFill>
                                        <a:srgbClr val="000000"/>
                                      </a:solidFill>
                                      <a:latin typeface="Cambria Math" panose="02040503050406030204" pitchFamily="18" charset="0"/>
                                    </a:rPr>
                                  </m:ctrlPr>
                                </m:sSubPr>
                                <m:e>
                                  <m:r>
                                    <a:rPr lang="en-US" sz="1800" b="0" i="1" u="none">
                                      <a:solidFill>
                                        <a:srgbClr val="000000"/>
                                      </a:solidFill>
                                      <a:latin typeface="Cambria Math" panose="02040503050406030204" pitchFamily="18" charset="0"/>
                                    </a:rPr>
                                    <m:t>𝑥</m:t>
                                  </m:r>
                                </m:e>
                                <m:sub>
                                  <m:r>
                                    <a:rPr lang="en-US" sz="1800" b="0" i="1" u="none">
                                      <a:solidFill>
                                        <a:srgbClr val="000000"/>
                                      </a:solidFill>
                                      <a:latin typeface="Cambria Math" panose="02040503050406030204" pitchFamily="18" charset="0"/>
                                    </a:rPr>
                                    <m:t>𝑖</m:t>
                                  </m:r>
                                </m:sub>
                              </m:sSub>
                              <m:r>
                                <a:rPr lang="en-US" sz="1800" i="1" u="none">
                                  <a:solidFill>
                                    <a:srgbClr val="000000"/>
                                  </a:solidFill>
                                  <a:latin typeface="Cambria Math" panose="02040503050406030204" pitchFamily="18" charset="0"/>
                                </a:rPr>
                                <m:t>−</m:t>
                              </m:r>
                              <m:r>
                                <a:rPr lang="en-US" sz="1800" i="1" u="none" smtClean="0">
                                  <a:solidFill>
                                    <a:srgbClr val="FF0000"/>
                                  </a:solidFill>
                                  <a:latin typeface="Cambria Math" panose="02040503050406030204" pitchFamily="18" charset="0"/>
                                  <a:ea typeface="Cambria Math" panose="02040503050406030204" pitchFamily="18" charset="0"/>
                                </a:rPr>
                                <m:t>𝜇</m:t>
                              </m:r>
                              <m:sSup>
                                <m:sSupPr>
                                  <m:ctrlPr>
                                    <a:rPr lang="en-US" sz="1800" i="1" u="none">
                                      <a:solidFill>
                                        <a:srgbClr val="000000"/>
                                      </a:solidFill>
                                      <a:latin typeface="Cambria Math" panose="02040503050406030204" pitchFamily="18" charset="0"/>
                                    </a:rPr>
                                  </m:ctrlPr>
                                </m:sSupPr>
                                <m:e>
                                  <m:r>
                                    <a:rPr lang="en-US" sz="1800" i="1" u="none">
                                      <a:solidFill>
                                        <a:srgbClr val="000000"/>
                                      </a:solidFill>
                                      <a:latin typeface="Cambria Math" panose="02040503050406030204" pitchFamily="18" charset="0"/>
                                    </a:rPr>
                                    <m:t>)</m:t>
                                  </m:r>
                                </m:e>
                                <m:sup>
                                  <m:r>
                                    <a:rPr lang="en-US" sz="1800" i="1" u="none">
                                      <a:solidFill>
                                        <a:srgbClr val="000000"/>
                                      </a:solidFill>
                                      <a:latin typeface="Cambria Math" panose="02040503050406030204" pitchFamily="18" charset="0"/>
                                    </a:rPr>
                                    <m:t>2</m:t>
                                  </m:r>
                                </m:sup>
                              </m:sSup>
                            </m:e>
                          </m:nary>
                        </m:num>
                        <m:den>
                          <m:r>
                            <a:rPr lang="en-US" sz="1800" i="1" u="none">
                              <a:solidFill>
                                <a:srgbClr val="000000"/>
                              </a:solidFill>
                              <a:latin typeface="Cambria Math" panose="02040503050406030204" pitchFamily="18" charset="0"/>
                            </a:rPr>
                            <m:t>𝑁</m:t>
                          </m:r>
                        </m:den>
                      </m:f>
                    </m:oMath>
                  </m:oMathPara>
                </a14:m>
                <a:endParaRPr lang="en-US" sz="1800" dirty="0"/>
              </a:p>
              <a:p>
                <a:pPr marL="0" indent="0">
                  <a:buNone/>
                </a:pPr>
                <a:endParaRPr lang="en-US" sz="1800" dirty="0"/>
              </a:p>
              <a:p>
                <a:r>
                  <a:rPr lang="en-US" sz="1800" dirty="0"/>
                  <a:t>The variance of a continuous variable in a </a:t>
                </a:r>
                <a:r>
                  <a:rPr lang="en-US" sz="1800" u="sng" dirty="0"/>
                  <a:t>sample</a:t>
                </a:r>
                <a:r>
                  <a:rPr lang="en-US" sz="1800" dirty="0"/>
                  <a:t> is </a:t>
                </a:r>
              </a:p>
              <a:p>
                <a:pPr marL="0" indent="0">
                  <a:buNone/>
                </a:pPr>
                <a:endParaRPr lang="en-US" sz="1800" i="1"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1800" i="1">
                              <a:solidFill>
                                <a:srgbClr val="000000"/>
                              </a:solidFill>
                              <a:latin typeface="Cambria Math" panose="02040503050406030204" pitchFamily="18" charset="0"/>
                            </a:rPr>
                          </m:ctrlPr>
                        </m:sSupPr>
                        <m:e>
                          <m:acc>
                            <m:accPr>
                              <m:chr m:val="̂"/>
                              <m:ctrlPr>
                                <a:rPr lang="en-US" sz="1800" i="1" smtClean="0">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𝜎</m:t>
                              </m:r>
                            </m:e>
                          </m:acc>
                        </m:e>
                        <m:sup>
                          <m:r>
                            <a:rPr lang="en-US" sz="1800" i="1">
                              <a:solidFill>
                                <a:srgbClr val="000000"/>
                              </a:solidFill>
                              <a:latin typeface="Cambria Math" panose="02040503050406030204" pitchFamily="18" charset="0"/>
                            </a:rPr>
                            <m:t>2</m:t>
                          </m:r>
                        </m:sup>
                      </m:sSup>
                      <m:r>
                        <a:rPr lang="en-US" sz="1800" i="1">
                          <a:solidFill>
                            <a:srgbClr val="000000"/>
                          </a:solidFill>
                          <a:latin typeface="Cambria Math" panose="02040503050406030204" pitchFamily="18" charset="0"/>
                        </a:rPr>
                        <m:t>=</m:t>
                      </m:r>
                      <m:f>
                        <m:fPr>
                          <m:ctrlPr>
                            <a:rPr lang="en-US" sz="1800" i="1">
                              <a:solidFill>
                                <a:srgbClr val="000000"/>
                              </a:solidFill>
                              <a:latin typeface="Cambria Math" panose="02040503050406030204" pitchFamily="18" charset="0"/>
                            </a:rPr>
                          </m:ctrlPr>
                        </m:fPr>
                        <m:num>
                          <m:nary>
                            <m:naryPr>
                              <m:chr m:val="∑"/>
                              <m:ctrlPr>
                                <a:rPr lang="en-US" sz="1800" i="1">
                                  <a:solidFill>
                                    <a:srgbClr val="000000"/>
                                  </a:solidFill>
                                  <a:latin typeface="Cambria Math" panose="02040503050406030204" pitchFamily="18" charset="0"/>
                                </a:rPr>
                              </m:ctrlPr>
                            </m:naryPr>
                            <m:sub>
                              <m:r>
                                <a:rPr lang="en-US" sz="1800" i="1">
                                  <a:solidFill>
                                    <a:srgbClr val="000000"/>
                                  </a:solidFill>
                                  <a:latin typeface="Cambria Math" panose="02040503050406030204" pitchFamily="18" charset="0"/>
                                </a:rPr>
                                <m:t>𝑖</m:t>
                              </m:r>
                              <m:r>
                                <a:rPr lang="en-US" sz="1800" i="1">
                                  <a:solidFill>
                                    <a:srgbClr val="000000"/>
                                  </a:solidFill>
                                  <a:latin typeface="Cambria Math" panose="02040503050406030204" pitchFamily="18" charset="0"/>
                                </a:rPr>
                                <m:t>=1</m:t>
                              </m:r>
                            </m:sub>
                            <m:sup>
                              <m:r>
                                <a:rPr lang="en-US" sz="1800" i="1">
                                  <a:solidFill>
                                    <a:srgbClr val="000000"/>
                                  </a:solidFill>
                                  <a:latin typeface="Cambria Math" panose="02040503050406030204" pitchFamily="18" charset="0"/>
                                </a:rPr>
                                <m:t>𝑁</m:t>
                              </m:r>
                            </m:sup>
                            <m:e>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𝑥</m:t>
                                  </m:r>
                                </m:e>
                                <m:sub>
                                  <m:r>
                                    <a:rPr lang="en-US" sz="1800" i="1">
                                      <a:solidFill>
                                        <a:srgbClr val="000000"/>
                                      </a:solidFill>
                                      <a:latin typeface="Cambria Math" panose="02040503050406030204" pitchFamily="18" charset="0"/>
                                    </a:rPr>
                                    <m:t>𝑖</m:t>
                                  </m:r>
                                </m:sub>
                              </m:sSub>
                              <m:r>
                                <a:rPr lang="en-US" sz="1800" i="1">
                                  <a:solidFill>
                                    <a:srgbClr val="000000"/>
                                  </a:solidFill>
                                  <a:latin typeface="Cambria Math" panose="02040503050406030204" pitchFamily="18" charset="0"/>
                                </a:rPr>
                                <m:t>−</m:t>
                              </m:r>
                              <m:bar>
                                <m:barPr>
                                  <m:pos m:val="top"/>
                                  <m:ctrlPr>
                                    <a:rPr lang="en-US" sz="1800" i="1" smtClean="0">
                                      <a:solidFill>
                                        <a:srgbClr val="00B0F0"/>
                                      </a:solidFill>
                                      <a:latin typeface="Cambria Math" panose="02040503050406030204" pitchFamily="18" charset="0"/>
                                    </a:rPr>
                                  </m:ctrlPr>
                                </m:barPr>
                                <m:e>
                                  <m:r>
                                    <a:rPr lang="en-US" sz="1800" i="1">
                                      <a:solidFill>
                                        <a:srgbClr val="00B0F0"/>
                                      </a:solidFill>
                                      <a:latin typeface="Cambria Math" panose="02040503050406030204" pitchFamily="18" charset="0"/>
                                    </a:rPr>
                                    <m:t>𝑥</m:t>
                                  </m:r>
                                </m:e>
                              </m:bar>
                              <m:sSup>
                                <m:sSupPr>
                                  <m:ctrlPr>
                                    <a:rPr lang="en-US" sz="1800" i="1">
                                      <a:solidFill>
                                        <a:srgbClr val="000000"/>
                                      </a:solidFill>
                                      <a:latin typeface="Cambria Math" panose="02040503050406030204" pitchFamily="18" charset="0"/>
                                    </a:rPr>
                                  </m:ctrlPr>
                                </m:sSupPr>
                                <m:e>
                                  <m:r>
                                    <a:rPr lang="en-US" sz="1800" i="1">
                                      <a:solidFill>
                                        <a:srgbClr val="000000"/>
                                      </a:solidFill>
                                      <a:latin typeface="Cambria Math" panose="02040503050406030204" pitchFamily="18" charset="0"/>
                                    </a:rPr>
                                    <m:t>)</m:t>
                                  </m:r>
                                </m:e>
                                <m:sup>
                                  <m:r>
                                    <a:rPr lang="en-US" sz="1800" i="1">
                                      <a:solidFill>
                                        <a:srgbClr val="000000"/>
                                      </a:solidFill>
                                      <a:latin typeface="Cambria Math" panose="02040503050406030204" pitchFamily="18" charset="0"/>
                                    </a:rPr>
                                    <m:t>2</m:t>
                                  </m:r>
                                </m:sup>
                              </m:sSup>
                            </m:e>
                          </m:nary>
                        </m:num>
                        <m:den>
                          <m:r>
                            <a:rPr lang="en-US" sz="1800" i="1">
                              <a:solidFill>
                                <a:srgbClr val="000000"/>
                              </a:solidFill>
                              <a:latin typeface="Cambria Math" panose="02040503050406030204" pitchFamily="18" charset="0"/>
                            </a:rPr>
                            <m:t>𝑁</m:t>
                          </m:r>
                          <m:r>
                            <a:rPr lang="en-US" sz="1800" i="1" smtClean="0">
                              <a:solidFill>
                                <a:srgbClr val="00B0F0"/>
                              </a:solidFill>
                              <a:latin typeface="Cambria Math" panose="02040503050406030204" pitchFamily="18" charset="0"/>
                            </a:rPr>
                            <m:t>−1</m:t>
                          </m:r>
                        </m:den>
                      </m:f>
                    </m:oMath>
                  </m:oMathPara>
                </a14:m>
                <a:endParaRPr lang="en-US" sz="1800" dirty="0"/>
              </a:p>
              <a:p>
                <a:pPr marL="0" indent="0">
                  <a:buNone/>
                </a:pPr>
                <a:endParaRPr lang="en-US" sz="1800" dirty="0"/>
              </a:p>
              <a:p>
                <a:pPr marL="400050" lvl="1" indent="0">
                  <a:buNone/>
                </a:pPr>
                <a:r>
                  <a:rPr lang="en-US" sz="1800" dirty="0"/>
                  <a:t>where we use the </a:t>
                </a:r>
                <a:r>
                  <a:rPr lang="en-US" sz="1800" dirty="0">
                    <a:solidFill>
                      <a:srgbClr val="00B0F0"/>
                    </a:solidFill>
                  </a:rPr>
                  <a:t>^</a:t>
                </a:r>
                <a:r>
                  <a:rPr lang="en-US" sz="1800" dirty="0"/>
                  <a:t> above the variable to denote a sample variable</a:t>
                </a:r>
              </a:p>
              <a:p>
                <a:endParaRPr lang="en-US" sz="1800" dirty="0"/>
              </a:p>
              <a:p>
                <a:r>
                  <a:rPr lang="en-US" sz="1800" dirty="0"/>
                  <a:t>The sample variance is divided by </a:t>
                </a:r>
                <a14:m>
                  <m:oMath xmlns:m="http://schemas.openxmlformats.org/officeDocument/2006/math">
                    <m:r>
                      <a:rPr lang="en-US" sz="1800" i="1" dirty="0" smtClean="0">
                        <a:latin typeface="Cambria Math" panose="02040503050406030204" pitchFamily="18" charset="0"/>
                      </a:rPr>
                      <m:t>𝑁</m:t>
                    </m:r>
                    <m:r>
                      <a:rPr lang="en-US" sz="1800" i="1" dirty="0" smtClean="0">
                        <a:latin typeface="Cambria Math" panose="02040503050406030204" pitchFamily="18" charset="0"/>
                      </a:rPr>
                      <m:t>−1</m:t>
                    </m:r>
                  </m:oMath>
                </a14:m>
                <a:r>
                  <a:rPr lang="en-US" sz="1800" dirty="0"/>
                  <a:t> rather than </a:t>
                </a:r>
                <a14:m>
                  <m:oMath xmlns:m="http://schemas.openxmlformats.org/officeDocument/2006/math">
                    <m:r>
                      <a:rPr lang="en-US" sz="1800" i="1" dirty="0" smtClean="0">
                        <a:latin typeface="Cambria Math" panose="02040503050406030204" pitchFamily="18" charset="0"/>
                      </a:rPr>
                      <m:t>𝑁</m:t>
                    </m:r>
                  </m:oMath>
                </a14:m>
                <a:r>
                  <a:rPr lang="en-US" sz="1800" dirty="0"/>
                  <a:t> to reflect that fact that we use up one of the </a:t>
                </a:r>
                <a14:m>
                  <m:oMath xmlns:m="http://schemas.openxmlformats.org/officeDocument/2006/math">
                    <m:r>
                      <a:rPr lang="en-US" sz="1800" b="0" i="1" smtClean="0">
                        <a:latin typeface="Cambria Math" panose="02040503050406030204" pitchFamily="18" charset="0"/>
                      </a:rPr>
                      <m:t>𝑁</m:t>
                    </m:r>
                  </m:oMath>
                </a14:m>
                <a:r>
                  <a:rPr lang="en-US" sz="1800" dirty="0"/>
                  <a:t> pieces of information (i.e., “degrees of freedom”) from the sample to construct the mean </a:t>
                </a:r>
                <a14:m>
                  <m:oMath xmlns:m="http://schemas.openxmlformats.org/officeDocument/2006/math">
                    <m:bar>
                      <m:barPr>
                        <m:pos m:val="top"/>
                        <m:ctrlPr>
                          <a:rPr lang="en-US" sz="1800" i="1">
                            <a:solidFill>
                              <a:srgbClr val="00B0F0"/>
                            </a:solidFill>
                            <a:latin typeface="Cambria Math" panose="02040503050406030204" pitchFamily="18" charset="0"/>
                          </a:rPr>
                        </m:ctrlPr>
                      </m:barPr>
                      <m:e>
                        <m:r>
                          <a:rPr lang="en-US" sz="1800" i="1">
                            <a:solidFill>
                              <a:srgbClr val="00B0F0"/>
                            </a:solidFill>
                            <a:latin typeface="Cambria Math" panose="02040503050406030204" pitchFamily="18" charset="0"/>
                          </a:rPr>
                          <m:t>𝑥</m:t>
                        </m:r>
                      </m:e>
                    </m:bar>
                  </m:oMath>
                </a14:m>
                <a:r>
                  <a:rPr lang="en-US" sz="1800" dirty="0"/>
                  <a:t>. That is, once you know </a:t>
                </a:r>
                <a14:m>
                  <m:oMath xmlns:m="http://schemas.openxmlformats.org/officeDocument/2006/math">
                    <m:r>
                      <a:rPr lang="en-US" sz="1800" b="0" i="1" smtClean="0">
                        <a:latin typeface="Cambria Math" panose="02040503050406030204" pitchFamily="18" charset="0"/>
                      </a:rPr>
                      <m:t>𝑁</m:t>
                    </m:r>
                    <m:r>
                      <a:rPr lang="en-US" sz="1800" b="0" i="1" smtClean="0">
                        <a:latin typeface="Cambria Math" panose="02040503050406030204" pitchFamily="18" charset="0"/>
                      </a:rPr>
                      <m:t>−1</m:t>
                    </m:r>
                  </m:oMath>
                </a14:m>
                <a:r>
                  <a:rPr lang="en-US" sz="1800" dirty="0"/>
                  <a:t> of the</a:t>
                </a:r>
                <a:r>
                  <a:rPr lang="en-US" sz="1800" dirty="0">
                    <a:solidFill>
                      <a:srgbClr val="000000"/>
                    </a:solidFill>
                  </a:rPr>
                  <a:t> </a:t>
                </a:r>
                <a:r>
                  <a:rPr lang="en-US" sz="1800" dirty="0">
                    <a:solidFill>
                      <a:schemeClr val="accent6"/>
                    </a:solidFill>
                  </a:rPr>
                  <a:t>(</a:t>
                </a:r>
                <a14:m>
                  <m:oMath xmlns:m="http://schemas.openxmlformats.org/officeDocument/2006/math">
                    <m:sSub>
                      <m:sSubPr>
                        <m:ctrlPr>
                          <a:rPr lang="en-US" sz="1800" i="1">
                            <a:solidFill>
                              <a:schemeClr val="accent6"/>
                            </a:solidFill>
                            <a:latin typeface="Cambria Math" panose="02040503050406030204" pitchFamily="18" charset="0"/>
                          </a:rPr>
                        </m:ctrlPr>
                      </m:sSubPr>
                      <m:e>
                        <m:r>
                          <a:rPr lang="en-US" sz="1800" i="1">
                            <a:solidFill>
                              <a:schemeClr val="accent6"/>
                            </a:solidFill>
                            <a:latin typeface="Cambria Math" panose="02040503050406030204" pitchFamily="18" charset="0"/>
                          </a:rPr>
                          <m:t>𝑥</m:t>
                        </m:r>
                      </m:e>
                      <m:sub>
                        <m:r>
                          <a:rPr lang="en-US" sz="1800" i="1">
                            <a:solidFill>
                              <a:schemeClr val="accent6"/>
                            </a:solidFill>
                            <a:latin typeface="Cambria Math" panose="02040503050406030204" pitchFamily="18" charset="0"/>
                          </a:rPr>
                          <m:t>𝑖</m:t>
                        </m:r>
                      </m:sub>
                    </m:sSub>
                    <m:r>
                      <a:rPr lang="en-US" sz="1800" i="1">
                        <a:solidFill>
                          <a:schemeClr val="accent6"/>
                        </a:solidFill>
                        <a:latin typeface="Cambria Math" panose="02040503050406030204" pitchFamily="18" charset="0"/>
                      </a:rPr>
                      <m:t>−</m:t>
                    </m:r>
                    <m:bar>
                      <m:barPr>
                        <m:pos m:val="top"/>
                        <m:ctrlPr>
                          <a:rPr lang="en-US" sz="1800" i="1">
                            <a:solidFill>
                              <a:srgbClr val="00B0F0"/>
                            </a:solidFill>
                            <a:latin typeface="Cambria Math" panose="02040503050406030204" pitchFamily="18" charset="0"/>
                          </a:rPr>
                        </m:ctrlPr>
                      </m:barPr>
                      <m:e>
                        <m:r>
                          <a:rPr lang="en-US" sz="1800" i="1">
                            <a:solidFill>
                              <a:srgbClr val="00B0F0"/>
                            </a:solidFill>
                            <a:latin typeface="Cambria Math" panose="02040503050406030204" pitchFamily="18" charset="0"/>
                          </a:rPr>
                          <m:t>𝑥</m:t>
                        </m:r>
                      </m:e>
                    </m:bar>
                    <m:r>
                      <a:rPr lang="en-US" sz="1800" b="0" i="1" smtClean="0">
                        <a:solidFill>
                          <a:schemeClr val="accent6"/>
                        </a:solidFill>
                        <a:latin typeface="Cambria Math" panose="02040503050406030204" pitchFamily="18" charset="0"/>
                      </a:rPr>
                      <m:t>)</m:t>
                    </m:r>
                  </m:oMath>
                </a14:m>
                <a:r>
                  <a:rPr lang="en-US" sz="1800" dirty="0"/>
                  <a:t>’s, you know them all because </a:t>
                </a:r>
                <a14:m>
                  <m:oMath xmlns:m="http://schemas.openxmlformats.org/officeDocument/2006/math">
                    <m:nary>
                      <m:naryPr>
                        <m:chr m:val="∑"/>
                        <m:ctrlPr>
                          <a:rPr lang="en-US" sz="1800" i="1" smtClean="0">
                            <a:solidFill>
                              <a:schemeClr val="accent6"/>
                            </a:solidFill>
                            <a:latin typeface="Cambria Math" panose="02040503050406030204" pitchFamily="18" charset="0"/>
                          </a:rPr>
                        </m:ctrlPr>
                      </m:naryPr>
                      <m:sub>
                        <m:r>
                          <a:rPr lang="en-US" sz="1800" i="1">
                            <a:solidFill>
                              <a:schemeClr val="accent6"/>
                            </a:solidFill>
                            <a:latin typeface="Cambria Math" panose="02040503050406030204" pitchFamily="18" charset="0"/>
                          </a:rPr>
                          <m:t>𝑖</m:t>
                        </m:r>
                        <m:r>
                          <a:rPr lang="en-US" sz="1800" i="1">
                            <a:solidFill>
                              <a:schemeClr val="accent6"/>
                            </a:solidFill>
                            <a:latin typeface="Cambria Math" panose="02040503050406030204" pitchFamily="18" charset="0"/>
                          </a:rPr>
                          <m:t>=1</m:t>
                        </m:r>
                      </m:sub>
                      <m:sup>
                        <m:r>
                          <a:rPr lang="en-US" sz="1800" i="1">
                            <a:solidFill>
                              <a:schemeClr val="accent6"/>
                            </a:solidFill>
                            <a:latin typeface="Cambria Math" panose="02040503050406030204" pitchFamily="18" charset="0"/>
                          </a:rPr>
                          <m:t>𝑁</m:t>
                        </m:r>
                      </m:sup>
                      <m:e>
                        <m:sSub>
                          <m:sSubPr>
                            <m:ctrlPr>
                              <a:rPr lang="en-US" sz="1800" i="1" smtClean="0">
                                <a:solidFill>
                                  <a:schemeClr val="accent6"/>
                                </a:solidFill>
                                <a:latin typeface="Cambria Math" panose="02040503050406030204" pitchFamily="18" charset="0"/>
                              </a:rPr>
                            </m:ctrlPr>
                          </m:sSubPr>
                          <m:e>
                            <m:r>
                              <a:rPr lang="en-US" sz="1800" b="0" i="1" smtClean="0">
                                <a:solidFill>
                                  <a:schemeClr val="accent6"/>
                                </a:solidFill>
                                <a:latin typeface="Cambria Math" panose="02040503050406030204" pitchFamily="18" charset="0"/>
                              </a:rPr>
                              <m:t>(</m:t>
                            </m:r>
                            <m:r>
                              <a:rPr lang="en-US" sz="1800" i="1">
                                <a:solidFill>
                                  <a:schemeClr val="accent6"/>
                                </a:solidFill>
                                <a:latin typeface="Cambria Math" panose="02040503050406030204" pitchFamily="18" charset="0"/>
                              </a:rPr>
                              <m:t>𝑥</m:t>
                            </m:r>
                          </m:e>
                          <m:sub>
                            <m:r>
                              <a:rPr lang="en-US" sz="1800" i="1">
                                <a:solidFill>
                                  <a:schemeClr val="accent6"/>
                                </a:solidFill>
                                <a:latin typeface="Cambria Math" panose="02040503050406030204" pitchFamily="18" charset="0"/>
                              </a:rPr>
                              <m:t>𝑖</m:t>
                            </m:r>
                          </m:sub>
                        </m:sSub>
                        <m:r>
                          <a:rPr lang="en-US" sz="1800" i="1">
                            <a:solidFill>
                              <a:schemeClr val="accent6"/>
                            </a:solidFill>
                            <a:latin typeface="Cambria Math" panose="02040503050406030204" pitchFamily="18" charset="0"/>
                          </a:rPr>
                          <m:t>−</m:t>
                        </m:r>
                        <m:bar>
                          <m:barPr>
                            <m:pos m:val="top"/>
                            <m:ctrlPr>
                              <a:rPr lang="en-US" sz="1800" i="1" smtClean="0">
                                <a:solidFill>
                                  <a:srgbClr val="00B0F0"/>
                                </a:solidFill>
                                <a:latin typeface="Cambria Math" panose="02040503050406030204" pitchFamily="18" charset="0"/>
                              </a:rPr>
                            </m:ctrlPr>
                          </m:barPr>
                          <m:e>
                            <m:r>
                              <a:rPr lang="en-US" sz="1800" i="1">
                                <a:solidFill>
                                  <a:srgbClr val="00B0F0"/>
                                </a:solidFill>
                                <a:latin typeface="Cambria Math" panose="02040503050406030204" pitchFamily="18" charset="0"/>
                              </a:rPr>
                              <m:t>𝑥</m:t>
                            </m:r>
                          </m:e>
                        </m:bar>
                        <m:r>
                          <a:rPr lang="en-US" sz="1800" b="0" i="1" smtClean="0">
                            <a:solidFill>
                              <a:schemeClr val="accent6"/>
                            </a:solidFill>
                            <a:latin typeface="Cambria Math" panose="02040503050406030204" pitchFamily="18" charset="0"/>
                          </a:rPr>
                          <m:t>)</m:t>
                        </m:r>
                      </m:e>
                    </m:nary>
                    <m:r>
                      <a:rPr lang="en-US" sz="1800" b="0" i="1" smtClean="0">
                        <a:solidFill>
                          <a:schemeClr val="accent6"/>
                        </a:solidFill>
                        <a:latin typeface="Cambria Math" panose="02040503050406030204" pitchFamily="18" charset="0"/>
                      </a:rPr>
                      <m:t>=0</m:t>
                    </m:r>
                  </m:oMath>
                </a14:m>
                <a:r>
                  <a:rPr lang="en-US" sz="1800" dirty="0"/>
                  <a:t> by definition of the mean. So, in constructing the sample standard deviation, there are only </a:t>
                </a:r>
                <a14:m>
                  <m:oMath xmlns:m="http://schemas.openxmlformats.org/officeDocument/2006/math">
                    <m:r>
                      <a:rPr lang="en-US" sz="1800" b="0" i="1" smtClean="0">
                        <a:latin typeface="Cambria Math" panose="02040503050406030204" pitchFamily="18" charset="0"/>
                      </a:rPr>
                      <m:t>𝑁</m:t>
                    </m:r>
                    <m:r>
                      <a:rPr lang="en-US" sz="1800" b="0" i="1" smtClean="0">
                        <a:latin typeface="Cambria Math" panose="02040503050406030204" pitchFamily="18" charset="0"/>
                      </a:rPr>
                      <m:t>−1</m:t>
                    </m:r>
                  </m:oMath>
                </a14:m>
                <a:r>
                  <a:rPr lang="en-US" sz="1800" dirty="0"/>
                  <a:t> deviations to standardize</a:t>
                </a:r>
              </a:p>
              <a:p>
                <a:endParaRPr lang="en-US" sz="1800" dirty="0"/>
              </a:p>
              <a:p>
                <a:r>
                  <a:rPr lang="en-US" sz="1800" dirty="0"/>
                  <a:t> </a:t>
                </a:r>
              </a:p>
            </p:txBody>
          </p:sp>
        </mc:Choice>
        <mc:Fallback xmlns="">
          <p:sp>
            <p:nvSpPr>
              <p:cNvPr id="3" name="Content Placeholder 2">
                <a:extLst>
                  <a:ext uri="{FF2B5EF4-FFF2-40B4-BE49-F238E27FC236}">
                    <a16:creationId xmlns:a16="http://schemas.microsoft.com/office/drawing/2014/main" id="{E4AF0A57-9254-467C-BFD5-3F245D92DAC3}"/>
                  </a:ext>
                </a:extLst>
              </p:cNvPr>
              <p:cNvSpPr>
                <a:spLocks noGrp="1" noRot="1" noChangeAspect="1" noMove="1" noResize="1" noEditPoints="1" noAdjustHandles="1" noChangeArrowheads="1" noChangeShapeType="1" noTextEdit="1"/>
              </p:cNvSpPr>
              <p:nvPr>
                <p:ph idx="1"/>
              </p:nvPr>
            </p:nvSpPr>
            <p:spPr>
              <a:blipFill>
                <a:blip r:embed="rId2"/>
                <a:stretch>
                  <a:fillRect l="-434" t="-634" r="-434" b="-824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79A1D6-2254-4076-9790-3844B4CFFE5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68</a:t>
            </a:fld>
            <a:endParaRPr lang="en-GB" dirty="0"/>
          </a:p>
        </p:txBody>
      </p:sp>
      <p:sp>
        <p:nvSpPr>
          <p:cNvPr id="5" name="Oval 4">
            <a:extLst>
              <a:ext uri="{FF2B5EF4-FFF2-40B4-BE49-F238E27FC236}">
                <a16:creationId xmlns:a16="http://schemas.microsoft.com/office/drawing/2014/main" id="{C09B8009-EE72-9B61-90B6-74A8F47672E0}"/>
              </a:ext>
            </a:extLst>
          </p:cNvPr>
          <p:cNvSpPr/>
          <p:nvPr/>
        </p:nvSpPr>
        <p:spPr bwMode="auto">
          <a:xfrm>
            <a:off x="5133340" y="3313534"/>
            <a:ext cx="233129" cy="264160"/>
          </a:xfrm>
          <a:prstGeom prst="ellipse">
            <a:avLst/>
          </a:prstGeom>
          <a:noFill/>
          <a:ln w="3175" cap="flat" cmpd="sng" algn="ctr">
            <a:solidFill>
              <a:srgbClr val="00B0F0"/>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458173B-2460-922F-92AE-1BD74F15AA1B}"/>
                  </a:ext>
                </a:extLst>
              </p:cNvPr>
              <p:cNvSpPr txBox="1"/>
              <p:nvPr/>
            </p:nvSpPr>
            <p:spPr>
              <a:xfrm>
                <a:off x="6789420" y="2506875"/>
                <a:ext cx="2295843" cy="1015663"/>
              </a:xfrm>
              <a:prstGeom prst="rect">
                <a:avLst/>
              </a:prstGeom>
              <a:solidFill>
                <a:schemeClr val="accent3">
                  <a:lumMod val="95000"/>
                </a:schemeClr>
              </a:solidFill>
              <a:ln w="3175">
                <a:solidFill>
                  <a:srgbClr val="00B0F0"/>
                </a:solidFill>
              </a:ln>
            </p:spPr>
            <p:txBody>
              <a:bodyPr wrap="square" rtlCol="0">
                <a:spAutoFit/>
              </a:bodyPr>
              <a:lstStyle/>
              <a:p>
                <a14:m>
                  <m:oMath xmlns:m="http://schemas.openxmlformats.org/officeDocument/2006/math">
                    <m:acc>
                      <m:accPr>
                        <m:chr m:val="̅"/>
                        <m:ctrlPr>
                          <a:rPr lang="en-US" sz="1200" b="0" i="1" u="none" smtClean="0">
                            <a:solidFill>
                              <a:srgbClr val="00B0F0"/>
                            </a:solidFill>
                            <a:latin typeface="Cambria Math" panose="02040503050406030204" pitchFamily="18" charset="0"/>
                            <a:cs typeface="Arial" pitchFamily="34" charset="0"/>
                          </a:rPr>
                        </m:ctrlPr>
                      </m:accPr>
                      <m:e>
                        <m:r>
                          <a:rPr lang="en-US" sz="1200" b="0" i="1" u="none" smtClean="0">
                            <a:solidFill>
                              <a:srgbClr val="00B0F0"/>
                            </a:solidFill>
                            <a:latin typeface="Cambria Math" panose="02040503050406030204" pitchFamily="18" charset="0"/>
                            <a:cs typeface="Arial" pitchFamily="34" charset="0"/>
                          </a:rPr>
                          <m:t>𝑥</m:t>
                        </m:r>
                      </m:e>
                    </m:acc>
                  </m:oMath>
                </a14:m>
                <a:r>
                  <a:rPr lang="en-US" sz="1200" b="0" u="none" dirty="0">
                    <a:solidFill>
                      <a:srgbClr val="00B0F0"/>
                    </a:solidFill>
                    <a:cs typeface="Arial" pitchFamily="34" charset="0"/>
                  </a:rPr>
                  <a:t> </a:t>
                </a:r>
                <a:r>
                  <a:rPr lang="en-US" sz="1200" b="0" u="none" dirty="0">
                    <a:solidFill>
                      <a:schemeClr val="accent6"/>
                    </a:solidFill>
                    <a:cs typeface="Arial" pitchFamily="34" charset="0"/>
                  </a:rPr>
                  <a:t>is </a:t>
                </a:r>
                <a:r>
                  <a:rPr lang="en-US" sz="1200" b="0" dirty="0">
                    <a:solidFill>
                      <a:schemeClr val="accent6"/>
                    </a:solidFill>
                    <a:cs typeface="Arial" pitchFamily="34" charset="0"/>
                  </a:rPr>
                  <a:t>estimated</a:t>
                </a:r>
                <a:r>
                  <a:rPr lang="en-US" sz="1200" b="0" u="none" dirty="0">
                    <a:solidFill>
                      <a:schemeClr val="accent6"/>
                    </a:solidFill>
                    <a:cs typeface="Arial" pitchFamily="34" charset="0"/>
                  </a:rPr>
                  <a:t>, using up 1 degree of freedom. So, there are only </a:t>
                </a:r>
                <a14:m>
                  <m:oMath xmlns:m="http://schemas.openxmlformats.org/officeDocument/2006/math">
                    <m:r>
                      <a:rPr lang="en-US" sz="1200" b="0" i="1" u="none" smtClean="0">
                        <a:solidFill>
                          <a:schemeClr val="accent6"/>
                        </a:solidFill>
                        <a:latin typeface="Cambria Math" panose="02040503050406030204" pitchFamily="18" charset="0"/>
                        <a:cs typeface="Arial" pitchFamily="34" charset="0"/>
                      </a:rPr>
                      <m:t>𝑁</m:t>
                    </m:r>
                    <m:r>
                      <a:rPr lang="en-US" sz="1200" b="0" i="1" u="none" smtClean="0">
                        <a:solidFill>
                          <a:schemeClr val="accent6"/>
                        </a:solidFill>
                        <a:latin typeface="Cambria Math" panose="02040503050406030204" pitchFamily="18" charset="0"/>
                        <a:cs typeface="Arial" pitchFamily="34" charset="0"/>
                      </a:rPr>
                      <m:t>−1</m:t>
                    </m:r>
                  </m:oMath>
                </a14:m>
                <a:r>
                  <a:rPr lang="en-US" sz="1200" b="0" u="none" dirty="0">
                    <a:solidFill>
                      <a:schemeClr val="accent6"/>
                    </a:solidFill>
                    <a:cs typeface="Arial" pitchFamily="34" charset="0"/>
                  </a:rPr>
                  <a:t> pieces of information in the numerator left to standardize</a:t>
                </a:r>
              </a:p>
            </p:txBody>
          </p:sp>
        </mc:Choice>
        <mc:Fallback xmlns="">
          <p:sp>
            <p:nvSpPr>
              <p:cNvPr id="6" name="TextBox 5">
                <a:extLst>
                  <a:ext uri="{FF2B5EF4-FFF2-40B4-BE49-F238E27FC236}">
                    <a16:creationId xmlns:a16="http://schemas.microsoft.com/office/drawing/2014/main" id="{E458173B-2460-922F-92AE-1BD74F15AA1B}"/>
                  </a:ext>
                </a:extLst>
              </p:cNvPr>
              <p:cNvSpPr txBox="1">
                <a:spLocks noRot="1" noChangeAspect="1" noMove="1" noResize="1" noEditPoints="1" noAdjustHandles="1" noChangeArrowheads="1" noChangeShapeType="1" noTextEdit="1"/>
              </p:cNvSpPr>
              <p:nvPr/>
            </p:nvSpPr>
            <p:spPr>
              <a:xfrm>
                <a:off x="6789420" y="2506875"/>
                <a:ext cx="2295843" cy="1015663"/>
              </a:xfrm>
              <a:prstGeom prst="rect">
                <a:avLst/>
              </a:prstGeom>
              <a:blipFill>
                <a:blip r:embed="rId3"/>
                <a:stretch>
                  <a:fillRect l="-265" t="-595" b="-2381"/>
                </a:stretch>
              </a:blipFill>
              <a:ln w="3175">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5D3484-C5F5-BFC3-B1CB-145664868919}"/>
                  </a:ext>
                </a:extLst>
              </p:cNvPr>
              <p:cNvSpPr txBox="1"/>
              <p:nvPr/>
            </p:nvSpPr>
            <p:spPr>
              <a:xfrm>
                <a:off x="6789420" y="1324745"/>
                <a:ext cx="2295843" cy="461665"/>
              </a:xfrm>
              <a:prstGeom prst="rect">
                <a:avLst/>
              </a:prstGeom>
              <a:solidFill>
                <a:schemeClr val="accent3">
                  <a:lumMod val="95000"/>
                </a:schemeClr>
              </a:solidFill>
              <a:ln w="3175">
                <a:solidFill>
                  <a:srgbClr val="FF0000"/>
                </a:solidFill>
              </a:ln>
            </p:spPr>
            <p:txBody>
              <a:bodyPr wrap="square" rtlCol="0">
                <a:spAutoFit/>
              </a:bodyPr>
              <a:lstStyle/>
              <a:p>
                <a14:m>
                  <m:oMath xmlns:m="http://schemas.openxmlformats.org/officeDocument/2006/math">
                    <m:r>
                      <a:rPr lang="en-US" sz="1200" b="0" i="1" u="none" smtClean="0">
                        <a:solidFill>
                          <a:srgbClr val="FF0000"/>
                        </a:solidFill>
                        <a:latin typeface="Cambria Math" panose="02040503050406030204" pitchFamily="18" charset="0"/>
                        <a:cs typeface="Arial" pitchFamily="34" charset="0"/>
                      </a:rPr>
                      <m:t>𝜇</m:t>
                    </m:r>
                  </m:oMath>
                </a14:m>
                <a:r>
                  <a:rPr lang="en-US" sz="1200" b="0" u="none" dirty="0">
                    <a:solidFill>
                      <a:srgbClr val="00B0F0"/>
                    </a:solidFill>
                    <a:cs typeface="Arial" pitchFamily="34" charset="0"/>
                  </a:rPr>
                  <a:t> </a:t>
                </a:r>
                <a:r>
                  <a:rPr lang="en-US" sz="1200" b="0" u="none" dirty="0">
                    <a:solidFill>
                      <a:schemeClr val="accent6"/>
                    </a:solidFill>
                    <a:cs typeface="Arial" pitchFamily="34" charset="0"/>
                  </a:rPr>
                  <a:t>is the truth, so no correction in the denominator is  needed</a:t>
                </a:r>
              </a:p>
            </p:txBody>
          </p:sp>
        </mc:Choice>
        <mc:Fallback xmlns="">
          <p:sp>
            <p:nvSpPr>
              <p:cNvPr id="7" name="TextBox 6">
                <a:extLst>
                  <a:ext uri="{FF2B5EF4-FFF2-40B4-BE49-F238E27FC236}">
                    <a16:creationId xmlns:a16="http://schemas.microsoft.com/office/drawing/2014/main" id="{115D3484-C5F5-BFC3-B1CB-145664868919}"/>
                  </a:ext>
                </a:extLst>
              </p:cNvPr>
              <p:cNvSpPr txBox="1">
                <a:spLocks noRot="1" noChangeAspect="1" noMove="1" noResize="1" noEditPoints="1" noAdjustHandles="1" noChangeArrowheads="1" noChangeShapeType="1" noTextEdit="1"/>
              </p:cNvSpPr>
              <p:nvPr/>
            </p:nvSpPr>
            <p:spPr>
              <a:xfrm>
                <a:off x="6789420" y="1324745"/>
                <a:ext cx="2295843" cy="461665"/>
              </a:xfrm>
              <a:prstGeom prst="rect">
                <a:avLst/>
              </a:prstGeom>
              <a:blipFill>
                <a:blip r:embed="rId4"/>
                <a:stretch>
                  <a:fillRect l="-265" t="-1299" b="-6494"/>
                </a:stretch>
              </a:blipFill>
              <a:ln w="3175">
                <a:solidFill>
                  <a:srgbClr val="FF0000"/>
                </a:solidFill>
              </a:ln>
            </p:spPr>
            <p:txBody>
              <a:bodyPr/>
              <a:lstStyle/>
              <a:p>
                <a:r>
                  <a:rPr lang="en-US">
                    <a:noFill/>
                  </a:rPr>
                  <a:t> </a:t>
                </a:r>
              </a:p>
            </p:txBody>
          </p:sp>
        </mc:Fallback>
      </mc:AlternateContent>
      <p:sp>
        <p:nvSpPr>
          <p:cNvPr id="8" name="Oval 7">
            <a:extLst>
              <a:ext uri="{FF2B5EF4-FFF2-40B4-BE49-F238E27FC236}">
                <a16:creationId xmlns:a16="http://schemas.microsoft.com/office/drawing/2014/main" id="{33A29E88-0D7E-D63D-7BE9-40DC18D2BF33}"/>
              </a:ext>
            </a:extLst>
          </p:cNvPr>
          <p:cNvSpPr/>
          <p:nvPr/>
        </p:nvSpPr>
        <p:spPr bwMode="auto">
          <a:xfrm>
            <a:off x="5133339" y="1771953"/>
            <a:ext cx="233129" cy="264160"/>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solidFill>
                <a:srgbClr val="FF0000"/>
              </a:solidFill>
            </a:endParaRPr>
          </a:p>
        </p:txBody>
      </p:sp>
      <p:sp>
        <p:nvSpPr>
          <p:cNvPr id="9" name="Freeform: Shape 8">
            <a:extLst>
              <a:ext uri="{FF2B5EF4-FFF2-40B4-BE49-F238E27FC236}">
                <a16:creationId xmlns:a16="http://schemas.microsoft.com/office/drawing/2014/main" id="{E746723B-765D-7338-07B5-070FCBDDD38D}"/>
              </a:ext>
            </a:extLst>
          </p:cNvPr>
          <p:cNvSpPr/>
          <p:nvPr/>
        </p:nvSpPr>
        <p:spPr bwMode="auto">
          <a:xfrm>
            <a:off x="5313405" y="1470454"/>
            <a:ext cx="1476633" cy="308919"/>
          </a:xfrm>
          <a:custGeom>
            <a:avLst/>
            <a:gdLst>
              <a:gd name="connsiteX0" fmla="*/ 0 w 1476633"/>
              <a:gd name="connsiteY0" fmla="*/ 308919 h 308919"/>
              <a:gd name="connsiteX1" fmla="*/ 759941 w 1476633"/>
              <a:gd name="connsiteY1" fmla="*/ 86497 h 308919"/>
              <a:gd name="connsiteX2" fmla="*/ 1476633 w 1476633"/>
              <a:gd name="connsiteY2" fmla="*/ 0 h 308919"/>
            </a:gdLst>
            <a:ahLst/>
            <a:cxnLst>
              <a:cxn ang="0">
                <a:pos x="connsiteX0" y="connsiteY0"/>
              </a:cxn>
              <a:cxn ang="0">
                <a:pos x="connsiteX1" y="connsiteY1"/>
              </a:cxn>
              <a:cxn ang="0">
                <a:pos x="connsiteX2" y="connsiteY2"/>
              </a:cxn>
            </a:cxnLst>
            <a:rect l="l" t="t" r="r" b="b"/>
            <a:pathLst>
              <a:path w="1476633" h="308919">
                <a:moveTo>
                  <a:pt x="0" y="308919"/>
                </a:moveTo>
                <a:cubicBezTo>
                  <a:pt x="256918" y="223451"/>
                  <a:pt x="513836" y="137983"/>
                  <a:pt x="759941" y="86497"/>
                </a:cubicBezTo>
                <a:cubicBezTo>
                  <a:pt x="1006046" y="35011"/>
                  <a:pt x="1241339" y="17505"/>
                  <a:pt x="1476633" y="0"/>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12" name="Freeform: Shape 11">
            <a:extLst>
              <a:ext uri="{FF2B5EF4-FFF2-40B4-BE49-F238E27FC236}">
                <a16:creationId xmlns:a16="http://schemas.microsoft.com/office/drawing/2014/main" id="{7C3ABD77-731F-8F77-F890-6635F536BC6C}"/>
              </a:ext>
            </a:extLst>
          </p:cNvPr>
          <p:cNvSpPr/>
          <p:nvPr/>
        </p:nvSpPr>
        <p:spPr bwMode="auto">
          <a:xfrm>
            <a:off x="5312787" y="2619633"/>
            <a:ext cx="1476633" cy="701394"/>
          </a:xfrm>
          <a:custGeom>
            <a:avLst/>
            <a:gdLst>
              <a:gd name="connsiteX0" fmla="*/ 0 w 1476633"/>
              <a:gd name="connsiteY0" fmla="*/ 308919 h 308919"/>
              <a:gd name="connsiteX1" fmla="*/ 759941 w 1476633"/>
              <a:gd name="connsiteY1" fmla="*/ 86497 h 308919"/>
              <a:gd name="connsiteX2" fmla="*/ 1476633 w 1476633"/>
              <a:gd name="connsiteY2" fmla="*/ 0 h 308919"/>
            </a:gdLst>
            <a:ahLst/>
            <a:cxnLst>
              <a:cxn ang="0">
                <a:pos x="connsiteX0" y="connsiteY0"/>
              </a:cxn>
              <a:cxn ang="0">
                <a:pos x="connsiteX1" y="connsiteY1"/>
              </a:cxn>
              <a:cxn ang="0">
                <a:pos x="connsiteX2" y="connsiteY2"/>
              </a:cxn>
            </a:cxnLst>
            <a:rect l="l" t="t" r="r" b="b"/>
            <a:pathLst>
              <a:path w="1476633" h="308919">
                <a:moveTo>
                  <a:pt x="0" y="308919"/>
                </a:moveTo>
                <a:cubicBezTo>
                  <a:pt x="256918" y="223451"/>
                  <a:pt x="513836" y="137983"/>
                  <a:pt x="759941" y="86497"/>
                </a:cubicBezTo>
                <a:cubicBezTo>
                  <a:pt x="1006046" y="35011"/>
                  <a:pt x="1241339" y="17505"/>
                  <a:pt x="1476633" y="0"/>
                </a:cubicBezTo>
              </a:path>
            </a:pathLst>
          </a:custGeom>
          <a:noFill/>
          <a:ln w="3175" cap="flat" cmpd="sng" algn="ctr">
            <a:solidFill>
              <a:srgbClr val="00B0F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22442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9" grpId="0"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36625DC-3F28-6B30-6C51-F77DF7D271E9}"/>
                  </a:ext>
                </a:extLst>
              </p:cNvPr>
              <p:cNvSpPr>
                <a:spLocks noGrp="1"/>
              </p:cNvSpPr>
              <p:nvPr>
                <p:ph type="title"/>
              </p:nvPr>
            </p:nvSpPr>
            <p:spPr/>
            <p:txBody>
              <a:bodyPr/>
              <a:lstStyle/>
              <a:p>
                <a:r>
                  <a:rPr lang="en-US" dirty="0"/>
                  <a:t>Fox Poll 95% Confidence Interval (</a:t>
                </a:r>
                <a14:m>
                  <m:oMath xmlns:m="http://schemas.openxmlformats.org/officeDocument/2006/math">
                    <m:r>
                      <a:rPr lang="en-US" i="1" dirty="0" smtClean="0">
                        <a:latin typeface="Cambria Math" panose="02040503050406030204" pitchFamily="18" charset="0"/>
                      </a:rPr>
                      <m:t>𝐶</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𝐼</m:t>
                        </m:r>
                      </m:e>
                      <m:sup>
                        <m:r>
                          <a:rPr lang="en-US" b="0" i="1" dirty="0" smtClean="0">
                            <a:latin typeface="Cambria Math" panose="02040503050406030204" pitchFamily="18" charset="0"/>
                          </a:rPr>
                          <m:t>95</m:t>
                        </m:r>
                      </m:sup>
                    </m:sSup>
                  </m:oMath>
                </a14:m>
                <a:r>
                  <a:rPr lang="en-US" dirty="0"/>
                  <a:t>)</a:t>
                </a:r>
              </a:p>
            </p:txBody>
          </p:sp>
        </mc:Choice>
        <mc:Fallback xmlns="">
          <p:sp>
            <p:nvSpPr>
              <p:cNvPr id="2" name="Title 1">
                <a:extLst>
                  <a:ext uri="{FF2B5EF4-FFF2-40B4-BE49-F238E27FC236}">
                    <a16:creationId xmlns:a16="http://schemas.microsoft.com/office/drawing/2014/main" id="{236625DC-3F28-6B30-6C51-F77DF7D271E9}"/>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7CA9BD0-482D-78D8-616C-D3194A8B0C7C}"/>
              </a:ext>
            </a:extLst>
          </p:cNvPr>
          <p:cNvPicPr>
            <a:picLocks noChangeAspect="1"/>
          </p:cNvPicPr>
          <p:nvPr/>
        </p:nvPicPr>
        <p:blipFill>
          <a:blip r:embed="rId3"/>
          <a:stretch>
            <a:fillRect/>
          </a:stretch>
        </p:blipFill>
        <p:spPr>
          <a:xfrm>
            <a:off x="58737" y="1938638"/>
            <a:ext cx="4825015" cy="3437924"/>
          </a:xfrm>
          <a:prstGeom prst="rect">
            <a:avLst/>
          </a:prstGeom>
        </p:spPr>
      </p:pic>
      <p:cxnSp>
        <p:nvCxnSpPr>
          <p:cNvPr id="6" name="Straight Connector 5">
            <a:extLst>
              <a:ext uri="{FF2B5EF4-FFF2-40B4-BE49-F238E27FC236}">
                <a16:creationId xmlns:a16="http://schemas.microsoft.com/office/drawing/2014/main" id="{B86FFE1A-0961-7C95-05E6-E6A0B35BDBB9}"/>
              </a:ext>
            </a:extLst>
          </p:cNvPr>
          <p:cNvCxnSpPr/>
          <p:nvPr/>
        </p:nvCxnSpPr>
        <p:spPr bwMode="auto">
          <a:xfrm>
            <a:off x="2671713" y="3799703"/>
            <a:ext cx="547224" cy="0"/>
          </a:xfrm>
          <a:prstGeom prst="line">
            <a:avLst/>
          </a:prstGeom>
          <a:solidFill>
            <a:schemeClr val="accent1"/>
          </a:solidFill>
          <a:ln w="9525" cap="flat" cmpd="sng" algn="ctr">
            <a:solidFill>
              <a:srgbClr val="00B0F0"/>
            </a:solidFill>
            <a:prstDash val="dash"/>
            <a:round/>
            <a:headEnd type="none" w="med" len="med"/>
            <a:tailEnd type="none" w="med" len="med"/>
          </a:ln>
          <a:effec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3AC509F-2891-C44E-B68D-E35FE64889F9}"/>
                  </a:ext>
                </a:extLst>
              </p:cNvPr>
              <p:cNvSpPr txBox="1"/>
              <p:nvPr/>
            </p:nvSpPr>
            <p:spPr>
              <a:xfrm>
                <a:off x="3237472" y="3115980"/>
                <a:ext cx="1485320" cy="442942"/>
              </a:xfrm>
              <a:prstGeom prst="rect">
                <a:avLst/>
              </a:prstGeom>
              <a:noFill/>
            </p:spPr>
            <p:txBody>
              <a:bodyPr wrap="square" rtlCol="0">
                <a:spAutoFit/>
              </a:bodyPr>
              <a:lstStyle/>
              <a:p>
                <a14:m>
                  <m:oMath xmlns:m="http://schemas.openxmlformats.org/officeDocument/2006/math">
                    <m:r>
                      <a:rPr lang="en-US" sz="1400" b="0" i="1" u="none" dirty="0" smtClean="0">
                        <a:solidFill>
                          <a:srgbClr val="EB971B"/>
                        </a:solidFill>
                        <a:latin typeface="Cambria Math" panose="02040503050406030204" pitchFamily="18" charset="0"/>
                        <a:cs typeface="Arial" panose="020B0604020202020204" pitchFamily="34" charset="0"/>
                      </a:rPr>
                      <m:t>𝑆</m:t>
                    </m:r>
                    <m:r>
                      <a:rPr lang="en-US" sz="1400" b="0" i="1" u="none" dirty="0">
                        <a:solidFill>
                          <a:srgbClr val="EB971B"/>
                        </a:solidFill>
                        <a:latin typeface="Cambria Math" panose="02040503050406030204" pitchFamily="18" charset="0"/>
                        <a:cs typeface="Arial" panose="020B0604020202020204" pitchFamily="34" charset="0"/>
                      </a:rPr>
                      <m:t>𝑡𝑑</m:t>
                    </m:r>
                    <m:r>
                      <a:rPr lang="en-US" sz="1400" b="0" i="1" u="none" dirty="0">
                        <a:solidFill>
                          <a:srgbClr val="EB971B"/>
                        </a:solidFill>
                        <a:latin typeface="Cambria Math" panose="02040503050406030204" pitchFamily="18" charset="0"/>
                        <a:cs typeface="Arial" panose="020B0604020202020204" pitchFamily="34" charset="0"/>
                      </a:rPr>
                      <m:t> </m:t>
                    </m:r>
                    <m:r>
                      <a:rPr lang="en-US" sz="1400" b="0" i="1" u="none" dirty="0" smtClean="0">
                        <a:solidFill>
                          <a:srgbClr val="EB971B"/>
                        </a:solidFill>
                        <a:latin typeface="Cambria Math" panose="02040503050406030204" pitchFamily="18" charset="0"/>
                        <a:cs typeface="Arial" panose="020B0604020202020204" pitchFamily="34" charset="0"/>
                      </a:rPr>
                      <m:t>𝐸</m:t>
                    </m:r>
                    <m:r>
                      <a:rPr lang="en-US" sz="1400" b="0" i="1" u="none" dirty="0">
                        <a:solidFill>
                          <a:srgbClr val="EB971B"/>
                        </a:solidFill>
                        <a:latin typeface="Cambria Math" panose="02040503050406030204" pitchFamily="18" charset="0"/>
                        <a:cs typeface="Arial" panose="020B0604020202020204" pitchFamily="34" charset="0"/>
                      </a:rPr>
                      <m:t>𝑟</m:t>
                    </m:r>
                    <m:r>
                      <a:rPr lang="en-US" sz="1400" b="0" i="1" u="none" dirty="0" smtClean="0">
                        <a:solidFill>
                          <a:srgbClr val="EB971B"/>
                        </a:solidFill>
                        <a:latin typeface="Cambria Math" panose="02040503050406030204" pitchFamily="18" charset="0"/>
                        <a:cs typeface="Arial" panose="020B0604020202020204" pitchFamily="34" charset="0"/>
                      </a:rPr>
                      <m:t>𝑟</m:t>
                    </m:r>
                    <m:r>
                      <a:rPr lang="en-US" sz="1400" b="0" i="1" u="none" dirty="0" smtClean="0">
                        <a:solidFill>
                          <a:schemeClr val="accent6"/>
                        </a:solidFill>
                        <a:latin typeface="Cambria Math" panose="02040503050406030204" pitchFamily="18" charset="0"/>
                        <a:cs typeface="Arial" panose="020B0604020202020204" pitchFamily="34" charset="0"/>
                      </a:rPr>
                      <m:t>=</m:t>
                    </m:r>
                    <m:f>
                      <m:fPr>
                        <m:ctrlPr>
                          <a:rPr lang="en-US" sz="1800" b="0" i="1" u="none">
                            <a:solidFill>
                              <a:schemeClr val="accent6"/>
                            </a:solidFill>
                            <a:latin typeface="Cambria Math" panose="02040503050406030204" pitchFamily="18" charset="0"/>
                            <a:cs typeface="Arial" panose="020B0604020202020204" pitchFamily="34" charset="0"/>
                          </a:rPr>
                        </m:ctrlPr>
                      </m:fPr>
                      <m:num>
                        <m:r>
                          <a:rPr lang="en-US" sz="18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800" b="0" i="1" u="none">
                                <a:solidFill>
                                  <a:schemeClr val="accent6"/>
                                </a:solidFill>
                                <a:latin typeface="Cambria Math" panose="02040503050406030204" pitchFamily="18" charset="0"/>
                                <a:cs typeface="Arial" panose="020B0604020202020204" pitchFamily="34" charset="0"/>
                              </a:rPr>
                            </m:ctrlPr>
                          </m:radPr>
                          <m:deg/>
                          <m:e>
                            <m:r>
                              <a:rPr lang="en-US" sz="1800" b="0" i="1" u="none">
                                <a:solidFill>
                                  <a:schemeClr val="accent6"/>
                                </a:solidFill>
                                <a:latin typeface="Cambria Math" panose="02040503050406030204" pitchFamily="18" charset="0"/>
                                <a:cs typeface="Arial" panose="020B0604020202020204" pitchFamily="34" charset="0"/>
                              </a:rPr>
                              <m:t>𝑁</m:t>
                            </m:r>
                          </m:e>
                        </m:rad>
                      </m:den>
                    </m:f>
                  </m:oMath>
                </a14:m>
                <a:r>
                  <a:rPr lang="en-US" sz="1800" b="0" u="none" dirty="0">
                    <a:solidFill>
                      <a:schemeClr val="accent6"/>
                    </a:solidFill>
                    <a:cs typeface="Arial" panose="020B0604020202020204" pitchFamily="34" charset="0"/>
                  </a:rPr>
                  <a:t> </a:t>
                </a:r>
              </a:p>
            </p:txBody>
          </p:sp>
        </mc:Choice>
        <mc:Fallback xmlns="">
          <p:sp>
            <p:nvSpPr>
              <p:cNvPr id="7" name="TextBox 6">
                <a:extLst>
                  <a:ext uri="{FF2B5EF4-FFF2-40B4-BE49-F238E27FC236}">
                    <a16:creationId xmlns:a16="http://schemas.microsoft.com/office/drawing/2014/main" id="{B3AC509F-2891-C44E-B68D-E35FE64889F9}"/>
                  </a:ext>
                </a:extLst>
              </p:cNvPr>
              <p:cNvSpPr txBox="1">
                <a:spLocks noRot="1" noChangeAspect="1" noMove="1" noResize="1" noEditPoints="1" noAdjustHandles="1" noChangeArrowheads="1" noChangeShapeType="1" noTextEdit="1"/>
              </p:cNvSpPr>
              <p:nvPr/>
            </p:nvSpPr>
            <p:spPr>
              <a:xfrm>
                <a:off x="3237472" y="3115980"/>
                <a:ext cx="1485320" cy="442942"/>
              </a:xfrm>
              <a:prstGeom prst="rect">
                <a:avLst/>
              </a:prstGeom>
              <a:blipFill>
                <a:blip r:embed="rId4"/>
                <a:stretch>
                  <a:fillRect/>
                </a:stretch>
              </a:blipFill>
            </p:spPr>
            <p:txBody>
              <a:bodyPr/>
              <a:lstStyle/>
              <a:p>
                <a:r>
                  <a:rPr lang="en-US">
                    <a:noFill/>
                  </a:rPr>
                  <a:t> </a:t>
                </a:r>
              </a:p>
            </p:txBody>
          </p:sp>
        </mc:Fallback>
      </mc:AlternateContent>
      <p:sp>
        <p:nvSpPr>
          <p:cNvPr id="8" name="Freeform: Shape 7">
            <a:extLst>
              <a:ext uri="{FF2B5EF4-FFF2-40B4-BE49-F238E27FC236}">
                <a16:creationId xmlns:a16="http://schemas.microsoft.com/office/drawing/2014/main" id="{B23EA736-DD51-C141-03A1-04DEFCA3D5EC}"/>
              </a:ext>
            </a:extLst>
          </p:cNvPr>
          <p:cNvSpPr/>
          <p:nvPr/>
        </p:nvSpPr>
        <p:spPr bwMode="auto">
          <a:xfrm>
            <a:off x="2811164" y="3311611"/>
            <a:ext cx="426308" cy="420130"/>
          </a:xfrm>
          <a:custGeom>
            <a:avLst/>
            <a:gdLst>
              <a:gd name="connsiteX0" fmla="*/ 0 w 426308"/>
              <a:gd name="connsiteY0" fmla="*/ 420130 h 420130"/>
              <a:gd name="connsiteX1" fmla="*/ 98854 w 426308"/>
              <a:gd name="connsiteY1" fmla="*/ 129746 h 420130"/>
              <a:gd name="connsiteX2" fmla="*/ 426308 w 426308"/>
              <a:gd name="connsiteY2" fmla="*/ 0 h 420130"/>
            </a:gdLst>
            <a:ahLst/>
            <a:cxnLst>
              <a:cxn ang="0">
                <a:pos x="connsiteX0" y="connsiteY0"/>
              </a:cxn>
              <a:cxn ang="0">
                <a:pos x="connsiteX1" y="connsiteY1"/>
              </a:cxn>
              <a:cxn ang="0">
                <a:pos x="connsiteX2" y="connsiteY2"/>
              </a:cxn>
            </a:cxnLst>
            <a:rect l="l" t="t" r="r" b="b"/>
            <a:pathLst>
              <a:path w="426308" h="420130">
                <a:moveTo>
                  <a:pt x="0" y="420130"/>
                </a:moveTo>
                <a:cubicBezTo>
                  <a:pt x="13901" y="309949"/>
                  <a:pt x="27803" y="199768"/>
                  <a:pt x="98854" y="129746"/>
                </a:cubicBezTo>
                <a:cubicBezTo>
                  <a:pt x="169905" y="59724"/>
                  <a:pt x="298106" y="29862"/>
                  <a:pt x="426308" y="0"/>
                </a:cubicBezTo>
              </a:path>
            </a:pathLst>
          </a:custGeom>
          <a:noFill/>
          <a:ln w="9525" cap="flat" cmpd="sng" algn="ctr">
            <a:solidFill>
              <a:schemeClr val="bg1">
                <a:lumMod val="50000"/>
              </a:schemeClr>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BCCEEB-2473-43D1-1450-E3D72CB06416}"/>
                  </a:ext>
                </a:extLst>
              </p:cNvPr>
              <p:cNvSpPr txBox="1"/>
              <p:nvPr/>
            </p:nvSpPr>
            <p:spPr>
              <a:xfrm>
                <a:off x="2591757" y="5037818"/>
                <a:ext cx="196977" cy="276999"/>
              </a:xfrm>
              <a:prstGeom prst="rect">
                <a:avLst/>
              </a:prstGeom>
              <a:solidFill>
                <a:schemeClr val="bg1"/>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FF0000"/>
                          </a:solidFill>
                          <a:latin typeface="Cambria Math" panose="02040503050406030204" pitchFamily="18" charset="0"/>
                          <a:cs typeface="Arial" pitchFamily="34" charset="0"/>
                        </a:rPr>
                        <m:t>𝜇</m:t>
                      </m:r>
                    </m:oMath>
                  </m:oMathPara>
                </a14:m>
                <a:endParaRPr lang="en-US" sz="1800" b="0" u="none" dirty="0">
                  <a:solidFill>
                    <a:srgbClr val="FF0000"/>
                  </a:solidFill>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BCCEEB-2473-43D1-1450-E3D72CB06416}"/>
                  </a:ext>
                </a:extLst>
              </p:cNvPr>
              <p:cNvSpPr txBox="1">
                <a:spLocks noRot="1" noChangeAspect="1" noMove="1" noResize="1" noEditPoints="1" noAdjustHandles="1" noChangeArrowheads="1" noChangeShapeType="1" noTextEdit="1"/>
              </p:cNvSpPr>
              <p:nvPr/>
            </p:nvSpPr>
            <p:spPr>
              <a:xfrm>
                <a:off x="2591757" y="5037818"/>
                <a:ext cx="196977" cy="276999"/>
              </a:xfrm>
              <a:prstGeom prst="rect">
                <a:avLst/>
              </a:prstGeom>
              <a:blipFill>
                <a:blip r:embed="rId5"/>
                <a:stretch>
                  <a:fillRect l="-43750" r="-625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09A21B-21F1-AF59-1260-9154D497450E}"/>
                  </a:ext>
                </a:extLst>
              </p:cNvPr>
              <p:cNvSpPr txBox="1"/>
              <p:nvPr/>
            </p:nvSpPr>
            <p:spPr>
              <a:xfrm>
                <a:off x="5067300" y="1133720"/>
                <a:ext cx="4017963" cy="5416676"/>
              </a:xfrm>
              <a:prstGeom prst="rect">
                <a:avLst/>
              </a:prstGeom>
              <a:solidFill>
                <a:schemeClr val="bg1"/>
              </a:solidFill>
              <a:ln>
                <a:noFill/>
              </a:ln>
            </p:spPr>
            <p:txBody>
              <a:bodyPr wrap="square" rtlCol="0">
                <a:spAutoFit/>
              </a:bodyPr>
              <a:lstStyle/>
              <a:p>
                <a:r>
                  <a:rPr lang="en-US" sz="1400" b="0" u="none" dirty="0">
                    <a:solidFill>
                      <a:schemeClr val="bg1">
                        <a:lumMod val="50000"/>
                      </a:schemeClr>
                    </a:solidFill>
                    <a:cs typeface="Arial" panose="020B0604020202020204" pitchFamily="34" charset="0"/>
                  </a:rPr>
                  <a:t>We know from the Central Limit Theorem that the mean vote for candidate A across polls is normally distributed:</a:t>
                </a:r>
              </a:p>
              <a:p>
                <a:pPr algn="ctr"/>
                <a14:m>
                  <m:oMathPara xmlns:m="http://schemas.openxmlformats.org/officeDocument/2006/math">
                    <m:oMathParaPr>
                      <m:jc m:val="centerGroup"/>
                    </m:oMathParaPr>
                    <m:oMath xmlns:m="http://schemas.openxmlformats.org/officeDocument/2006/math">
                      <m:acc>
                        <m:accPr>
                          <m:chr m:val="̅"/>
                          <m:ctrlPr>
                            <a:rPr lang="en-US" sz="1400" b="0" i="1" u="none" smtClean="0">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smtClean="0">
                          <a:solidFill>
                            <a:schemeClr val="bg1">
                              <a:lumMod val="50000"/>
                            </a:schemeClr>
                          </a:solidFill>
                          <a:latin typeface="Cambria Math" panose="02040503050406030204" pitchFamily="18" charset="0"/>
                          <a:cs typeface="Arial" panose="020B0604020202020204" pitchFamily="34" charset="0"/>
                        </a:rPr>
                        <m:t>~</m:t>
                      </m:r>
                      <m:r>
                        <a:rPr lang="en-US" sz="1400" b="0" i="1" u="none" smtClean="0">
                          <a:solidFill>
                            <a:schemeClr val="bg1">
                              <a:lumMod val="50000"/>
                            </a:schemeClr>
                          </a:solidFill>
                          <a:latin typeface="Cambria Math" panose="02040503050406030204" pitchFamily="18" charset="0"/>
                          <a:cs typeface="Arial" panose="020B0604020202020204" pitchFamily="34" charset="0"/>
                        </a:rPr>
                        <m:t>𝑁</m:t>
                      </m:r>
                      <m:d>
                        <m:dPr>
                          <m:ctrlPr>
                            <a:rPr lang="en-US" sz="1400" b="0" i="1" u="none" smtClean="0">
                              <a:solidFill>
                                <a:schemeClr val="bg1">
                                  <a:lumMod val="50000"/>
                                </a:schemeClr>
                              </a:solidFill>
                              <a:latin typeface="Cambria Math" panose="02040503050406030204" pitchFamily="18" charset="0"/>
                              <a:cs typeface="Arial" panose="020B0604020202020204" pitchFamily="34" charset="0"/>
                            </a:rPr>
                          </m:ctrlPr>
                        </m:dPr>
                        <m:e>
                          <m:r>
                            <a:rPr lang="en-US" sz="1400" b="0" i="1" u="none">
                              <a:solidFill>
                                <a:schemeClr val="bg1">
                                  <a:lumMod val="50000"/>
                                </a:schemeClr>
                              </a:solidFill>
                              <a:latin typeface="Cambria Math" panose="02040503050406030204" pitchFamily="18" charset="0"/>
                              <a:cs typeface="Arial" panose="020B0604020202020204" pitchFamily="34" charset="0"/>
                            </a:rPr>
                            <m:t>𝜇</m:t>
                          </m:r>
                          <m:r>
                            <a:rPr lang="en-US" sz="1400" b="0" i="1" u="none">
                              <a:solidFill>
                                <a:schemeClr val="bg1">
                                  <a:lumMod val="50000"/>
                                </a:schemeClr>
                              </a:solidFill>
                              <a:latin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e>
                      </m:d>
                      <m:r>
                        <a:rPr lang="en-US" sz="1400" b="0" i="1" u="none">
                          <a:solidFill>
                            <a:schemeClr val="bg1">
                              <a:lumMod val="50000"/>
                            </a:schemeClr>
                          </a:solidFill>
                          <a:latin typeface="Cambria Math" panose="02040503050406030204" pitchFamily="18" charset="0"/>
                        </a:rPr>
                        <m:t> </m:t>
                      </m:r>
                    </m:oMath>
                  </m:oMathPara>
                </a14:m>
                <a:endParaRPr lang="en-US" sz="1400" b="0" u="none" dirty="0">
                  <a:solidFill>
                    <a:schemeClr val="bg1">
                      <a:lumMod val="50000"/>
                    </a:schemeClr>
                  </a:solidFill>
                </a:endParaRPr>
              </a:p>
              <a:p>
                <a:pPr algn="ctr"/>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We know the Fox poll (</a:t>
                </a:r>
                <a14:m>
                  <m:oMath xmlns:m="http://schemas.openxmlformats.org/officeDocument/2006/math">
                    <m:acc>
                      <m:accPr>
                        <m:chr m:val="̅"/>
                        <m:ctrlPr>
                          <a:rPr lang="en-US" sz="1400" b="0" i="1" u="none">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a:solidFill>
                          <a:schemeClr val="bg1">
                            <a:lumMod val="50000"/>
                          </a:schemeClr>
                        </a:solidFill>
                        <a:latin typeface="Cambria Math" panose="02040503050406030204" pitchFamily="18" charset="0"/>
                        <a:cs typeface="Arial" panose="020B0604020202020204" pitchFamily="34" charset="0"/>
                      </a:rPr>
                      <m:t>=</m:t>
                    </m:r>
                    <m:r>
                      <a:rPr lang="en-US" sz="1400" b="0" i="1" u="none">
                        <a:solidFill>
                          <a:schemeClr val="bg1">
                            <a:lumMod val="50000"/>
                          </a:schemeClr>
                        </a:solidFill>
                        <a:latin typeface="Cambria Math" panose="02040503050406030204" pitchFamily="18" charset="0"/>
                        <a:cs typeface="Arial" panose="020B0604020202020204" pitchFamily="34" charset="0"/>
                      </a:rPr>
                      <m:t>51</m:t>
                    </m:r>
                  </m:oMath>
                </a14:m>
                <a:r>
                  <a:rPr lang="en-US" sz="1400" b="0" u="none" dirty="0">
                    <a:solidFill>
                      <a:schemeClr val="bg1">
                        <a:lumMod val="50000"/>
                      </a:schemeClr>
                    </a:solidFill>
                    <a:cs typeface="Arial" panose="020B0604020202020204" pitchFamily="34" charset="0"/>
                  </a:rPr>
                  <a:t>) is somewhere on this distribution but not exactly where</a:t>
                </a:r>
              </a:p>
              <a:p>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We know 95% of the time, the true mean </a:t>
                </a:r>
                <a14:m>
                  <m:oMath xmlns:m="http://schemas.openxmlformats.org/officeDocument/2006/math">
                    <m:r>
                      <a:rPr lang="en-US" sz="1400" b="0" i="1" u="none">
                        <a:solidFill>
                          <a:schemeClr val="bg1">
                            <a:lumMod val="50000"/>
                          </a:schemeClr>
                        </a:solidFill>
                        <a:latin typeface="Cambria Math" panose="02040503050406030204" pitchFamily="18" charset="0"/>
                        <a:cs typeface="Arial" panose="020B0604020202020204" pitchFamily="34" charset="0"/>
                      </a:rPr>
                      <m:t>𝜇</m:t>
                    </m:r>
                  </m:oMath>
                </a14:m>
                <a:r>
                  <a:rPr lang="en-US" sz="1400" b="0" u="none" dirty="0">
                    <a:solidFill>
                      <a:schemeClr val="bg1">
                        <a:lumMod val="50000"/>
                      </a:schemeClr>
                    </a:solidFill>
                    <a:cs typeface="Arial" panose="020B0604020202020204" pitchFamily="34" charset="0"/>
                  </a:rPr>
                  <a:t> will be captured by </a:t>
                </a:r>
                <a:endParaRPr lang="en-US" sz="1400" b="0" i="1" u="none" dirty="0">
                  <a:solidFill>
                    <a:schemeClr val="bg1">
                      <a:lumMod val="50000"/>
                    </a:schemeClr>
                  </a:solidFill>
                  <a:latin typeface="Cambria Math" panose="02040503050406030204" pitchFamily="18" charset="0"/>
                  <a:cs typeface="Arial" panose="020B0604020202020204" pitchFamily="34" charset="0"/>
                </a:endParaRPr>
              </a:p>
              <a:p>
                <a:endParaRPr lang="en-US" sz="1400" b="0" i="1" u="none" dirty="0">
                  <a:solidFill>
                    <a:schemeClr val="bg1">
                      <a:lumMod val="50000"/>
                    </a:schemeClr>
                  </a:solidFill>
                  <a:latin typeface="Cambria Math" panose="02040503050406030204" pitchFamily="18" charset="0"/>
                  <a:cs typeface="Arial" panose="020B0604020202020204" pitchFamily="34" charset="0"/>
                </a:endParaRPr>
              </a:p>
              <a:p>
                <a:pPr algn="ctr"/>
                <a14:m>
                  <m:oMath xmlns:m="http://schemas.openxmlformats.org/officeDocument/2006/math">
                    <m:acc>
                      <m:accPr>
                        <m:chr m:val="̅"/>
                        <m:ctrlPr>
                          <a:rPr lang="en-US" sz="1400" b="0" i="1" u="none">
                            <a:solidFill>
                              <a:schemeClr val="bg1">
                                <a:lumMod val="50000"/>
                              </a:schemeClr>
                            </a:solidFill>
                            <a:latin typeface="Cambria Math" panose="02040503050406030204" pitchFamily="18" charset="0"/>
                            <a:cs typeface="Arial" panose="020B0604020202020204" pitchFamily="34" charset="0"/>
                          </a:rPr>
                        </m:ctrlPr>
                      </m:accPr>
                      <m:e>
                        <m:r>
                          <a:rPr lang="en-US" sz="1400" b="0" i="1" u="none">
                            <a:solidFill>
                              <a:schemeClr val="bg1">
                                <a:lumMod val="50000"/>
                              </a:schemeClr>
                            </a:solidFill>
                            <a:latin typeface="Cambria Math" panose="02040503050406030204" pitchFamily="18" charset="0"/>
                            <a:cs typeface="Arial" panose="020B0604020202020204" pitchFamily="34" charset="0"/>
                          </a:rPr>
                          <m:t>𝑥</m:t>
                        </m:r>
                      </m:e>
                    </m:acc>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r>
                      <m:rPr>
                        <m:nor/>
                      </m:rPr>
                      <a:rPr lang="en-US" sz="1400" b="0" i="0" u="none" dirty="0">
                        <a:solidFill>
                          <a:schemeClr val="bg1">
                            <a:lumMod val="50000"/>
                          </a:schemeClr>
                        </a:solidFill>
                        <a:cs typeface="Arial" panose="020B0604020202020204" pitchFamily="34" charset="0"/>
                      </a:rPr>
                      <m:t> </m:t>
                    </m:r>
                    <m:r>
                      <m:rPr>
                        <m:nor/>
                      </m:rPr>
                      <a:rPr lang="en-US" sz="1400" b="0" i="0" u="none" dirty="0">
                        <a:solidFill>
                          <a:schemeClr val="bg1">
                            <a:lumMod val="50000"/>
                          </a:schemeClr>
                        </a:solidFill>
                        <a:cs typeface="Arial" panose="020B0604020202020204" pitchFamily="34" charset="0"/>
                      </a:rPr>
                      <m:t>or</m:t>
                    </m:r>
                    <m:r>
                      <m:rPr>
                        <m:nor/>
                      </m:rPr>
                      <a:rPr lang="en-US" sz="1400" b="0" i="0" u="none" dirty="0">
                        <a:solidFill>
                          <a:schemeClr val="bg1">
                            <a:lumMod val="50000"/>
                          </a:schemeClr>
                        </a:solidFill>
                        <a:cs typeface="Arial" panose="020B0604020202020204" pitchFamily="34" charset="0"/>
                      </a:rPr>
                      <m:t> </m:t>
                    </m:r>
                    <m:r>
                      <a:rPr lang="en-US" sz="1400" b="0" i="1" u="none">
                        <a:solidFill>
                          <a:schemeClr val="bg1">
                            <a:lumMod val="50000"/>
                          </a:schemeClr>
                        </a:solidFill>
                        <a:latin typeface="Cambria Math" panose="02040503050406030204" pitchFamily="18" charset="0"/>
                        <a:cs typeface="Arial" panose="020B0604020202020204" pitchFamily="34" charset="0"/>
                      </a:rPr>
                      <m:t>51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bg1">
                            <a:lumMod val="50000"/>
                          </a:schemeClr>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bg1">
                                <a:lumMod val="50000"/>
                              </a:schemeClr>
                            </a:solidFill>
                            <a:latin typeface="Cambria Math" panose="02040503050406030204" pitchFamily="18" charset="0"/>
                            <a:cs typeface="Arial" panose="020B0604020202020204" pitchFamily="34" charset="0"/>
                          </a:rPr>
                        </m:ctrlPr>
                      </m:fPr>
                      <m:num>
                        <m:r>
                          <a:rPr lang="en-US" sz="1400" b="0" i="1" u="none">
                            <a:solidFill>
                              <a:schemeClr val="bg1">
                                <a:lumMod val="50000"/>
                              </a:schemeClr>
                            </a:solidFill>
                            <a:latin typeface="Cambria Math" panose="02040503050406030204" pitchFamily="18" charset="0"/>
                            <a:cs typeface="Arial" panose="020B0604020202020204" pitchFamily="34" charset="0"/>
                          </a:rPr>
                          <m:t>𝜎</m:t>
                        </m:r>
                      </m:num>
                      <m:den>
                        <m:rad>
                          <m:radPr>
                            <m:degHide m:val="on"/>
                            <m:ctrlPr>
                              <a:rPr lang="en-US" sz="1400" b="0" i="1" u="none">
                                <a:solidFill>
                                  <a:schemeClr val="bg1">
                                    <a:lumMod val="50000"/>
                                  </a:schemeClr>
                                </a:solidFill>
                                <a:latin typeface="Cambria Math" panose="02040503050406030204" pitchFamily="18" charset="0"/>
                                <a:cs typeface="Arial" panose="020B0604020202020204" pitchFamily="34" charset="0"/>
                              </a:rPr>
                            </m:ctrlPr>
                          </m:radPr>
                          <m:deg/>
                          <m:e>
                            <m:r>
                              <a:rPr lang="en-US" sz="1400" b="0" i="1" u="none">
                                <a:solidFill>
                                  <a:schemeClr val="bg1">
                                    <a:lumMod val="50000"/>
                                  </a:schemeClr>
                                </a:solidFill>
                                <a:latin typeface="Cambria Math" panose="02040503050406030204" pitchFamily="18" charset="0"/>
                                <a:cs typeface="Arial" panose="020B0604020202020204" pitchFamily="34" charset="0"/>
                              </a:rPr>
                              <m:t>𝑁</m:t>
                            </m:r>
                          </m:e>
                        </m:rad>
                      </m:den>
                    </m:f>
                  </m:oMath>
                </a14:m>
                <a:r>
                  <a:rPr lang="en-US" sz="1400" b="0" u="none" dirty="0">
                    <a:solidFill>
                      <a:schemeClr val="bg1">
                        <a:lumMod val="50000"/>
                      </a:schemeClr>
                    </a:solidFill>
                    <a:cs typeface="Arial" panose="020B0604020202020204" pitchFamily="34" charset="0"/>
                  </a:rPr>
                  <a:t> </a:t>
                </a:r>
              </a:p>
              <a:p>
                <a:pPr algn="ctr"/>
                <a:endParaRPr lang="en-US" sz="1400" b="0" u="none" dirty="0">
                  <a:solidFill>
                    <a:schemeClr val="bg1">
                      <a:lumMod val="50000"/>
                    </a:schemeClr>
                  </a:solidFill>
                  <a:cs typeface="Arial" panose="020B0604020202020204" pitchFamily="34" charset="0"/>
                </a:endParaRPr>
              </a:p>
              <a:p>
                <a:r>
                  <a:rPr lang="en-US" sz="1400" b="0" u="none" dirty="0">
                    <a:solidFill>
                      <a:schemeClr val="bg1">
                        <a:lumMod val="50000"/>
                      </a:schemeClr>
                    </a:solidFill>
                    <a:cs typeface="Arial" panose="020B0604020202020204" pitchFamily="34" charset="0"/>
                  </a:rPr>
                  <a:t>Note: we don’t know the population </a:t>
                </a:r>
                <a14:m>
                  <m:oMath xmlns:m="http://schemas.openxmlformats.org/officeDocument/2006/math">
                    <m:r>
                      <a:rPr lang="en-US" sz="1400" b="0" i="1" u="none">
                        <a:solidFill>
                          <a:schemeClr val="bg1">
                            <a:lumMod val="50000"/>
                          </a:schemeClr>
                        </a:solidFill>
                        <a:latin typeface="Cambria Math" panose="02040503050406030204" pitchFamily="18" charset="0"/>
                        <a:cs typeface="Arial" panose="020B0604020202020204" pitchFamily="34" charset="0"/>
                      </a:rPr>
                      <m:t>𝜎</m:t>
                    </m:r>
                  </m:oMath>
                </a14:m>
                <a:r>
                  <a:rPr lang="en-US" sz="1400" b="0" u="none" dirty="0">
                    <a:solidFill>
                      <a:schemeClr val="bg1">
                        <a:lumMod val="50000"/>
                      </a:schemeClr>
                    </a:solidFill>
                    <a:cs typeface="Arial" panose="020B0604020202020204" pitchFamily="34" charset="0"/>
                  </a:rPr>
                  <a:t>, so we use the sample standard deviation from the Fox poll (</a:t>
                </a:r>
                <a14:m>
                  <m:oMath xmlns:m="http://schemas.openxmlformats.org/officeDocument/2006/math">
                    <m:acc>
                      <m:accPr>
                        <m:chr m:val="̂"/>
                        <m:ctrlPr>
                          <a:rPr lang="en-US" sz="1400" b="0" i="1" u="none" dirty="0" smtClean="0">
                            <a:solidFill>
                              <a:schemeClr val="bg1">
                                <a:lumMod val="50000"/>
                              </a:schemeClr>
                            </a:solidFill>
                            <a:latin typeface="Cambria Math" panose="02040503050406030204" pitchFamily="18" charset="0"/>
                            <a:cs typeface="Arial" panose="020B0604020202020204" pitchFamily="34" charset="0"/>
                          </a:rPr>
                        </m:ctrlPr>
                      </m:accPr>
                      <m:e>
                        <m:r>
                          <a:rPr lang="en-US" sz="1400" b="0" i="1" u="none" dirty="0">
                            <a:solidFill>
                              <a:schemeClr val="bg1">
                                <a:lumMod val="50000"/>
                              </a:schemeClr>
                            </a:solidFill>
                            <a:latin typeface="Cambria Math" panose="02040503050406030204" pitchFamily="18" charset="0"/>
                            <a:cs typeface="Arial" panose="020B0604020202020204" pitchFamily="34" charset="0"/>
                          </a:rPr>
                          <m:t>𝜎</m:t>
                        </m:r>
                      </m:e>
                    </m:acc>
                  </m:oMath>
                </a14:m>
                <a:r>
                  <a:rPr lang="en-US" sz="1400" b="0" u="none" dirty="0">
                    <a:solidFill>
                      <a:schemeClr val="bg1">
                        <a:lumMod val="50000"/>
                      </a:schemeClr>
                    </a:solidFill>
                    <a:cs typeface="Arial" panose="020B0604020202020204" pitchFamily="34" charset="0"/>
                  </a:rPr>
                  <a:t>) in its place</a:t>
                </a:r>
              </a:p>
              <a:p>
                <a:pPr algn="ctr"/>
                <a14:m>
                  <m:oMath xmlns:m="http://schemas.openxmlformats.org/officeDocument/2006/math">
                    <m:acc>
                      <m:accPr>
                        <m:chr m:val="̂"/>
                        <m:ctrlPr>
                          <a:rPr lang="en-US" sz="1400" i="1" u="none">
                            <a:solidFill>
                              <a:schemeClr val="bg1">
                                <a:lumMod val="50000"/>
                              </a:schemeClr>
                            </a:solidFill>
                            <a:latin typeface="Cambria Math" panose="02040503050406030204" pitchFamily="18" charset="0"/>
                          </a:rPr>
                        </m:ctrlPr>
                      </m:accPr>
                      <m:e>
                        <m:r>
                          <a:rPr lang="en-US" sz="1400" i="1" u="none">
                            <a:solidFill>
                              <a:schemeClr val="bg1">
                                <a:lumMod val="50000"/>
                              </a:schemeClr>
                            </a:solidFill>
                            <a:latin typeface="Cambria Math" panose="02040503050406030204" pitchFamily="18" charset="0"/>
                          </a:rPr>
                          <m:t>𝜎</m:t>
                        </m:r>
                      </m:e>
                    </m:acc>
                    <m:r>
                      <a:rPr lang="en-US" sz="1400" i="1" u="none">
                        <a:solidFill>
                          <a:schemeClr val="bg1">
                            <a:lumMod val="50000"/>
                          </a:schemeClr>
                        </a:solidFill>
                        <a:latin typeface="Cambria Math" panose="02040503050406030204" pitchFamily="18" charset="0"/>
                      </a:rPr>
                      <m:t>=</m:t>
                    </m:r>
                    <m:rad>
                      <m:radPr>
                        <m:degHide m:val="on"/>
                        <m:ctrlPr>
                          <a:rPr lang="en-US" sz="1400" i="1" u="none">
                            <a:solidFill>
                              <a:schemeClr val="bg1">
                                <a:lumMod val="50000"/>
                              </a:schemeClr>
                            </a:solidFill>
                            <a:latin typeface="Cambria Math" panose="02040503050406030204" pitchFamily="18" charset="0"/>
                          </a:rPr>
                        </m:ctrlPr>
                      </m:radPr>
                      <m:deg/>
                      <m:e>
                        <m:f>
                          <m:fPr>
                            <m:ctrlPr>
                              <a:rPr lang="en-US" sz="1400" i="1" u="none">
                                <a:solidFill>
                                  <a:schemeClr val="bg1">
                                    <a:lumMod val="50000"/>
                                  </a:schemeClr>
                                </a:solidFill>
                                <a:latin typeface="Cambria Math" panose="02040503050406030204" pitchFamily="18" charset="0"/>
                              </a:rPr>
                            </m:ctrlPr>
                          </m:fPr>
                          <m:num>
                            <m:nary>
                              <m:naryPr>
                                <m:chr m:val="∑"/>
                                <m:ctrlPr>
                                  <a:rPr lang="en-US" sz="1400" i="1" u="none">
                                    <a:solidFill>
                                      <a:schemeClr val="bg1">
                                        <a:lumMod val="50000"/>
                                      </a:schemeClr>
                                    </a:solidFill>
                                    <a:latin typeface="Cambria Math" panose="02040503050406030204" pitchFamily="18" charset="0"/>
                                  </a:rPr>
                                </m:ctrlPr>
                              </m:naryPr>
                              <m:sub>
                                <m:r>
                                  <a:rPr lang="en-US" sz="1400" i="1" u="none">
                                    <a:solidFill>
                                      <a:schemeClr val="bg1">
                                        <a:lumMod val="50000"/>
                                      </a:schemeClr>
                                    </a:solidFill>
                                    <a:latin typeface="Cambria Math" panose="02040503050406030204" pitchFamily="18" charset="0"/>
                                  </a:rPr>
                                  <m:t>𝑖</m:t>
                                </m:r>
                                <m:r>
                                  <a:rPr lang="en-US" sz="1400" i="1" u="none">
                                    <a:solidFill>
                                      <a:schemeClr val="bg1">
                                        <a:lumMod val="50000"/>
                                      </a:schemeClr>
                                    </a:solidFill>
                                    <a:latin typeface="Cambria Math" panose="02040503050406030204" pitchFamily="18" charset="0"/>
                                  </a:rPr>
                                  <m:t>=</m:t>
                                </m:r>
                                <m:r>
                                  <a:rPr lang="en-US" sz="1400" i="1" u="none">
                                    <a:solidFill>
                                      <a:schemeClr val="bg1">
                                        <a:lumMod val="50000"/>
                                      </a:schemeClr>
                                    </a:solidFill>
                                    <a:latin typeface="Cambria Math" panose="02040503050406030204" pitchFamily="18" charset="0"/>
                                  </a:rPr>
                                  <m:t>1</m:t>
                                </m:r>
                              </m:sub>
                              <m:sup>
                                <m:r>
                                  <a:rPr lang="en-US" sz="1400" i="1" u="none">
                                    <a:solidFill>
                                      <a:schemeClr val="bg1">
                                        <a:lumMod val="50000"/>
                                      </a:schemeClr>
                                    </a:solidFill>
                                    <a:latin typeface="Cambria Math" panose="02040503050406030204" pitchFamily="18" charset="0"/>
                                  </a:rPr>
                                  <m:t>𝑁</m:t>
                                </m:r>
                              </m:sup>
                              <m:e>
                                <m:r>
                                  <a:rPr lang="en-US" sz="1400" i="1" u="none">
                                    <a:solidFill>
                                      <a:schemeClr val="bg1">
                                        <a:lumMod val="50000"/>
                                      </a:schemeClr>
                                    </a:solidFill>
                                    <a:latin typeface="Cambria Math" panose="02040503050406030204" pitchFamily="18" charset="0"/>
                                  </a:rPr>
                                  <m:t>(</m:t>
                                </m:r>
                                <m:sSub>
                                  <m:sSubPr>
                                    <m:ctrlPr>
                                      <a:rPr lang="en-US" sz="1400" i="1" u="none">
                                        <a:solidFill>
                                          <a:schemeClr val="bg1">
                                            <a:lumMod val="50000"/>
                                          </a:schemeClr>
                                        </a:solidFill>
                                        <a:latin typeface="Cambria Math" panose="02040503050406030204" pitchFamily="18" charset="0"/>
                                      </a:rPr>
                                    </m:ctrlPr>
                                  </m:sSubPr>
                                  <m:e>
                                    <m:r>
                                      <a:rPr lang="en-US" sz="1400" i="1" u="none">
                                        <a:solidFill>
                                          <a:schemeClr val="bg1">
                                            <a:lumMod val="50000"/>
                                          </a:schemeClr>
                                        </a:solidFill>
                                        <a:latin typeface="Cambria Math" panose="02040503050406030204" pitchFamily="18" charset="0"/>
                                      </a:rPr>
                                      <m:t>𝑥</m:t>
                                    </m:r>
                                  </m:e>
                                  <m:sub>
                                    <m:r>
                                      <a:rPr lang="en-US" sz="1400" i="1" u="none">
                                        <a:solidFill>
                                          <a:schemeClr val="bg1">
                                            <a:lumMod val="50000"/>
                                          </a:schemeClr>
                                        </a:solidFill>
                                        <a:latin typeface="Cambria Math" panose="02040503050406030204" pitchFamily="18" charset="0"/>
                                      </a:rPr>
                                      <m:t>𝑖</m:t>
                                    </m:r>
                                  </m:sub>
                                </m:sSub>
                                <m:r>
                                  <a:rPr lang="en-US" sz="1400" i="1" u="none">
                                    <a:solidFill>
                                      <a:schemeClr val="bg1">
                                        <a:lumMod val="50000"/>
                                      </a:schemeClr>
                                    </a:solidFill>
                                    <a:latin typeface="Cambria Math" panose="02040503050406030204" pitchFamily="18" charset="0"/>
                                  </a:rPr>
                                  <m:t>−</m:t>
                                </m:r>
                                <m:bar>
                                  <m:barPr>
                                    <m:pos m:val="top"/>
                                    <m:ctrlPr>
                                      <a:rPr lang="en-US" sz="1400" i="1" u="none">
                                        <a:solidFill>
                                          <a:schemeClr val="bg1">
                                            <a:lumMod val="50000"/>
                                          </a:schemeClr>
                                        </a:solidFill>
                                        <a:latin typeface="Cambria Math" panose="02040503050406030204" pitchFamily="18" charset="0"/>
                                      </a:rPr>
                                    </m:ctrlPr>
                                  </m:barPr>
                                  <m:e>
                                    <m:r>
                                      <a:rPr lang="en-US" sz="1400" i="1" u="none">
                                        <a:solidFill>
                                          <a:schemeClr val="bg1">
                                            <a:lumMod val="50000"/>
                                          </a:schemeClr>
                                        </a:solidFill>
                                        <a:latin typeface="Cambria Math" panose="02040503050406030204" pitchFamily="18" charset="0"/>
                                      </a:rPr>
                                      <m:t>𝑥</m:t>
                                    </m:r>
                                  </m:e>
                                </m:bar>
                                <m:sSup>
                                  <m:sSupPr>
                                    <m:ctrlPr>
                                      <a:rPr lang="en-US" sz="1400" i="1" u="none">
                                        <a:solidFill>
                                          <a:schemeClr val="bg1">
                                            <a:lumMod val="50000"/>
                                          </a:schemeClr>
                                        </a:solidFill>
                                        <a:latin typeface="Cambria Math" panose="02040503050406030204" pitchFamily="18" charset="0"/>
                                      </a:rPr>
                                    </m:ctrlPr>
                                  </m:sSupPr>
                                  <m:e>
                                    <m:r>
                                      <a:rPr lang="en-US" sz="1400" i="1" u="none">
                                        <a:solidFill>
                                          <a:schemeClr val="bg1">
                                            <a:lumMod val="50000"/>
                                          </a:schemeClr>
                                        </a:solidFill>
                                        <a:latin typeface="Cambria Math" panose="02040503050406030204" pitchFamily="18" charset="0"/>
                                      </a:rPr>
                                      <m:t>)</m:t>
                                    </m:r>
                                  </m:e>
                                  <m:sup>
                                    <m:r>
                                      <a:rPr lang="en-US" sz="1400" i="1" u="none">
                                        <a:solidFill>
                                          <a:schemeClr val="bg1">
                                            <a:lumMod val="50000"/>
                                          </a:schemeClr>
                                        </a:solidFill>
                                        <a:latin typeface="Cambria Math" panose="02040503050406030204" pitchFamily="18" charset="0"/>
                                      </a:rPr>
                                      <m:t>2</m:t>
                                    </m:r>
                                  </m:sup>
                                </m:sSup>
                              </m:e>
                            </m:nary>
                          </m:num>
                          <m:den>
                            <m:r>
                              <a:rPr lang="en-US" sz="1400" i="1" u="none">
                                <a:solidFill>
                                  <a:schemeClr val="bg1">
                                    <a:lumMod val="50000"/>
                                  </a:schemeClr>
                                </a:solidFill>
                                <a:latin typeface="Cambria Math" panose="02040503050406030204" pitchFamily="18" charset="0"/>
                              </a:rPr>
                              <m:t>𝑁</m:t>
                            </m:r>
                            <m:r>
                              <a:rPr lang="en-US" sz="1400" b="0" i="1" u="none">
                                <a:solidFill>
                                  <a:schemeClr val="bg1">
                                    <a:lumMod val="50000"/>
                                  </a:schemeClr>
                                </a:solidFill>
                                <a:latin typeface="Cambria Math" panose="02040503050406030204" pitchFamily="18" charset="0"/>
                              </a:rPr>
                              <m:t>−</m:t>
                            </m:r>
                            <m:r>
                              <a:rPr lang="en-US" sz="1400" b="0" i="1" u="none">
                                <a:solidFill>
                                  <a:schemeClr val="bg1">
                                    <a:lumMod val="50000"/>
                                  </a:schemeClr>
                                </a:solidFill>
                                <a:latin typeface="Cambria Math" panose="02040503050406030204" pitchFamily="18" charset="0"/>
                              </a:rPr>
                              <m:t>1</m:t>
                            </m:r>
                          </m:den>
                        </m:f>
                      </m:e>
                    </m:rad>
                  </m:oMath>
                </a14:m>
                <a:r>
                  <a:rPr lang="en-US" sz="1400" b="0" u="none" dirty="0">
                    <a:solidFill>
                      <a:schemeClr val="bg1">
                        <a:lumMod val="50000"/>
                      </a:schemeClr>
                    </a:solidFill>
                    <a:cs typeface="Arial" panose="020B0604020202020204" pitchFamily="34" charset="0"/>
                  </a:rPr>
                  <a:t> </a:t>
                </a:r>
              </a:p>
              <a:p>
                <a:pPr algn="ctr"/>
                <a:endParaRPr lang="en-US" sz="1400" b="0" u="none" dirty="0">
                  <a:solidFill>
                    <a:schemeClr val="accent6"/>
                  </a:solidFill>
                  <a:cs typeface="Arial" panose="020B0604020202020204" pitchFamily="34" charset="0"/>
                </a:endParaRPr>
              </a:p>
              <a:p>
                <a:r>
                  <a:rPr lang="en-US" sz="1400" b="0" u="none" dirty="0">
                    <a:solidFill>
                      <a:schemeClr val="accent6"/>
                    </a:solidFill>
                    <a:cs typeface="Arial" panose="020B0604020202020204" pitchFamily="34" charset="0"/>
                  </a:rPr>
                  <a:t>We call </a:t>
                </a:r>
                <a14:m>
                  <m:oMath xmlns:m="http://schemas.openxmlformats.org/officeDocument/2006/math">
                    <m:r>
                      <a:rPr lang="en-US" sz="1400" b="0" i="1" u="none" dirty="0" smtClean="0">
                        <a:solidFill>
                          <a:srgbClr val="00B0F0"/>
                        </a:solidFill>
                        <a:latin typeface="Cambria Math" panose="02040503050406030204" pitchFamily="18" charset="0"/>
                        <a:cs typeface="Arial" panose="020B0604020202020204" pitchFamily="34" charset="0"/>
                      </a:rPr>
                      <m:t>51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400" b="0" i="1" u="none" dirty="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acc>
                          <m:accPr>
                            <m:chr m:val="̂"/>
                            <m:ctrlPr>
                              <a:rPr lang="en-US" sz="1400" i="1" u="none" smtClean="0">
                                <a:solidFill>
                                  <a:srgbClr val="00B0F0"/>
                                </a:solidFill>
                                <a:latin typeface="Cambria Math" panose="02040503050406030204" pitchFamily="18" charset="0"/>
                              </a:rPr>
                            </m:ctrlPr>
                          </m:accPr>
                          <m:e>
                            <m:r>
                              <a:rPr lang="en-US" sz="1400" i="1" u="none">
                                <a:solidFill>
                                  <a:srgbClr val="00B0F0"/>
                                </a:solidFill>
                                <a:latin typeface="Cambria Math" panose="02040503050406030204" pitchFamily="18" charset="0"/>
                              </a:rPr>
                              <m:t>𝜎</m:t>
                            </m:r>
                          </m:e>
                        </m:acc>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smtClean="0">
                                <a:solidFill>
                                  <a:srgbClr val="00B0F0"/>
                                </a:solidFill>
                                <a:latin typeface="Cambria Math" panose="02040503050406030204" pitchFamily="18" charset="0"/>
                                <a:cs typeface="Arial" panose="020B0604020202020204" pitchFamily="34" charset="0"/>
                              </a:rPr>
                              <m:t>𝑁</m:t>
                            </m:r>
                          </m:e>
                        </m:rad>
                      </m:den>
                    </m:f>
                  </m:oMath>
                </a14:m>
                <a:r>
                  <a:rPr lang="en-US" sz="1400" b="0" u="none" dirty="0">
                    <a:solidFill>
                      <a:srgbClr val="EB971B"/>
                    </a:solidFill>
                    <a:cs typeface="Arial" panose="020B0604020202020204" pitchFamily="34" charset="0"/>
                  </a:rPr>
                  <a:t> </a:t>
                </a:r>
                <a:r>
                  <a:rPr lang="en-US" sz="1400" b="0" u="none" dirty="0">
                    <a:solidFill>
                      <a:schemeClr val="accent6"/>
                    </a:solidFill>
                    <a:cs typeface="Arial" panose="020B0604020202020204" pitchFamily="34" charset="0"/>
                  </a:rPr>
                  <a:t>the Fox poll’s “95% confidence interval” or </a:t>
                </a:r>
                <a14:m>
                  <m:oMath xmlns:m="http://schemas.openxmlformats.org/officeDocument/2006/math">
                    <m:r>
                      <a:rPr lang="en-US" sz="1400" b="0" i="1" u="none" smtClean="0">
                        <a:solidFill>
                          <a:schemeClr val="accent6"/>
                        </a:solidFill>
                        <a:latin typeface="Cambria Math" panose="02040503050406030204" pitchFamily="18" charset="0"/>
                        <a:cs typeface="Arial" panose="020B0604020202020204" pitchFamily="34" charset="0"/>
                      </a:rPr>
                      <m:t>𝐶</m:t>
                    </m:r>
                    <m:sSup>
                      <m:sSupPr>
                        <m:ctrlPr>
                          <a:rPr lang="en-US" sz="1400" b="0" i="1" u="none" smtClean="0">
                            <a:solidFill>
                              <a:schemeClr val="accent6"/>
                            </a:solidFill>
                            <a:latin typeface="Cambria Math" panose="02040503050406030204" pitchFamily="18" charset="0"/>
                            <a:cs typeface="Arial" panose="020B0604020202020204" pitchFamily="34" charset="0"/>
                          </a:rPr>
                        </m:ctrlPr>
                      </m:sSupPr>
                      <m:e>
                        <m:r>
                          <a:rPr lang="en-US" sz="1400" b="0" i="1" u="none" smtClean="0">
                            <a:solidFill>
                              <a:schemeClr val="accent6"/>
                            </a:solidFill>
                            <a:latin typeface="Cambria Math" panose="02040503050406030204" pitchFamily="18" charset="0"/>
                            <a:cs typeface="Arial" panose="020B0604020202020204" pitchFamily="34" charset="0"/>
                          </a:rPr>
                          <m:t>𝐼</m:t>
                        </m:r>
                      </m:e>
                      <m:sup>
                        <m:r>
                          <a:rPr lang="en-US" sz="1400" b="0" i="1" u="none" smtClean="0">
                            <a:solidFill>
                              <a:schemeClr val="accent6"/>
                            </a:solidFill>
                            <a:latin typeface="Cambria Math" panose="02040503050406030204" pitchFamily="18" charset="0"/>
                            <a:cs typeface="Arial" panose="020B0604020202020204" pitchFamily="34" charset="0"/>
                          </a:rPr>
                          <m:t>95</m:t>
                        </m:r>
                      </m:sup>
                    </m:sSup>
                  </m:oMath>
                </a14:m>
                <a:r>
                  <a:rPr lang="en-US" sz="1400" b="0" u="none" dirty="0">
                    <a:solidFill>
                      <a:schemeClr val="accent6"/>
                    </a:solidFill>
                    <a:cs typeface="Arial" panose="020B0604020202020204" pitchFamily="34" charset="0"/>
                  </a:rPr>
                  <a:t>. It is constructed using information </a:t>
                </a:r>
                <a:r>
                  <a:rPr lang="en-US" sz="1400" b="0" u="none" dirty="0">
                    <a:solidFill>
                      <a:srgbClr val="00B0F0"/>
                    </a:solidFill>
                    <a:cs typeface="Arial" panose="020B0604020202020204" pitchFamily="34" charset="0"/>
                  </a:rPr>
                  <a:t>only from the Fox poll</a:t>
                </a:r>
                <a:r>
                  <a:rPr lang="en-US" sz="1400" b="0" u="none" dirty="0">
                    <a:solidFill>
                      <a:schemeClr val="accent6"/>
                    </a:solidFill>
                    <a:cs typeface="Arial" panose="020B0604020202020204" pitchFamily="34" charset="0"/>
                  </a:rPr>
                  <a:t>!  </a:t>
                </a:r>
                <a:endParaRPr lang="en-US" sz="1400" b="0" u="none" dirty="0">
                  <a:solidFill>
                    <a:srgbClr val="EB971B"/>
                  </a:solidFill>
                  <a:cs typeface="Arial" panose="020B0604020202020204" pitchFamily="34" charset="0"/>
                </a:endParaRPr>
              </a:p>
            </p:txBody>
          </p:sp>
        </mc:Choice>
        <mc:Fallback xmlns="">
          <p:sp>
            <p:nvSpPr>
              <p:cNvPr id="10" name="TextBox 9">
                <a:extLst>
                  <a:ext uri="{FF2B5EF4-FFF2-40B4-BE49-F238E27FC236}">
                    <a16:creationId xmlns:a16="http://schemas.microsoft.com/office/drawing/2014/main" id="{A709A21B-21F1-AF59-1260-9154D497450E}"/>
                  </a:ext>
                </a:extLst>
              </p:cNvPr>
              <p:cNvSpPr txBox="1">
                <a:spLocks noRot="1" noChangeAspect="1" noMove="1" noResize="1" noEditPoints="1" noAdjustHandles="1" noChangeArrowheads="1" noChangeShapeType="1" noTextEdit="1"/>
              </p:cNvSpPr>
              <p:nvPr/>
            </p:nvSpPr>
            <p:spPr>
              <a:xfrm>
                <a:off x="5067300" y="1133720"/>
                <a:ext cx="4017963" cy="5416676"/>
              </a:xfrm>
              <a:prstGeom prst="rect">
                <a:avLst/>
              </a:prstGeom>
              <a:blipFill>
                <a:blip r:embed="rId6"/>
                <a:stretch>
                  <a:fillRect l="-455" t="-225" r="-1214"/>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93DDB957-8F11-ECA6-9BAF-4C5A0A02A1E5}"/>
              </a:ext>
            </a:extLst>
          </p:cNvPr>
          <p:cNvSpPr txBox="1"/>
          <p:nvPr/>
        </p:nvSpPr>
        <p:spPr>
          <a:xfrm>
            <a:off x="657697" y="5353391"/>
            <a:ext cx="4065095" cy="338554"/>
          </a:xfrm>
          <a:prstGeom prst="rect">
            <a:avLst/>
          </a:prstGeom>
          <a:noFill/>
        </p:spPr>
        <p:txBody>
          <a:bodyPr wrap="square" rtlCol="0">
            <a:spAutoFit/>
          </a:bodyPr>
          <a:lstStyle/>
          <a:p>
            <a:pPr algn="ctr"/>
            <a:r>
              <a:rPr lang="en-US" sz="1600" b="0" u="none" dirty="0">
                <a:cs typeface="Arial" panose="020B0604020202020204" pitchFamily="34" charset="0"/>
              </a:rPr>
              <a:t>True support for candidate A</a:t>
            </a:r>
          </a:p>
        </p:txBody>
      </p:sp>
      <p:cxnSp>
        <p:nvCxnSpPr>
          <p:cNvPr id="12" name="Straight Connector 11">
            <a:extLst>
              <a:ext uri="{FF2B5EF4-FFF2-40B4-BE49-F238E27FC236}">
                <a16:creationId xmlns:a16="http://schemas.microsoft.com/office/drawing/2014/main" id="{DCA52F67-68FA-FDC7-50D3-1A1DC9BB4F49}"/>
              </a:ext>
            </a:extLst>
          </p:cNvPr>
          <p:cNvCxnSpPr/>
          <p:nvPr/>
        </p:nvCxnSpPr>
        <p:spPr bwMode="auto">
          <a:xfrm>
            <a:off x="1690956" y="250489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E8A941CE-8C94-97D7-E3F8-CEFE30B81CCB}"/>
              </a:ext>
            </a:extLst>
          </p:cNvPr>
          <p:cNvSpPr txBox="1"/>
          <p:nvPr/>
        </p:nvSpPr>
        <p:spPr>
          <a:xfrm>
            <a:off x="2310352" y="2547145"/>
            <a:ext cx="31187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Fox</a:t>
            </a:r>
            <a:endParaRPr lang="en-US" sz="1400" b="0" u="none" dirty="0">
              <a:solidFill>
                <a:srgbClr val="00B0F0"/>
              </a:solidFill>
              <a:cs typeface="Arial" pitchFamily="34" charset="0"/>
            </a:endParaRPr>
          </a:p>
        </p:txBody>
      </p:sp>
      <p:sp>
        <p:nvSpPr>
          <p:cNvPr id="14" name="Oval 13">
            <a:extLst>
              <a:ext uri="{FF2B5EF4-FFF2-40B4-BE49-F238E27FC236}">
                <a16:creationId xmlns:a16="http://schemas.microsoft.com/office/drawing/2014/main" id="{2ABC3E7A-4F36-2292-89E5-0A03CB48BDF2}"/>
              </a:ext>
            </a:extLst>
          </p:cNvPr>
          <p:cNvSpPr/>
          <p:nvPr/>
        </p:nvSpPr>
        <p:spPr bwMode="auto">
          <a:xfrm>
            <a:off x="2428190" y="246806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9A98858-A455-D096-DAD8-D4CDAC1D0F96}"/>
                  </a:ext>
                </a:extLst>
              </p:cNvPr>
              <p:cNvSpPr txBox="1"/>
              <p:nvPr/>
            </p:nvSpPr>
            <p:spPr>
              <a:xfrm>
                <a:off x="1017345" y="1976479"/>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smtClean="0">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17" name="TextBox 16">
                <a:extLst>
                  <a:ext uri="{FF2B5EF4-FFF2-40B4-BE49-F238E27FC236}">
                    <a16:creationId xmlns:a16="http://schemas.microsoft.com/office/drawing/2014/main" id="{D9A98858-A455-D096-DAD8-D4CDAC1D0F96}"/>
                  </a:ext>
                </a:extLst>
              </p:cNvPr>
              <p:cNvSpPr txBox="1">
                <a:spLocks noRot="1" noChangeAspect="1" noMove="1" noResize="1" noEditPoints="1" noAdjustHandles="1" noChangeArrowheads="1" noChangeShapeType="1" noTextEdit="1"/>
              </p:cNvSpPr>
              <p:nvPr/>
            </p:nvSpPr>
            <p:spPr>
              <a:xfrm>
                <a:off x="1017345" y="1976479"/>
                <a:ext cx="992430" cy="337785"/>
              </a:xfrm>
              <a:prstGeom prst="rect">
                <a:avLst/>
              </a:prstGeom>
              <a:blipFill>
                <a:blip r:embed="rId7"/>
                <a:stretch>
                  <a:fillRect t="-14286" r="-9816" b="-8929"/>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426C28E4-B760-F72F-2A0B-C372368F3F04}"/>
              </a:ext>
            </a:extLst>
          </p:cNvPr>
          <p:cNvCxnSpPr/>
          <p:nvPr/>
        </p:nvCxnSpPr>
        <p:spPr bwMode="auto">
          <a:xfrm>
            <a:off x="3251532" y="2340481"/>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BCEFD1B4-AB34-2FA9-0E48-F21FD2778A1B}"/>
              </a:ext>
            </a:extLst>
          </p:cNvPr>
          <p:cNvCxnSpPr/>
          <p:nvPr/>
        </p:nvCxnSpPr>
        <p:spPr bwMode="auto">
          <a:xfrm>
            <a:off x="1690956" y="2340482"/>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EC8DB7F-BDB4-DF23-3B09-E57FFD0BB6BA}"/>
                  </a:ext>
                </a:extLst>
              </p:cNvPr>
              <p:cNvSpPr txBox="1"/>
              <p:nvPr/>
            </p:nvSpPr>
            <p:spPr>
              <a:xfrm>
                <a:off x="2985210" y="1974897"/>
                <a:ext cx="992430" cy="337785"/>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050" b="0" i="1" u="none" smtClean="0">
                          <a:solidFill>
                            <a:srgbClr val="00B0F0"/>
                          </a:solidFill>
                          <a:latin typeface="Cambria Math" panose="02040503050406030204" pitchFamily="18" charset="0"/>
                          <a:cs typeface="Arial" panose="020B0604020202020204" pitchFamily="34" charset="0"/>
                        </a:rPr>
                        <m:t>51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1</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96</m:t>
                      </m:r>
                      <m:r>
                        <a:rPr lang="en-US" sz="1050" b="0" i="1" u="none" dirty="0" smtClean="0">
                          <a:solidFill>
                            <a:schemeClr val="accent6"/>
                          </a:solidFill>
                          <a:latin typeface="Cambria Math" panose="02040503050406030204" pitchFamily="18" charset="0"/>
                          <a:ea typeface="Cambria Math" panose="02040503050406030204" pitchFamily="18" charset="0"/>
                          <a:cs typeface="Arial" panose="020B0604020202020204" pitchFamily="34" charset="0"/>
                        </a:rPr>
                        <m:t>∗</m:t>
                      </m:r>
                      <m:f>
                        <m:fPr>
                          <m:ctrlPr>
                            <a:rPr lang="en-US" sz="1050" b="0" i="1" u="none">
                              <a:solidFill>
                                <a:schemeClr val="accent6"/>
                              </a:solidFill>
                              <a:latin typeface="Cambria Math" panose="02040503050406030204" pitchFamily="18" charset="0"/>
                              <a:cs typeface="Arial" panose="020B0604020202020204" pitchFamily="34" charset="0"/>
                            </a:rPr>
                          </m:ctrlPr>
                        </m:fPr>
                        <m:num>
                          <m:acc>
                            <m:accPr>
                              <m:chr m:val="̂"/>
                              <m:ctrlPr>
                                <a:rPr lang="en-US" sz="1050" i="1" u="none" smtClean="0">
                                  <a:solidFill>
                                    <a:srgbClr val="00B0F0"/>
                                  </a:solidFill>
                                  <a:latin typeface="Cambria Math" panose="02040503050406030204" pitchFamily="18" charset="0"/>
                                </a:rPr>
                              </m:ctrlPr>
                            </m:accPr>
                            <m:e>
                              <m:r>
                                <a:rPr lang="en-US" sz="1050" i="1" u="none">
                                  <a:solidFill>
                                    <a:srgbClr val="00B0F0"/>
                                  </a:solidFill>
                                  <a:latin typeface="Cambria Math" panose="02040503050406030204" pitchFamily="18" charset="0"/>
                                </a:rPr>
                                <m:t>𝜎</m:t>
                              </m:r>
                            </m:e>
                          </m:acc>
                        </m:num>
                        <m:den>
                          <m:rad>
                            <m:radPr>
                              <m:degHide m:val="on"/>
                              <m:ctrlPr>
                                <a:rPr lang="en-US" sz="1050" b="0" i="1" u="none">
                                  <a:solidFill>
                                    <a:schemeClr val="accent6"/>
                                  </a:solidFill>
                                  <a:latin typeface="Cambria Math" panose="02040503050406030204" pitchFamily="18" charset="0"/>
                                  <a:cs typeface="Arial" panose="020B0604020202020204" pitchFamily="34" charset="0"/>
                                </a:rPr>
                              </m:ctrlPr>
                            </m:radPr>
                            <m:deg/>
                            <m:e>
                              <m:r>
                                <a:rPr lang="en-US" sz="1050" b="0" i="1" u="none" smtClean="0">
                                  <a:solidFill>
                                    <a:srgbClr val="00B0F0"/>
                                  </a:solidFill>
                                  <a:latin typeface="Cambria Math" panose="02040503050406030204" pitchFamily="18" charset="0"/>
                                  <a:cs typeface="Arial" panose="020B0604020202020204" pitchFamily="34" charset="0"/>
                                </a:rPr>
                                <m:t>𝑁</m:t>
                              </m:r>
                            </m:e>
                          </m:rad>
                        </m:den>
                      </m:f>
                    </m:oMath>
                  </m:oMathPara>
                </a14:m>
                <a:endParaRPr lang="en-US" sz="1200" dirty="0"/>
              </a:p>
            </p:txBody>
          </p:sp>
        </mc:Choice>
        <mc:Fallback xmlns="">
          <p:sp>
            <p:nvSpPr>
              <p:cNvPr id="21" name="TextBox 20">
                <a:extLst>
                  <a:ext uri="{FF2B5EF4-FFF2-40B4-BE49-F238E27FC236}">
                    <a16:creationId xmlns:a16="http://schemas.microsoft.com/office/drawing/2014/main" id="{CEC8DB7F-BDB4-DF23-3B09-E57FFD0BB6BA}"/>
                  </a:ext>
                </a:extLst>
              </p:cNvPr>
              <p:cNvSpPr txBox="1">
                <a:spLocks noRot="1" noChangeAspect="1" noMove="1" noResize="1" noEditPoints="1" noAdjustHandles="1" noChangeArrowheads="1" noChangeShapeType="1" noTextEdit="1"/>
              </p:cNvSpPr>
              <p:nvPr/>
            </p:nvSpPr>
            <p:spPr>
              <a:xfrm>
                <a:off x="2985210" y="1974897"/>
                <a:ext cx="992430" cy="337785"/>
              </a:xfrm>
              <a:prstGeom prst="rect">
                <a:avLst/>
              </a:prstGeom>
              <a:blipFill>
                <a:blip r:embed="rId8"/>
                <a:stretch>
                  <a:fillRect t="-16364" r="-9816"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37E7656-5545-4116-8A39-1D992D62379D}"/>
                  </a:ext>
                </a:extLst>
              </p:cNvPr>
              <p:cNvSpPr txBox="1"/>
              <p:nvPr/>
            </p:nvSpPr>
            <p:spPr>
              <a:xfrm>
                <a:off x="1164372" y="1475231"/>
                <a:ext cx="3016537" cy="391261"/>
              </a:xfrm>
              <a:prstGeom prst="rect">
                <a:avLst/>
              </a:prstGeom>
              <a:noFill/>
            </p:spPr>
            <p:txBody>
              <a:bodyPr wrap="square">
                <a:spAutoFit/>
              </a:bodyPr>
              <a:lstStyle/>
              <a:p>
                <a:pPr algn="ctr"/>
                <a:r>
                  <a:rPr lang="en-US" sz="1400" b="0" u="none" dirty="0">
                    <a:cs typeface="Arial" panose="020B0604020202020204" pitchFamily="34" charset="0"/>
                  </a:rPr>
                  <a:t>Distribution of Poll Results,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r>
                      <a:rPr lang="en-US" sz="1400" b="0" i="1" u="none" dirty="0" smtClean="0">
                        <a:latin typeface="Cambria Math" panose="02040503050406030204" pitchFamily="18" charset="0"/>
                        <a:cs typeface="Arial" panose="020B0604020202020204" pitchFamily="34" charset="0"/>
                      </a:rPr>
                      <m:t>(</m:t>
                    </m:r>
                    <m:r>
                      <a:rPr lang="en-US" sz="1400" b="0" i="1" u="none" dirty="0" smtClean="0">
                        <a:solidFill>
                          <a:srgbClr val="FF0000"/>
                        </a:solidFill>
                        <a:latin typeface="Cambria Math" panose="02040503050406030204" pitchFamily="18" charset="0"/>
                        <a:cs typeface="Arial" panose="020B0604020202020204" pitchFamily="34" charset="0"/>
                      </a:rPr>
                      <m:t>𝜇</m:t>
                    </m:r>
                    <m:r>
                      <a:rPr lang="en-US" sz="1400" b="0" i="1" u="none" dirty="0" smtClean="0">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r>
                      <a:rPr lang="en-US" sz="1400" b="0" i="1" u="none" dirty="0" smtClean="0">
                        <a:latin typeface="Cambria Math" panose="02040503050406030204" pitchFamily="18" charset="0"/>
                        <a:cs typeface="Arial" panose="020B0604020202020204" pitchFamily="34" charset="0"/>
                      </a:rPr>
                      <m:t>)</m:t>
                    </m:r>
                  </m:oMath>
                </a14:m>
                <a:endParaRPr lang="en-US" sz="1400" dirty="0"/>
              </a:p>
            </p:txBody>
          </p:sp>
        </mc:Choice>
        <mc:Fallback xmlns="">
          <p:sp>
            <p:nvSpPr>
              <p:cNvPr id="22" name="TextBox 21">
                <a:extLst>
                  <a:ext uri="{FF2B5EF4-FFF2-40B4-BE49-F238E27FC236}">
                    <a16:creationId xmlns:a16="http://schemas.microsoft.com/office/drawing/2014/main" id="{537E7656-5545-4116-8A39-1D992D62379D}"/>
                  </a:ext>
                </a:extLst>
              </p:cNvPr>
              <p:cNvSpPr txBox="1">
                <a:spLocks noRot="1" noChangeAspect="1" noMove="1" noResize="1" noEditPoints="1" noAdjustHandles="1" noChangeArrowheads="1" noChangeShapeType="1" noTextEdit="1"/>
              </p:cNvSpPr>
              <p:nvPr/>
            </p:nvSpPr>
            <p:spPr>
              <a:xfrm>
                <a:off x="1164372" y="1475231"/>
                <a:ext cx="3016537" cy="391261"/>
              </a:xfrm>
              <a:prstGeom prst="rect">
                <a:avLst/>
              </a:prstGeom>
              <a:blipFill>
                <a:blip r:embed="rId9"/>
                <a:stretch>
                  <a:fillRect l="-202"/>
                </a:stretch>
              </a:blipFill>
            </p:spPr>
            <p:txBody>
              <a:bodyPr/>
              <a:lstStyle/>
              <a:p>
                <a:r>
                  <a:rPr lang="en-US">
                    <a:noFill/>
                  </a:rPr>
                  <a:t> </a:t>
                </a:r>
              </a:p>
            </p:txBody>
          </p:sp>
        </mc:Fallback>
      </mc:AlternateContent>
    </p:spTree>
    <p:extLst>
      <p:ext uri="{BB962C8B-B14F-4D97-AF65-F5344CB8AC3E}">
        <p14:creationId xmlns:p14="http://schemas.microsoft.com/office/powerpoint/2010/main" val="28717305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3CB46-2701-4742-BB51-33F432AEA952}"/>
              </a:ext>
            </a:extLst>
          </p:cNvPr>
          <p:cNvSpPr>
            <a:spLocks noGrp="1"/>
          </p:cNvSpPr>
          <p:nvPr>
            <p:ph type="title"/>
          </p:nvPr>
        </p:nvSpPr>
        <p:spPr/>
        <p:txBody>
          <a:bodyPr/>
          <a:lstStyle/>
          <a:p>
            <a:r>
              <a:rPr lang="en-US" dirty="0"/>
              <a:t>Recipe for Finding a Confidence Interval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B4EE80-04FC-473A-9F39-BB3CF8CF3F6C}"/>
                  </a:ext>
                </a:extLst>
              </p:cNvPr>
              <p:cNvSpPr>
                <a:spLocks noGrp="1"/>
              </p:cNvSpPr>
              <p:nvPr>
                <p:ph idx="1"/>
              </p:nvPr>
            </p:nvSpPr>
            <p:spPr/>
            <p:txBody>
              <a:bodyPr/>
              <a:lstStyle/>
              <a:p>
                <a:endParaRPr lang="en-US" sz="2000" b="1" dirty="0">
                  <a:solidFill>
                    <a:srgbClr val="0070C0"/>
                  </a:solidFill>
                </a:endParaRPr>
              </a:p>
              <a:p>
                <a:endParaRPr lang="en-US" dirty="0">
                  <a:solidFill>
                    <a:srgbClr val="0070C0"/>
                  </a:solidFill>
                </a:endParaRPr>
              </a:p>
              <a:p>
                <a:r>
                  <a:rPr lang="en-US" sz="2000" dirty="0">
                    <a:solidFill>
                      <a:srgbClr val="0070C0"/>
                    </a:solidFill>
                  </a:rPr>
                  <a:t>Step 1</a:t>
                </a:r>
                <a:r>
                  <a:rPr lang="en-US" dirty="0">
                    <a:solidFill>
                      <a:schemeClr val="tx1"/>
                    </a:solidFill>
                  </a:rPr>
                  <a:t>:</a:t>
                </a:r>
                <a:r>
                  <a:rPr lang="en-US" sz="2000" dirty="0">
                    <a:solidFill>
                      <a:schemeClr val="tx1"/>
                    </a:solidFill>
                  </a:rPr>
                  <a:t> Comput</a:t>
                </a:r>
                <a:r>
                  <a:rPr lang="en-US" dirty="0">
                    <a:solidFill>
                      <a:schemeClr val="tx1"/>
                    </a:solidFill>
                  </a:rPr>
                  <a:t>e sample mean (</a:t>
                </a:r>
                <a14:m>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chemeClr val="tx1"/>
                    </a:solidFill>
                  </a:rPr>
                  <a:t>) and sample standard deviation (</a:t>
                </a:r>
                <a14:m>
                  <m:oMath xmlns:m="http://schemas.openxmlformats.org/officeDocument/2006/math">
                    <m:acc>
                      <m:accPr>
                        <m:chr m:val="̂"/>
                        <m:ctrlPr>
                          <a:rPr lang="en-US" i="1" dirty="0" smtClean="0">
                            <a:solidFill>
                              <a:srgbClr val="00B0F0"/>
                            </a:solidFill>
                            <a:latin typeface="Cambria Math" panose="02040503050406030204" pitchFamily="18" charset="0"/>
                          </a:rPr>
                        </m:ctrlPr>
                      </m:accPr>
                      <m:e>
                        <m:r>
                          <a:rPr lang="en-US" i="1" dirty="0">
                            <a:solidFill>
                              <a:srgbClr val="00B0F0"/>
                            </a:solidFill>
                            <a:latin typeface="Cambria Math" panose="02040503050406030204" pitchFamily="18" charset="0"/>
                          </a:rPr>
                          <m:t>𝜎</m:t>
                        </m:r>
                      </m:e>
                    </m:acc>
                  </m:oMath>
                </a14:m>
                <a:r>
                  <a:rPr lang="en-US" dirty="0">
                    <a:solidFill>
                      <a:schemeClr val="tx1"/>
                    </a:solidFill>
                  </a:rPr>
                  <a:t>)</a:t>
                </a:r>
                <a:endParaRPr lang="en-US" sz="2000" dirty="0">
                  <a:solidFill>
                    <a:schemeClr val="tx1"/>
                  </a:solidFill>
                </a:endParaRPr>
              </a:p>
              <a:p>
                <a:endParaRPr lang="en-US" sz="2000" dirty="0">
                  <a:solidFill>
                    <a:srgbClr val="0070C0"/>
                  </a:solidFill>
                </a:endParaRPr>
              </a:p>
              <a:p>
                <a:r>
                  <a:rPr lang="en-US" sz="2000" dirty="0">
                    <a:solidFill>
                      <a:srgbClr val="0070C0"/>
                    </a:solidFill>
                  </a:rPr>
                  <a:t>Step 2</a:t>
                </a:r>
                <a:r>
                  <a:rPr lang="en-US" sz="2000" dirty="0">
                    <a:solidFill>
                      <a:schemeClr val="tx1"/>
                    </a:solidFill>
                  </a:rPr>
                  <a:t>: Choose a confidence level and find its critical value </a:t>
                </a:r>
                <a:br>
                  <a:rPr lang="en-US" sz="2000" dirty="0">
                    <a:solidFill>
                      <a:schemeClr val="tx1"/>
                    </a:solidFill>
                  </a:rPr>
                </a:br>
                <a:r>
                  <a:rPr lang="en-US" sz="2000" dirty="0">
                    <a:solidFill>
                      <a:schemeClr val="tx1"/>
                    </a:solidFill>
                  </a:rPr>
                  <a:t>             </a:t>
                </a:r>
                <a:r>
                  <a:rPr lang="en-US" dirty="0">
                    <a:solidFill>
                      <a:schemeClr val="bg1">
                        <a:lumMod val="50000"/>
                      </a:schemeClr>
                    </a:solidFill>
                  </a:rPr>
                  <a:t>(90, 95 and 99 percent with critical values 1.64, 1.96 or 2.58)</a:t>
                </a:r>
              </a:p>
              <a:p>
                <a:endParaRPr lang="en-US" sz="2000" dirty="0"/>
              </a:p>
              <a:p>
                <a:r>
                  <a:rPr lang="en-US" sz="2000" dirty="0">
                    <a:solidFill>
                      <a:srgbClr val="0070C0"/>
                    </a:solidFill>
                  </a:rPr>
                  <a:t>Step 3</a:t>
                </a:r>
                <a:r>
                  <a:rPr lang="en-US" sz="2000" dirty="0">
                    <a:solidFill>
                      <a:schemeClr val="tx1"/>
                    </a:solidFill>
                  </a:rPr>
                  <a:t>: Build a confidence interval as </a:t>
                </a:r>
              </a:p>
              <a:p>
                <a:endParaRPr lang="en-US" sz="20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sz="2000" i="1" dirty="0">
                          <a:solidFill>
                            <a:schemeClr val="tx1"/>
                          </a:solidFill>
                          <a:latin typeface="Cambria Math" panose="02040503050406030204" pitchFamily="18" charset="0"/>
                          <a:ea typeface="Cambria Math" panose="02040503050406030204" pitchFamily="18" charset="0"/>
                        </a:rPr>
                        <m:t>±</m:t>
                      </m:r>
                      <m:r>
                        <a:rPr lang="en-US" sz="2000" b="0" i="1" dirty="0" smtClean="0">
                          <a:solidFill>
                            <a:schemeClr val="tx1"/>
                          </a:solidFill>
                          <a:latin typeface="Cambria Math" panose="02040503050406030204" pitchFamily="18" charset="0"/>
                          <a:ea typeface="Cambria Math" panose="02040503050406030204" pitchFamily="18" charset="0"/>
                        </a:rPr>
                        <m:t>𝐶𝑟𝑖𝑡𝑖𝑐𝑎𝑙</m:t>
                      </m:r>
                      <m:r>
                        <a:rPr lang="en-US" sz="2000" b="0" i="1" dirty="0" smtClean="0">
                          <a:solidFill>
                            <a:schemeClr val="tx1"/>
                          </a:solidFill>
                          <a:latin typeface="Cambria Math" panose="02040503050406030204" pitchFamily="18" charset="0"/>
                          <a:ea typeface="Cambria Math" panose="02040503050406030204" pitchFamily="18" charset="0"/>
                        </a:rPr>
                        <m:t> </m:t>
                      </m:r>
                      <m:r>
                        <a:rPr lang="en-US" sz="2000" b="0" i="1" dirty="0" smtClean="0">
                          <a:solidFill>
                            <a:schemeClr val="tx1"/>
                          </a:solidFill>
                          <a:latin typeface="Cambria Math" panose="02040503050406030204" pitchFamily="18" charset="0"/>
                          <a:ea typeface="Cambria Math" panose="02040503050406030204" pitchFamily="18" charset="0"/>
                        </a:rPr>
                        <m:t>𝑉𝑎𝑙𝑢𝑒</m:t>
                      </m:r>
                      <m:r>
                        <a:rPr lang="en-US" sz="2000" b="0" i="1" dirty="0" smtClean="0">
                          <a:solidFill>
                            <a:schemeClr val="tx1"/>
                          </a:solidFill>
                          <a:latin typeface="Cambria Math" panose="02040503050406030204" pitchFamily="18" charset="0"/>
                          <a:ea typeface="Cambria Math" panose="02040503050406030204" pitchFamily="18" charset="0"/>
                        </a:rPr>
                        <m:t>∗ </m:t>
                      </m:r>
                      <m:r>
                        <a:rPr lang="en-US" sz="2000" i="1" dirty="0" smtClean="0">
                          <a:solidFill>
                            <a:srgbClr val="EB971B"/>
                          </a:solidFill>
                          <a:latin typeface="Cambria Math" panose="02040503050406030204" pitchFamily="18" charset="0"/>
                          <a:ea typeface="Cambria Math" panose="02040503050406030204" pitchFamily="18" charset="0"/>
                        </a:rPr>
                        <m:t>𝑆</m:t>
                      </m:r>
                      <m:r>
                        <a:rPr lang="en-US" sz="2000" b="0" i="1" dirty="0" smtClean="0">
                          <a:solidFill>
                            <a:srgbClr val="EB971B"/>
                          </a:solidFill>
                          <a:latin typeface="Cambria Math" panose="02040503050406030204" pitchFamily="18" charset="0"/>
                          <a:ea typeface="Cambria Math" panose="02040503050406030204" pitchFamily="18" charset="0"/>
                        </a:rPr>
                        <m:t>𝑡𝑑</m:t>
                      </m:r>
                      <m:r>
                        <a:rPr lang="en-US" sz="2000" b="0" i="1" dirty="0" smtClean="0">
                          <a:solidFill>
                            <a:srgbClr val="EB971B"/>
                          </a:solidFill>
                          <a:latin typeface="Cambria Math" panose="02040503050406030204" pitchFamily="18" charset="0"/>
                          <a:ea typeface="Cambria Math" panose="02040503050406030204" pitchFamily="18" charset="0"/>
                        </a:rPr>
                        <m:t> </m:t>
                      </m:r>
                      <m:r>
                        <a:rPr lang="en-US" sz="2000" i="1" dirty="0">
                          <a:solidFill>
                            <a:srgbClr val="EB971B"/>
                          </a:solidFill>
                          <a:latin typeface="Cambria Math" panose="02040503050406030204" pitchFamily="18" charset="0"/>
                          <a:ea typeface="Cambria Math" panose="02040503050406030204" pitchFamily="18" charset="0"/>
                        </a:rPr>
                        <m:t>𝐸</m:t>
                      </m:r>
                      <m:r>
                        <a:rPr lang="en-US" sz="2000" b="0" i="1" dirty="0" smtClean="0">
                          <a:solidFill>
                            <a:srgbClr val="EB971B"/>
                          </a:solidFill>
                          <a:latin typeface="Cambria Math" panose="02040503050406030204" pitchFamily="18" charset="0"/>
                          <a:ea typeface="Cambria Math" panose="02040503050406030204" pitchFamily="18" charset="0"/>
                        </a:rPr>
                        <m:t>𝑟𝑟</m:t>
                      </m:r>
                      <m:d>
                        <m:dPr>
                          <m:ctrlPr>
                            <a:rPr lang="en-US" sz="2000" b="0" i="1" dirty="0" smtClean="0">
                              <a:solidFill>
                                <a:srgbClr val="EB971B"/>
                              </a:solidFill>
                              <a:latin typeface="Cambria Math" panose="02040503050406030204" pitchFamily="18" charset="0"/>
                              <a:ea typeface="Cambria Math" panose="02040503050406030204" pitchFamily="18" charset="0"/>
                            </a:rPr>
                          </m:ctrlPr>
                        </m:dPr>
                        <m:e>
                          <m:acc>
                            <m:accPr>
                              <m:chr m:val="̅"/>
                              <m:ctrlPr>
                                <a:rPr lang="en-US" i="1">
                                  <a:solidFill>
                                    <a:srgbClr val="EB971B"/>
                                  </a:solidFill>
                                  <a:latin typeface="Cambria Math" panose="02040503050406030204" pitchFamily="18" charset="0"/>
                                </a:rPr>
                              </m:ctrlPr>
                            </m:accPr>
                            <m:e>
                              <m:r>
                                <a:rPr lang="en-US" i="1">
                                  <a:solidFill>
                                    <a:srgbClr val="EB971B"/>
                                  </a:solidFill>
                                  <a:latin typeface="Cambria Math" panose="02040503050406030204" pitchFamily="18" charset="0"/>
                                </a:rPr>
                                <m:t>𝑥</m:t>
                              </m:r>
                            </m:e>
                          </m:acc>
                        </m:e>
                      </m:d>
                    </m:oMath>
                  </m:oMathPara>
                </a14:m>
                <a:endParaRPr lang="en-US" sz="2000" b="0" dirty="0">
                  <a:solidFill>
                    <a:schemeClr val="tx1"/>
                  </a:solidFill>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dirty="0">
                          <a:solidFill>
                            <a:schemeClr val="tx1"/>
                          </a:solidFill>
                          <a:latin typeface="Cambria Math" panose="02040503050406030204" pitchFamily="18" charset="0"/>
                          <a:ea typeface="Cambria Math" panose="02040503050406030204" pitchFamily="18" charset="0"/>
                        </a:rPr>
                        <m:t>±</m:t>
                      </m:r>
                      <m:r>
                        <a:rPr lang="en-US" i="1" dirty="0">
                          <a:solidFill>
                            <a:schemeClr val="tx1"/>
                          </a:solidFill>
                          <a:latin typeface="Cambria Math" panose="02040503050406030204" pitchFamily="18" charset="0"/>
                          <a:ea typeface="Cambria Math" panose="02040503050406030204" pitchFamily="18" charset="0"/>
                        </a:rPr>
                        <m:t>𝐶𝑟𝑖𝑡𝑖𝑐𝑎𝑙</m:t>
                      </m:r>
                      <m:r>
                        <a:rPr lang="en-US" i="1" dirty="0">
                          <a:solidFill>
                            <a:schemeClr val="tx1"/>
                          </a:solidFill>
                          <a:latin typeface="Cambria Math" panose="02040503050406030204" pitchFamily="18" charset="0"/>
                          <a:ea typeface="Cambria Math" panose="02040503050406030204" pitchFamily="18" charset="0"/>
                        </a:rPr>
                        <m:t> </m:t>
                      </m:r>
                      <m:r>
                        <a:rPr lang="en-US" i="1" dirty="0">
                          <a:solidFill>
                            <a:schemeClr val="tx1"/>
                          </a:solidFill>
                          <a:latin typeface="Cambria Math" panose="02040503050406030204" pitchFamily="18" charset="0"/>
                          <a:ea typeface="Cambria Math" panose="02040503050406030204" pitchFamily="18" charset="0"/>
                        </a:rPr>
                        <m:t>𝑉𝑎𝑙𝑢𝑒</m:t>
                      </m:r>
                      <m:r>
                        <a:rPr lang="en-US" i="1" dirty="0">
                          <a:solidFill>
                            <a:schemeClr val="tx1"/>
                          </a:solidFill>
                          <a:latin typeface="Cambria Math" panose="02040503050406030204" pitchFamily="18" charset="0"/>
                          <a:ea typeface="Cambria Math" panose="02040503050406030204" pitchFamily="18" charset="0"/>
                        </a:rPr>
                        <m:t>∗</m:t>
                      </m:r>
                      <m:f>
                        <m:fPr>
                          <m:ctrlPr>
                            <a:rPr lang="en-US" i="1">
                              <a:solidFill>
                                <a:schemeClr val="accent6"/>
                              </a:solidFill>
                              <a:latin typeface="Cambria Math" panose="02040503050406030204" pitchFamily="18" charset="0"/>
                            </a:rPr>
                          </m:ctrlPr>
                        </m:fPr>
                        <m:num>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a:solidFill>
                                    <a:schemeClr val="accent6"/>
                                  </a:solidFill>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oMath>
                  </m:oMathPara>
                </a14:m>
                <a:endParaRPr lang="en-US" sz="2000" b="0" dirty="0">
                  <a:solidFill>
                    <a:schemeClr val="tx1"/>
                  </a:solidFill>
                  <a:ea typeface="Cambria Math" panose="02040503050406030204" pitchFamily="18" charset="0"/>
                </a:endParaRPr>
              </a:p>
              <a:p>
                <a:endParaRPr lang="en-US" sz="2000" dirty="0">
                  <a:solidFill>
                    <a:schemeClr val="tx1"/>
                  </a:solidFill>
                </a:endParaRPr>
              </a:p>
              <a:p>
                <a:pPr marL="0" indent="0">
                  <a:buNone/>
                </a:pPr>
                <a:br>
                  <a:rPr lang="en-US" sz="2000" dirty="0">
                    <a:solidFill>
                      <a:schemeClr val="tx1"/>
                    </a:solidFill>
                  </a:rPr>
                </a:br>
                <a:r>
                  <a:rPr lang="en-US" sz="2000" dirty="0">
                    <a:solidFill>
                      <a:schemeClr val="tx1"/>
                    </a:solidFill>
                  </a:rPr>
                  <a:t>                  </a:t>
                </a:r>
                <a:endParaRPr lang="en-US" sz="2000" dirty="0">
                  <a:solidFill>
                    <a:srgbClr val="00B0F0"/>
                  </a:solidFill>
                </a:endParaRPr>
              </a:p>
            </p:txBody>
          </p:sp>
        </mc:Choice>
        <mc:Fallback xmlns="">
          <p:sp>
            <p:nvSpPr>
              <p:cNvPr id="3" name="Content Placeholder 2">
                <a:extLst>
                  <a:ext uri="{FF2B5EF4-FFF2-40B4-BE49-F238E27FC236}">
                    <a16:creationId xmlns:a16="http://schemas.microsoft.com/office/drawing/2014/main" id="{37B4EE80-04FC-473A-9F39-BB3CF8CF3F6C}"/>
                  </a:ext>
                </a:extLst>
              </p:cNvPr>
              <p:cNvSpPr>
                <a:spLocks noGrp="1" noRot="1" noChangeAspect="1" noMove="1" noResize="1" noEditPoints="1" noAdjustHandles="1" noChangeArrowheads="1" noChangeShapeType="1" noTextEdit="1"/>
              </p:cNvSpPr>
              <p:nvPr>
                <p:ph idx="1"/>
              </p:nvPr>
            </p:nvSpPr>
            <p:spPr>
              <a:blipFill>
                <a:blip r:embed="rId2"/>
                <a:stretch>
                  <a:fillRect l="-723" r="-137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B1ED4E3-9298-4630-86BB-72925D4DE2B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70</a:t>
            </a:fld>
            <a:endParaRPr lang="en-GB" dirty="0"/>
          </a:p>
        </p:txBody>
      </p:sp>
    </p:spTree>
    <p:extLst>
      <p:ext uri="{BB962C8B-B14F-4D97-AF65-F5344CB8AC3E}">
        <p14:creationId xmlns:p14="http://schemas.microsoft.com/office/powerpoint/2010/main" val="21773823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D60B-0016-05A8-54E2-1FDAAEADA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7B8CB-3EEA-216E-38A5-2BA8C5A110FA}"/>
              </a:ext>
            </a:extLst>
          </p:cNvPr>
          <p:cNvSpPr>
            <a:spLocks noGrp="1"/>
          </p:cNvSpPr>
          <p:nvPr>
            <p:ph type="title"/>
          </p:nvPr>
        </p:nvSpPr>
        <p:spPr/>
        <p:txBody>
          <a:bodyPr/>
          <a:lstStyle/>
          <a:p>
            <a:r>
              <a:rPr lang="en-US" dirty="0"/>
              <a:t>Recipe for Finding a Confidence Interval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B33FCD-A2B6-8C51-B93F-E491BD33304A}"/>
                  </a:ext>
                </a:extLst>
              </p:cNvPr>
              <p:cNvSpPr>
                <a:spLocks noGrp="1"/>
              </p:cNvSpPr>
              <p:nvPr>
                <p:ph idx="1"/>
              </p:nvPr>
            </p:nvSpPr>
            <p:spPr/>
            <p:txBody>
              <a:bodyPr/>
              <a:lstStyle/>
              <a:p>
                <a:endParaRPr lang="en-US" sz="2000" b="1" dirty="0">
                  <a:solidFill>
                    <a:srgbClr val="0070C0"/>
                  </a:solidFill>
                </a:endParaRPr>
              </a:p>
              <a:p>
                <a:endParaRPr lang="en-US" dirty="0">
                  <a:solidFill>
                    <a:srgbClr val="0070C0"/>
                  </a:solidFill>
                </a:endParaRPr>
              </a:p>
              <a:p>
                <a:r>
                  <a:rPr lang="en-US" sz="2000" dirty="0">
                    <a:solidFill>
                      <a:srgbClr val="0070C0"/>
                    </a:solidFill>
                  </a:rPr>
                  <a:t>Step 1</a:t>
                </a:r>
                <a:r>
                  <a:rPr lang="en-US" dirty="0">
                    <a:solidFill>
                      <a:schemeClr val="tx1"/>
                    </a:solidFill>
                  </a:rPr>
                  <a:t>:</a:t>
                </a:r>
                <a:r>
                  <a:rPr lang="en-US" sz="2000" dirty="0">
                    <a:solidFill>
                      <a:schemeClr val="tx1"/>
                    </a:solidFill>
                  </a:rPr>
                  <a:t> Comput</a:t>
                </a:r>
                <a:r>
                  <a:rPr lang="en-US" dirty="0">
                    <a:solidFill>
                      <a:schemeClr val="tx1"/>
                    </a:solidFill>
                  </a:rPr>
                  <a:t>e sample mean (</a:t>
                </a:r>
                <a14:m>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chemeClr val="tx1"/>
                    </a:solidFill>
                  </a:rPr>
                  <a:t>) and sample standard deviation (</a:t>
                </a:r>
                <a14:m>
                  <m:oMath xmlns:m="http://schemas.openxmlformats.org/officeDocument/2006/math">
                    <m:acc>
                      <m:accPr>
                        <m:chr m:val="̂"/>
                        <m:ctrlPr>
                          <a:rPr lang="en-US" i="1" dirty="0" smtClean="0">
                            <a:solidFill>
                              <a:srgbClr val="00B0F0"/>
                            </a:solidFill>
                            <a:latin typeface="Cambria Math" panose="02040503050406030204" pitchFamily="18" charset="0"/>
                          </a:rPr>
                        </m:ctrlPr>
                      </m:accPr>
                      <m:e>
                        <m:r>
                          <a:rPr lang="en-US" i="1" dirty="0">
                            <a:solidFill>
                              <a:srgbClr val="00B0F0"/>
                            </a:solidFill>
                            <a:latin typeface="Cambria Math" panose="02040503050406030204" pitchFamily="18" charset="0"/>
                          </a:rPr>
                          <m:t>𝜎</m:t>
                        </m:r>
                      </m:e>
                    </m:acc>
                  </m:oMath>
                </a14:m>
                <a:r>
                  <a:rPr lang="en-US" dirty="0">
                    <a:solidFill>
                      <a:schemeClr val="tx1"/>
                    </a:solidFill>
                  </a:rPr>
                  <a:t>)</a:t>
                </a:r>
                <a:endParaRPr lang="en-US" sz="2000" dirty="0">
                  <a:solidFill>
                    <a:schemeClr val="tx1"/>
                  </a:solidFill>
                </a:endParaRPr>
              </a:p>
              <a:p>
                <a:endParaRPr lang="en-US" sz="2000" dirty="0">
                  <a:solidFill>
                    <a:srgbClr val="0070C0"/>
                  </a:solidFill>
                </a:endParaRPr>
              </a:p>
              <a:p>
                <a:r>
                  <a:rPr lang="en-US" sz="2000" dirty="0">
                    <a:solidFill>
                      <a:srgbClr val="0070C0"/>
                    </a:solidFill>
                  </a:rPr>
                  <a:t>Step 2</a:t>
                </a:r>
                <a:r>
                  <a:rPr lang="en-US" sz="2000" dirty="0">
                    <a:solidFill>
                      <a:schemeClr val="tx1"/>
                    </a:solidFill>
                  </a:rPr>
                  <a:t>: Choose a confidence level and find its critical value </a:t>
                </a:r>
                <a:br>
                  <a:rPr lang="en-US" sz="2000" dirty="0">
                    <a:solidFill>
                      <a:schemeClr val="tx1"/>
                    </a:solidFill>
                  </a:rPr>
                </a:br>
                <a:r>
                  <a:rPr lang="en-US" sz="2000" dirty="0">
                    <a:solidFill>
                      <a:schemeClr val="tx1"/>
                    </a:solidFill>
                  </a:rPr>
                  <a:t>             </a:t>
                </a:r>
                <a:r>
                  <a:rPr lang="en-US" dirty="0">
                    <a:solidFill>
                      <a:schemeClr val="bg1">
                        <a:lumMod val="50000"/>
                      </a:schemeClr>
                    </a:solidFill>
                  </a:rPr>
                  <a:t>(90, 95 and 99 percent with critical values 1.64, 1.96 or 2.58)</a:t>
                </a:r>
                <a:endParaRPr lang="en-US" sz="2000" dirty="0">
                  <a:solidFill>
                    <a:schemeClr val="bg1">
                      <a:lumMod val="50000"/>
                    </a:schemeClr>
                  </a:solidFill>
                </a:endParaRPr>
              </a:p>
              <a:p>
                <a:endParaRPr lang="en-US" sz="2000" dirty="0"/>
              </a:p>
              <a:p>
                <a:r>
                  <a:rPr lang="en-US" sz="2000" dirty="0">
                    <a:solidFill>
                      <a:srgbClr val="0070C0"/>
                    </a:solidFill>
                  </a:rPr>
                  <a:t>Step 3</a:t>
                </a:r>
                <a:r>
                  <a:rPr lang="en-US" sz="2000" dirty="0">
                    <a:solidFill>
                      <a:schemeClr val="tx1"/>
                    </a:solidFill>
                  </a:rPr>
                  <a:t>: Build a confidence interval as </a:t>
                </a:r>
              </a:p>
              <a:p>
                <a:endParaRPr lang="en-US" sz="20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dirty="0">
                          <a:solidFill>
                            <a:schemeClr val="tx1"/>
                          </a:solidFill>
                          <a:latin typeface="Cambria Math" panose="02040503050406030204" pitchFamily="18" charset="0"/>
                          <a:ea typeface="Cambria Math" panose="02040503050406030204" pitchFamily="18" charset="0"/>
                        </a:rPr>
                        <m:t>±</m:t>
                      </m:r>
                      <m:r>
                        <a:rPr lang="en-US" i="1" dirty="0">
                          <a:solidFill>
                            <a:schemeClr val="tx1"/>
                          </a:solidFill>
                          <a:latin typeface="Cambria Math" panose="02040503050406030204" pitchFamily="18" charset="0"/>
                          <a:ea typeface="Cambria Math" panose="02040503050406030204" pitchFamily="18" charset="0"/>
                        </a:rPr>
                        <m:t>𝐶𝑟𝑖𝑡𝑖𝑐𝑎𝑙</m:t>
                      </m:r>
                      <m:r>
                        <a:rPr lang="en-US" i="1" dirty="0">
                          <a:solidFill>
                            <a:schemeClr val="tx1"/>
                          </a:solidFill>
                          <a:latin typeface="Cambria Math" panose="02040503050406030204" pitchFamily="18" charset="0"/>
                          <a:ea typeface="Cambria Math" panose="02040503050406030204" pitchFamily="18" charset="0"/>
                        </a:rPr>
                        <m:t> </m:t>
                      </m:r>
                      <m:r>
                        <a:rPr lang="en-US" i="1" dirty="0">
                          <a:solidFill>
                            <a:schemeClr val="tx1"/>
                          </a:solidFill>
                          <a:latin typeface="Cambria Math" panose="02040503050406030204" pitchFamily="18" charset="0"/>
                          <a:ea typeface="Cambria Math" panose="02040503050406030204" pitchFamily="18" charset="0"/>
                        </a:rPr>
                        <m:t>𝑉𝑎𝑙𝑢𝑒</m:t>
                      </m:r>
                      <m:r>
                        <a:rPr lang="en-US" i="1" dirty="0">
                          <a:solidFill>
                            <a:schemeClr val="tx1"/>
                          </a:solidFill>
                          <a:latin typeface="Cambria Math" panose="02040503050406030204" pitchFamily="18" charset="0"/>
                          <a:ea typeface="Cambria Math" panose="02040503050406030204" pitchFamily="18" charset="0"/>
                        </a:rPr>
                        <m:t>∗ </m:t>
                      </m:r>
                      <m:r>
                        <a:rPr lang="en-US" i="1" dirty="0">
                          <a:solidFill>
                            <a:srgbClr val="EB971B"/>
                          </a:solidFill>
                          <a:latin typeface="Cambria Math" panose="02040503050406030204" pitchFamily="18" charset="0"/>
                          <a:ea typeface="Cambria Math" panose="02040503050406030204" pitchFamily="18" charset="0"/>
                        </a:rPr>
                        <m:t>𝑆𝑡𝑑</m:t>
                      </m:r>
                      <m:r>
                        <a:rPr lang="en-US" i="1" dirty="0">
                          <a:solidFill>
                            <a:srgbClr val="EB971B"/>
                          </a:solidFill>
                          <a:latin typeface="Cambria Math" panose="02040503050406030204" pitchFamily="18" charset="0"/>
                          <a:ea typeface="Cambria Math" panose="02040503050406030204" pitchFamily="18" charset="0"/>
                        </a:rPr>
                        <m:t> </m:t>
                      </m:r>
                      <m:r>
                        <a:rPr lang="en-US" i="1" dirty="0">
                          <a:solidFill>
                            <a:srgbClr val="EB971B"/>
                          </a:solidFill>
                          <a:latin typeface="Cambria Math" panose="02040503050406030204" pitchFamily="18" charset="0"/>
                          <a:ea typeface="Cambria Math" panose="02040503050406030204" pitchFamily="18" charset="0"/>
                        </a:rPr>
                        <m:t>𝐸𝑟𝑟</m:t>
                      </m:r>
                      <m:d>
                        <m:dPr>
                          <m:ctrlPr>
                            <a:rPr lang="en-US" i="1" dirty="0">
                              <a:solidFill>
                                <a:srgbClr val="EB971B"/>
                              </a:solidFill>
                              <a:latin typeface="Cambria Math" panose="02040503050406030204" pitchFamily="18" charset="0"/>
                              <a:ea typeface="Cambria Math" panose="02040503050406030204" pitchFamily="18" charset="0"/>
                            </a:rPr>
                          </m:ctrlPr>
                        </m:dPr>
                        <m:e>
                          <m:acc>
                            <m:accPr>
                              <m:chr m:val="̅"/>
                              <m:ctrlPr>
                                <a:rPr lang="en-US" i="1">
                                  <a:solidFill>
                                    <a:srgbClr val="EB971B"/>
                                  </a:solidFill>
                                  <a:latin typeface="Cambria Math" panose="02040503050406030204" pitchFamily="18" charset="0"/>
                                </a:rPr>
                              </m:ctrlPr>
                            </m:accPr>
                            <m:e>
                              <m:r>
                                <a:rPr lang="en-US" i="1">
                                  <a:solidFill>
                                    <a:srgbClr val="EB971B"/>
                                  </a:solidFill>
                                  <a:latin typeface="Cambria Math" panose="02040503050406030204" pitchFamily="18" charset="0"/>
                                </a:rPr>
                                <m:t>𝑥</m:t>
                              </m:r>
                            </m:e>
                          </m:acc>
                        </m:e>
                      </m:d>
                    </m:oMath>
                  </m:oMathPara>
                </a14:m>
                <a:endParaRPr lang="en-US" dirty="0">
                  <a:solidFill>
                    <a:schemeClr val="tx1"/>
                  </a:solidFill>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dirty="0">
                          <a:solidFill>
                            <a:schemeClr val="tx1"/>
                          </a:solidFill>
                          <a:latin typeface="Cambria Math" panose="02040503050406030204" pitchFamily="18" charset="0"/>
                          <a:ea typeface="Cambria Math" panose="02040503050406030204" pitchFamily="18" charset="0"/>
                        </a:rPr>
                        <m:t>±</m:t>
                      </m:r>
                      <m:r>
                        <a:rPr lang="en-US" i="1" dirty="0">
                          <a:solidFill>
                            <a:schemeClr val="tx1"/>
                          </a:solidFill>
                          <a:latin typeface="Cambria Math" panose="02040503050406030204" pitchFamily="18" charset="0"/>
                          <a:ea typeface="Cambria Math" panose="02040503050406030204" pitchFamily="18" charset="0"/>
                        </a:rPr>
                        <m:t>𝐶𝑟𝑖𝑡𝑖𝑐𝑎𝑙</m:t>
                      </m:r>
                      <m:r>
                        <a:rPr lang="en-US" i="1" dirty="0">
                          <a:solidFill>
                            <a:schemeClr val="tx1"/>
                          </a:solidFill>
                          <a:latin typeface="Cambria Math" panose="02040503050406030204" pitchFamily="18" charset="0"/>
                          <a:ea typeface="Cambria Math" panose="02040503050406030204" pitchFamily="18" charset="0"/>
                        </a:rPr>
                        <m:t> </m:t>
                      </m:r>
                      <m:r>
                        <a:rPr lang="en-US" i="1" dirty="0">
                          <a:solidFill>
                            <a:schemeClr val="tx1"/>
                          </a:solidFill>
                          <a:latin typeface="Cambria Math" panose="02040503050406030204" pitchFamily="18" charset="0"/>
                          <a:ea typeface="Cambria Math" panose="02040503050406030204" pitchFamily="18" charset="0"/>
                        </a:rPr>
                        <m:t>𝑉𝑎𝑙𝑢𝑒</m:t>
                      </m:r>
                      <m:r>
                        <a:rPr lang="en-US" i="1" dirty="0">
                          <a:solidFill>
                            <a:schemeClr val="tx1"/>
                          </a:solidFill>
                          <a:latin typeface="Cambria Math" panose="02040503050406030204" pitchFamily="18" charset="0"/>
                          <a:ea typeface="Cambria Math" panose="02040503050406030204" pitchFamily="18" charset="0"/>
                        </a:rPr>
                        <m:t>∗</m:t>
                      </m:r>
                      <m:f>
                        <m:fPr>
                          <m:ctrlPr>
                            <a:rPr lang="en-US" i="1">
                              <a:solidFill>
                                <a:schemeClr val="accent6"/>
                              </a:solidFill>
                              <a:latin typeface="Cambria Math" panose="02040503050406030204" pitchFamily="18" charset="0"/>
                            </a:rPr>
                          </m:ctrlPr>
                        </m:fPr>
                        <m:num>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a:solidFill>
                                    <a:schemeClr val="accent6"/>
                                  </a:solidFill>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oMath>
                  </m:oMathPara>
                </a14:m>
                <a:endParaRPr lang="en-US" dirty="0">
                  <a:solidFill>
                    <a:schemeClr val="tx1"/>
                  </a:solidFill>
                  <a:ea typeface="Cambria Math" panose="02040503050406030204" pitchFamily="18" charset="0"/>
                </a:endParaRPr>
              </a:p>
              <a:p>
                <a:pPr marL="0" indent="0" algn="ctr">
                  <a:buNone/>
                </a:pPr>
                <a:endParaRPr lang="en-US" dirty="0">
                  <a:solidFill>
                    <a:srgbClr val="FF0000"/>
                  </a:solidFill>
                  <a:ea typeface="Cambria Math" panose="02040503050406030204" pitchFamily="18" charset="0"/>
                </a:endParaRPr>
              </a:p>
              <a:p>
                <a:pPr marL="0" indent="0" algn="ctr">
                  <a:buNone/>
                </a:pPr>
                <a:endParaRPr lang="en-US" sz="2000" b="0" dirty="0">
                  <a:solidFill>
                    <a:srgbClr val="FF0000"/>
                  </a:solidFill>
                  <a:ea typeface="Cambria Math" panose="02040503050406030204" pitchFamily="18" charset="0"/>
                </a:endParaRPr>
              </a:p>
              <a:p>
                <a:endParaRPr lang="en-US" sz="2000" dirty="0">
                  <a:solidFill>
                    <a:srgbClr val="FF0000"/>
                  </a:solidFill>
                </a:endParaRPr>
              </a:p>
              <a:p>
                <a:pPr marL="0" indent="0">
                  <a:buNone/>
                </a:pPr>
                <a:br>
                  <a:rPr lang="en-US" sz="2000" dirty="0">
                    <a:solidFill>
                      <a:schemeClr val="tx1"/>
                    </a:solidFill>
                  </a:rPr>
                </a:br>
                <a:r>
                  <a:rPr lang="en-US" sz="2000" dirty="0">
                    <a:solidFill>
                      <a:schemeClr val="tx1"/>
                    </a:solidFill>
                  </a:rPr>
                  <a:t>                  </a:t>
                </a:r>
                <a:endParaRPr lang="en-US" sz="2000" dirty="0">
                  <a:solidFill>
                    <a:srgbClr val="00B0F0"/>
                  </a:solidFill>
                </a:endParaRPr>
              </a:p>
            </p:txBody>
          </p:sp>
        </mc:Choice>
        <mc:Fallback xmlns="">
          <p:sp>
            <p:nvSpPr>
              <p:cNvPr id="3" name="Content Placeholder 2">
                <a:extLst>
                  <a:ext uri="{FF2B5EF4-FFF2-40B4-BE49-F238E27FC236}">
                    <a16:creationId xmlns:a16="http://schemas.microsoft.com/office/drawing/2014/main" id="{ECB33FCD-A2B6-8C51-B93F-E491BD33304A}"/>
                  </a:ext>
                </a:extLst>
              </p:cNvPr>
              <p:cNvSpPr>
                <a:spLocks noGrp="1" noRot="1" noChangeAspect="1" noMove="1" noResize="1" noEditPoints="1" noAdjustHandles="1" noChangeArrowheads="1" noChangeShapeType="1" noTextEdit="1"/>
              </p:cNvSpPr>
              <p:nvPr>
                <p:ph idx="1"/>
              </p:nvPr>
            </p:nvSpPr>
            <p:spPr>
              <a:blipFill>
                <a:blip r:embed="rId2"/>
                <a:stretch>
                  <a:fillRect l="-723" r="-1373" b="-549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069442D-6BAE-3B9F-C431-7AAB41979AE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71</a:t>
            </a:fld>
            <a:endParaRPr lang="en-GB" dirty="0"/>
          </a:p>
        </p:txBody>
      </p:sp>
      <p:sp>
        <p:nvSpPr>
          <p:cNvPr id="5" name="Oval 4">
            <a:extLst>
              <a:ext uri="{FF2B5EF4-FFF2-40B4-BE49-F238E27FC236}">
                <a16:creationId xmlns:a16="http://schemas.microsoft.com/office/drawing/2014/main" id="{AA87D9BE-47B2-16A0-A104-F512DBD02EE0}"/>
              </a:ext>
            </a:extLst>
          </p:cNvPr>
          <p:cNvSpPr/>
          <p:nvPr/>
        </p:nvSpPr>
        <p:spPr bwMode="auto">
          <a:xfrm>
            <a:off x="3644900" y="4537075"/>
            <a:ext cx="2749550" cy="831850"/>
          </a:xfrm>
          <a:prstGeom prst="ellipse">
            <a:avLst/>
          </a:prstGeom>
          <a:noFill/>
          <a:ln w="9525" cap="flat" cmpd="sng" algn="ctr">
            <a:solidFill>
              <a:srgbClr val="FF0000"/>
            </a:solidFill>
            <a:prstDash val="solid"/>
            <a:round/>
            <a:headEnd type="none" w="med" len="med"/>
            <a:tailEnd type="triangle" w="med" len="med"/>
          </a:ln>
          <a:effectLst/>
        </p:spPr>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7622FE-571C-E3A8-17B7-82A82B17832D}"/>
                  </a:ext>
                </a:extLst>
              </p:cNvPr>
              <p:cNvSpPr txBox="1"/>
              <p:nvPr/>
            </p:nvSpPr>
            <p:spPr>
              <a:xfrm>
                <a:off x="6130282" y="5141912"/>
                <a:ext cx="1951681" cy="830997"/>
              </a:xfrm>
              <a:prstGeom prst="rect">
                <a:avLst/>
              </a:prstGeom>
              <a:noFill/>
            </p:spPr>
            <p:txBody>
              <a:bodyPr wrap="square" rtlCol="0">
                <a:spAutoFit/>
              </a:bodyPr>
              <a:lstStyle/>
              <a:p>
                <a:pPr algn="ctr"/>
                <a:r>
                  <a:rPr lang="en-US" sz="1200" b="0" u="none" dirty="0">
                    <a:solidFill>
                      <a:srgbClr val="FF0000"/>
                    </a:solidFill>
                    <a:ea typeface="Cambria Math" panose="02040503050406030204" pitchFamily="18" charset="0"/>
                  </a:rPr>
                  <a:t>Note</a:t>
                </a:r>
                <a:r>
                  <a:rPr lang="en-US" sz="1200" b="0" u="none" dirty="0">
                    <a:solidFill>
                      <a:schemeClr val="accent6"/>
                    </a:solidFill>
                    <a:ea typeface="Cambria Math" panose="02040503050406030204" pitchFamily="18" charset="0"/>
                  </a:rPr>
                  <a:t>: </a:t>
                </a:r>
                <a14:m>
                  <m:oMath xmlns:m="http://schemas.openxmlformats.org/officeDocument/2006/math">
                    <m:r>
                      <a:rPr lang="en-US" sz="1200" b="0" i="1" u="none" dirty="0">
                        <a:latin typeface="Cambria Math" panose="02040503050406030204" pitchFamily="18" charset="0"/>
                        <a:ea typeface="Cambria Math" panose="02040503050406030204" pitchFamily="18" charset="0"/>
                      </a:rPr>
                      <m:t>𝐶𝑟𝑖𝑡𝑖𝑐𝑎𝑙</m:t>
                    </m:r>
                    <m:r>
                      <a:rPr lang="en-US" sz="1200" b="0" i="1" u="none" dirty="0">
                        <a:latin typeface="Cambria Math" panose="02040503050406030204" pitchFamily="18" charset="0"/>
                        <a:ea typeface="Cambria Math" panose="02040503050406030204" pitchFamily="18" charset="0"/>
                      </a:rPr>
                      <m:t> </m:t>
                    </m:r>
                    <m:r>
                      <a:rPr lang="en-US" sz="1200" b="0" i="1" u="none" dirty="0">
                        <a:latin typeface="Cambria Math" panose="02040503050406030204" pitchFamily="18" charset="0"/>
                        <a:ea typeface="Cambria Math" panose="02040503050406030204" pitchFamily="18" charset="0"/>
                      </a:rPr>
                      <m:t>𝑉𝑎𝑙𝑢𝑒</m:t>
                    </m:r>
                    <m:r>
                      <a:rPr lang="en-US" sz="1200" b="0" i="1" u="none" dirty="0">
                        <a:latin typeface="Cambria Math" panose="02040503050406030204" pitchFamily="18" charset="0"/>
                        <a:ea typeface="Cambria Math" panose="02040503050406030204" pitchFamily="18" charset="0"/>
                      </a:rPr>
                      <m:t>∗</m:t>
                    </m:r>
                    <m:r>
                      <a:rPr lang="en-US" sz="1200" b="0" i="1" u="none" dirty="0">
                        <a:solidFill>
                          <a:srgbClr val="EB971B"/>
                        </a:solidFill>
                        <a:latin typeface="Cambria Math" panose="02040503050406030204" pitchFamily="18" charset="0"/>
                        <a:ea typeface="Cambria Math" panose="02040503050406030204" pitchFamily="18" charset="0"/>
                      </a:rPr>
                      <m:t>𝑆𝑡𝑑</m:t>
                    </m:r>
                    <m:r>
                      <a:rPr lang="en-US" sz="1200" b="0" i="1" u="none" dirty="0">
                        <a:solidFill>
                          <a:srgbClr val="EB971B"/>
                        </a:solidFill>
                        <a:latin typeface="Cambria Math" panose="02040503050406030204" pitchFamily="18" charset="0"/>
                        <a:ea typeface="Cambria Math" panose="02040503050406030204" pitchFamily="18" charset="0"/>
                      </a:rPr>
                      <m:t> </m:t>
                    </m:r>
                    <m:r>
                      <a:rPr lang="en-US" sz="1200" b="0" i="1" u="none" dirty="0">
                        <a:solidFill>
                          <a:srgbClr val="EB971B"/>
                        </a:solidFill>
                        <a:latin typeface="Cambria Math" panose="02040503050406030204" pitchFamily="18" charset="0"/>
                        <a:ea typeface="Cambria Math" panose="02040503050406030204" pitchFamily="18" charset="0"/>
                      </a:rPr>
                      <m:t>𝐸𝑟𝑟</m:t>
                    </m:r>
                    <m:d>
                      <m:dPr>
                        <m:ctrlPr>
                          <a:rPr lang="en-US" sz="1200" b="0" i="1" u="none" dirty="0">
                            <a:solidFill>
                              <a:srgbClr val="EB971B"/>
                            </a:solidFill>
                            <a:latin typeface="Cambria Math" panose="02040503050406030204" pitchFamily="18" charset="0"/>
                            <a:ea typeface="Cambria Math" panose="02040503050406030204" pitchFamily="18" charset="0"/>
                          </a:rPr>
                        </m:ctrlPr>
                      </m:dPr>
                      <m:e>
                        <m:acc>
                          <m:accPr>
                            <m:chr m:val="̅"/>
                            <m:ctrlPr>
                              <a:rPr lang="en-US" sz="1200" b="0" i="1" u="none">
                                <a:solidFill>
                                  <a:srgbClr val="EB971B"/>
                                </a:solidFill>
                                <a:latin typeface="Cambria Math" panose="02040503050406030204" pitchFamily="18" charset="0"/>
                              </a:rPr>
                            </m:ctrlPr>
                          </m:accPr>
                          <m:e>
                            <m:r>
                              <a:rPr lang="en-US" sz="1200" b="0" i="1" u="none">
                                <a:solidFill>
                                  <a:srgbClr val="EB971B"/>
                                </a:solidFill>
                                <a:latin typeface="Cambria Math" panose="02040503050406030204" pitchFamily="18" charset="0"/>
                              </a:rPr>
                              <m:t>𝑥</m:t>
                            </m:r>
                          </m:e>
                        </m:acc>
                      </m:e>
                    </m:d>
                  </m:oMath>
                </a14:m>
                <a:r>
                  <a:rPr lang="en-US" sz="1200" b="0" u="none" dirty="0">
                    <a:solidFill>
                      <a:schemeClr val="accent6"/>
                    </a:solidFill>
                  </a:rPr>
                  <a:t> is known as the “</a:t>
                </a:r>
                <a:r>
                  <a:rPr lang="en-US" sz="1200" b="0" u="none" dirty="0">
                    <a:solidFill>
                      <a:srgbClr val="00B0F0"/>
                    </a:solidFill>
                  </a:rPr>
                  <a:t>margin of error</a:t>
                </a:r>
                <a:r>
                  <a:rPr lang="en-US" sz="1200" b="0" u="none" dirty="0">
                    <a:solidFill>
                      <a:schemeClr val="accent6"/>
                    </a:solidFill>
                  </a:rPr>
                  <a:t>”</a:t>
                </a:r>
              </a:p>
              <a:p>
                <a:pPr algn="ctr"/>
                <a:endParaRPr lang="en-US" sz="1200" b="0" u="none" dirty="0">
                  <a:cs typeface="Arial" pitchFamily="34" charset="0"/>
                </a:endParaRPr>
              </a:p>
            </p:txBody>
          </p:sp>
        </mc:Choice>
        <mc:Fallback xmlns="">
          <p:sp>
            <p:nvSpPr>
              <p:cNvPr id="6" name="TextBox 5">
                <a:extLst>
                  <a:ext uri="{FF2B5EF4-FFF2-40B4-BE49-F238E27FC236}">
                    <a16:creationId xmlns:a16="http://schemas.microsoft.com/office/drawing/2014/main" id="{257622FE-571C-E3A8-17B7-82A82B17832D}"/>
                  </a:ext>
                </a:extLst>
              </p:cNvPr>
              <p:cNvSpPr txBox="1">
                <a:spLocks noRot="1" noChangeAspect="1" noMove="1" noResize="1" noEditPoints="1" noAdjustHandles="1" noChangeArrowheads="1" noChangeShapeType="1" noTextEdit="1"/>
              </p:cNvSpPr>
              <p:nvPr/>
            </p:nvSpPr>
            <p:spPr>
              <a:xfrm>
                <a:off x="6130282" y="5141912"/>
                <a:ext cx="1951681" cy="830997"/>
              </a:xfrm>
              <a:prstGeom prst="rect">
                <a:avLst/>
              </a:prstGeom>
              <a:blipFill>
                <a:blip r:embed="rId3"/>
                <a:stretch>
                  <a:fillRect t="-730"/>
                </a:stretch>
              </a:blipFill>
            </p:spPr>
            <p:txBody>
              <a:bodyPr/>
              <a:lstStyle/>
              <a:p>
                <a:r>
                  <a:rPr lang="en-US">
                    <a:noFill/>
                  </a:rPr>
                  <a:t> </a:t>
                </a:r>
              </a:p>
            </p:txBody>
          </p:sp>
        </mc:Fallback>
      </mc:AlternateContent>
    </p:spTree>
    <p:extLst>
      <p:ext uri="{BB962C8B-B14F-4D97-AF65-F5344CB8AC3E}">
        <p14:creationId xmlns:p14="http://schemas.microsoft.com/office/powerpoint/2010/main" val="11328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9FF0-4A7B-27CC-2432-907A2E34B3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C0F9D0A-4BA9-036D-0FAF-A8289142EABD}"/>
                  </a:ext>
                </a:extLst>
              </p:cNvPr>
              <p:cNvSpPr>
                <a:spLocks noGrp="1"/>
              </p:cNvSpPr>
              <p:nvPr>
                <p:ph type="title"/>
              </p:nvPr>
            </p:nvSpPr>
            <p:spPr/>
            <p:txBody>
              <a:bodyPr/>
              <a:lstStyle/>
              <a:p>
                <a:r>
                  <a:rPr lang="en-US" dirty="0"/>
                  <a:t>Computing the </a:t>
                </a:r>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oMath>
                </a14:m>
                <a:r>
                  <a:rPr lang="en-US" dirty="0"/>
                  <a:t> of the Fox Poll</a:t>
                </a:r>
              </a:p>
            </p:txBody>
          </p:sp>
        </mc:Choice>
        <mc:Fallback xmlns="">
          <p:sp>
            <p:nvSpPr>
              <p:cNvPr id="2" name="Title 1">
                <a:extLst>
                  <a:ext uri="{FF2B5EF4-FFF2-40B4-BE49-F238E27FC236}">
                    <a16:creationId xmlns:a16="http://schemas.microsoft.com/office/drawing/2014/main" id="{AC0F9D0A-4BA9-036D-0FAF-A8289142EABD}"/>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2A03EF-7209-4E7C-D2E6-B289BBB3635B}"/>
                  </a:ext>
                </a:extLst>
              </p:cNvPr>
              <p:cNvSpPr>
                <a:spLocks noGrp="1"/>
              </p:cNvSpPr>
              <p:nvPr>
                <p:ph idx="1"/>
              </p:nvPr>
            </p:nvSpPr>
            <p:spPr>
              <a:xfrm>
                <a:off x="354013" y="1089026"/>
                <a:ext cx="8437562" cy="1815042"/>
              </a:xfrm>
            </p:spPr>
            <p:txBody>
              <a:bodyPr/>
              <a:lstStyle/>
              <a:p>
                <a:endParaRPr lang="en-US" i="1" dirty="0">
                  <a:latin typeface="Cambria Math" panose="02040503050406030204" pitchFamily="18" charset="0"/>
                </a:endParaRPr>
              </a:p>
              <a:p>
                <a:r>
                  <a:rPr lang="en-US" dirty="0"/>
                  <a:t>From the Fox Poll we have </a:t>
                </a:r>
                <a14:m>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rgbClr val="00B0F0"/>
                    </a:solidFill>
                  </a:rPr>
                  <a:t> = .51</a:t>
                </a:r>
                <a:endParaRPr lang="en-US" dirty="0"/>
              </a:p>
              <a:p>
                <a:endParaRPr lang="en-US" dirty="0"/>
              </a:p>
              <a:p>
                <a:r>
                  <a:rPr lang="en-US" b="0" dirty="0"/>
                  <a:t>We need the standard error, </a:t>
                </a:r>
                <a14:m>
                  <m:oMath xmlns:m="http://schemas.openxmlformats.org/officeDocument/2006/math">
                    <m:f>
                      <m:fPr>
                        <m:type m:val="lin"/>
                        <m:ctrlPr>
                          <a:rPr lang="en-US" b="0" i="1" smtClean="0">
                            <a:solidFill>
                              <a:schemeClr val="accent6"/>
                            </a:solidFill>
                            <a:latin typeface="Cambria Math" panose="02040503050406030204" pitchFamily="18" charset="0"/>
                          </a:rPr>
                        </m:ctrlPr>
                      </m:fPr>
                      <m:num>
                        <m:acc>
                          <m:accPr>
                            <m:chr m:val="̂"/>
                            <m:ctrlPr>
                              <a:rPr lang="en-US" b="0"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smtClean="0">
                                <a:solidFill>
                                  <a:schemeClr val="accent6"/>
                                </a:solidFill>
                                <a:latin typeface="Cambria Math" panose="02040503050406030204" pitchFamily="18" charset="0"/>
                              </a:rPr>
                            </m:ctrlPr>
                          </m:radPr>
                          <m:deg/>
                          <m:e>
                            <m:r>
                              <a:rPr lang="en-US" i="1" smtClean="0">
                                <a:solidFill>
                                  <a:srgbClr val="00B0F0"/>
                                </a:solidFill>
                                <a:latin typeface="Cambria Math" panose="02040503050406030204" pitchFamily="18" charset="0"/>
                              </a:rPr>
                              <m:t>𝑁</m:t>
                            </m:r>
                          </m:e>
                        </m:rad>
                      </m:den>
                    </m:f>
                  </m:oMath>
                </a14:m>
                <a:endParaRPr lang="en-US" b="0" dirty="0"/>
              </a:p>
              <a:p>
                <a:pPr lvl="1"/>
                <a:r>
                  <a:rPr lang="en-US" dirty="0"/>
                  <a:t>From Probability: binomial standard deviation is</a:t>
                </a:r>
                <a14:m>
                  <m:oMath xmlns:m="http://schemas.openxmlformats.org/officeDocument/2006/math">
                    <m:r>
                      <a:rPr lang="en-US" b="0" i="0" smtClean="0">
                        <a:latin typeface="Cambria Math" panose="02040503050406030204" pitchFamily="18" charset="0"/>
                      </a:rPr>
                      <m:t> </m:t>
                    </m:r>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e>
                    </m:rad>
                  </m:oMath>
                </a14:m>
                <a:endParaRPr lang="en-US" b="0" dirty="0"/>
              </a:p>
              <a:p>
                <a:pPr lvl="1"/>
                <a:r>
                  <a:rPr lang="en-US" dirty="0"/>
                  <a:t>So,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𝜎</m:t>
                        </m:r>
                      </m:e>
                    </m:acc>
                    <m:r>
                      <a:rPr lang="en-US" i="1">
                        <a:latin typeface="Cambria Math" panose="02040503050406030204" pitchFamily="18" charset="0"/>
                      </a:rPr>
                      <m:t>=</m:t>
                    </m:r>
                    <m:rad>
                      <m:radPr>
                        <m:degHide m:val="on"/>
                        <m:ctrlPr>
                          <a:rPr lang="en-US" b="0" i="1" smtClean="0">
                            <a:latin typeface="Cambria Math" panose="02040503050406030204" pitchFamily="18" charset="0"/>
                          </a:rPr>
                        </m:ctrlPr>
                      </m:radPr>
                      <m:deg/>
                      <m:e>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b="0" i="1" smtClean="0">
                            <a:latin typeface="Cambria Math" panose="02040503050406030204" pitchFamily="18" charset="0"/>
                          </a:rPr>
                          <m:t>)</m:t>
                        </m:r>
                      </m:e>
                    </m:rad>
                  </m:oMath>
                </a14:m>
                <a:r>
                  <a:rPr lang="en-US" dirty="0"/>
                  <a:t> </a:t>
                </a:r>
                <a:endParaRPr lang="en-US" b="0" dirty="0"/>
              </a:p>
              <a:p>
                <a:endParaRPr lang="en-US" b="0" dirty="0"/>
              </a:p>
              <a:p>
                <a:r>
                  <a:rPr lang="en-US" b="0" dirty="0"/>
                  <a:t>So, </a:t>
                </a:r>
                <a14:m>
                  <m:oMath xmlns:m="http://schemas.openxmlformats.org/officeDocument/2006/math">
                    <m:r>
                      <a:rPr lang="en-US" b="0" i="1" smtClean="0">
                        <a:solidFill>
                          <a:srgbClr val="EB971B"/>
                        </a:solidFill>
                        <a:latin typeface="Cambria Math" panose="02040503050406030204" pitchFamily="18" charset="0"/>
                      </a:rPr>
                      <m:t>𝑆𝑡𝑑</m:t>
                    </m:r>
                    <m:r>
                      <a:rPr lang="en-US" b="0" i="1" smtClean="0">
                        <a:solidFill>
                          <a:srgbClr val="EB971B"/>
                        </a:solidFill>
                        <a:latin typeface="Cambria Math" panose="02040503050406030204" pitchFamily="18" charset="0"/>
                      </a:rPr>
                      <m:t> </m:t>
                    </m:r>
                    <m:r>
                      <a:rPr lang="en-US" b="0" i="1" smtClean="0">
                        <a:solidFill>
                          <a:srgbClr val="EB971B"/>
                        </a:solidFill>
                        <a:latin typeface="Cambria Math" panose="02040503050406030204" pitchFamily="18" charset="0"/>
                      </a:rPr>
                      <m:t>𝐸𝑟𝑟</m:t>
                    </m:r>
                    <m:d>
                      <m:dPr>
                        <m:ctrlPr>
                          <a:rPr lang="en-US" b="0" i="1" smtClean="0">
                            <a:solidFill>
                              <a:srgbClr val="EB971B"/>
                            </a:solidFill>
                            <a:latin typeface="Cambria Math" panose="02040503050406030204" pitchFamily="18" charset="0"/>
                          </a:rPr>
                        </m:ctrlPr>
                      </m:dPr>
                      <m:e>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𝑆𝑡𝑑</m:t>
                        </m:r>
                        <m:r>
                          <a:rPr lang="en-US" b="0" i="1" smtClean="0">
                            <a:latin typeface="Cambria Math" panose="02040503050406030204" pitchFamily="18" charset="0"/>
                          </a:rPr>
                          <m:t> </m:t>
                        </m:r>
                        <m:r>
                          <a:rPr lang="en-US" b="0" i="1" smtClean="0">
                            <a:latin typeface="Cambria Math" panose="02040503050406030204" pitchFamily="18" charset="0"/>
                          </a:rPr>
                          <m:t>𝐷𝑒𝑣</m:t>
                        </m:r>
                        <m:r>
                          <a:rPr lang="en-US" b="0" i="1" smtClean="0">
                            <a:latin typeface="Cambria Math" panose="02040503050406030204" pitchFamily="18" charset="0"/>
                          </a:rPr>
                          <m:t>(</m:t>
                        </m:r>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m:t>
                        </m:r>
                      </m:num>
                      <m:den>
                        <m:rad>
                          <m:radPr>
                            <m:degHide m:val="on"/>
                            <m:ctrlPr>
                              <a:rPr lang="en-US" i="1">
                                <a:latin typeface="Cambria Math" panose="02040503050406030204" pitchFamily="18" charset="0"/>
                              </a:rPr>
                            </m:ctrlPr>
                          </m:radPr>
                          <m:deg/>
                          <m:e>
                            <m:r>
                              <a:rPr lang="en-US" i="1" smtClean="0">
                                <a:solidFill>
                                  <a:srgbClr val="00B0F0"/>
                                </a:solidFill>
                                <a:latin typeface="Cambria Math" panose="02040503050406030204" pitchFamily="18" charset="0"/>
                              </a:rPr>
                              <m:t>𝑁</m:t>
                            </m:r>
                          </m:e>
                        </m:rad>
                      </m:den>
                    </m:f>
                    <m:r>
                      <a:rPr lang="en-US" b="0" i="1" smtClean="0">
                        <a:latin typeface="Cambria Math" panose="02040503050406030204" pitchFamily="18" charset="0"/>
                      </a:rPr>
                      <m:t>=</m:t>
                    </m:r>
                    <m:f>
                      <m:fPr>
                        <m:ctrlPr>
                          <a:rPr lang="en-US" i="1">
                            <a:latin typeface="Cambria Math" panose="02040503050406030204" pitchFamily="18" charset="0"/>
                          </a:rPr>
                        </m:ctrlPr>
                      </m:fPr>
                      <m:num>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b="0" i="1" smtClean="0">
                                <a:latin typeface="Cambria Math" panose="02040503050406030204" pitchFamily="18" charset="0"/>
                              </a:rPr>
                              <m:t>)</m:t>
                            </m:r>
                          </m:e>
                        </m:rad>
                      </m:num>
                      <m:den>
                        <m:rad>
                          <m:radPr>
                            <m:degHide m:val="on"/>
                            <m:ctrlPr>
                              <a:rPr lang="en-US" i="1">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r>
                      <a:rPr lang="en-US"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acc>
                              <m:accPr>
                                <m:chr m:val="̅"/>
                                <m:ctrlPr>
                                  <a:rPr lang="en-US" i="1">
                                    <a:latin typeface="Cambria Math" panose="02040503050406030204" pitchFamily="18" charset="0"/>
                                  </a:rPr>
                                </m:ctrlPr>
                              </m:accPr>
                              <m:e>
                                <m:r>
                                  <a:rPr lang="en-US" b="0" i="1" smtClean="0">
                                    <a:latin typeface="Cambria Math" panose="02040503050406030204" pitchFamily="18" charset="0"/>
                                  </a:rPr>
                                  <m:t>.</m:t>
                                </m:r>
                                <m:r>
                                  <a:rPr lang="en-US" b="0" i="1" smtClean="0">
                                    <a:latin typeface="Cambria Math" panose="02040503050406030204" pitchFamily="18" charset="0"/>
                                  </a:rPr>
                                  <m:t>51</m:t>
                                </m:r>
                              </m:e>
                            </m:acc>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49</m:t>
                            </m:r>
                            <m:r>
                              <a:rPr lang="en-US" i="1">
                                <a:latin typeface="Cambria Math" panose="02040503050406030204" pitchFamily="18" charset="0"/>
                              </a:rPr>
                              <m:t>)</m:t>
                            </m:r>
                          </m:e>
                        </m:rad>
                      </m:num>
                      <m:den>
                        <m:rad>
                          <m:radPr>
                            <m:degHide m:val="on"/>
                            <m:ctrlPr>
                              <a:rPr lang="en-US" i="1">
                                <a:latin typeface="Cambria Math" panose="02040503050406030204" pitchFamily="18" charset="0"/>
                              </a:rPr>
                            </m:ctrlPr>
                          </m:radPr>
                          <m:deg/>
                          <m:e>
                            <m:r>
                              <a:rPr lang="en-US" b="0" i="1" smtClean="0">
                                <a:latin typeface="Cambria Math" panose="02040503050406030204" pitchFamily="18" charset="0"/>
                              </a:rPr>
                              <m:t>1100</m:t>
                            </m:r>
                          </m:e>
                        </m:ra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50</m:t>
                        </m:r>
                      </m:num>
                      <m:den>
                        <m:r>
                          <a:rPr lang="en-US" b="0" i="1" smtClean="0">
                            <a:latin typeface="Cambria Math" panose="02040503050406030204" pitchFamily="18" charset="0"/>
                          </a:rPr>
                          <m:t>33</m:t>
                        </m:r>
                        <m:r>
                          <a:rPr lang="en-US" b="0" i="1" smtClean="0">
                            <a:latin typeface="Cambria Math" panose="02040503050406030204" pitchFamily="18" charset="0"/>
                          </a:rPr>
                          <m:t>.</m:t>
                        </m:r>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latin typeface="Cambria Math" panose="02040503050406030204" pitchFamily="18" charset="0"/>
                      </a:rPr>
                      <m:t>015</m:t>
                    </m:r>
                  </m:oMath>
                </a14:m>
                <a:endParaRPr lang="en-US" dirty="0"/>
              </a:p>
              <a:p>
                <a:endParaRPr lang="en-US" dirty="0"/>
              </a:p>
              <a:p>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oMath>
                </a14:m>
                <a:r>
                  <a:rPr lang="en-US" dirty="0"/>
                  <a:t> </a:t>
                </a:r>
              </a:p>
              <a:p>
                <a:pPr marL="0" indent="0" algn="ctr">
                  <a:buNone/>
                </a:pPr>
                <a14:m>
                  <m:oMathPara xmlns:m="http://schemas.openxmlformats.org/officeDocument/2006/math">
                    <m:oMathParaPr>
                      <m:jc m:val="centerGroup"/>
                    </m:oMathParaPr>
                    <m:oMath xmlns:m="http://schemas.openxmlformats.org/officeDocument/2006/math">
                      <m:r>
                        <a:rPr lang="en-US" sz="1800" i="1" smtClean="0">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b="0" i="1" smtClean="0">
                          <a:solidFill>
                            <a:schemeClr val="accent6"/>
                          </a:solidFill>
                          <a:latin typeface="Cambria Math" panose="02040503050406030204" pitchFamily="18" charset="0"/>
                        </a:rPr>
                        <m:t>=</m:t>
                      </m:r>
                      <m:acc>
                        <m:accPr>
                          <m:chr m:val="̅"/>
                          <m:ctrlPr>
                            <a:rPr lang="en-US" sz="1800" i="1">
                              <a:solidFill>
                                <a:schemeClr val="accent6"/>
                              </a:solidFill>
                              <a:latin typeface="Cambria Math" panose="02040503050406030204" pitchFamily="18" charset="0"/>
                            </a:rPr>
                          </m:ctrlPr>
                        </m:accPr>
                        <m:e>
                          <m:r>
                            <a:rPr lang="en-US" sz="1800" i="1">
                              <a:solidFill>
                                <a:schemeClr val="accent6"/>
                              </a:solidFill>
                              <a:latin typeface="Cambria Math" panose="02040503050406030204" pitchFamily="18" charset="0"/>
                            </a:rPr>
                            <m:t>𝑥</m:t>
                          </m:r>
                        </m:e>
                      </m:acc>
                      <m:r>
                        <a:rPr lang="en-US" sz="1800" i="1" dirty="0">
                          <a:solidFill>
                            <a:schemeClr val="accent6"/>
                          </a:solidFill>
                          <a:latin typeface="Cambria Math" panose="02040503050406030204" pitchFamily="18" charset="0"/>
                          <a:ea typeface="Cambria Math" panose="02040503050406030204" pitchFamily="18" charset="0"/>
                        </a:rPr>
                        <m:t>±</m:t>
                      </m:r>
                      <m:r>
                        <a:rPr lang="en-US" sz="1800" i="1" dirty="0">
                          <a:solidFill>
                            <a:schemeClr val="accent6"/>
                          </a:solidFill>
                          <a:latin typeface="Cambria Math" panose="02040503050406030204" pitchFamily="18" charset="0"/>
                          <a:ea typeface="Cambria Math" panose="02040503050406030204" pitchFamily="18" charset="0"/>
                        </a:rPr>
                        <m:t>1</m:t>
                      </m:r>
                      <m:r>
                        <a:rPr lang="en-US" sz="1800" i="1" dirty="0">
                          <a:solidFill>
                            <a:schemeClr val="accent6"/>
                          </a:solidFill>
                          <a:latin typeface="Cambria Math" panose="02040503050406030204" pitchFamily="18" charset="0"/>
                          <a:ea typeface="Cambria Math" panose="02040503050406030204" pitchFamily="18" charset="0"/>
                        </a:rPr>
                        <m:t>.</m:t>
                      </m:r>
                      <m:r>
                        <a:rPr lang="en-US" sz="1800" i="1" dirty="0">
                          <a:solidFill>
                            <a:schemeClr val="accent6"/>
                          </a:solidFill>
                          <a:latin typeface="Cambria Math" panose="02040503050406030204" pitchFamily="18" charset="0"/>
                          <a:ea typeface="Cambria Math" panose="02040503050406030204" pitchFamily="18" charset="0"/>
                        </a:rPr>
                        <m:t>96</m:t>
                      </m:r>
                      <m:r>
                        <a:rPr lang="en-US" sz="1800" b="0" i="1" dirty="0" smtClean="0">
                          <a:solidFill>
                            <a:schemeClr val="accent6"/>
                          </a:solidFill>
                          <a:latin typeface="Cambria Math" panose="02040503050406030204" pitchFamily="18" charset="0"/>
                          <a:ea typeface="Cambria Math" panose="02040503050406030204" pitchFamily="18" charset="0"/>
                        </a:rPr>
                        <m:t>∗</m:t>
                      </m:r>
                      <m:r>
                        <a:rPr lang="en-US" sz="1800" i="1">
                          <a:solidFill>
                            <a:srgbClr val="EB971B"/>
                          </a:solidFill>
                          <a:latin typeface="Cambria Math" panose="02040503050406030204" pitchFamily="18" charset="0"/>
                        </a:rPr>
                        <m:t>𝑆𝑡𝑑</m:t>
                      </m:r>
                      <m:r>
                        <a:rPr lang="en-US" sz="1800" i="1">
                          <a:solidFill>
                            <a:srgbClr val="EB971B"/>
                          </a:solidFill>
                          <a:latin typeface="Cambria Math" panose="02040503050406030204" pitchFamily="18" charset="0"/>
                        </a:rPr>
                        <m:t> </m:t>
                      </m:r>
                      <m:r>
                        <a:rPr lang="en-US" sz="1800" i="1">
                          <a:solidFill>
                            <a:srgbClr val="EB971B"/>
                          </a:solidFill>
                          <a:latin typeface="Cambria Math" panose="02040503050406030204" pitchFamily="18" charset="0"/>
                        </a:rPr>
                        <m:t>𝐸𝑟𝑟</m:t>
                      </m:r>
                      <m:d>
                        <m:dPr>
                          <m:ctrlPr>
                            <a:rPr lang="en-US" sz="1800" i="1">
                              <a:solidFill>
                                <a:srgbClr val="EB971B"/>
                              </a:solidFill>
                              <a:latin typeface="Cambria Math" panose="02040503050406030204" pitchFamily="18" charset="0"/>
                            </a:rPr>
                          </m:ctrlPr>
                        </m:dPr>
                        <m:e>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e>
                      </m:d>
                    </m:oMath>
                  </m:oMathPara>
                </a14:m>
                <a:endParaRPr lang="en-US" sz="1800" b="0" i="0" dirty="0">
                  <a:solidFill>
                    <a:schemeClr val="accent6"/>
                  </a:solidFill>
                  <a:latin typeface="Cambria Math" panose="02040503050406030204" pitchFamily="18" charset="0"/>
                  <a:cs typeface="Helvetica"/>
                </a:endParaRPr>
              </a:p>
              <a:p>
                <a:pPr marL="0" indent="0" algn="ctr">
                  <a:buNone/>
                </a:pPr>
                <a14:m>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b="0" i="0" dirty="0" smtClean="0">
                        <a:solidFill>
                          <a:schemeClr val="accent6"/>
                        </a:solidFill>
                        <a:latin typeface="Cambria Math" panose="02040503050406030204" pitchFamily="18" charset="0"/>
                        <a:cs typeface="Helvetica"/>
                      </a:rPr>
                      <m:t>.</m:t>
                    </m:r>
                    <m:r>
                      <a:rPr lang="en-US" sz="1800" b="0" i="0" dirty="0" smtClean="0">
                        <a:solidFill>
                          <a:schemeClr val="accent6"/>
                        </a:solidFill>
                        <a:latin typeface="Cambria Math" panose="02040503050406030204" pitchFamily="18" charset="0"/>
                        <a:cs typeface="Helvetica"/>
                      </a:rPr>
                      <m:t>51</m:t>
                    </m:r>
                    <m:r>
                      <a:rPr lang="en-US" sz="1800" b="0" i="1" dirty="0" smtClean="0">
                        <a:solidFill>
                          <a:schemeClr val="accent6"/>
                        </a:solidFill>
                        <a:latin typeface="Cambria Math" panose="02040503050406030204" pitchFamily="18" charset="0"/>
                        <a:cs typeface="Helvetica"/>
                      </a:rPr>
                      <m:t>± </m:t>
                    </m:r>
                    <m:r>
                      <a:rPr lang="en-US" sz="1800" b="0" i="1" dirty="0" smtClean="0">
                        <a:solidFill>
                          <a:schemeClr val="accent6"/>
                        </a:solidFill>
                        <a:latin typeface="Cambria Math" panose="02040503050406030204" pitchFamily="18" charset="0"/>
                        <a:cs typeface="Helvetica"/>
                      </a:rPr>
                      <m:t>1</m:t>
                    </m:r>
                    <m:r>
                      <a:rPr lang="en-US" sz="1800" b="0" i="1" dirty="0" smtClean="0">
                        <a:solidFill>
                          <a:schemeClr val="accent6"/>
                        </a:solidFill>
                        <a:latin typeface="Cambria Math" panose="02040503050406030204" pitchFamily="18" charset="0"/>
                        <a:cs typeface="Helvetica"/>
                      </a:rPr>
                      <m:t>.</m:t>
                    </m:r>
                    <m:r>
                      <a:rPr lang="en-US" sz="1800" b="0" i="1" dirty="0" smtClean="0">
                        <a:solidFill>
                          <a:schemeClr val="accent6"/>
                        </a:solidFill>
                        <a:latin typeface="Cambria Math" panose="02040503050406030204" pitchFamily="18" charset="0"/>
                        <a:cs typeface="Helvetica"/>
                      </a:rPr>
                      <m:t>96</m:t>
                    </m:r>
                    <m:r>
                      <a:rPr lang="en-US" sz="1800" b="0" i="1" dirty="0" smtClean="0">
                        <a:solidFill>
                          <a:schemeClr val="accent6"/>
                        </a:solidFill>
                        <a:latin typeface="Cambria Math" panose="02040503050406030204" pitchFamily="18" charset="0"/>
                        <a:cs typeface="Helvetica"/>
                      </a:rPr>
                      <m:t>(.</m:t>
                    </m:r>
                    <m:r>
                      <a:rPr lang="en-US" sz="1800" b="0" i="1" dirty="0" smtClean="0">
                        <a:solidFill>
                          <a:schemeClr val="accent6"/>
                        </a:solidFill>
                        <a:latin typeface="Cambria Math" panose="02040503050406030204" pitchFamily="18" charset="0"/>
                        <a:cs typeface="Helvetica"/>
                      </a:rPr>
                      <m:t>015</m:t>
                    </m:r>
                    <m:r>
                      <a:rPr lang="en-US" sz="1800" b="0" i="1" dirty="0" smtClean="0">
                        <a:solidFill>
                          <a:schemeClr val="accent6"/>
                        </a:solidFill>
                        <a:latin typeface="Cambria Math" panose="02040503050406030204" pitchFamily="18" charset="0"/>
                        <a:cs typeface="Helvetica"/>
                      </a:rPr>
                      <m:t>)</m:t>
                    </m:r>
                  </m:oMath>
                </a14:m>
                <a:r>
                  <a:rPr lang="en-US" sz="1800" dirty="0">
                    <a:solidFill>
                      <a:schemeClr val="accent6"/>
                    </a:solidFill>
                  </a:rPr>
                  <a:t> </a:t>
                </a:r>
              </a:p>
              <a:p>
                <a:pPr marL="0" indent="0" algn="ctr">
                  <a:buNone/>
                </a:pPr>
                <a14:m>
                  <m:oMathPara xmlns:m="http://schemas.openxmlformats.org/officeDocument/2006/math">
                    <m:oMathParaPr>
                      <m:jc m:val="centerGroup"/>
                    </m:oMathParaPr>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dirty="0">
                          <a:solidFill>
                            <a:schemeClr val="accent6"/>
                          </a:solidFill>
                          <a:latin typeface="Cambria Math" panose="02040503050406030204" pitchFamily="18" charset="0"/>
                          <a:cs typeface="Helvetica"/>
                        </a:rPr>
                        <m:t>.</m:t>
                      </m:r>
                      <m:r>
                        <a:rPr lang="en-US" sz="1800" dirty="0">
                          <a:solidFill>
                            <a:schemeClr val="accent6"/>
                          </a:solidFill>
                          <a:latin typeface="Cambria Math" panose="02040503050406030204" pitchFamily="18" charset="0"/>
                          <a:cs typeface="Helvetica"/>
                        </a:rPr>
                        <m:t>51</m:t>
                      </m:r>
                      <m:r>
                        <a:rPr lang="en-US" sz="1800" i="1" dirty="0" smtClean="0">
                          <a:solidFill>
                            <a:schemeClr val="accent6"/>
                          </a:solidFill>
                          <a:latin typeface="Cambria Math" panose="02040503050406030204" pitchFamily="18" charset="0"/>
                          <a:cs typeface="Helvetica"/>
                        </a:rPr>
                        <m:t>± </m:t>
                      </m:r>
                      <m:r>
                        <a:rPr lang="en-US" sz="1800" b="0" i="1" dirty="0" smtClean="0">
                          <a:solidFill>
                            <a:schemeClr val="accent6"/>
                          </a:solidFill>
                          <a:latin typeface="Cambria Math" panose="02040503050406030204" pitchFamily="18" charset="0"/>
                          <a:cs typeface="Helvetica"/>
                        </a:rPr>
                        <m:t>.</m:t>
                      </m:r>
                      <m:r>
                        <a:rPr lang="en-US" sz="1800" b="0" i="1" dirty="0" smtClean="0">
                          <a:solidFill>
                            <a:schemeClr val="accent6"/>
                          </a:solidFill>
                          <a:latin typeface="Cambria Math" panose="02040503050406030204" pitchFamily="18" charset="0"/>
                          <a:cs typeface="Helvetica"/>
                        </a:rPr>
                        <m:t>029</m:t>
                      </m:r>
                    </m:oMath>
                  </m:oMathPara>
                </a14:m>
                <a:endParaRPr lang="en-US" sz="1800" dirty="0">
                  <a:solidFill>
                    <a:schemeClr val="accent6"/>
                  </a:solidFill>
                </a:endParaRPr>
              </a:p>
              <a:p>
                <a:pPr marL="0" indent="0" algn="ctr">
                  <a:buNone/>
                </a:pPr>
                <a14:m>
                  <m:oMathPara xmlns:m="http://schemas.openxmlformats.org/officeDocument/2006/math">
                    <m:oMathParaPr>
                      <m:jc m:val="centerGroup"/>
                    </m:oMathParaPr>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i="1" dirty="0" smtClean="0">
                          <a:solidFill>
                            <a:schemeClr val="accent6"/>
                          </a:solidFill>
                          <a:latin typeface="Cambria Math" panose="02040503050406030204" pitchFamily="18" charset="0"/>
                        </a:rPr>
                        <m:t>[.</m:t>
                      </m:r>
                      <m:r>
                        <a:rPr lang="en-US" sz="1800" i="1" dirty="0" smtClean="0">
                          <a:solidFill>
                            <a:schemeClr val="accent6"/>
                          </a:solidFill>
                          <a:latin typeface="Cambria Math" panose="02040503050406030204" pitchFamily="18" charset="0"/>
                        </a:rPr>
                        <m:t>481</m:t>
                      </m:r>
                      <m:r>
                        <a:rPr lang="en-US" sz="1800" i="1" dirty="0" smtClean="0">
                          <a:solidFill>
                            <a:schemeClr val="accent6"/>
                          </a:solidFill>
                          <a:latin typeface="Cambria Math" panose="02040503050406030204" pitchFamily="18" charset="0"/>
                        </a:rPr>
                        <m:t>, .</m:t>
                      </m:r>
                      <m:r>
                        <a:rPr lang="en-US" sz="1800" i="1" dirty="0" smtClean="0">
                          <a:solidFill>
                            <a:schemeClr val="accent6"/>
                          </a:solidFill>
                          <a:latin typeface="Cambria Math" panose="02040503050406030204" pitchFamily="18" charset="0"/>
                        </a:rPr>
                        <m:t>539</m:t>
                      </m:r>
                      <m:r>
                        <a:rPr lang="en-US" sz="1800" i="1" dirty="0" smtClean="0">
                          <a:solidFill>
                            <a:schemeClr val="accent6"/>
                          </a:solidFill>
                          <a:latin typeface="Cambria Math" panose="02040503050406030204" pitchFamily="18" charset="0"/>
                        </a:rPr>
                        <m:t>]</m:t>
                      </m:r>
                    </m:oMath>
                  </m:oMathPara>
                </a14:m>
                <a:endParaRPr lang="en-US" sz="1800" dirty="0">
                  <a:solidFill>
                    <a:schemeClr val="accent6"/>
                  </a:solidFill>
                </a:endParaRPr>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62A03EF-7209-4E7C-D2E6-B289BBB3635B}"/>
                  </a:ext>
                </a:extLst>
              </p:cNvPr>
              <p:cNvSpPr>
                <a:spLocks noGrp="1" noRot="1" noChangeAspect="1" noMove="1" noResize="1" noEditPoints="1" noAdjustHandles="1" noChangeArrowheads="1" noChangeShapeType="1" noTextEdit="1"/>
              </p:cNvSpPr>
              <p:nvPr>
                <p:ph idx="1"/>
              </p:nvPr>
            </p:nvSpPr>
            <p:spPr>
              <a:xfrm>
                <a:off x="354013" y="1089026"/>
                <a:ext cx="8437562" cy="1815042"/>
              </a:xfrm>
              <a:blipFill>
                <a:blip r:embed="rId3"/>
                <a:stretch>
                  <a:fillRect l="-723" b="-19730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B5C21C7-6120-555E-A052-F6BAF05800B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72</a:t>
            </a:fld>
            <a:endParaRPr lang="en-GB" dirty="0"/>
          </a:p>
        </p:txBody>
      </p:sp>
    </p:spTree>
    <p:extLst>
      <p:ext uri="{BB962C8B-B14F-4D97-AF65-F5344CB8AC3E}">
        <p14:creationId xmlns:p14="http://schemas.microsoft.com/office/powerpoint/2010/main" val="292276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57DC-6AC7-5CB1-0715-B142433938D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306BADE-504B-D124-56A9-15194E20021E}"/>
                  </a:ext>
                </a:extLst>
              </p:cNvPr>
              <p:cNvSpPr>
                <a:spLocks noGrp="1"/>
              </p:cNvSpPr>
              <p:nvPr>
                <p:ph type="title"/>
              </p:nvPr>
            </p:nvSpPr>
            <p:spPr/>
            <p:txBody>
              <a:bodyPr/>
              <a:lstStyle/>
              <a:p>
                <a:r>
                  <a:rPr lang="en-US" dirty="0">
                    <a:solidFill>
                      <a:schemeClr val="accent6"/>
                    </a:solidFill>
                  </a:rPr>
                  <a:t>Computing the </a:t>
                </a:r>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oMath>
                </a14:m>
                <a:r>
                  <a:rPr lang="en-US" dirty="0">
                    <a:solidFill>
                      <a:schemeClr val="accent6"/>
                    </a:solidFill>
                  </a:rPr>
                  <a:t> of the </a:t>
                </a:r>
                <a:r>
                  <a:rPr lang="en-US" dirty="0"/>
                  <a:t>Fox Poll</a:t>
                </a:r>
              </a:p>
            </p:txBody>
          </p:sp>
        </mc:Choice>
        <mc:Fallback xmlns="">
          <p:sp>
            <p:nvSpPr>
              <p:cNvPr id="2" name="Title 1">
                <a:extLst>
                  <a:ext uri="{FF2B5EF4-FFF2-40B4-BE49-F238E27FC236}">
                    <a16:creationId xmlns:a16="http://schemas.microsoft.com/office/drawing/2014/main" id="{E306BADE-504B-D124-56A9-15194E20021E}"/>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2B9E17-4A71-6565-6FCD-5D109907EF85}"/>
                  </a:ext>
                </a:extLst>
              </p:cNvPr>
              <p:cNvSpPr>
                <a:spLocks noGrp="1"/>
              </p:cNvSpPr>
              <p:nvPr>
                <p:ph idx="1"/>
              </p:nvPr>
            </p:nvSpPr>
            <p:spPr>
              <a:xfrm>
                <a:off x="354013" y="1089026"/>
                <a:ext cx="8437562" cy="1815042"/>
              </a:xfrm>
            </p:spPr>
            <p:txBody>
              <a:bodyPr/>
              <a:lstStyle/>
              <a:p>
                <a:endParaRPr lang="en-US" i="1" dirty="0">
                  <a:latin typeface="Cambria Math" panose="02040503050406030204" pitchFamily="18" charset="0"/>
                </a:endParaRPr>
              </a:p>
              <a:p>
                <a:r>
                  <a:rPr lang="en-US" dirty="0"/>
                  <a:t>From the Fox Poll we have </a:t>
                </a:r>
                <a14:m>
                  <m:oMath xmlns:m="http://schemas.openxmlformats.org/officeDocument/2006/math">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oMath>
                </a14:m>
                <a:r>
                  <a:rPr lang="en-US" dirty="0">
                    <a:solidFill>
                      <a:srgbClr val="00B0F0"/>
                    </a:solidFill>
                  </a:rPr>
                  <a:t> = .51</a:t>
                </a:r>
                <a:endParaRPr lang="en-US" dirty="0"/>
              </a:p>
              <a:p>
                <a:endParaRPr lang="en-US" dirty="0"/>
              </a:p>
              <a:p>
                <a:r>
                  <a:rPr lang="en-US" dirty="0"/>
                  <a:t>We need the standard error, </a:t>
                </a:r>
                <a14:m>
                  <m:oMath xmlns:m="http://schemas.openxmlformats.org/officeDocument/2006/math">
                    <m:f>
                      <m:fPr>
                        <m:type m:val="lin"/>
                        <m:ctrlPr>
                          <a:rPr lang="en-US" i="1">
                            <a:solidFill>
                              <a:schemeClr val="accent6"/>
                            </a:solidFill>
                            <a:latin typeface="Cambria Math" panose="02040503050406030204" pitchFamily="18" charset="0"/>
                          </a:rPr>
                        </m:ctrlPr>
                      </m:fPr>
                      <m:num>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a:solidFill>
                                  <a:schemeClr val="accent6"/>
                                </a:solidFill>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oMath>
                </a14:m>
                <a:endParaRPr lang="en-US" dirty="0"/>
              </a:p>
              <a:p>
                <a:pPr lvl="1"/>
                <a:r>
                  <a:rPr lang="en-US" dirty="0"/>
                  <a:t>From Probability: binomial standard deviation is</a:t>
                </a:r>
                <a14:m>
                  <m:oMath xmlns:m="http://schemas.openxmlformats.org/officeDocument/2006/math">
                    <m:r>
                      <a:rPr lang="en-US">
                        <a:latin typeface="Cambria Math" panose="02040503050406030204" pitchFamily="18" charset="0"/>
                      </a:rPr>
                      <m:t> </m:t>
                    </m:r>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𝑝</m:t>
                        </m:r>
                        <m:r>
                          <a:rPr lang="en-US" i="1">
                            <a:latin typeface="Cambria Math" panose="02040503050406030204" pitchFamily="18" charset="0"/>
                          </a:rPr>
                          <m:t>(1−</m:t>
                        </m:r>
                        <m:r>
                          <a:rPr lang="en-US" i="1">
                            <a:latin typeface="Cambria Math" panose="02040503050406030204" pitchFamily="18" charset="0"/>
                          </a:rPr>
                          <m:t>𝑝</m:t>
                        </m:r>
                        <m:r>
                          <a:rPr lang="en-US" i="1">
                            <a:latin typeface="Cambria Math" panose="02040503050406030204" pitchFamily="18" charset="0"/>
                          </a:rPr>
                          <m:t>)</m:t>
                        </m:r>
                      </m:e>
                    </m:rad>
                  </m:oMath>
                </a14:m>
                <a:endParaRPr lang="en-US" dirty="0"/>
              </a:p>
              <a:p>
                <a:pPr lvl="1"/>
                <a:r>
                  <a:rPr lang="en-US" dirty="0"/>
                  <a:t>So,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𝜎</m:t>
                        </m:r>
                      </m:e>
                    </m:acc>
                    <m:r>
                      <a:rPr lang="en-US" i="1">
                        <a:latin typeface="Cambria Math" panose="02040503050406030204" pitchFamily="18" charset="0"/>
                      </a:rPr>
                      <m:t>=</m:t>
                    </m:r>
                    <m:rad>
                      <m:radPr>
                        <m:degHide m:val="on"/>
                        <m:ctrlPr>
                          <a:rPr lang="en-US" i="1">
                            <a:latin typeface="Cambria Math" panose="02040503050406030204" pitchFamily="18" charset="0"/>
                          </a:rPr>
                        </m:ctrlPr>
                      </m:radPr>
                      <m:deg/>
                      <m:e>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(1−</m:t>
                        </m:r>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m:t>
                        </m:r>
                      </m:e>
                    </m:rad>
                  </m:oMath>
                </a14:m>
                <a:r>
                  <a:rPr lang="en-US" dirty="0"/>
                  <a:t> </a:t>
                </a:r>
              </a:p>
              <a:p>
                <a:endParaRPr lang="en-US" dirty="0"/>
              </a:p>
              <a:p>
                <a:r>
                  <a:rPr lang="en-US" dirty="0"/>
                  <a:t>So, </a:t>
                </a:r>
                <a14:m>
                  <m:oMath xmlns:m="http://schemas.openxmlformats.org/officeDocument/2006/math">
                    <m:r>
                      <a:rPr lang="en-US" i="1">
                        <a:solidFill>
                          <a:srgbClr val="EB971B"/>
                        </a:solidFill>
                        <a:latin typeface="Cambria Math" panose="02040503050406030204" pitchFamily="18" charset="0"/>
                      </a:rPr>
                      <m:t>𝑆𝑡𝑑</m:t>
                    </m:r>
                    <m:r>
                      <a:rPr lang="en-US" i="1">
                        <a:solidFill>
                          <a:srgbClr val="EB971B"/>
                        </a:solidFill>
                        <a:latin typeface="Cambria Math" panose="02040503050406030204" pitchFamily="18" charset="0"/>
                      </a:rPr>
                      <m:t> </m:t>
                    </m:r>
                    <m:r>
                      <a:rPr lang="en-US" i="1">
                        <a:solidFill>
                          <a:srgbClr val="EB971B"/>
                        </a:solidFill>
                        <a:latin typeface="Cambria Math" panose="02040503050406030204" pitchFamily="18" charset="0"/>
                      </a:rPr>
                      <m:t>𝐸𝑟𝑟</m:t>
                    </m:r>
                    <m:d>
                      <m:dPr>
                        <m:ctrlPr>
                          <a:rPr lang="en-US" i="1">
                            <a:solidFill>
                              <a:srgbClr val="EB971B"/>
                            </a:solidFill>
                            <a:latin typeface="Cambria Math" panose="02040503050406030204" pitchFamily="18" charset="0"/>
                          </a:rPr>
                        </m:ctrlPr>
                      </m:dPr>
                      <m:e>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𝑆𝑡𝑑</m:t>
                        </m:r>
                        <m:r>
                          <a:rPr lang="en-US" i="1">
                            <a:latin typeface="Cambria Math" panose="02040503050406030204" pitchFamily="18" charset="0"/>
                          </a:rPr>
                          <m:t> </m:t>
                        </m:r>
                        <m:r>
                          <a:rPr lang="en-US" i="1">
                            <a:latin typeface="Cambria Math" panose="02040503050406030204" pitchFamily="18" charset="0"/>
                          </a:rPr>
                          <m:t>𝐷𝑒𝑣</m:t>
                        </m:r>
                        <m:r>
                          <a:rPr lang="en-US" i="1">
                            <a:latin typeface="Cambria Math" panose="02040503050406030204" pitchFamily="18" charset="0"/>
                          </a:rPr>
                          <m:t>(</m:t>
                        </m:r>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m:t>
                        </m:r>
                      </m:num>
                      <m:den>
                        <m:rad>
                          <m:radPr>
                            <m:degHide m:val="on"/>
                            <m:ctrlPr>
                              <a:rPr lang="en-US" i="1">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𝜎</m:t>
                            </m:r>
                          </m:e>
                        </m:acc>
                      </m:num>
                      <m:den>
                        <m:rad>
                          <m:radPr>
                            <m:degHide m:val="on"/>
                            <m:ctrlPr>
                              <a:rPr lang="en-US" i="1">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r>
                      <a:rPr lang="en-US" i="1">
                        <a:latin typeface="Cambria Math" panose="02040503050406030204" pitchFamily="18" charset="0"/>
                      </a:rPr>
                      <m:t>=</m:t>
                    </m:r>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(1−</m:t>
                            </m:r>
                            <m:acc>
                              <m:accPr>
                                <m:chr m:val="̅"/>
                                <m:ctrlPr>
                                  <a:rPr lang="en-US" i="1">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a:latin typeface="Cambria Math" panose="02040503050406030204" pitchFamily="18" charset="0"/>
                              </a:rPr>
                              <m:t>)</m:t>
                            </m:r>
                          </m:e>
                        </m:rad>
                      </m:num>
                      <m:den>
                        <m:rad>
                          <m:radPr>
                            <m:degHide m:val="on"/>
                            <m:ctrlPr>
                              <a:rPr lang="en-US" i="1">
                                <a:latin typeface="Cambria Math" panose="02040503050406030204" pitchFamily="18" charset="0"/>
                              </a:rPr>
                            </m:ctrlPr>
                          </m:radPr>
                          <m:deg/>
                          <m:e>
                            <m:r>
                              <a:rPr lang="en-US" i="1">
                                <a:solidFill>
                                  <a:srgbClr val="00B0F0"/>
                                </a:solidFill>
                                <a:latin typeface="Cambria Math" panose="02040503050406030204" pitchFamily="18" charset="0"/>
                              </a:rPr>
                              <m:t>𝑁</m:t>
                            </m:r>
                          </m:e>
                        </m:rad>
                      </m:den>
                    </m:f>
                    <m:r>
                      <a:rPr lang="en-US" i="1">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acc>
                              <m:accPr>
                                <m:chr m:val="̅"/>
                                <m:ctrlPr>
                                  <a:rPr lang="en-US" i="1">
                                    <a:latin typeface="Cambria Math" panose="02040503050406030204" pitchFamily="18" charset="0"/>
                                  </a:rPr>
                                </m:ctrlPr>
                              </m:accPr>
                              <m:e>
                                <m:r>
                                  <a:rPr lang="en-US" i="1">
                                    <a:latin typeface="Cambria Math" panose="02040503050406030204" pitchFamily="18" charset="0"/>
                                  </a:rPr>
                                  <m:t>.51</m:t>
                                </m:r>
                              </m:e>
                            </m:acc>
                            <m:r>
                              <a:rPr lang="en-US" i="1">
                                <a:latin typeface="Cambria Math" panose="02040503050406030204" pitchFamily="18" charset="0"/>
                              </a:rPr>
                              <m:t>(.49)</m:t>
                            </m:r>
                          </m:e>
                        </m:rad>
                      </m:num>
                      <m:den>
                        <m:rad>
                          <m:radPr>
                            <m:degHide m:val="on"/>
                            <m:ctrlPr>
                              <a:rPr lang="en-US" i="1">
                                <a:latin typeface="Cambria Math" panose="02040503050406030204" pitchFamily="18" charset="0"/>
                              </a:rPr>
                            </m:ctrlPr>
                          </m:radPr>
                          <m:deg/>
                          <m:e>
                            <m:r>
                              <a:rPr lang="en-US" i="1">
                                <a:latin typeface="Cambria Math" panose="02040503050406030204" pitchFamily="18" charset="0"/>
                              </a:rPr>
                              <m:t>1100</m:t>
                            </m:r>
                          </m:e>
                        </m:rad>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.50</m:t>
                        </m:r>
                      </m:num>
                      <m:den>
                        <m:r>
                          <a:rPr lang="en-US" i="1">
                            <a:latin typeface="Cambria Math" panose="02040503050406030204" pitchFamily="18" charset="0"/>
                          </a:rPr>
                          <m:t>33.2</m:t>
                        </m:r>
                      </m:den>
                    </m:f>
                    <m:r>
                      <a:rPr lang="en-US" i="1">
                        <a:latin typeface="Cambria Math" panose="02040503050406030204" pitchFamily="18" charset="0"/>
                      </a:rPr>
                      <m:t>=.015</m:t>
                    </m:r>
                  </m:oMath>
                </a14:m>
                <a:endParaRPr lang="en-US" dirty="0"/>
              </a:p>
              <a:p>
                <a:endParaRPr lang="en-US" dirty="0"/>
              </a:p>
              <a:p>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oMath>
                </a14:m>
                <a:r>
                  <a:rPr lang="en-US" dirty="0"/>
                  <a:t> </a:t>
                </a:r>
              </a:p>
              <a:p>
                <a:pPr marL="0" indent="0" algn="ctr">
                  <a:buNone/>
                </a:pPr>
                <a14:m>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acc>
                      <m:accPr>
                        <m:chr m:val="̅"/>
                        <m:ctrlPr>
                          <a:rPr lang="en-US" sz="1800" i="1">
                            <a:solidFill>
                              <a:schemeClr val="accent6"/>
                            </a:solidFill>
                            <a:latin typeface="Cambria Math" panose="02040503050406030204" pitchFamily="18" charset="0"/>
                          </a:rPr>
                        </m:ctrlPr>
                      </m:accPr>
                      <m:e>
                        <m:r>
                          <a:rPr lang="en-US" sz="1800" i="1">
                            <a:solidFill>
                              <a:schemeClr val="accent6"/>
                            </a:solidFill>
                            <a:latin typeface="Cambria Math" panose="02040503050406030204" pitchFamily="18" charset="0"/>
                          </a:rPr>
                          <m:t>𝑥</m:t>
                        </m:r>
                      </m:e>
                    </m:acc>
                    <m:r>
                      <a:rPr lang="en-US" sz="1800" i="1" dirty="0">
                        <a:solidFill>
                          <a:schemeClr val="accent6"/>
                        </a:solidFill>
                        <a:latin typeface="Cambria Math" panose="02040503050406030204" pitchFamily="18" charset="0"/>
                        <a:ea typeface="Cambria Math" panose="02040503050406030204" pitchFamily="18" charset="0"/>
                      </a:rPr>
                      <m:t>±1.96∗</m:t>
                    </m:r>
                    <m:r>
                      <a:rPr lang="en-US" sz="1800" i="1">
                        <a:solidFill>
                          <a:srgbClr val="EB971B"/>
                        </a:solidFill>
                        <a:latin typeface="Cambria Math" panose="02040503050406030204" pitchFamily="18" charset="0"/>
                      </a:rPr>
                      <m:t>𝑆𝑡𝑑</m:t>
                    </m:r>
                    <m:r>
                      <a:rPr lang="en-US" sz="1800" i="1">
                        <a:solidFill>
                          <a:srgbClr val="EB971B"/>
                        </a:solidFill>
                        <a:latin typeface="Cambria Math" panose="02040503050406030204" pitchFamily="18" charset="0"/>
                      </a:rPr>
                      <m:t> </m:t>
                    </m:r>
                    <m:r>
                      <a:rPr lang="en-US" sz="1800" i="1">
                        <a:solidFill>
                          <a:srgbClr val="EB971B"/>
                        </a:solidFill>
                        <a:latin typeface="Cambria Math" panose="02040503050406030204" pitchFamily="18" charset="0"/>
                      </a:rPr>
                      <m:t>𝐸𝑟𝑟</m:t>
                    </m:r>
                    <m:d>
                      <m:dPr>
                        <m:ctrlPr>
                          <a:rPr lang="en-US" sz="1800" i="1">
                            <a:solidFill>
                              <a:srgbClr val="EB971B"/>
                            </a:solidFill>
                            <a:latin typeface="Cambria Math" panose="02040503050406030204" pitchFamily="18" charset="0"/>
                          </a:rPr>
                        </m:ctrlPr>
                      </m:dPr>
                      <m:e>
                        <m:acc>
                          <m:accPr>
                            <m:chr m:val="̅"/>
                            <m:ctrlPr>
                              <a:rPr lang="en-US" sz="1800" i="1">
                                <a:solidFill>
                                  <a:srgbClr val="00B0F0"/>
                                </a:solidFill>
                                <a:latin typeface="Cambria Math" panose="02040503050406030204" pitchFamily="18" charset="0"/>
                              </a:rPr>
                            </m:ctrlPr>
                          </m:accPr>
                          <m:e>
                            <m:r>
                              <a:rPr lang="en-US" sz="1800" i="1">
                                <a:solidFill>
                                  <a:srgbClr val="00B0F0"/>
                                </a:solidFill>
                                <a:latin typeface="Cambria Math" panose="02040503050406030204" pitchFamily="18" charset="0"/>
                              </a:rPr>
                              <m:t>𝑥</m:t>
                            </m:r>
                          </m:e>
                        </m:acc>
                      </m:e>
                    </m:d>
                  </m:oMath>
                </a14:m>
                <a:r>
                  <a:rPr lang="en-US" sz="1800" i="1" dirty="0">
                    <a:solidFill>
                      <a:srgbClr val="00B0F0"/>
                    </a:solidFill>
                    <a:latin typeface="Cambria Math" panose="02040503050406030204" pitchFamily="18" charset="0"/>
                  </a:rPr>
                  <a:t> </a:t>
                </a:r>
              </a:p>
              <a:p>
                <a:pPr marL="0" indent="0" algn="ctr">
                  <a:buNone/>
                </a:pPr>
                <a14:m>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dirty="0">
                        <a:solidFill>
                          <a:schemeClr val="accent6"/>
                        </a:solidFill>
                        <a:latin typeface="Cambria Math" panose="02040503050406030204" pitchFamily="18" charset="0"/>
                        <a:cs typeface="Helvetica"/>
                      </a:rPr>
                      <m:t>.51</m:t>
                    </m:r>
                    <m:r>
                      <a:rPr lang="en-US" sz="1800" i="1" dirty="0">
                        <a:solidFill>
                          <a:schemeClr val="accent6"/>
                        </a:solidFill>
                        <a:latin typeface="Cambria Math" panose="02040503050406030204" pitchFamily="18" charset="0"/>
                        <a:cs typeface="Helvetica"/>
                      </a:rPr>
                      <m:t>± 1.96(.015)</m:t>
                    </m:r>
                  </m:oMath>
                </a14:m>
                <a:r>
                  <a:rPr lang="en-US" sz="1800" dirty="0">
                    <a:solidFill>
                      <a:schemeClr val="accent6"/>
                    </a:solidFill>
                  </a:rPr>
                  <a:t> </a:t>
                </a:r>
              </a:p>
              <a:p>
                <a:pPr marL="0" indent="0" algn="ctr">
                  <a:buNone/>
                </a:pPr>
                <a14:m>
                  <m:oMathPara xmlns:m="http://schemas.openxmlformats.org/officeDocument/2006/math">
                    <m:oMathParaPr>
                      <m:jc m:val="centerGroup"/>
                    </m:oMathParaPr>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dirty="0">
                          <a:solidFill>
                            <a:schemeClr val="accent6"/>
                          </a:solidFill>
                          <a:latin typeface="Cambria Math" panose="02040503050406030204" pitchFamily="18" charset="0"/>
                          <a:cs typeface="Helvetica"/>
                        </a:rPr>
                        <m:t>.51</m:t>
                      </m:r>
                      <m:r>
                        <a:rPr lang="en-US" sz="1800" i="1" dirty="0">
                          <a:solidFill>
                            <a:schemeClr val="accent6"/>
                          </a:solidFill>
                          <a:latin typeface="Cambria Math" panose="02040503050406030204" pitchFamily="18" charset="0"/>
                          <a:cs typeface="Helvetica"/>
                        </a:rPr>
                        <m:t>± </m:t>
                      </m:r>
                      <m:r>
                        <a:rPr lang="en-US" sz="1800" i="1" dirty="0" smtClean="0">
                          <a:solidFill>
                            <a:srgbClr val="00B0F0"/>
                          </a:solidFill>
                          <a:latin typeface="Cambria Math" panose="02040503050406030204" pitchFamily="18" charset="0"/>
                          <a:cs typeface="Helvetica"/>
                        </a:rPr>
                        <m:t>.029</m:t>
                      </m:r>
                    </m:oMath>
                  </m:oMathPara>
                </a14:m>
                <a:endParaRPr lang="en-US" sz="1800" dirty="0">
                  <a:solidFill>
                    <a:schemeClr val="accent6"/>
                  </a:solidFill>
                </a:endParaRPr>
              </a:p>
              <a:p>
                <a:pPr marL="0" indent="0" algn="ctr">
                  <a:buNone/>
                </a:pPr>
                <a14:m>
                  <m:oMathPara xmlns:m="http://schemas.openxmlformats.org/officeDocument/2006/math">
                    <m:oMathParaPr>
                      <m:jc m:val="centerGroup"/>
                    </m:oMathParaPr>
                    <m:oMath xmlns:m="http://schemas.openxmlformats.org/officeDocument/2006/math">
                      <m:r>
                        <a:rPr lang="en-US" sz="1800" i="1">
                          <a:solidFill>
                            <a:schemeClr val="accent6"/>
                          </a:solidFill>
                          <a:latin typeface="Cambria Math" panose="02040503050406030204" pitchFamily="18" charset="0"/>
                        </a:rPr>
                        <m:t>𝐶</m:t>
                      </m:r>
                      <m:sSup>
                        <m:sSupPr>
                          <m:ctrlPr>
                            <a:rPr lang="en-US" sz="1800" i="1">
                              <a:solidFill>
                                <a:schemeClr val="accent6"/>
                              </a:solidFill>
                              <a:latin typeface="Cambria Math" panose="02040503050406030204" pitchFamily="18" charset="0"/>
                            </a:rPr>
                          </m:ctrlPr>
                        </m:sSupPr>
                        <m:e>
                          <m:r>
                            <a:rPr lang="en-US" sz="1800" i="1">
                              <a:solidFill>
                                <a:schemeClr val="accent6"/>
                              </a:solidFill>
                              <a:latin typeface="Cambria Math" panose="02040503050406030204" pitchFamily="18" charset="0"/>
                            </a:rPr>
                            <m:t>𝐼</m:t>
                          </m:r>
                        </m:e>
                        <m:sup>
                          <m:r>
                            <a:rPr lang="en-US" sz="1800" i="1">
                              <a:solidFill>
                                <a:schemeClr val="accent6"/>
                              </a:solidFill>
                              <a:latin typeface="Cambria Math" panose="02040503050406030204" pitchFamily="18" charset="0"/>
                            </a:rPr>
                            <m:t>95</m:t>
                          </m:r>
                        </m:sup>
                      </m:sSup>
                      <m:r>
                        <a:rPr lang="en-US" sz="1800" i="1">
                          <a:solidFill>
                            <a:schemeClr val="accent6"/>
                          </a:solidFill>
                          <a:latin typeface="Cambria Math" panose="02040503050406030204" pitchFamily="18" charset="0"/>
                        </a:rPr>
                        <m:t>=</m:t>
                      </m:r>
                      <m:r>
                        <a:rPr lang="en-US" sz="1800" i="1" dirty="0">
                          <a:solidFill>
                            <a:schemeClr val="accent6"/>
                          </a:solidFill>
                          <a:latin typeface="Cambria Math" panose="02040503050406030204" pitchFamily="18" charset="0"/>
                        </a:rPr>
                        <m:t>[.481, .539]</m:t>
                      </m:r>
                    </m:oMath>
                  </m:oMathPara>
                </a14:m>
                <a:endParaRPr lang="en-US" sz="1800" dirty="0">
                  <a:solidFill>
                    <a:schemeClr val="accent6"/>
                  </a:solidFill>
                </a:endParaRPr>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132B9E17-4A71-6565-6FCD-5D109907EF85}"/>
                  </a:ext>
                </a:extLst>
              </p:cNvPr>
              <p:cNvSpPr>
                <a:spLocks noGrp="1" noRot="1" noChangeAspect="1" noMove="1" noResize="1" noEditPoints="1" noAdjustHandles="1" noChangeArrowheads="1" noChangeShapeType="1" noTextEdit="1"/>
              </p:cNvSpPr>
              <p:nvPr>
                <p:ph idx="1"/>
              </p:nvPr>
            </p:nvSpPr>
            <p:spPr>
              <a:xfrm>
                <a:off x="354013" y="1089026"/>
                <a:ext cx="8437562" cy="1815042"/>
              </a:xfrm>
              <a:blipFill>
                <a:blip r:embed="rId3"/>
                <a:stretch>
                  <a:fillRect l="-723" b="-20033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415424C-AAC0-EB73-591C-48A55280FC26}"/>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73</a:t>
            </a:fld>
            <a:endParaRPr lang="en-GB" dirty="0"/>
          </a:p>
        </p:txBody>
      </p:sp>
      <p:sp>
        <p:nvSpPr>
          <p:cNvPr id="17" name="TextBox 16">
            <a:extLst>
              <a:ext uri="{FF2B5EF4-FFF2-40B4-BE49-F238E27FC236}">
                <a16:creationId xmlns:a16="http://schemas.microsoft.com/office/drawing/2014/main" id="{E8E5A48A-025A-2D6A-D660-5BF8911C4A71}"/>
              </a:ext>
            </a:extLst>
          </p:cNvPr>
          <p:cNvSpPr txBox="1"/>
          <p:nvPr/>
        </p:nvSpPr>
        <p:spPr>
          <a:xfrm>
            <a:off x="6287439" y="5845321"/>
            <a:ext cx="1946281" cy="307777"/>
          </a:xfrm>
          <a:prstGeom prst="rect">
            <a:avLst/>
          </a:prstGeom>
          <a:solidFill>
            <a:schemeClr val="accent3">
              <a:lumMod val="95000"/>
            </a:schemeClr>
          </a:solidFill>
        </p:spPr>
        <p:txBody>
          <a:bodyPr wrap="square" rtlCol="0">
            <a:spAutoFit/>
          </a:bodyPr>
          <a:lstStyle/>
          <a:p>
            <a:pPr algn="ctr"/>
            <a:r>
              <a:rPr lang="en-US" sz="1400" b="0" u="none" dirty="0">
                <a:solidFill>
                  <a:srgbClr val="00B0F0"/>
                </a:solidFill>
                <a:latin typeface="Arial" pitchFamily="34" charset="0"/>
                <a:cs typeface="Arial" pitchFamily="34" charset="0"/>
              </a:rPr>
              <a:t>Poll’s “margin of error”</a:t>
            </a:r>
          </a:p>
        </p:txBody>
      </p:sp>
      <p:cxnSp>
        <p:nvCxnSpPr>
          <p:cNvPr id="19" name="Straight Arrow Connector 18">
            <a:extLst>
              <a:ext uri="{FF2B5EF4-FFF2-40B4-BE49-F238E27FC236}">
                <a16:creationId xmlns:a16="http://schemas.microsoft.com/office/drawing/2014/main" id="{933AA8F6-3136-2048-DF47-13228EABC33D}"/>
              </a:ext>
            </a:extLst>
          </p:cNvPr>
          <p:cNvCxnSpPr/>
          <p:nvPr/>
        </p:nvCxnSpPr>
        <p:spPr bwMode="auto">
          <a:xfrm>
            <a:off x="5629877" y="5999210"/>
            <a:ext cx="558800" cy="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spTree>
    <p:extLst>
      <p:ext uri="{BB962C8B-B14F-4D97-AF65-F5344CB8AC3E}">
        <p14:creationId xmlns:p14="http://schemas.microsoft.com/office/powerpoint/2010/main" val="26327668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E009F-2914-B037-8623-DDF91F866EF1}"/>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B72D2452-9897-A645-7B53-4A5D0E99E132}"/>
              </a:ext>
            </a:extLst>
          </p:cNvPr>
          <p:cNvPicPr>
            <a:picLocks noChangeAspect="1"/>
          </p:cNvPicPr>
          <p:nvPr/>
        </p:nvPicPr>
        <p:blipFill>
          <a:blip r:embed="rId2"/>
          <a:stretch>
            <a:fillRect/>
          </a:stretch>
        </p:blipFill>
        <p:spPr>
          <a:xfrm>
            <a:off x="58307" y="1949038"/>
            <a:ext cx="4810886" cy="3427856"/>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6ADC76-73E2-FDEC-ACFF-FE21A1EAA434}"/>
                  </a:ext>
                </a:extLst>
              </p:cNvPr>
              <p:cNvSpPr>
                <a:spLocks noGrp="1"/>
              </p:cNvSpPr>
              <p:nvPr>
                <p:ph type="title"/>
              </p:nvPr>
            </p:nvSpPr>
            <p:spPr/>
            <p:txBody>
              <a:bodyPr/>
              <a:lstStyle/>
              <a:p>
                <a14:m>
                  <m:oMath xmlns:m="http://schemas.openxmlformats.org/officeDocument/2006/math">
                    <m:r>
                      <a:rPr lang="en-US" i="1" dirty="0" smtClean="0">
                        <a:latin typeface="Cambria Math" panose="02040503050406030204" pitchFamily="18" charset="0"/>
                      </a:rPr>
                      <m:t>𝐶</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𝐼</m:t>
                        </m:r>
                      </m:e>
                      <m:sup>
                        <m:r>
                          <a:rPr lang="en-US" b="0" i="1" dirty="0" smtClean="0">
                            <a:latin typeface="Cambria Math" panose="02040503050406030204" pitchFamily="18" charset="0"/>
                          </a:rPr>
                          <m:t>95</m:t>
                        </m:r>
                      </m:sup>
                    </m:sSup>
                  </m:oMath>
                </a14:m>
                <a:r>
                  <a:rPr lang="en-US" dirty="0"/>
                  <a:t> Interpretation</a:t>
                </a:r>
              </a:p>
            </p:txBody>
          </p:sp>
        </mc:Choice>
        <mc:Fallback xmlns="">
          <p:sp>
            <p:nvSpPr>
              <p:cNvPr id="2" name="Title 1">
                <a:extLst>
                  <a:ext uri="{FF2B5EF4-FFF2-40B4-BE49-F238E27FC236}">
                    <a16:creationId xmlns:a16="http://schemas.microsoft.com/office/drawing/2014/main" id="{B06ADC76-73E2-FDEC-ACFF-FE21A1EAA434}"/>
                  </a:ext>
                </a:extLst>
              </p:cNvPr>
              <p:cNvSpPr>
                <a:spLocks noGrp="1" noRot="1" noChangeAspect="1" noMove="1" noResize="1" noEditPoints="1" noAdjustHandles="1" noChangeArrowheads="1" noChangeShapeType="1" noTextEdit="1"/>
              </p:cNvSpPr>
              <p:nvPr>
                <p:ph type="title"/>
              </p:nvPr>
            </p:nvSpPr>
            <p:spPr>
              <a:blipFill>
                <a:blip r:embed="rId3"/>
                <a:stretch>
                  <a:fillRect b="-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A608A92-740E-F2F0-0221-26F96A207834}"/>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74</a:t>
            </a:fld>
            <a:endParaRPr lang="en-GB"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76514E3-7881-7A7C-D87A-6F4BDEDD95AF}"/>
                  </a:ext>
                </a:extLst>
              </p:cNvPr>
              <p:cNvSpPr txBox="1"/>
              <p:nvPr/>
            </p:nvSpPr>
            <p:spPr>
              <a:xfrm>
                <a:off x="2591757" y="5037818"/>
                <a:ext cx="196977" cy="276999"/>
              </a:xfrm>
              <a:prstGeom prst="rect">
                <a:avLst/>
              </a:prstGeom>
              <a:solidFill>
                <a:schemeClr val="bg1"/>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800" b="0" i="1" u="none" smtClean="0">
                          <a:solidFill>
                            <a:srgbClr val="FF0000"/>
                          </a:solidFill>
                          <a:latin typeface="Cambria Math" panose="02040503050406030204" pitchFamily="18" charset="0"/>
                          <a:cs typeface="Arial" pitchFamily="34" charset="0"/>
                        </a:rPr>
                        <m:t>𝜇</m:t>
                      </m:r>
                    </m:oMath>
                  </m:oMathPara>
                </a14:m>
                <a:endParaRPr lang="en-US" sz="1800" b="0" u="none" dirty="0">
                  <a:solidFill>
                    <a:srgbClr val="FF0000"/>
                  </a:solidFill>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BCCEEB-2473-43D1-1450-E3D72CB06416}"/>
                  </a:ext>
                </a:extLst>
              </p:cNvPr>
              <p:cNvSpPr txBox="1">
                <a:spLocks noRot="1" noChangeAspect="1" noMove="1" noResize="1" noEditPoints="1" noAdjustHandles="1" noChangeArrowheads="1" noChangeShapeType="1" noTextEdit="1"/>
              </p:cNvSpPr>
              <p:nvPr/>
            </p:nvSpPr>
            <p:spPr>
              <a:xfrm>
                <a:off x="2591757" y="5037818"/>
                <a:ext cx="196977" cy="276999"/>
              </a:xfrm>
              <a:prstGeom prst="rect">
                <a:avLst/>
              </a:prstGeom>
              <a:blipFill>
                <a:blip r:embed="rId5"/>
                <a:stretch>
                  <a:fillRect l="-43750" r="-625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1242575-9E0A-A060-D725-3ED714657B48}"/>
                  </a:ext>
                </a:extLst>
              </p:cNvPr>
              <p:cNvSpPr txBox="1"/>
              <p:nvPr/>
            </p:nvSpPr>
            <p:spPr>
              <a:xfrm>
                <a:off x="5067300" y="1220218"/>
                <a:ext cx="3965489" cy="5282728"/>
              </a:xfrm>
              <a:prstGeom prst="rect">
                <a:avLst/>
              </a:prstGeom>
              <a:solidFill>
                <a:schemeClr val="bg1"/>
              </a:solidFill>
              <a:ln>
                <a:noFill/>
              </a:ln>
            </p:spPr>
            <p:txBody>
              <a:bodyPr wrap="square" rtlCol="0">
                <a:spAutoFit/>
              </a:bodyPr>
              <a:lstStyle/>
              <a:p>
                <a:r>
                  <a:rPr lang="en-US" sz="1600" b="0" u="none" dirty="0">
                    <a:solidFill>
                      <a:schemeClr val="accent6"/>
                    </a:solidFill>
                    <a:cs typeface="Arial" panose="020B0604020202020204" pitchFamily="34" charset="0"/>
                  </a:rPr>
                  <a:t>How to describe this interval in plain English?</a:t>
                </a: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We are “95% confident” that the true mean </a:t>
                </a:r>
                <a14:m>
                  <m:oMath xmlns:m="http://schemas.openxmlformats.org/officeDocument/2006/math">
                    <m:r>
                      <a:rPr lang="en-US" sz="1600" b="0" i="1" u="none" smtClean="0">
                        <a:solidFill>
                          <a:srgbClr val="FF0000"/>
                        </a:solidFill>
                        <a:latin typeface="Cambria Math" panose="02040503050406030204" pitchFamily="18" charset="0"/>
                        <a:cs typeface="Arial" panose="020B0604020202020204" pitchFamily="34" charset="0"/>
                      </a:rPr>
                      <m:t>𝜇</m:t>
                    </m:r>
                  </m:oMath>
                </a14:m>
                <a:r>
                  <a:rPr lang="en-US" sz="1600" b="0" u="none" dirty="0">
                    <a:solidFill>
                      <a:srgbClr val="EB971B"/>
                    </a:solidFill>
                    <a:cs typeface="Arial" panose="020B0604020202020204" pitchFamily="34" charset="0"/>
                  </a:rPr>
                  <a:t> </a:t>
                </a:r>
                <a:r>
                  <a:rPr lang="en-US" sz="1600" b="0" u="none" dirty="0">
                    <a:solidFill>
                      <a:schemeClr val="accent6"/>
                    </a:solidFill>
                    <a:cs typeface="Arial" panose="020B0604020202020204" pitchFamily="34" charset="0"/>
                  </a:rPr>
                  <a:t>lies within .481 and .539 because for 95 samples out of a 100, the samples’ </a:t>
                </a:r>
                <a14:m>
                  <m:oMath xmlns:m="http://schemas.openxmlformats.org/officeDocument/2006/math">
                    <m:r>
                      <a:rPr lang="en-US" sz="1600" i="1" u="none" dirty="0" smtClean="0">
                        <a:solidFill>
                          <a:schemeClr val="accent6"/>
                        </a:solidFill>
                        <a:latin typeface="Cambria Math" panose="02040503050406030204" pitchFamily="18" charset="0"/>
                      </a:rPr>
                      <m:t>𝐶</m:t>
                    </m:r>
                    <m:sSup>
                      <m:sSupPr>
                        <m:ctrlPr>
                          <a:rPr lang="en-US" sz="1600" b="0" i="1" u="none" dirty="0">
                            <a:solidFill>
                              <a:schemeClr val="accent6"/>
                            </a:solidFill>
                            <a:latin typeface="Cambria Math" panose="02040503050406030204" pitchFamily="18" charset="0"/>
                          </a:rPr>
                        </m:ctrlPr>
                      </m:sSupPr>
                      <m:e>
                        <m:r>
                          <a:rPr lang="en-US" sz="1600" i="1" u="none" dirty="0">
                            <a:solidFill>
                              <a:schemeClr val="accent6"/>
                            </a:solidFill>
                            <a:latin typeface="Cambria Math" panose="02040503050406030204" pitchFamily="18" charset="0"/>
                          </a:rPr>
                          <m:t>𝐼</m:t>
                        </m:r>
                      </m:e>
                      <m:sup>
                        <m:r>
                          <a:rPr lang="en-US" sz="1600" b="0" i="1" u="none" dirty="0">
                            <a:solidFill>
                              <a:schemeClr val="accent6"/>
                            </a:solidFill>
                            <a:latin typeface="Cambria Math" panose="02040503050406030204" pitchFamily="18" charset="0"/>
                          </a:rPr>
                          <m:t>95</m:t>
                        </m:r>
                      </m:sup>
                    </m:sSup>
                  </m:oMath>
                </a14:m>
                <a:r>
                  <a:rPr lang="en-US" sz="1600" b="0" u="none" dirty="0">
                    <a:solidFill>
                      <a:schemeClr val="accent6"/>
                    </a:solidFill>
                    <a:cs typeface="Arial" panose="020B0604020202020204" pitchFamily="34" charset="0"/>
                  </a:rPr>
                  <a:t> encompass </a:t>
                </a:r>
                <a14:m>
                  <m:oMath xmlns:m="http://schemas.openxmlformats.org/officeDocument/2006/math">
                    <m:r>
                      <a:rPr lang="en-US" sz="1600" b="0" i="1" u="none">
                        <a:solidFill>
                          <a:srgbClr val="FF0000"/>
                        </a:solidFill>
                        <a:latin typeface="Cambria Math" panose="02040503050406030204" pitchFamily="18" charset="0"/>
                        <a:cs typeface="Arial" panose="020B0604020202020204" pitchFamily="34" charset="0"/>
                      </a:rPr>
                      <m:t>𝜇</m:t>
                    </m:r>
                  </m:oMath>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We are </a:t>
                </a:r>
                <a:r>
                  <a:rPr lang="en-US" sz="1600" b="0" dirty="0">
                    <a:solidFill>
                      <a:schemeClr val="accent6"/>
                    </a:solidFill>
                    <a:cs typeface="Arial" panose="020B0604020202020204" pitchFamily="34" charset="0"/>
                  </a:rPr>
                  <a:t>NOT</a:t>
                </a:r>
                <a:r>
                  <a:rPr lang="en-US" sz="1600" b="0" u="none" dirty="0">
                    <a:solidFill>
                      <a:schemeClr val="accent6"/>
                    </a:solidFill>
                    <a:cs typeface="Arial" panose="020B0604020202020204" pitchFamily="34" charset="0"/>
                  </a:rPr>
                  <a:t> 100% confident because for 5 samples out of 100, the samples’ </a:t>
                </a:r>
                <a14:m>
                  <m:oMath xmlns:m="http://schemas.openxmlformats.org/officeDocument/2006/math">
                    <m:r>
                      <a:rPr lang="en-US" sz="1600" i="1" u="none" dirty="0">
                        <a:solidFill>
                          <a:schemeClr val="accent6"/>
                        </a:solidFill>
                        <a:latin typeface="Cambria Math" panose="02040503050406030204" pitchFamily="18" charset="0"/>
                      </a:rPr>
                      <m:t>𝐶</m:t>
                    </m:r>
                    <m:sSup>
                      <m:sSupPr>
                        <m:ctrlPr>
                          <a:rPr lang="en-US" sz="1600" b="0" i="1" u="none" dirty="0">
                            <a:solidFill>
                              <a:schemeClr val="accent6"/>
                            </a:solidFill>
                            <a:latin typeface="Cambria Math" panose="02040503050406030204" pitchFamily="18" charset="0"/>
                          </a:rPr>
                        </m:ctrlPr>
                      </m:sSupPr>
                      <m:e>
                        <m:r>
                          <a:rPr lang="en-US" sz="1600" i="1" u="none" dirty="0">
                            <a:solidFill>
                              <a:schemeClr val="accent6"/>
                            </a:solidFill>
                            <a:latin typeface="Cambria Math" panose="02040503050406030204" pitchFamily="18" charset="0"/>
                          </a:rPr>
                          <m:t>𝐼</m:t>
                        </m:r>
                      </m:e>
                      <m:sup>
                        <m:r>
                          <a:rPr lang="en-US" sz="1600" b="0" i="1" u="none" dirty="0">
                            <a:solidFill>
                              <a:schemeClr val="accent6"/>
                            </a:solidFill>
                            <a:latin typeface="Cambria Math" panose="02040503050406030204" pitchFamily="18" charset="0"/>
                          </a:rPr>
                          <m:t>95</m:t>
                        </m:r>
                      </m:sup>
                    </m:sSup>
                  </m:oMath>
                </a14:m>
                <a:r>
                  <a:rPr lang="en-US" sz="1600" b="0" u="none" dirty="0">
                    <a:solidFill>
                      <a:schemeClr val="accent6"/>
                    </a:solidFill>
                    <a:cs typeface="Arial" panose="020B0604020202020204" pitchFamily="34" charset="0"/>
                  </a:rPr>
                  <a:t> will NOT contain the true mean</a:t>
                </a:r>
              </a:p>
              <a:p>
                <a:endParaRPr lang="en-US" sz="1600" b="0" u="none" dirty="0">
                  <a:solidFill>
                    <a:schemeClr val="accent6"/>
                  </a:solidFill>
                  <a:cs typeface="Arial" panose="020B0604020202020204" pitchFamily="34" charset="0"/>
                </a:endParaRPr>
              </a:p>
              <a:p>
                <a:pPr marL="285750" indent="-112713" defTabSz="401638">
                  <a:buFont typeface="Arial" panose="020B0604020202020204" pitchFamily="34" charset="0"/>
                  <a:buChar char="•"/>
                </a:pPr>
                <a:r>
                  <a:rPr lang="en-US" sz="1600" b="0" u="none" dirty="0">
                    <a:solidFill>
                      <a:schemeClr val="accent6"/>
                    </a:solidFill>
                    <a:cs typeface="Arial" panose="020B0604020202020204" pitchFamily="34" charset="0"/>
                  </a:rPr>
                  <a:t>	For example, </a:t>
                </a:r>
                <a14:m>
                  <m:oMath xmlns:m="http://schemas.openxmlformats.org/officeDocument/2006/math">
                    <m:r>
                      <a:rPr lang="en-US" sz="1600" b="0" i="1" u="none" smtClean="0">
                        <a:solidFill>
                          <a:srgbClr val="008000"/>
                        </a:solidFill>
                        <a:latin typeface="Cambria Math" panose="02040503050406030204" pitchFamily="18" charset="0"/>
                        <a:cs typeface="Arial" panose="020B0604020202020204" pitchFamily="34" charset="0"/>
                      </a:rPr>
                      <m:t>𝐵𝑎𝑑</m:t>
                    </m:r>
                    <m:r>
                      <a:rPr lang="en-US" sz="1600" b="0" i="1" u="none" smtClean="0">
                        <a:solidFill>
                          <a:srgbClr val="008000"/>
                        </a:solidFill>
                        <a:latin typeface="Cambria Math" panose="02040503050406030204" pitchFamily="18" charset="0"/>
                        <a:cs typeface="Arial" panose="020B0604020202020204" pitchFamily="34" charset="0"/>
                      </a:rPr>
                      <m:t> </m:t>
                    </m:r>
                    <m:r>
                      <a:rPr lang="en-US" sz="1600" b="0" i="1" u="none" smtClean="0">
                        <a:solidFill>
                          <a:srgbClr val="008000"/>
                        </a:solidFill>
                        <a:latin typeface="Cambria Math" panose="02040503050406030204" pitchFamily="18" charset="0"/>
                        <a:cs typeface="Arial" panose="020B0604020202020204" pitchFamily="34" charset="0"/>
                      </a:rPr>
                      <m:t>𝐹𝑜𝑥</m:t>
                    </m:r>
                  </m:oMath>
                </a14:m>
                <a:r>
                  <a:rPr lang="en-US" sz="1600" b="0" u="none" dirty="0">
                    <a:solidFill>
                      <a:schemeClr val="accent6"/>
                    </a:solidFill>
                    <a:cs typeface="Arial" panose="020B0604020202020204" pitchFamily="34" charset="0"/>
                  </a:rPr>
                  <a:t> could be one</a:t>
                </a:r>
              </a:p>
              <a:p>
                <a:pPr marL="173037" defTabSz="401638"/>
                <a:r>
                  <a:rPr lang="en-US" sz="1600" b="0" u="none" dirty="0">
                    <a:solidFill>
                      <a:schemeClr val="accent6"/>
                    </a:solidFill>
                    <a:cs typeface="Arial" panose="020B0604020202020204" pitchFamily="34" charset="0"/>
                  </a:rPr>
                  <a:t>    of the 5 that does not include </a:t>
                </a:r>
                <a14:m>
                  <m:oMath xmlns:m="http://schemas.openxmlformats.org/officeDocument/2006/math">
                    <m:r>
                      <a:rPr lang="en-US" sz="1600" b="0" i="1" u="none" smtClean="0">
                        <a:solidFill>
                          <a:srgbClr val="FF0000"/>
                        </a:solidFill>
                        <a:latin typeface="Cambria Math" panose="02040503050406030204" pitchFamily="18" charset="0"/>
                        <a:cs typeface="Arial" panose="020B0604020202020204" pitchFamily="34" charset="0"/>
                      </a:rPr>
                      <m:t>𝜇</m:t>
                    </m:r>
                  </m:oMath>
                </a14:m>
                <a:endParaRPr lang="en-US" sz="1600" b="0" u="none" dirty="0">
                  <a:solidFill>
                    <a:schemeClr val="accent6"/>
                  </a:solidFill>
                  <a:cs typeface="Arial" panose="020B0604020202020204" pitchFamily="34" charset="0"/>
                </a:endParaRP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If we want to be 99% confident, then</a:t>
                </a:r>
              </a:p>
              <a:p>
                <a:pPr algn="ctr"/>
                <a14:m>
                  <m:oMath xmlns:m="http://schemas.openxmlformats.org/officeDocument/2006/math">
                    <m:r>
                      <a:rPr lang="en-US" sz="1600" i="1" u="none" dirty="0" smtClean="0">
                        <a:solidFill>
                          <a:schemeClr val="accent6"/>
                        </a:solidFill>
                        <a:latin typeface="Cambria Math" panose="02040503050406030204" pitchFamily="18" charset="0"/>
                      </a:rPr>
                      <m:t>𝐶</m:t>
                    </m:r>
                    <m:sSup>
                      <m:sSupPr>
                        <m:ctrlPr>
                          <a:rPr lang="en-US" sz="1600" b="0" i="1" u="none" dirty="0">
                            <a:solidFill>
                              <a:schemeClr val="accent6"/>
                            </a:solidFill>
                            <a:latin typeface="Cambria Math" panose="02040503050406030204" pitchFamily="18" charset="0"/>
                          </a:rPr>
                        </m:ctrlPr>
                      </m:sSupPr>
                      <m:e>
                        <m:r>
                          <a:rPr lang="en-US" sz="1600" i="1" u="none" dirty="0">
                            <a:solidFill>
                              <a:schemeClr val="accent6"/>
                            </a:solidFill>
                            <a:latin typeface="Cambria Math" panose="02040503050406030204" pitchFamily="18" charset="0"/>
                          </a:rPr>
                          <m:t>𝐼</m:t>
                        </m:r>
                      </m:e>
                      <m:sup>
                        <m:r>
                          <a:rPr lang="en-US" sz="1600" b="0" i="1" u="none" dirty="0">
                            <a:solidFill>
                              <a:schemeClr val="accent6"/>
                            </a:solidFill>
                            <a:latin typeface="Cambria Math" panose="02040503050406030204" pitchFamily="18" charset="0"/>
                          </a:rPr>
                          <m:t>9</m:t>
                        </m:r>
                        <m:r>
                          <a:rPr lang="en-US" sz="1600" b="0" i="1" u="none" dirty="0" smtClean="0">
                            <a:solidFill>
                              <a:schemeClr val="accent6"/>
                            </a:solidFill>
                            <a:latin typeface="Cambria Math" panose="02040503050406030204" pitchFamily="18" charset="0"/>
                          </a:rPr>
                          <m:t>9</m:t>
                        </m:r>
                      </m:sup>
                    </m:sSup>
                    <m:r>
                      <a:rPr lang="en-US" sz="1600" b="0" i="1" u="none" dirty="0" smtClean="0">
                        <a:solidFill>
                          <a:schemeClr val="accent6"/>
                        </a:solidFill>
                        <a:latin typeface="Cambria Math" panose="02040503050406030204" pitchFamily="18" charset="0"/>
                      </a:rPr>
                      <m:t>=</m:t>
                    </m:r>
                    <m:r>
                      <a:rPr lang="en-US" sz="1600" b="0" i="1" u="none" smtClean="0">
                        <a:solidFill>
                          <a:schemeClr val="accent6"/>
                        </a:solidFill>
                        <a:latin typeface="Cambria Math" panose="02040503050406030204" pitchFamily="18" charset="0"/>
                        <a:cs typeface="Arial" panose="020B0604020202020204" pitchFamily="34" charset="0"/>
                      </a:rPr>
                      <m:t>2</m:t>
                    </m:r>
                    <m:r>
                      <a:rPr lang="en-US" sz="1600" b="0" i="1" u="none" smtClean="0">
                        <a:solidFill>
                          <a:schemeClr val="accent6"/>
                        </a:solidFill>
                        <a:latin typeface="Cambria Math" panose="02040503050406030204" pitchFamily="18" charset="0"/>
                        <a:cs typeface="Arial" panose="020B0604020202020204" pitchFamily="34" charset="0"/>
                      </a:rPr>
                      <m:t>.</m:t>
                    </m:r>
                    <m:r>
                      <a:rPr lang="en-US" sz="1600" b="0" i="1" u="none" smtClean="0">
                        <a:solidFill>
                          <a:schemeClr val="accent6"/>
                        </a:solidFill>
                        <a:latin typeface="Cambria Math" panose="02040503050406030204" pitchFamily="18" charset="0"/>
                        <a:cs typeface="Arial" panose="020B0604020202020204" pitchFamily="34" charset="0"/>
                      </a:rPr>
                      <m:t>58</m:t>
                    </m:r>
                    <m:r>
                      <a:rPr lang="en-US" sz="1600" b="0" i="1" u="none" smtClean="0">
                        <a:solidFill>
                          <a:schemeClr val="accent6"/>
                        </a:solidFill>
                        <a:latin typeface="Cambria Math" panose="02040503050406030204" pitchFamily="18" charset="0"/>
                        <a:cs typeface="Arial" panose="020B0604020202020204" pitchFamily="34" charset="0"/>
                      </a:rPr>
                      <m:t>∗</m:t>
                    </m:r>
                    <m:f>
                      <m:fPr>
                        <m:ctrlPr>
                          <a:rPr lang="en-US" sz="1600" b="0" i="1" u="none">
                            <a:solidFill>
                              <a:schemeClr val="accent6"/>
                            </a:solidFill>
                            <a:latin typeface="Cambria Math" panose="02040503050406030204" pitchFamily="18" charset="0"/>
                            <a:cs typeface="Arial" panose="020B0604020202020204" pitchFamily="34" charset="0"/>
                          </a:rPr>
                        </m:ctrlPr>
                      </m:fPr>
                      <m:num>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𝜎</m:t>
                            </m:r>
                          </m:e>
                        </m:acc>
                      </m:num>
                      <m:den>
                        <m:rad>
                          <m:radPr>
                            <m:degHide m:val="on"/>
                            <m:ctrlPr>
                              <a:rPr lang="en-US" sz="1600" b="0" i="1" u="none">
                                <a:solidFill>
                                  <a:schemeClr val="accent6"/>
                                </a:solidFill>
                                <a:latin typeface="Cambria Math" panose="02040503050406030204" pitchFamily="18" charset="0"/>
                                <a:cs typeface="Arial" panose="020B0604020202020204" pitchFamily="34" charset="0"/>
                              </a:rPr>
                            </m:ctrlPr>
                          </m:radPr>
                          <m:deg/>
                          <m:e>
                            <m:r>
                              <a:rPr lang="en-US" sz="1600" b="0" i="1" u="none">
                                <a:solidFill>
                                  <a:srgbClr val="00B0F0"/>
                                </a:solidFill>
                                <a:latin typeface="Cambria Math" panose="02040503050406030204" pitchFamily="18" charset="0"/>
                                <a:cs typeface="Arial" panose="020B0604020202020204" pitchFamily="34" charset="0"/>
                              </a:rPr>
                              <m:t>𝑁</m:t>
                            </m:r>
                          </m:e>
                        </m:rad>
                      </m:den>
                    </m:f>
                    <m:r>
                      <a:rPr lang="en-US" sz="1600" b="0" i="1" u="none" smtClean="0">
                        <a:solidFill>
                          <a:schemeClr val="accent6"/>
                        </a:solidFill>
                        <a:latin typeface="Cambria Math" panose="02040503050406030204" pitchFamily="18" charset="0"/>
                        <a:cs typeface="Arial" panose="020B0604020202020204" pitchFamily="34" charset="0"/>
                      </a:rPr>
                      <m:t>=[.</m:t>
                    </m:r>
                    <m:r>
                      <a:rPr lang="en-US" sz="1600" b="0" i="1" u="none" smtClean="0">
                        <a:solidFill>
                          <a:schemeClr val="accent6"/>
                        </a:solidFill>
                        <a:latin typeface="Cambria Math" panose="02040503050406030204" pitchFamily="18" charset="0"/>
                        <a:cs typeface="Arial" panose="020B0604020202020204" pitchFamily="34" charset="0"/>
                      </a:rPr>
                      <m:t>471</m:t>
                    </m:r>
                    <m:r>
                      <a:rPr lang="en-US" sz="1600" b="0" i="1" u="none" smtClean="0">
                        <a:solidFill>
                          <a:schemeClr val="accent6"/>
                        </a:solidFill>
                        <a:latin typeface="Cambria Math" panose="02040503050406030204" pitchFamily="18" charset="0"/>
                        <a:cs typeface="Arial" panose="020B0604020202020204" pitchFamily="34" charset="0"/>
                      </a:rPr>
                      <m:t>,.</m:t>
                    </m:r>
                    <m:r>
                      <a:rPr lang="en-US" sz="1600" b="0" i="1" u="none" smtClean="0">
                        <a:solidFill>
                          <a:schemeClr val="accent6"/>
                        </a:solidFill>
                        <a:latin typeface="Cambria Math" panose="02040503050406030204" pitchFamily="18" charset="0"/>
                        <a:cs typeface="Arial" panose="020B0604020202020204" pitchFamily="34" charset="0"/>
                      </a:rPr>
                      <m:t>549</m:t>
                    </m:r>
                    <m:r>
                      <a:rPr lang="en-US" sz="1600" b="0" i="1" u="none" smtClean="0">
                        <a:solidFill>
                          <a:schemeClr val="accent6"/>
                        </a:solidFill>
                        <a:latin typeface="Cambria Math" panose="02040503050406030204" pitchFamily="18" charset="0"/>
                        <a:cs typeface="Arial" panose="020B0604020202020204" pitchFamily="34" charset="0"/>
                      </a:rPr>
                      <m:t>]</m:t>
                    </m:r>
                  </m:oMath>
                </a14:m>
                <a:r>
                  <a:rPr lang="en-US" sz="1600" b="0" u="none" dirty="0">
                    <a:solidFill>
                      <a:srgbClr val="EB971B"/>
                    </a:solidFill>
                    <a:cs typeface="Arial" panose="020B0604020202020204" pitchFamily="34" charset="0"/>
                  </a:rPr>
                  <a:t>  </a:t>
                </a:r>
                <a:r>
                  <a:rPr lang="en-US" sz="1600" b="0" u="none" dirty="0">
                    <a:solidFill>
                      <a:schemeClr val="accent6"/>
                    </a:solidFill>
                    <a:cs typeface="Arial" panose="020B0604020202020204" pitchFamily="34" charset="0"/>
                  </a:rPr>
                  <a:t> </a:t>
                </a:r>
              </a:p>
              <a:p>
                <a:endParaRPr lang="en-US" sz="1600" b="0" u="none" dirty="0">
                  <a:solidFill>
                    <a:schemeClr val="accent6"/>
                  </a:solidFill>
                  <a:cs typeface="Arial" panose="020B0604020202020204" pitchFamily="34" charset="0"/>
                </a:endParaRPr>
              </a:p>
              <a:p>
                <a:r>
                  <a:rPr lang="en-US" sz="1600" b="0" u="none" dirty="0">
                    <a:solidFill>
                      <a:schemeClr val="accent6"/>
                    </a:solidFill>
                    <a:cs typeface="Arial" panose="020B0604020202020204" pitchFamily="34" charset="0"/>
                  </a:rPr>
                  <a:t>If we want to be 90% confident, then</a:t>
                </a:r>
              </a:p>
              <a:p>
                <a:pPr algn="ctr"/>
                <a:r>
                  <a:rPr lang="en-US" sz="1600" b="0" u="none" dirty="0">
                    <a:solidFill>
                      <a:schemeClr val="accent6"/>
                    </a:solidFill>
                    <a:cs typeface="Arial" panose="020B0604020202020204" pitchFamily="34" charset="0"/>
                  </a:rPr>
                  <a:t> </a:t>
                </a:r>
                <a14:m>
                  <m:oMath xmlns:m="http://schemas.openxmlformats.org/officeDocument/2006/math">
                    <m:r>
                      <a:rPr lang="en-US" sz="1600" i="1" u="none" dirty="0">
                        <a:solidFill>
                          <a:schemeClr val="accent6"/>
                        </a:solidFill>
                        <a:latin typeface="Cambria Math" panose="02040503050406030204" pitchFamily="18" charset="0"/>
                      </a:rPr>
                      <m:t>𝐶</m:t>
                    </m:r>
                    <m:sSup>
                      <m:sSupPr>
                        <m:ctrlPr>
                          <a:rPr lang="en-US" sz="1600" b="0" i="1" u="none" dirty="0">
                            <a:solidFill>
                              <a:schemeClr val="accent6"/>
                            </a:solidFill>
                            <a:latin typeface="Cambria Math" panose="02040503050406030204" pitchFamily="18" charset="0"/>
                          </a:rPr>
                        </m:ctrlPr>
                      </m:sSupPr>
                      <m:e>
                        <m:r>
                          <a:rPr lang="en-US" sz="1600" i="1" u="none" dirty="0">
                            <a:solidFill>
                              <a:schemeClr val="accent6"/>
                            </a:solidFill>
                            <a:latin typeface="Cambria Math" panose="02040503050406030204" pitchFamily="18" charset="0"/>
                          </a:rPr>
                          <m:t>𝐼</m:t>
                        </m:r>
                      </m:e>
                      <m:sup>
                        <m:r>
                          <a:rPr lang="en-US" sz="1600" b="0" i="1" u="none" dirty="0">
                            <a:solidFill>
                              <a:schemeClr val="accent6"/>
                            </a:solidFill>
                            <a:latin typeface="Cambria Math" panose="02040503050406030204" pitchFamily="18" charset="0"/>
                          </a:rPr>
                          <m:t>9</m:t>
                        </m:r>
                        <m:r>
                          <a:rPr lang="en-US" sz="1600" b="0" i="1" u="none" dirty="0" smtClean="0">
                            <a:solidFill>
                              <a:schemeClr val="accent6"/>
                            </a:solidFill>
                            <a:latin typeface="Cambria Math" panose="02040503050406030204" pitchFamily="18" charset="0"/>
                          </a:rPr>
                          <m:t>0</m:t>
                        </m:r>
                      </m:sup>
                    </m:sSup>
                    <m:r>
                      <a:rPr lang="en-US" sz="1600" b="0" i="1" u="none" dirty="0">
                        <a:solidFill>
                          <a:schemeClr val="accent6"/>
                        </a:solidFill>
                        <a:latin typeface="Cambria Math" panose="02040503050406030204" pitchFamily="18" charset="0"/>
                      </a:rPr>
                      <m:t>=</m:t>
                    </m:r>
                    <m:r>
                      <a:rPr lang="en-US" sz="1600" b="0" i="1" u="none" smtClean="0">
                        <a:solidFill>
                          <a:schemeClr val="accent6"/>
                        </a:solidFill>
                        <a:latin typeface="Cambria Math" panose="02040503050406030204" pitchFamily="18" charset="0"/>
                        <a:cs typeface="Arial" panose="020B0604020202020204" pitchFamily="34" charset="0"/>
                      </a:rPr>
                      <m:t>1</m:t>
                    </m:r>
                    <m:r>
                      <a:rPr lang="en-US" sz="1600" b="0" i="1" u="none" smtClean="0">
                        <a:solidFill>
                          <a:schemeClr val="accent6"/>
                        </a:solidFill>
                        <a:latin typeface="Cambria Math" panose="02040503050406030204" pitchFamily="18" charset="0"/>
                        <a:cs typeface="Arial" panose="020B0604020202020204" pitchFamily="34" charset="0"/>
                      </a:rPr>
                      <m:t>.</m:t>
                    </m:r>
                    <m:r>
                      <a:rPr lang="en-US" sz="1600" b="0" i="1" u="none" smtClean="0">
                        <a:solidFill>
                          <a:schemeClr val="accent6"/>
                        </a:solidFill>
                        <a:latin typeface="Cambria Math" panose="02040503050406030204" pitchFamily="18" charset="0"/>
                        <a:cs typeface="Arial" panose="020B0604020202020204" pitchFamily="34" charset="0"/>
                      </a:rPr>
                      <m:t>64</m:t>
                    </m:r>
                    <m:r>
                      <a:rPr lang="en-US" sz="1600" b="0" i="1" u="none">
                        <a:solidFill>
                          <a:schemeClr val="accent6"/>
                        </a:solidFill>
                        <a:latin typeface="Cambria Math" panose="02040503050406030204" pitchFamily="18" charset="0"/>
                        <a:cs typeface="Arial" panose="020B0604020202020204" pitchFamily="34" charset="0"/>
                      </a:rPr>
                      <m:t>∗</m:t>
                    </m:r>
                    <m:f>
                      <m:fPr>
                        <m:ctrlPr>
                          <a:rPr lang="en-US" sz="1600" b="0" i="1" u="none">
                            <a:solidFill>
                              <a:schemeClr val="accent6"/>
                            </a:solidFill>
                            <a:latin typeface="Cambria Math" panose="02040503050406030204" pitchFamily="18" charset="0"/>
                            <a:cs typeface="Arial" panose="020B0604020202020204" pitchFamily="34" charset="0"/>
                          </a:rPr>
                        </m:ctrlPr>
                      </m:fPr>
                      <m:num>
                        <m:acc>
                          <m:accPr>
                            <m:chr m:val="̂"/>
                            <m:ctrlPr>
                              <a:rPr lang="en-US" sz="1600" i="1" u="none">
                                <a:solidFill>
                                  <a:srgbClr val="00B0F0"/>
                                </a:solidFill>
                                <a:latin typeface="Cambria Math" panose="02040503050406030204" pitchFamily="18" charset="0"/>
                              </a:rPr>
                            </m:ctrlPr>
                          </m:accPr>
                          <m:e>
                            <m:r>
                              <a:rPr lang="en-US" sz="1600" i="1" u="none">
                                <a:solidFill>
                                  <a:srgbClr val="00B0F0"/>
                                </a:solidFill>
                                <a:latin typeface="Cambria Math" panose="02040503050406030204" pitchFamily="18" charset="0"/>
                              </a:rPr>
                              <m:t>𝜎</m:t>
                            </m:r>
                          </m:e>
                        </m:acc>
                      </m:num>
                      <m:den>
                        <m:rad>
                          <m:radPr>
                            <m:degHide m:val="on"/>
                            <m:ctrlPr>
                              <a:rPr lang="en-US" sz="1600" b="0" i="1" u="none">
                                <a:solidFill>
                                  <a:schemeClr val="accent6"/>
                                </a:solidFill>
                                <a:latin typeface="Cambria Math" panose="02040503050406030204" pitchFamily="18" charset="0"/>
                                <a:cs typeface="Arial" panose="020B0604020202020204" pitchFamily="34" charset="0"/>
                              </a:rPr>
                            </m:ctrlPr>
                          </m:radPr>
                          <m:deg/>
                          <m:e>
                            <m:r>
                              <a:rPr lang="en-US" sz="1600" b="0" i="1" u="none">
                                <a:solidFill>
                                  <a:srgbClr val="00B0F0"/>
                                </a:solidFill>
                                <a:latin typeface="Cambria Math" panose="02040503050406030204" pitchFamily="18" charset="0"/>
                                <a:cs typeface="Arial" panose="020B0604020202020204" pitchFamily="34" charset="0"/>
                              </a:rPr>
                              <m:t>𝑁</m:t>
                            </m:r>
                          </m:e>
                        </m:rad>
                      </m:den>
                    </m:f>
                    <m:r>
                      <a:rPr lang="en-US" sz="1600" b="0" i="1" u="none">
                        <a:solidFill>
                          <a:schemeClr val="accent6"/>
                        </a:solidFill>
                        <a:latin typeface="Cambria Math" panose="02040503050406030204" pitchFamily="18" charset="0"/>
                        <a:cs typeface="Arial" panose="020B0604020202020204" pitchFamily="34" charset="0"/>
                      </a:rPr>
                      <m:t>=[.</m:t>
                    </m:r>
                    <m:r>
                      <a:rPr lang="en-US" sz="1600" b="0" i="1" u="none">
                        <a:solidFill>
                          <a:schemeClr val="accent6"/>
                        </a:solidFill>
                        <a:latin typeface="Cambria Math" panose="02040503050406030204" pitchFamily="18" charset="0"/>
                        <a:cs typeface="Arial" panose="020B0604020202020204" pitchFamily="34" charset="0"/>
                      </a:rPr>
                      <m:t>485</m:t>
                    </m:r>
                    <m:r>
                      <a:rPr lang="en-US" sz="1600" b="0" i="1" u="none">
                        <a:solidFill>
                          <a:schemeClr val="accent6"/>
                        </a:solidFill>
                        <a:latin typeface="Cambria Math" panose="02040503050406030204" pitchFamily="18" charset="0"/>
                        <a:cs typeface="Arial" panose="020B0604020202020204" pitchFamily="34" charset="0"/>
                      </a:rPr>
                      <m:t>,.</m:t>
                    </m:r>
                    <m:r>
                      <a:rPr lang="en-US" sz="1600" b="0" i="1" u="none" smtClean="0">
                        <a:solidFill>
                          <a:schemeClr val="accent6"/>
                        </a:solidFill>
                        <a:latin typeface="Cambria Math" panose="02040503050406030204" pitchFamily="18" charset="0"/>
                        <a:cs typeface="Arial" panose="020B0604020202020204" pitchFamily="34" charset="0"/>
                      </a:rPr>
                      <m:t>535</m:t>
                    </m:r>
                    <m:r>
                      <a:rPr lang="en-US" sz="1600" b="0" i="1" u="none">
                        <a:solidFill>
                          <a:schemeClr val="accent6"/>
                        </a:solidFill>
                        <a:latin typeface="Cambria Math" panose="02040503050406030204" pitchFamily="18" charset="0"/>
                        <a:cs typeface="Arial" panose="020B0604020202020204" pitchFamily="34" charset="0"/>
                      </a:rPr>
                      <m:t>]</m:t>
                    </m:r>
                  </m:oMath>
                </a14:m>
                <a:endParaRPr lang="en-US" sz="1600" b="0" u="none" dirty="0">
                  <a:solidFill>
                    <a:schemeClr val="accent6"/>
                  </a:solidFill>
                  <a:cs typeface="Arial" panose="020B0604020202020204" pitchFamily="34" charset="0"/>
                </a:endParaRPr>
              </a:p>
            </p:txBody>
          </p:sp>
        </mc:Choice>
        <mc:Fallback xmlns="">
          <p:sp>
            <p:nvSpPr>
              <p:cNvPr id="10" name="TextBox 9">
                <a:extLst>
                  <a:ext uri="{FF2B5EF4-FFF2-40B4-BE49-F238E27FC236}">
                    <a16:creationId xmlns:a16="http://schemas.microsoft.com/office/drawing/2014/main" id="{01242575-9E0A-A060-D725-3ED714657B48}"/>
                  </a:ext>
                </a:extLst>
              </p:cNvPr>
              <p:cNvSpPr txBox="1">
                <a:spLocks noRot="1" noChangeAspect="1" noMove="1" noResize="1" noEditPoints="1" noAdjustHandles="1" noChangeArrowheads="1" noChangeShapeType="1" noTextEdit="1"/>
              </p:cNvSpPr>
              <p:nvPr/>
            </p:nvSpPr>
            <p:spPr>
              <a:xfrm>
                <a:off x="5067300" y="1220218"/>
                <a:ext cx="3965489" cy="5282728"/>
              </a:xfrm>
              <a:prstGeom prst="rect">
                <a:avLst/>
              </a:prstGeom>
              <a:blipFill>
                <a:blip r:embed="rId6"/>
                <a:stretch>
                  <a:fillRect l="-768" t="-346" r="-1229"/>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91F9064D-5630-5A06-E2FF-801E3BA64044}"/>
              </a:ext>
            </a:extLst>
          </p:cNvPr>
          <p:cNvSpPr txBox="1"/>
          <p:nvPr/>
        </p:nvSpPr>
        <p:spPr>
          <a:xfrm>
            <a:off x="657697" y="5353391"/>
            <a:ext cx="4065095" cy="338554"/>
          </a:xfrm>
          <a:prstGeom prst="rect">
            <a:avLst/>
          </a:prstGeom>
          <a:noFill/>
        </p:spPr>
        <p:txBody>
          <a:bodyPr wrap="square" rtlCol="0">
            <a:spAutoFit/>
          </a:bodyPr>
          <a:lstStyle/>
          <a:p>
            <a:pPr algn="ctr"/>
            <a:r>
              <a:rPr lang="en-US" sz="1600" b="0" u="none" dirty="0">
                <a:cs typeface="Arial" panose="020B0604020202020204" pitchFamily="34" charset="0"/>
              </a:rPr>
              <a:t>True support for candidate A</a:t>
            </a:r>
          </a:p>
        </p:txBody>
      </p:sp>
      <p:grpSp>
        <p:nvGrpSpPr>
          <p:cNvPr id="3" name="Group 2">
            <a:extLst>
              <a:ext uri="{FF2B5EF4-FFF2-40B4-BE49-F238E27FC236}">
                <a16:creationId xmlns:a16="http://schemas.microsoft.com/office/drawing/2014/main" id="{69E00C81-D110-971B-83B9-CC2C549B8833}"/>
              </a:ext>
            </a:extLst>
          </p:cNvPr>
          <p:cNvGrpSpPr/>
          <p:nvPr/>
        </p:nvGrpSpPr>
        <p:grpSpPr>
          <a:xfrm>
            <a:off x="1690956" y="2468069"/>
            <a:ext cx="1560576" cy="278813"/>
            <a:chOff x="2352928" y="3467789"/>
            <a:chExt cx="1560576" cy="278813"/>
          </a:xfrm>
        </p:grpSpPr>
        <p:cxnSp>
          <p:nvCxnSpPr>
            <p:cNvPr id="12" name="Straight Connector 11">
              <a:extLst>
                <a:ext uri="{FF2B5EF4-FFF2-40B4-BE49-F238E27FC236}">
                  <a16:creationId xmlns:a16="http://schemas.microsoft.com/office/drawing/2014/main" id="{C1C7B5E7-287D-BCFD-CF58-C9B7D898BE6B}"/>
                </a:ext>
              </a:extLst>
            </p:cNvPr>
            <p:cNvCxnSpPr/>
            <p:nvPr/>
          </p:nvCxnSpPr>
          <p:spPr bwMode="auto">
            <a:xfrm>
              <a:off x="2352928" y="3504619"/>
              <a:ext cx="1560576" cy="0"/>
            </a:xfrm>
            <a:prstGeom prst="line">
              <a:avLst/>
            </a:prstGeom>
            <a:solidFill>
              <a:schemeClr val="accent1"/>
            </a:solidFill>
            <a:ln w="38100" cap="flat" cmpd="sng" algn="ctr">
              <a:solidFill>
                <a:srgbClr val="00B0F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D4E09A47-4C0F-8685-535A-F8202FB40311}"/>
                </a:ext>
              </a:extLst>
            </p:cNvPr>
            <p:cNvSpPr txBox="1"/>
            <p:nvPr/>
          </p:nvSpPr>
          <p:spPr>
            <a:xfrm>
              <a:off x="2972324" y="3546865"/>
              <a:ext cx="311875"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B0F0"/>
                  </a:solidFill>
                  <a:cs typeface="Arial" pitchFamily="34" charset="0"/>
                </a:rPr>
                <a:t>Fox</a:t>
              </a:r>
              <a:endParaRPr lang="en-US" sz="1400" b="0" u="none" dirty="0">
                <a:solidFill>
                  <a:srgbClr val="00B0F0"/>
                </a:solidFill>
                <a:cs typeface="Arial" pitchFamily="34" charset="0"/>
              </a:endParaRPr>
            </a:p>
          </p:txBody>
        </p:sp>
        <p:sp>
          <p:nvSpPr>
            <p:cNvPr id="14" name="Oval 13">
              <a:extLst>
                <a:ext uri="{FF2B5EF4-FFF2-40B4-BE49-F238E27FC236}">
                  <a16:creationId xmlns:a16="http://schemas.microsoft.com/office/drawing/2014/main" id="{499327B2-4526-BBAD-9F33-4EE9B30F7944}"/>
                </a:ext>
              </a:extLst>
            </p:cNvPr>
            <p:cNvSpPr/>
            <p:nvPr/>
          </p:nvSpPr>
          <p:spPr bwMode="auto">
            <a:xfrm>
              <a:off x="3090162" y="3467789"/>
              <a:ext cx="71120" cy="73660"/>
            </a:xfrm>
            <a:prstGeom prst="ellipse">
              <a:avLst/>
            </a:prstGeom>
            <a:solidFill>
              <a:srgbClr val="00B0F0"/>
            </a:solidFill>
            <a:ln w="9525" cap="flat" cmpd="sng" algn="ctr">
              <a:solidFill>
                <a:srgbClr val="00B0F0"/>
              </a:solidFill>
              <a:prstDash val="solid"/>
              <a:round/>
              <a:headEnd type="none" w="med" len="med"/>
              <a:tailEnd type="triangle" w="med" len="med"/>
            </a:ln>
            <a:effectLst/>
          </p:spPr>
          <p:txBody>
            <a:bodyPr rtlCol="0" anchor="ctr"/>
            <a:lstStyle/>
            <a:p>
              <a:pPr algn="ctr"/>
              <a:endParaRPr lang="en-US" dirty="0">
                <a:solidFill>
                  <a:srgbClr val="00B0F0"/>
                </a:solidFill>
              </a:endParaRPr>
            </a:p>
          </p:txBody>
        </p:sp>
      </p:grpSp>
      <p:grpSp>
        <p:nvGrpSpPr>
          <p:cNvPr id="25" name="Group 24">
            <a:extLst>
              <a:ext uri="{FF2B5EF4-FFF2-40B4-BE49-F238E27FC236}">
                <a16:creationId xmlns:a16="http://schemas.microsoft.com/office/drawing/2014/main" id="{D8CB21B2-73EE-62E0-2573-0A9C1D9A8AD5}"/>
              </a:ext>
            </a:extLst>
          </p:cNvPr>
          <p:cNvGrpSpPr/>
          <p:nvPr/>
        </p:nvGrpSpPr>
        <p:grpSpPr>
          <a:xfrm>
            <a:off x="2930750" y="4759005"/>
            <a:ext cx="1560576" cy="278813"/>
            <a:chOff x="2352928" y="3467789"/>
            <a:chExt cx="1560576" cy="278813"/>
          </a:xfrm>
        </p:grpSpPr>
        <p:cxnSp>
          <p:nvCxnSpPr>
            <p:cNvPr id="26" name="Straight Connector 25">
              <a:extLst>
                <a:ext uri="{FF2B5EF4-FFF2-40B4-BE49-F238E27FC236}">
                  <a16:creationId xmlns:a16="http://schemas.microsoft.com/office/drawing/2014/main" id="{743C6889-AE81-6FC7-8506-AF423FE79A22}"/>
                </a:ext>
              </a:extLst>
            </p:cNvPr>
            <p:cNvCxnSpPr/>
            <p:nvPr/>
          </p:nvCxnSpPr>
          <p:spPr bwMode="auto">
            <a:xfrm>
              <a:off x="2352928" y="3504619"/>
              <a:ext cx="1560576" cy="0"/>
            </a:xfrm>
            <a:prstGeom prst="line">
              <a:avLst/>
            </a:prstGeom>
            <a:solidFill>
              <a:schemeClr val="accent1"/>
            </a:solidFill>
            <a:ln w="38100" cap="flat" cmpd="sng" algn="ctr">
              <a:solidFill>
                <a:srgbClr val="008000"/>
              </a:solidFill>
              <a:prstDash val="solid"/>
              <a:round/>
              <a:headEnd type="none" w="med" len="med"/>
              <a:tailEnd type="none" w="med" len="med"/>
            </a:ln>
            <a:effectLst/>
          </p:spPr>
        </p:cxnSp>
        <p:sp>
          <p:nvSpPr>
            <p:cNvPr id="27" name="TextBox 26">
              <a:extLst>
                <a:ext uri="{FF2B5EF4-FFF2-40B4-BE49-F238E27FC236}">
                  <a16:creationId xmlns:a16="http://schemas.microsoft.com/office/drawing/2014/main" id="{7B44D4C6-8A3E-7D08-B4AD-C7BC85DE5E79}"/>
                </a:ext>
              </a:extLst>
            </p:cNvPr>
            <p:cNvSpPr txBox="1"/>
            <p:nvPr/>
          </p:nvSpPr>
          <p:spPr>
            <a:xfrm>
              <a:off x="2637818" y="3546865"/>
              <a:ext cx="971550" cy="199737"/>
            </a:xfrm>
            <a:prstGeom prst="rect">
              <a:avLst/>
            </a:prstGeom>
            <a:solidFill>
              <a:schemeClr val="bg1"/>
            </a:solidFill>
          </p:spPr>
          <p:txBody>
            <a:bodyPr wrap="square" lIns="0" tIns="0" rIns="0" bIns="54864" rtlCol="0" anchor="ctr" anchorCtr="0">
              <a:noAutofit/>
            </a:bodyPr>
            <a:lstStyle/>
            <a:p>
              <a:pPr algn="ctr"/>
              <a:r>
                <a:rPr lang="en-US" sz="1400" b="0" i="1" u="none" dirty="0">
                  <a:solidFill>
                    <a:srgbClr val="008000"/>
                  </a:solidFill>
                  <a:cs typeface="Arial" pitchFamily="34" charset="0"/>
                </a:rPr>
                <a:t>Bad Fox!</a:t>
              </a:r>
              <a:endParaRPr lang="en-US" sz="1400" b="0" u="none" dirty="0">
                <a:solidFill>
                  <a:srgbClr val="008000"/>
                </a:solidFill>
                <a:cs typeface="Arial" pitchFamily="34" charset="0"/>
              </a:endParaRPr>
            </a:p>
          </p:txBody>
        </p:sp>
        <p:sp>
          <p:nvSpPr>
            <p:cNvPr id="28" name="Oval 27">
              <a:extLst>
                <a:ext uri="{FF2B5EF4-FFF2-40B4-BE49-F238E27FC236}">
                  <a16:creationId xmlns:a16="http://schemas.microsoft.com/office/drawing/2014/main" id="{0DBB83A4-46C7-3D4E-607E-B3EFC782A147}"/>
                </a:ext>
              </a:extLst>
            </p:cNvPr>
            <p:cNvSpPr/>
            <p:nvPr/>
          </p:nvSpPr>
          <p:spPr bwMode="auto">
            <a:xfrm>
              <a:off x="3090162" y="3467789"/>
              <a:ext cx="71120" cy="73660"/>
            </a:xfrm>
            <a:prstGeom prst="ellipse">
              <a:avLst/>
            </a:prstGeom>
            <a:solidFill>
              <a:srgbClr val="008000"/>
            </a:solidFill>
            <a:ln w="9525" cap="flat" cmpd="sng" algn="ctr">
              <a:solidFill>
                <a:srgbClr val="008000"/>
              </a:solidFill>
              <a:prstDash val="solid"/>
              <a:round/>
              <a:headEnd type="none" w="med" len="med"/>
              <a:tailEnd type="triangle" w="med" len="med"/>
            </a:ln>
            <a:effectLst/>
          </p:spPr>
          <p:txBody>
            <a:bodyPr rtlCol="0" anchor="ctr"/>
            <a:lstStyle/>
            <a:p>
              <a:pPr algn="ctr"/>
              <a:endParaRPr lang="en-US" dirty="0">
                <a:solidFill>
                  <a:srgbClr val="008000"/>
                </a:solidFill>
              </a:endParaRPr>
            </a:p>
          </p:txBody>
        </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C7A3DF2-68D9-45AA-AA9C-8D3207DD7BC4}"/>
                  </a:ext>
                </a:extLst>
              </p:cNvPr>
              <p:cNvSpPr txBox="1"/>
              <p:nvPr/>
            </p:nvSpPr>
            <p:spPr>
              <a:xfrm>
                <a:off x="1479218" y="2133466"/>
                <a:ext cx="441802" cy="184666"/>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200" b="0" i="1" u="none" smtClean="0">
                          <a:solidFill>
                            <a:srgbClr val="00B0F0"/>
                          </a:solidFill>
                          <a:latin typeface="Cambria Math" panose="02040503050406030204" pitchFamily="18" charset="0"/>
                          <a:cs typeface="Arial" panose="020B0604020202020204" pitchFamily="34" charset="0"/>
                        </a:rPr>
                        <m:t>.</m:t>
                      </m:r>
                      <m:r>
                        <a:rPr lang="en-US" sz="1200" b="0" i="1" u="none" smtClean="0">
                          <a:solidFill>
                            <a:srgbClr val="00B0F0"/>
                          </a:solidFill>
                          <a:latin typeface="Cambria Math" panose="02040503050406030204" pitchFamily="18" charset="0"/>
                          <a:cs typeface="Arial" panose="020B0604020202020204" pitchFamily="34" charset="0"/>
                        </a:rPr>
                        <m:t>481</m:t>
                      </m:r>
                    </m:oMath>
                  </m:oMathPara>
                </a14:m>
                <a:endParaRPr lang="en-US" sz="1600" dirty="0"/>
              </a:p>
            </p:txBody>
          </p:sp>
        </mc:Choice>
        <mc:Fallback xmlns="">
          <p:sp>
            <p:nvSpPr>
              <p:cNvPr id="18" name="TextBox 17">
                <a:extLst>
                  <a:ext uri="{FF2B5EF4-FFF2-40B4-BE49-F238E27FC236}">
                    <a16:creationId xmlns:a16="http://schemas.microsoft.com/office/drawing/2014/main" id="{0C7A3DF2-68D9-45AA-AA9C-8D3207DD7BC4}"/>
                  </a:ext>
                </a:extLst>
              </p:cNvPr>
              <p:cNvSpPr txBox="1">
                <a:spLocks noRot="1" noChangeAspect="1" noMove="1" noResize="1" noEditPoints="1" noAdjustHandles="1" noChangeArrowheads="1" noChangeShapeType="1" noTextEdit="1"/>
              </p:cNvSpPr>
              <p:nvPr/>
            </p:nvSpPr>
            <p:spPr>
              <a:xfrm>
                <a:off x="1479218" y="2133466"/>
                <a:ext cx="441802" cy="184666"/>
              </a:xfrm>
              <a:prstGeom prst="rect">
                <a:avLst/>
              </a:prstGeom>
              <a:blipFill>
                <a:blip r:embed="rId7"/>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95F04FD-605F-4F08-A1DF-3E2CF2389CA8}"/>
                  </a:ext>
                </a:extLst>
              </p:cNvPr>
              <p:cNvSpPr txBox="1"/>
              <p:nvPr/>
            </p:nvSpPr>
            <p:spPr>
              <a:xfrm>
                <a:off x="3033612" y="2131884"/>
                <a:ext cx="441802" cy="184666"/>
              </a:xfrm>
              <a:prstGeom prst="rect">
                <a:avLst/>
              </a:prstGeom>
              <a:solidFill>
                <a:srgbClr val="FFFF99"/>
              </a:solidFill>
            </p:spPr>
            <p:txBody>
              <a:bodyPr wrap="square" lIns="0" tIns="0" rIns="0" bIns="0">
                <a:spAutoFit/>
              </a:bodyPr>
              <a:lstStyle/>
              <a:p>
                <a:pPr/>
                <a14:m>
                  <m:oMathPara xmlns:m="http://schemas.openxmlformats.org/officeDocument/2006/math">
                    <m:oMathParaPr>
                      <m:jc m:val="center"/>
                    </m:oMathParaPr>
                    <m:oMath xmlns:m="http://schemas.openxmlformats.org/officeDocument/2006/math">
                      <m:r>
                        <a:rPr lang="en-US" sz="1200" b="0" i="1" u="none" smtClean="0">
                          <a:solidFill>
                            <a:srgbClr val="00B0F0"/>
                          </a:solidFill>
                          <a:latin typeface="Cambria Math" panose="02040503050406030204" pitchFamily="18" charset="0"/>
                          <a:cs typeface="Arial" panose="020B0604020202020204" pitchFamily="34" charset="0"/>
                        </a:rPr>
                        <m:t>.</m:t>
                      </m:r>
                      <m:r>
                        <a:rPr lang="en-US" sz="1200" b="0" i="1" u="none" smtClean="0">
                          <a:solidFill>
                            <a:srgbClr val="00B0F0"/>
                          </a:solidFill>
                          <a:latin typeface="Cambria Math" panose="02040503050406030204" pitchFamily="18" charset="0"/>
                          <a:cs typeface="Arial" panose="020B0604020202020204" pitchFamily="34" charset="0"/>
                        </a:rPr>
                        <m:t>539</m:t>
                      </m:r>
                    </m:oMath>
                  </m:oMathPara>
                </a14:m>
                <a:endParaRPr lang="en-US" sz="1600" dirty="0"/>
              </a:p>
            </p:txBody>
          </p:sp>
        </mc:Choice>
        <mc:Fallback xmlns="">
          <p:sp>
            <p:nvSpPr>
              <p:cNvPr id="19" name="TextBox 18">
                <a:extLst>
                  <a:ext uri="{FF2B5EF4-FFF2-40B4-BE49-F238E27FC236}">
                    <a16:creationId xmlns:a16="http://schemas.microsoft.com/office/drawing/2014/main" id="{495F04FD-605F-4F08-A1DF-3E2CF2389CA8}"/>
                  </a:ext>
                </a:extLst>
              </p:cNvPr>
              <p:cNvSpPr txBox="1">
                <a:spLocks noRot="1" noChangeAspect="1" noMove="1" noResize="1" noEditPoints="1" noAdjustHandles="1" noChangeArrowheads="1" noChangeShapeType="1" noTextEdit="1"/>
              </p:cNvSpPr>
              <p:nvPr/>
            </p:nvSpPr>
            <p:spPr>
              <a:xfrm>
                <a:off x="3033612" y="2131884"/>
                <a:ext cx="441802" cy="184666"/>
              </a:xfrm>
              <a:prstGeom prst="rect">
                <a:avLst/>
              </a:prstGeom>
              <a:blipFill>
                <a:blip r:embed="rId8"/>
                <a:stretch>
                  <a:fillRect b="-10000"/>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C8816FB7-597C-4DFF-A01F-8B69C1453282}"/>
              </a:ext>
            </a:extLst>
          </p:cNvPr>
          <p:cNvCxnSpPr/>
          <p:nvPr/>
        </p:nvCxnSpPr>
        <p:spPr bwMode="auto">
          <a:xfrm>
            <a:off x="3251532" y="2340481"/>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8DBD7BC5-04A6-4168-ACD1-231F9AAEE60B}"/>
              </a:ext>
            </a:extLst>
          </p:cNvPr>
          <p:cNvCxnSpPr/>
          <p:nvPr/>
        </p:nvCxnSpPr>
        <p:spPr bwMode="auto">
          <a:xfrm>
            <a:off x="1690956" y="2340482"/>
            <a:ext cx="0" cy="178627"/>
          </a:xfrm>
          <a:prstGeom prst="line">
            <a:avLst/>
          </a:prstGeom>
          <a:solidFill>
            <a:schemeClr val="accent1"/>
          </a:solidFill>
          <a:ln w="9525" cap="flat" cmpd="sng" algn="ctr">
            <a:solidFill>
              <a:srgbClr val="00B0F0"/>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9015340-B50F-4CBD-A30F-59149D2B396F}"/>
                  </a:ext>
                </a:extLst>
              </p:cNvPr>
              <p:cNvSpPr txBox="1"/>
              <p:nvPr/>
            </p:nvSpPr>
            <p:spPr>
              <a:xfrm>
                <a:off x="1164372" y="1475231"/>
                <a:ext cx="3016537" cy="391261"/>
              </a:xfrm>
              <a:prstGeom prst="rect">
                <a:avLst/>
              </a:prstGeom>
              <a:noFill/>
            </p:spPr>
            <p:txBody>
              <a:bodyPr wrap="square">
                <a:spAutoFit/>
              </a:bodyPr>
              <a:lstStyle/>
              <a:p>
                <a:pPr algn="ctr"/>
                <a:r>
                  <a:rPr lang="en-US" sz="1400" b="0" u="none" dirty="0">
                    <a:cs typeface="Arial" panose="020B0604020202020204" pitchFamily="34" charset="0"/>
                  </a:rPr>
                  <a:t>Distribution of Poll Results, </a:t>
                </a:r>
                <a14:m>
                  <m:oMath xmlns:m="http://schemas.openxmlformats.org/officeDocument/2006/math">
                    <m:r>
                      <a:rPr lang="en-US" sz="1400" b="0" i="1" u="none" dirty="0" smtClean="0">
                        <a:latin typeface="Cambria Math" panose="02040503050406030204" pitchFamily="18" charset="0"/>
                        <a:cs typeface="Arial" panose="020B0604020202020204" pitchFamily="34" charset="0"/>
                      </a:rPr>
                      <m:t>𝑁</m:t>
                    </m:r>
                    <m:r>
                      <a:rPr lang="en-US" sz="1400" b="0" i="1" u="none" dirty="0" smtClean="0">
                        <a:latin typeface="Cambria Math" panose="02040503050406030204" pitchFamily="18" charset="0"/>
                        <a:cs typeface="Arial" panose="020B0604020202020204" pitchFamily="34" charset="0"/>
                      </a:rPr>
                      <m:t>(</m:t>
                    </m:r>
                    <m:r>
                      <a:rPr lang="en-US" sz="1400" b="0" i="1" u="none" dirty="0" smtClean="0">
                        <a:solidFill>
                          <a:srgbClr val="FF0000"/>
                        </a:solidFill>
                        <a:latin typeface="Cambria Math" panose="02040503050406030204" pitchFamily="18" charset="0"/>
                        <a:cs typeface="Arial" panose="020B0604020202020204" pitchFamily="34" charset="0"/>
                      </a:rPr>
                      <m:t>𝜇</m:t>
                    </m:r>
                    <m:r>
                      <a:rPr lang="en-US" sz="1400" b="0" i="1" u="none" dirty="0" smtClean="0">
                        <a:latin typeface="Cambria Math" panose="02040503050406030204" pitchFamily="18" charset="0"/>
                        <a:cs typeface="Arial" panose="020B0604020202020204" pitchFamily="34" charset="0"/>
                      </a:rPr>
                      <m:t>,</m:t>
                    </m:r>
                    <m:f>
                      <m:fPr>
                        <m:ctrlPr>
                          <a:rPr lang="en-US" sz="1400" b="0" i="1" u="none">
                            <a:solidFill>
                              <a:schemeClr val="accent6"/>
                            </a:solidFill>
                            <a:latin typeface="Cambria Math" panose="02040503050406030204" pitchFamily="18" charset="0"/>
                            <a:cs typeface="Arial" panose="020B0604020202020204" pitchFamily="34" charset="0"/>
                          </a:rPr>
                        </m:ctrlPr>
                      </m:fPr>
                      <m:num>
                        <m:r>
                          <a:rPr lang="en-US" sz="14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400" b="0" i="1" u="none">
                                <a:solidFill>
                                  <a:schemeClr val="accent6"/>
                                </a:solidFill>
                                <a:latin typeface="Cambria Math" panose="02040503050406030204" pitchFamily="18" charset="0"/>
                                <a:cs typeface="Arial" panose="020B0604020202020204" pitchFamily="34" charset="0"/>
                              </a:rPr>
                            </m:ctrlPr>
                          </m:radPr>
                          <m:deg/>
                          <m:e>
                            <m:r>
                              <a:rPr lang="en-US" sz="1400" b="0" i="1" u="none">
                                <a:solidFill>
                                  <a:schemeClr val="accent6"/>
                                </a:solidFill>
                                <a:latin typeface="Cambria Math" panose="02040503050406030204" pitchFamily="18" charset="0"/>
                                <a:cs typeface="Arial" panose="020B0604020202020204" pitchFamily="34" charset="0"/>
                              </a:rPr>
                              <m:t>𝑁</m:t>
                            </m:r>
                          </m:e>
                        </m:rad>
                      </m:den>
                    </m:f>
                    <m:r>
                      <a:rPr lang="en-US" sz="1400" b="0" i="1" u="none" dirty="0" smtClean="0">
                        <a:latin typeface="Cambria Math" panose="02040503050406030204" pitchFamily="18" charset="0"/>
                        <a:cs typeface="Arial" panose="020B0604020202020204" pitchFamily="34" charset="0"/>
                      </a:rPr>
                      <m:t>)</m:t>
                    </m:r>
                  </m:oMath>
                </a14:m>
                <a:endParaRPr lang="en-US" sz="1400" dirty="0"/>
              </a:p>
            </p:txBody>
          </p:sp>
        </mc:Choice>
        <mc:Fallback xmlns="">
          <p:sp>
            <p:nvSpPr>
              <p:cNvPr id="22" name="TextBox 21">
                <a:extLst>
                  <a:ext uri="{FF2B5EF4-FFF2-40B4-BE49-F238E27FC236}">
                    <a16:creationId xmlns:a16="http://schemas.microsoft.com/office/drawing/2014/main" id="{A9015340-B50F-4CBD-A30F-59149D2B396F}"/>
                  </a:ext>
                </a:extLst>
              </p:cNvPr>
              <p:cNvSpPr txBox="1">
                <a:spLocks noRot="1" noChangeAspect="1" noMove="1" noResize="1" noEditPoints="1" noAdjustHandles="1" noChangeArrowheads="1" noChangeShapeType="1" noTextEdit="1"/>
              </p:cNvSpPr>
              <p:nvPr/>
            </p:nvSpPr>
            <p:spPr>
              <a:xfrm>
                <a:off x="1164372" y="1475231"/>
                <a:ext cx="3016537" cy="391261"/>
              </a:xfrm>
              <a:prstGeom prst="rect">
                <a:avLst/>
              </a:prstGeom>
              <a:blipFill>
                <a:blip r:embed="rId9"/>
                <a:stretch>
                  <a:fillRect l="-202"/>
                </a:stretch>
              </a:blipFill>
            </p:spPr>
            <p:txBody>
              <a:bodyPr/>
              <a:lstStyle/>
              <a:p>
                <a:r>
                  <a:rPr lang="en-US">
                    <a:noFill/>
                  </a:rPr>
                  <a:t> </a:t>
                </a:r>
              </a:p>
            </p:txBody>
          </p:sp>
        </mc:Fallback>
      </mc:AlternateContent>
    </p:spTree>
    <p:extLst>
      <p:ext uri="{BB962C8B-B14F-4D97-AF65-F5344CB8AC3E}">
        <p14:creationId xmlns:p14="http://schemas.microsoft.com/office/powerpoint/2010/main" val="155743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7A128EC-2056-2D99-48E9-2322EBD40786}"/>
                  </a:ext>
                </a:extLst>
              </p:cNvPr>
              <p:cNvSpPr>
                <a:spLocks noGrp="1"/>
              </p:cNvSpPr>
              <p:nvPr>
                <p:ph type="title"/>
              </p:nvPr>
            </p:nvSpPr>
            <p:spPr/>
            <p:txBody>
              <a:bodyPr/>
              <a:lstStyle/>
              <a:p>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95</m:t>
                        </m:r>
                      </m:sup>
                    </m:sSup>
                  </m:oMath>
                </a14:m>
                <a:r>
                  <a:rPr lang="en-US" dirty="0"/>
                  <a:t> Plain English</a:t>
                </a:r>
              </a:p>
            </p:txBody>
          </p:sp>
        </mc:Choice>
        <mc:Fallback xmlns="">
          <p:sp>
            <p:nvSpPr>
              <p:cNvPr id="2" name="Title 1">
                <a:extLst>
                  <a:ext uri="{FF2B5EF4-FFF2-40B4-BE49-F238E27FC236}">
                    <a16:creationId xmlns:a16="http://schemas.microsoft.com/office/drawing/2014/main" id="{37A128EC-2056-2D99-48E9-2322EBD40786}"/>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382A10-5CB8-83AF-46B4-670AA2C93E8B}"/>
                  </a:ext>
                </a:extLst>
              </p:cNvPr>
              <p:cNvSpPr>
                <a:spLocks noGrp="1"/>
              </p:cNvSpPr>
              <p:nvPr>
                <p:ph idx="1"/>
              </p:nvPr>
            </p:nvSpPr>
            <p:spPr/>
            <p:txBody>
              <a:bodyPr/>
              <a:lstStyle/>
              <a:p>
                <a:r>
                  <a:rPr lang="en-US" dirty="0"/>
                  <a:t>Can you say “The probability that the true support for candidate A falls in between </a:t>
                </a:r>
                <a14:m>
                  <m:oMath xmlns:m="http://schemas.openxmlformats.org/officeDocument/2006/math">
                    <m:r>
                      <a:rPr lang="en-US" i="1">
                        <a:solidFill>
                          <a:schemeClr val="accent6"/>
                        </a:solidFill>
                        <a:latin typeface="Cambria Math" panose="02040503050406030204" pitchFamily="18" charset="0"/>
                      </a:rPr>
                      <m:t>.485</m:t>
                    </m:r>
                    <m:r>
                      <a:rPr lang="en-US" b="0" i="1" smtClean="0">
                        <a:solidFill>
                          <a:schemeClr val="accent6"/>
                        </a:solidFill>
                        <a:latin typeface="Cambria Math" panose="02040503050406030204" pitchFamily="18" charset="0"/>
                      </a:rPr>
                      <m:t> </m:t>
                    </m:r>
                    <m:r>
                      <m:rPr>
                        <m:sty m:val="p"/>
                      </m:rPr>
                      <a:rPr lang="en-US" b="0" i="0" smtClean="0">
                        <a:solidFill>
                          <a:schemeClr val="accent6"/>
                        </a:solidFill>
                        <a:latin typeface="Cambria Math" panose="02040503050406030204" pitchFamily="18" charset="0"/>
                      </a:rPr>
                      <m:t>and</m:t>
                    </m:r>
                    <m:r>
                      <a:rPr lang="en-US" b="0" i="1" smtClean="0">
                        <a:solidFill>
                          <a:schemeClr val="accent6"/>
                        </a:solidFill>
                        <a:latin typeface="Cambria Math" panose="02040503050406030204" pitchFamily="18" charset="0"/>
                      </a:rPr>
                      <m:t> .</m:t>
                    </m:r>
                    <m:r>
                      <a:rPr lang="en-US" i="1">
                        <a:solidFill>
                          <a:schemeClr val="accent6"/>
                        </a:solidFill>
                        <a:latin typeface="Cambria Math" panose="02040503050406030204" pitchFamily="18" charset="0"/>
                      </a:rPr>
                      <m:t>535</m:t>
                    </m:r>
                  </m:oMath>
                </a14:m>
                <a:r>
                  <a:rPr lang="en-US" dirty="0"/>
                  <a:t> is 95%”?</a:t>
                </a:r>
              </a:p>
              <a:p>
                <a:endParaRPr lang="en-US" dirty="0"/>
              </a:p>
              <a:p>
                <a:r>
                  <a:rPr lang="en-US" dirty="0"/>
                  <a:t>No! No! No! No!</a:t>
                </a:r>
              </a:p>
              <a:p>
                <a:endParaRPr lang="en-US" dirty="0"/>
              </a:p>
              <a:p>
                <a:r>
                  <a:rPr lang="en-US" dirty="0"/>
                  <a:t>Saying that the true mean will be captured by 95 out of 100 samples' confidence intervals is not the same as saying that any given confidence interval contains the true mean with 95% probability. </a:t>
                </a:r>
              </a:p>
              <a:p>
                <a:endParaRPr lang="en-US" dirty="0"/>
              </a:p>
              <a:p>
                <a:r>
                  <a:rPr lang="en-US" dirty="0"/>
                  <a:t>Why? Because for those 95 out of 100 intervals, the true mean is in there for sure. But for the remaining 5 out of 100, it is not. (Go back and look at </a:t>
                </a:r>
                <a:r>
                  <a:rPr lang="en-US" dirty="0">
                    <a:hlinkClick r:id="rId3" action="ppaction://hlinksldjump"/>
                  </a:rPr>
                  <a:t>this slide</a:t>
                </a:r>
                <a:r>
                  <a:rPr lang="en-US" dirty="0"/>
                  <a:t> for more intuition)</a:t>
                </a:r>
              </a:p>
              <a:p>
                <a:endParaRPr lang="en-US" dirty="0"/>
              </a:p>
              <a:p>
                <a:r>
                  <a:rPr lang="en-US" dirty="0"/>
                  <a:t>A correct way to say it is: </a:t>
                </a:r>
                <a:r>
                  <a:rPr lang="en-US" dirty="0">
                    <a:solidFill>
                      <a:srgbClr val="0000FF"/>
                    </a:solidFill>
                  </a:rPr>
                  <a:t>“We are 95% certain our sample’s confidence interval contains the true mean, because that is expected to happen for 95 samples out of 100.”</a:t>
                </a:r>
              </a:p>
            </p:txBody>
          </p:sp>
        </mc:Choice>
        <mc:Fallback xmlns="">
          <p:sp>
            <p:nvSpPr>
              <p:cNvPr id="3" name="Content Placeholder 2">
                <a:extLst>
                  <a:ext uri="{FF2B5EF4-FFF2-40B4-BE49-F238E27FC236}">
                    <a16:creationId xmlns:a16="http://schemas.microsoft.com/office/drawing/2014/main" id="{0D382A10-5CB8-83AF-46B4-670AA2C93E8B}"/>
                  </a:ext>
                </a:extLst>
              </p:cNvPr>
              <p:cNvSpPr>
                <a:spLocks noGrp="1" noRot="1" noChangeAspect="1" noMove="1" noResize="1" noEditPoints="1" noAdjustHandles="1" noChangeArrowheads="1" noChangeShapeType="1" noTextEdit="1"/>
              </p:cNvSpPr>
              <p:nvPr>
                <p:ph idx="1"/>
              </p:nvPr>
            </p:nvSpPr>
            <p:spPr>
              <a:blipFill>
                <a:blip r:embed="rId4"/>
                <a:stretch>
                  <a:fillRect l="-650" t="-529" r="-108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FEC4CB9-D845-2BE9-429F-E24698D32A3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75</a:t>
            </a:fld>
            <a:endParaRPr lang="en-GB" dirty="0"/>
          </a:p>
        </p:txBody>
      </p:sp>
    </p:spTree>
    <p:extLst>
      <p:ext uri="{BB962C8B-B14F-4D97-AF65-F5344CB8AC3E}">
        <p14:creationId xmlns:p14="http://schemas.microsoft.com/office/powerpoint/2010/main" val="216636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7BAF-F03A-4402-AF14-8ACDBF1E1E75}"/>
              </a:ext>
            </a:extLst>
          </p:cNvPr>
          <p:cNvSpPr>
            <a:spLocks noGrp="1"/>
          </p:cNvSpPr>
          <p:nvPr>
            <p:ph type="title"/>
          </p:nvPr>
        </p:nvSpPr>
        <p:spPr/>
        <p:txBody>
          <a:bodyPr/>
          <a:lstStyle/>
          <a:p>
            <a:r>
              <a:rPr lang="en-US" dirty="0">
                <a:solidFill>
                  <a:schemeClr val="bg1">
                    <a:lumMod val="50000"/>
                  </a:schemeClr>
                </a:solidFill>
              </a:rPr>
              <a:t>Computing the 95% CI of the Fox Poll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C3BE49-220E-4F77-8455-85133D2574A3}"/>
                  </a:ext>
                </a:extLst>
              </p:cNvPr>
              <p:cNvSpPr>
                <a:spLocks noGrp="1"/>
              </p:cNvSpPr>
              <p:nvPr>
                <p:ph idx="1"/>
              </p:nvPr>
            </p:nvSpPr>
            <p:spPr>
              <a:xfrm>
                <a:off x="354013" y="1089026"/>
                <a:ext cx="8437562" cy="1815042"/>
              </a:xfrm>
            </p:spPr>
            <p:txBody>
              <a:bodyPr/>
              <a:lstStyle/>
              <a:p>
                <a:endParaRPr lang="en-US" i="1" dirty="0">
                  <a:latin typeface="Cambria Math" panose="02040503050406030204" pitchFamily="18" charset="0"/>
                </a:endParaRPr>
              </a:p>
              <a:p>
                <a:r>
                  <a:rPr lang="en-US" dirty="0">
                    <a:solidFill>
                      <a:schemeClr val="bg1">
                        <a:lumMod val="50000"/>
                      </a:schemeClr>
                    </a:solidFill>
                  </a:rPr>
                  <a:t>From the Fox Poll we have </a:t>
                </a:r>
                <a14:m>
                  <m:oMath xmlns:m="http://schemas.openxmlformats.org/officeDocument/2006/math">
                    <m:acc>
                      <m:accPr>
                        <m:chr m:val="̅"/>
                        <m:ctrlPr>
                          <a:rPr lang="en-US" i="1" smtClean="0">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oMath>
                </a14:m>
                <a:r>
                  <a:rPr lang="en-US" dirty="0">
                    <a:solidFill>
                      <a:schemeClr val="bg1">
                        <a:lumMod val="50000"/>
                      </a:schemeClr>
                    </a:solidFill>
                  </a:rPr>
                  <a:t> = .51</a:t>
                </a:r>
              </a:p>
              <a:p>
                <a:endParaRPr lang="en-US" dirty="0">
                  <a:solidFill>
                    <a:schemeClr val="bg1">
                      <a:lumMod val="50000"/>
                    </a:schemeClr>
                  </a:solidFill>
                </a:endParaRPr>
              </a:p>
              <a:p>
                <a:r>
                  <a:rPr lang="en-US" b="0" dirty="0">
                    <a:solidFill>
                      <a:schemeClr val="bg1">
                        <a:lumMod val="50000"/>
                      </a:schemeClr>
                    </a:solidFill>
                  </a:rPr>
                  <a:t>We need the standard error, </a:t>
                </a:r>
                <a14:m>
                  <m:oMath xmlns:m="http://schemas.openxmlformats.org/officeDocument/2006/math">
                    <m:f>
                      <m:fPr>
                        <m:type m:val="lin"/>
                        <m:ctrlPr>
                          <a:rPr lang="en-US" b="0" i="1" smtClean="0">
                            <a:solidFill>
                              <a:schemeClr val="bg1">
                                <a:lumMod val="50000"/>
                              </a:schemeClr>
                            </a:solidFill>
                            <a:latin typeface="Cambria Math" panose="02040503050406030204" pitchFamily="18" charset="0"/>
                          </a:rPr>
                        </m:ctrlPr>
                      </m:fPr>
                      <m:num>
                        <m:acc>
                          <m:accPr>
                            <m:chr m:val="̂"/>
                            <m:ctrlPr>
                              <a:rPr lang="en-US" b="0" i="1" smtClean="0">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𝜎</m:t>
                            </m:r>
                          </m:e>
                        </m:acc>
                      </m:num>
                      <m:den>
                        <m:rad>
                          <m:radPr>
                            <m:degHide m:val="on"/>
                            <m:ctrlPr>
                              <a:rPr lang="en-US" i="1">
                                <a:solidFill>
                                  <a:schemeClr val="bg1">
                                    <a:lumMod val="50000"/>
                                  </a:schemeClr>
                                </a:solidFill>
                                <a:latin typeface="Cambria Math" panose="02040503050406030204" pitchFamily="18" charset="0"/>
                              </a:rPr>
                            </m:ctrlPr>
                          </m:radPr>
                          <m:deg/>
                          <m:e>
                            <m:r>
                              <a:rPr lang="en-US" i="1">
                                <a:solidFill>
                                  <a:schemeClr val="bg1">
                                    <a:lumMod val="50000"/>
                                  </a:schemeClr>
                                </a:solidFill>
                                <a:latin typeface="Cambria Math" panose="02040503050406030204" pitchFamily="18" charset="0"/>
                              </a:rPr>
                              <m:t>𝑁</m:t>
                            </m:r>
                          </m:e>
                        </m:rad>
                      </m:den>
                    </m:f>
                  </m:oMath>
                </a14:m>
                <a:endParaRPr lang="en-US" b="0" dirty="0">
                  <a:solidFill>
                    <a:schemeClr val="bg1">
                      <a:lumMod val="50000"/>
                    </a:schemeClr>
                  </a:solidFill>
                </a:endParaRPr>
              </a:p>
              <a:p>
                <a:pPr lvl="1"/>
                <a:r>
                  <a:rPr lang="en-US" dirty="0">
                    <a:solidFill>
                      <a:schemeClr val="bg1">
                        <a:lumMod val="50000"/>
                      </a:schemeClr>
                    </a:solidFill>
                  </a:rPr>
                  <a:t>From Probability: binomial standard deviation is</a:t>
                </a:r>
                <a14:m>
                  <m:oMath xmlns:m="http://schemas.openxmlformats.org/officeDocument/2006/math">
                    <m:r>
                      <a:rPr lang="en-US">
                        <a:solidFill>
                          <a:schemeClr val="bg1">
                            <a:lumMod val="50000"/>
                          </a:schemeClr>
                        </a:solidFill>
                        <a:latin typeface="Cambria Math" panose="02040503050406030204" pitchFamily="18" charset="0"/>
                      </a:rPr>
                      <m:t> </m:t>
                    </m:r>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𝜎</m:t>
                        </m:r>
                      </m:e>
                    </m:acc>
                    <m:r>
                      <a:rPr lang="en-US" i="1">
                        <a:solidFill>
                          <a:schemeClr val="bg1">
                            <a:lumMod val="50000"/>
                          </a:schemeClr>
                        </a:solidFill>
                        <a:latin typeface="Cambria Math" panose="02040503050406030204" pitchFamily="18" charset="0"/>
                      </a:rPr>
                      <m:t>=</m:t>
                    </m:r>
                    <m:rad>
                      <m:radPr>
                        <m:degHide m:val="on"/>
                        <m:ctrlPr>
                          <a:rPr lang="en-US" i="1">
                            <a:solidFill>
                              <a:schemeClr val="bg1">
                                <a:lumMod val="50000"/>
                              </a:schemeClr>
                            </a:solidFill>
                            <a:latin typeface="Cambria Math" panose="02040503050406030204" pitchFamily="18" charset="0"/>
                          </a:rPr>
                        </m:ctrlPr>
                      </m:radPr>
                      <m:deg/>
                      <m:e>
                        <m:r>
                          <a:rPr lang="en-US" i="1">
                            <a:solidFill>
                              <a:schemeClr val="bg1">
                                <a:lumMod val="50000"/>
                              </a:schemeClr>
                            </a:solidFill>
                            <a:latin typeface="Cambria Math" panose="02040503050406030204" pitchFamily="18" charset="0"/>
                          </a:rPr>
                          <m:t>𝑝</m:t>
                        </m:r>
                        <m:r>
                          <a:rPr lang="en-US" i="1">
                            <a:solidFill>
                              <a:schemeClr val="bg1">
                                <a:lumMod val="50000"/>
                              </a:schemeClr>
                            </a:solidFill>
                            <a:latin typeface="Cambria Math" panose="02040503050406030204" pitchFamily="18" charset="0"/>
                          </a:rPr>
                          <m:t>(1−</m:t>
                        </m:r>
                        <m:r>
                          <a:rPr lang="en-US" i="1">
                            <a:solidFill>
                              <a:schemeClr val="bg1">
                                <a:lumMod val="50000"/>
                              </a:schemeClr>
                            </a:solidFill>
                            <a:latin typeface="Cambria Math" panose="02040503050406030204" pitchFamily="18" charset="0"/>
                          </a:rPr>
                          <m:t>𝑝</m:t>
                        </m:r>
                        <m:r>
                          <a:rPr lang="en-US" i="1">
                            <a:solidFill>
                              <a:schemeClr val="bg1">
                                <a:lumMod val="50000"/>
                              </a:schemeClr>
                            </a:solidFill>
                            <a:latin typeface="Cambria Math" panose="02040503050406030204" pitchFamily="18" charset="0"/>
                          </a:rPr>
                          <m:t>)</m:t>
                        </m:r>
                      </m:e>
                    </m:rad>
                  </m:oMath>
                </a14:m>
                <a:endParaRPr lang="en-US" b="0" dirty="0">
                  <a:solidFill>
                    <a:schemeClr val="bg1">
                      <a:lumMod val="50000"/>
                    </a:schemeClr>
                  </a:solidFill>
                </a:endParaRPr>
              </a:p>
              <a:p>
                <a:pPr lvl="1"/>
                <a:r>
                  <a:rPr lang="en-US" dirty="0">
                    <a:solidFill>
                      <a:schemeClr val="bg1">
                        <a:lumMod val="50000"/>
                      </a:schemeClr>
                    </a:solidFill>
                  </a:rPr>
                  <a:t>Here, use </a:t>
                </a:r>
                <a14:m>
                  <m:oMath xmlns:m="http://schemas.openxmlformats.org/officeDocument/2006/math">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𝜎</m:t>
                        </m:r>
                      </m:e>
                    </m:acc>
                    <m:r>
                      <a:rPr lang="en-US" i="1">
                        <a:solidFill>
                          <a:schemeClr val="bg1">
                            <a:lumMod val="50000"/>
                          </a:schemeClr>
                        </a:solidFill>
                        <a:latin typeface="Cambria Math" panose="02040503050406030204" pitchFamily="18" charset="0"/>
                      </a:rPr>
                      <m:t>=</m:t>
                    </m:r>
                    <m:rad>
                      <m:radPr>
                        <m:degHide m:val="on"/>
                        <m:ctrlPr>
                          <a:rPr lang="en-US" i="1">
                            <a:solidFill>
                              <a:schemeClr val="bg1">
                                <a:lumMod val="50000"/>
                              </a:schemeClr>
                            </a:solidFill>
                            <a:latin typeface="Cambria Math" panose="02040503050406030204" pitchFamily="18" charset="0"/>
                          </a:rPr>
                        </m:ctrlPr>
                      </m:radPr>
                      <m:deg/>
                      <m:e>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r>
                          <a:rPr lang="en-US" i="1">
                            <a:solidFill>
                              <a:schemeClr val="bg1">
                                <a:lumMod val="50000"/>
                              </a:schemeClr>
                            </a:solidFill>
                            <a:latin typeface="Cambria Math" panose="02040503050406030204" pitchFamily="18" charset="0"/>
                          </a:rPr>
                          <m:t>(1−</m:t>
                        </m:r>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r>
                          <a:rPr lang="en-US" i="1">
                            <a:solidFill>
                              <a:schemeClr val="bg1">
                                <a:lumMod val="50000"/>
                              </a:schemeClr>
                            </a:solidFill>
                            <a:latin typeface="Cambria Math" panose="02040503050406030204" pitchFamily="18" charset="0"/>
                          </a:rPr>
                          <m:t>)</m:t>
                        </m:r>
                      </m:e>
                    </m:rad>
                  </m:oMath>
                </a14:m>
                <a:r>
                  <a:rPr lang="en-US" dirty="0">
                    <a:solidFill>
                      <a:schemeClr val="bg1">
                        <a:lumMod val="50000"/>
                      </a:schemeClr>
                    </a:solidFill>
                  </a:rPr>
                  <a:t> </a:t>
                </a:r>
                <a:endParaRPr lang="en-US" b="0" dirty="0">
                  <a:solidFill>
                    <a:schemeClr val="bg1">
                      <a:lumMod val="50000"/>
                    </a:schemeClr>
                  </a:solidFill>
                </a:endParaRPr>
              </a:p>
              <a:p>
                <a:endParaRPr lang="en-US" b="0" dirty="0">
                  <a:solidFill>
                    <a:schemeClr val="bg1">
                      <a:lumMod val="50000"/>
                    </a:schemeClr>
                  </a:solidFill>
                </a:endParaRPr>
              </a:p>
              <a:p>
                <a:r>
                  <a:rPr lang="en-US" b="0" dirty="0">
                    <a:solidFill>
                      <a:schemeClr val="bg1">
                        <a:lumMod val="50000"/>
                      </a:schemeClr>
                    </a:solidFill>
                  </a:rPr>
                  <a:t>So, </a:t>
                </a:r>
                <a14:m>
                  <m:oMath xmlns:m="http://schemas.openxmlformats.org/officeDocument/2006/math">
                    <m:r>
                      <a:rPr lang="en-US" b="0" i="1" smtClean="0">
                        <a:solidFill>
                          <a:schemeClr val="bg1">
                            <a:lumMod val="50000"/>
                          </a:schemeClr>
                        </a:solidFill>
                        <a:latin typeface="Cambria Math" panose="02040503050406030204" pitchFamily="18" charset="0"/>
                      </a:rPr>
                      <m:t>𝑆𝑡𝑑</m:t>
                    </m:r>
                    <m:r>
                      <a:rPr lang="en-US" b="0" i="1" smtClean="0">
                        <a:solidFill>
                          <a:schemeClr val="bg1">
                            <a:lumMod val="50000"/>
                          </a:schemeClr>
                        </a:solidFill>
                        <a:latin typeface="Cambria Math" panose="02040503050406030204" pitchFamily="18" charset="0"/>
                      </a:rPr>
                      <m:t> </m:t>
                    </m:r>
                    <m:r>
                      <a:rPr lang="en-US" b="0" i="1" smtClean="0">
                        <a:solidFill>
                          <a:schemeClr val="bg1">
                            <a:lumMod val="50000"/>
                          </a:schemeClr>
                        </a:solidFill>
                        <a:latin typeface="Cambria Math" panose="02040503050406030204" pitchFamily="18" charset="0"/>
                      </a:rPr>
                      <m:t>𝐸𝑟𝑟𝑜𝑟</m:t>
                    </m:r>
                    <m:d>
                      <m:dPr>
                        <m:ctrlPr>
                          <a:rPr lang="en-US" b="0" i="1" smtClean="0">
                            <a:solidFill>
                              <a:schemeClr val="bg1">
                                <a:lumMod val="50000"/>
                              </a:schemeClr>
                            </a:solidFill>
                            <a:latin typeface="Cambria Math" panose="02040503050406030204" pitchFamily="18" charset="0"/>
                          </a:rPr>
                        </m:ctrlPr>
                      </m:dPr>
                      <m:e>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e>
                    </m:d>
                    <m:r>
                      <a:rPr lang="en-US" b="0" i="1" smtClean="0">
                        <a:solidFill>
                          <a:schemeClr val="bg1">
                            <a:lumMod val="50000"/>
                          </a:schemeClr>
                        </a:solidFill>
                        <a:latin typeface="Cambria Math" panose="02040503050406030204" pitchFamily="18" charset="0"/>
                      </a:rPr>
                      <m:t>=</m:t>
                    </m:r>
                    <m:f>
                      <m:fPr>
                        <m:ctrlPr>
                          <a:rPr lang="en-US" i="1">
                            <a:solidFill>
                              <a:schemeClr val="bg1">
                                <a:lumMod val="50000"/>
                              </a:schemeClr>
                            </a:solidFill>
                            <a:latin typeface="Cambria Math" panose="02040503050406030204" pitchFamily="18" charset="0"/>
                          </a:rPr>
                        </m:ctrlPr>
                      </m:fPr>
                      <m:num>
                        <m:r>
                          <a:rPr lang="en-US" b="0" i="1" smtClean="0">
                            <a:solidFill>
                              <a:schemeClr val="bg1">
                                <a:lumMod val="50000"/>
                              </a:schemeClr>
                            </a:solidFill>
                            <a:latin typeface="Cambria Math" panose="02040503050406030204" pitchFamily="18" charset="0"/>
                          </a:rPr>
                          <m:t>𝑆𝑡𝑑</m:t>
                        </m:r>
                        <m:r>
                          <a:rPr lang="en-US" b="0" i="1" smtClean="0">
                            <a:solidFill>
                              <a:schemeClr val="bg1">
                                <a:lumMod val="50000"/>
                              </a:schemeClr>
                            </a:solidFill>
                            <a:latin typeface="Cambria Math" panose="02040503050406030204" pitchFamily="18" charset="0"/>
                          </a:rPr>
                          <m:t> </m:t>
                        </m:r>
                        <m:r>
                          <a:rPr lang="en-US" b="0" i="1" smtClean="0">
                            <a:solidFill>
                              <a:schemeClr val="bg1">
                                <a:lumMod val="50000"/>
                              </a:schemeClr>
                            </a:solidFill>
                            <a:latin typeface="Cambria Math" panose="02040503050406030204" pitchFamily="18" charset="0"/>
                          </a:rPr>
                          <m:t>𝐷𝑒𝑣</m:t>
                        </m:r>
                        <m:r>
                          <a:rPr lang="en-US" b="0" i="1" smtClean="0">
                            <a:solidFill>
                              <a:schemeClr val="bg1">
                                <a:lumMod val="50000"/>
                              </a:schemeClr>
                            </a:solidFill>
                            <a:latin typeface="Cambria Math" panose="02040503050406030204" pitchFamily="18" charset="0"/>
                          </a:rPr>
                          <m:t>(</m:t>
                        </m:r>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r>
                          <a:rPr lang="en-US" i="1">
                            <a:solidFill>
                              <a:schemeClr val="bg1">
                                <a:lumMod val="50000"/>
                              </a:schemeClr>
                            </a:solidFill>
                            <a:latin typeface="Cambria Math" panose="02040503050406030204" pitchFamily="18" charset="0"/>
                          </a:rPr>
                          <m:t>)</m:t>
                        </m:r>
                      </m:num>
                      <m:den>
                        <m:rad>
                          <m:radPr>
                            <m:degHide m:val="on"/>
                            <m:ctrlPr>
                              <a:rPr lang="en-US" i="1">
                                <a:solidFill>
                                  <a:schemeClr val="bg1">
                                    <a:lumMod val="50000"/>
                                  </a:schemeClr>
                                </a:solidFill>
                                <a:latin typeface="Cambria Math" panose="02040503050406030204" pitchFamily="18" charset="0"/>
                              </a:rPr>
                            </m:ctrlPr>
                          </m:radPr>
                          <m:deg/>
                          <m:e>
                            <m:r>
                              <a:rPr lang="en-US" i="1">
                                <a:solidFill>
                                  <a:schemeClr val="bg1">
                                    <a:lumMod val="50000"/>
                                  </a:schemeClr>
                                </a:solidFill>
                                <a:latin typeface="Cambria Math" panose="02040503050406030204" pitchFamily="18" charset="0"/>
                              </a:rPr>
                              <m:t>𝑁</m:t>
                            </m:r>
                          </m:e>
                        </m:rad>
                      </m:den>
                    </m:f>
                    <m:r>
                      <a:rPr lang="en-US" b="0" i="1" smtClean="0">
                        <a:solidFill>
                          <a:schemeClr val="bg1">
                            <a:lumMod val="50000"/>
                          </a:schemeClr>
                        </a:solidFill>
                        <a:latin typeface="Cambria Math" panose="02040503050406030204" pitchFamily="18" charset="0"/>
                      </a:rPr>
                      <m:t>=</m:t>
                    </m:r>
                    <m:f>
                      <m:fPr>
                        <m:ctrlPr>
                          <a:rPr lang="en-US" b="0" i="1" smtClean="0">
                            <a:solidFill>
                              <a:schemeClr val="bg1">
                                <a:lumMod val="50000"/>
                              </a:schemeClr>
                            </a:solidFill>
                            <a:latin typeface="Cambria Math" panose="02040503050406030204" pitchFamily="18" charset="0"/>
                          </a:rPr>
                        </m:ctrlPr>
                      </m:fPr>
                      <m:num>
                        <m:rad>
                          <m:radPr>
                            <m:degHide m:val="on"/>
                            <m:ctrlPr>
                              <a:rPr lang="en-US" b="0" i="1" smtClean="0">
                                <a:solidFill>
                                  <a:schemeClr val="bg1">
                                    <a:lumMod val="50000"/>
                                  </a:schemeClr>
                                </a:solidFill>
                                <a:latin typeface="Cambria Math" panose="02040503050406030204" pitchFamily="18" charset="0"/>
                              </a:rPr>
                            </m:ctrlPr>
                          </m:radPr>
                          <m:deg/>
                          <m:e>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r>
                              <a:rPr lang="en-US" b="0" i="1" smtClean="0">
                                <a:solidFill>
                                  <a:schemeClr val="bg1">
                                    <a:lumMod val="50000"/>
                                  </a:schemeClr>
                                </a:solidFill>
                                <a:latin typeface="Cambria Math" panose="02040503050406030204" pitchFamily="18" charset="0"/>
                              </a:rPr>
                              <m:t>(1−</m:t>
                            </m:r>
                            <m:acc>
                              <m:accPr>
                                <m:chr m:val="̅"/>
                                <m:ctrlPr>
                                  <a:rPr lang="en-US" i="1">
                                    <a:solidFill>
                                      <a:schemeClr val="bg1">
                                        <a:lumMod val="50000"/>
                                      </a:schemeClr>
                                    </a:solidFill>
                                    <a:latin typeface="Cambria Math" panose="02040503050406030204" pitchFamily="18" charset="0"/>
                                  </a:rPr>
                                </m:ctrlPr>
                              </m:accPr>
                              <m:e>
                                <m:r>
                                  <a:rPr lang="en-US" i="1">
                                    <a:solidFill>
                                      <a:schemeClr val="bg1">
                                        <a:lumMod val="50000"/>
                                      </a:schemeClr>
                                    </a:solidFill>
                                    <a:latin typeface="Cambria Math" panose="02040503050406030204" pitchFamily="18" charset="0"/>
                                  </a:rPr>
                                  <m:t>𝑥</m:t>
                                </m:r>
                              </m:e>
                            </m:acc>
                            <m:r>
                              <a:rPr lang="en-US" b="0" i="1" smtClean="0">
                                <a:solidFill>
                                  <a:schemeClr val="bg1">
                                    <a:lumMod val="50000"/>
                                  </a:schemeClr>
                                </a:solidFill>
                                <a:latin typeface="Cambria Math" panose="02040503050406030204" pitchFamily="18" charset="0"/>
                              </a:rPr>
                              <m:t>)</m:t>
                            </m:r>
                          </m:e>
                        </m:rad>
                      </m:num>
                      <m:den>
                        <m:rad>
                          <m:radPr>
                            <m:degHide m:val="on"/>
                            <m:ctrlPr>
                              <a:rPr lang="en-US" b="0" i="1" smtClean="0">
                                <a:solidFill>
                                  <a:schemeClr val="bg1">
                                    <a:lumMod val="50000"/>
                                  </a:schemeClr>
                                </a:solidFill>
                                <a:latin typeface="Cambria Math" panose="02040503050406030204" pitchFamily="18" charset="0"/>
                              </a:rPr>
                            </m:ctrlPr>
                          </m:radPr>
                          <m:deg/>
                          <m:e>
                            <m:r>
                              <a:rPr lang="en-US" b="0" i="1" smtClean="0">
                                <a:solidFill>
                                  <a:schemeClr val="bg1">
                                    <a:lumMod val="50000"/>
                                  </a:schemeClr>
                                </a:solidFill>
                                <a:latin typeface="Cambria Math" panose="02040503050406030204" pitchFamily="18" charset="0"/>
                              </a:rPr>
                              <m:t>𝑁</m:t>
                            </m:r>
                          </m:e>
                        </m:rad>
                      </m:den>
                    </m:f>
                    <m:r>
                      <a:rPr lang="en-US" b="0" i="1" smtClean="0">
                        <a:solidFill>
                          <a:schemeClr val="bg1">
                            <a:lumMod val="50000"/>
                          </a:schemeClr>
                        </a:solidFill>
                        <a:latin typeface="Cambria Math" panose="02040503050406030204" pitchFamily="18" charset="0"/>
                      </a:rPr>
                      <m:t>=</m:t>
                    </m:r>
                  </m:oMath>
                </a14:m>
                <a:r>
                  <a:rPr lang="en-US" dirty="0">
                    <a:solidFill>
                      <a:schemeClr val="bg1">
                        <a:lumMod val="50000"/>
                      </a:schemeClr>
                    </a:solidFill>
                  </a:rPr>
                  <a:t> </a:t>
                </a:r>
                <a14:m>
                  <m:oMath xmlns:m="http://schemas.openxmlformats.org/officeDocument/2006/math">
                    <m:f>
                      <m:fPr>
                        <m:ctrlPr>
                          <a:rPr lang="en-US" i="1">
                            <a:solidFill>
                              <a:schemeClr val="bg1">
                                <a:lumMod val="50000"/>
                              </a:schemeClr>
                            </a:solidFill>
                            <a:latin typeface="Cambria Math" panose="02040503050406030204" pitchFamily="18" charset="0"/>
                          </a:rPr>
                        </m:ctrlPr>
                      </m:fPr>
                      <m:num>
                        <m:rad>
                          <m:radPr>
                            <m:degHide m:val="on"/>
                            <m:ctrlPr>
                              <a:rPr lang="en-US" i="1">
                                <a:solidFill>
                                  <a:schemeClr val="bg1">
                                    <a:lumMod val="50000"/>
                                  </a:schemeClr>
                                </a:solidFill>
                                <a:latin typeface="Cambria Math" panose="02040503050406030204" pitchFamily="18" charset="0"/>
                              </a:rPr>
                            </m:ctrlPr>
                          </m:radPr>
                          <m:deg/>
                          <m:e>
                            <m:acc>
                              <m:accPr>
                                <m:chr m:val="̅"/>
                                <m:ctrlPr>
                                  <a:rPr lang="en-US" i="1">
                                    <a:solidFill>
                                      <a:schemeClr val="bg1">
                                        <a:lumMod val="50000"/>
                                      </a:schemeClr>
                                    </a:solidFill>
                                    <a:latin typeface="Cambria Math" panose="02040503050406030204" pitchFamily="18" charset="0"/>
                                  </a:rPr>
                                </m:ctrlPr>
                              </m:accPr>
                              <m:e>
                                <m:r>
                                  <a:rPr lang="en-US" b="0" i="1" smtClean="0">
                                    <a:solidFill>
                                      <a:schemeClr val="bg1">
                                        <a:lumMod val="50000"/>
                                      </a:schemeClr>
                                    </a:solidFill>
                                    <a:latin typeface="Cambria Math" panose="02040503050406030204" pitchFamily="18" charset="0"/>
                                  </a:rPr>
                                  <m:t>.51</m:t>
                                </m:r>
                              </m:e>
                            </m:acc>
                            <m:r>
                              <a:rPr lang="en-US" i="1">
                                <a:solidFill>
                                  <a:schemeClr val="bg1">
                                    <a:lumMod val="50000"/>
                                  </a:schemeClr>
                                </a:solidFill>
                                <a:latin typeface="Cambria Math" panose="02040503050406030204" pitchFamily="18" charset="0"/>
                              </a:rPr>
                              <m:t>(</m:t>
                            </m:r>
                            <m:r>
                              <a:rPr lang="en-US" b="0" i="1" smtClean="0">
                                <a:solidFill>
                                  <a:schemeClr val="bg1">
                                    <a:lumMod val="50000"/>
                                  </a:schemeClr>
                                </a:solidFill>
                                <a:latin typeface="Cambria Math" panose="02040503050406030204" pitchFamily="18" charset="0"/>
                              </a:rPr>
                              <m:t>.49</m:t>
                            </m:r>
                            <m:r>
                              <a:rPr lang="en-US" i="1">
                                <a:solidFill>
                                  <a:schemeClr val="bg1">
                                    <a:lumMod val="50000"/>
                                  </a:schemeClr>
                                </a:solidFill>
                                <a:latin typeface="Cambria Math" panose="02040503050406030204" pitchFamily="18" charset="0"/>
                              </a:rPr>
                              <m:t>)</m:t>
                            </m:r>
                          </m:e>
                        </m:rad>
                      </m:num>
                      <m:den>
                        <m:rad>
                          <m:radPr>
                            <m:degHide m:val="on"/>
                            <m:ctrlPr>
                              <a:rPr lang="en-US" i="1">
                                <a:solidFill>
                                  <a:schemeClr val="bg1">
                                    <a:lumMod val="50000"/>
                                  </a:schemeClr>
                                </a:solidFill>
                                <a:latin typeface="Cambria Math" panose="02040503050406030204" pitchFamily="18" charset="0"/>
                              </a:rPr>
                            </m:ctrlPr>
                          </m:radPr>
                          <m:deg/>
                          <m:e>
                            <m:r>
                              <a:rPr lang="en-US" b="0" i="1" smtClean="0">
                                <a:solidFill>
                                  <a:schemeClr val="bg1">
                                    <a:lumMod val="50000"/>
                                  </a:schemeClr>
                                </a:solidFill>
                                <a:latin typeface="Cambria Math" panose="02040503050406030204" pitchFamily="18" charset="0"/>
                              </a:rPr>
                              <m:t>1100</m:t>
                            </m:r>
                          </m:e>
                        </m:rad>
                      </m:den>
                    </m:f>
                    <m:r>
                      <a:rPr lang="en-US" b="0" i="0" smtClean="0">
                        <a:solidFill>
                          <a:schemeClr val="bg1">
                            <a:lumMod val="50000"/>
                          </a:schemeClr>
                        </a:solidFill>
                        <a:latin typeface="Cambria Math" panose="02040503050406030204" pitchFamily="18" charset="0"/>
                      </a:rPr>
                      <m:t>=</m:t>
                    </m:r>
                    <m:f>
                      <m:fPr>
                        <m:ctrlPr>
                          <a:rPr lang="en-US" b="0" i="1" smtClean="0">
                            <a:solidFill>
                              <a:schemeClr val="bg1">
                                <a:lumMod val="50000"/>
                              </a:schemeClr>
                            </a:solidFill>
                            <a:latin typeface="Cambria Math" panose="02040503050406030204" pitchFamily="18" charset="0"/>
                          </a:rPr>
                        </m:ctrlPr>
                      </m:fPr>
                      <m:num>
                        <m:r>
                          <a:rPr lang="en-US" b="0" i="1" smtClean="0">
                            <a:solidFill>
                              <a:schemeClr val="bg1">
                                <a:lumMod val="50000"/>
                              </a:schemeClr>
                            </a:solidFill>
                            <a:latin typeface="Cambria Math" panose="02040503050406030204" pitchFamily="18" charset="0"/>
                          </a:rPr>
                          <m:t>.50</m:t>
                        </m:r>
                      </m:num>
                      <m:den>
                        <m:r>
                          <a:rPr lang="en-US" b="0" i="1" smtClean="0">
                            <a:solidFill>
                              <a:schemeClr val="bg1">
                                <a:lumMod val="50000"/>
                              </a:schemeClr>
                            </a:solidFill>
                            <a:latin typeface="Cambria Math" panose="02040503050406030204" pitchFamily="18" charset="0"/>
                          </a:rPr>
                          <m:t>33.2</m:t>
                        </m:r>
                      </m:den>
                    </m:f>
                    <m:r>
                      <a:rPr lang="en-US" b="0" i="1" smtClean="0">
                        <a:solidFill>
                          <a:schemeClr val="bg1">
                            <a:lumMod val="50000"/>
                          </a:schemeClr>
                        </a:solidFill>
                        <a:latin typeface="Cambria Math" panose="02040503050406030204" pitchFamily="18" charset="0"/>
                      </a:rPr>
                      <m:t>=.015</m:t>
                    </m:r>
                  </m:oMath>
                </a14:m>
                <a:endParaRPr lang="en-US" dirty="0">
                  <a:solidFill>
                    <a:schemeClr val="bg1">
                      <a:lumMod val="50000"/>
                    </a:schemeClr>
                  </a:solidFill>
                </a:endParaRPr>
              </a:p>
              <a:p>
                <a:endParaRPr lang="en-US" dirty="0">
                  <a:solidFill>
                    <a:schemeClr val="bg1">
                      <a:lumMod val="50000"/>
                    </a:schemeClr>
                  </a:solidFill>
                </a:endParaRPr>
              </a:p>
              <a:p>
                <a:r>
                  <a:rPr lang="en-US" dirty="0">
                    <a:solidFill>
                      <a:schemeClr val="bg1">
                        <a:lumMod val="50000"/>
                      </a:schemeClr>
                    </a:solidFill>
                  </a:rPr>
                  <a:t>95% confidence interval </a:t>
                </a:r>
              </a:p>
              <a:p>
                <a:pPr marL="0" indent="0" algn="ctr">
                  <a:buNone/>
                </a:pPr>
                <a14:m>
                  <m:oMath xmlns:m="http://schemas.openxmlformats.org/officeDocument/2006/math">
                    <m:acc>
                      <m:accPr>
                        <m:chr m:val="̅"/>
                        <m:ctrlPr>
                          <a:rPr lang="en-US" sz="1800" i="1">
                            <a:solidFill>
                              <a:schemeClr val="bg1">
                                <a:lumMod val="50000"/>
                              </a:schemeClr>
                            </a:solidFill>
                            <a:latin typeface="Cambria Math" panose="02040503050406030204" pitchFamily="18" charset="0"/>
                          </a:rPr>
                        </m:ctrlPr>
                      </m:accPr>
                      <m:e>
                        <m:r>
                          <a:rPr lang="en-US" sz="1800" i="1">
                            <a:solidFill>
                              <a:schemeClr val="bg1">
                                <a:lumMod val="50000"/>
                              </a:schemeClr>
                            </a:solidFill>
                            <a:latin typeface="Cambria Math" panose="02040503050406030204" pitchFamily="18" charset="0"/>
                          </a:rPr>
                          <m:t>𝑥</m:t>
                        </m:r>
                      </m:e>
                    </m:acc>
                    <m:r>
                      <a:rPr lang="en-US" sz="1800" i="1" dirty="0">
                        <a:solidFill>
                          <a:schemeClr val="bg1">
                            <a:lumMod val="50000"/>
                          </a:schemeClr>
                        </a:solidFill>
                        <a:latin typeface="Cambria Math" panose="02040503050406030204" pitchFamily="18" charset="0"/>
                        <a:ea typeface="Cambria Math" panose="02040503050406030204" pitchFamily="18" charset="0"/>
                      </a:rPr>
                      <m:t>±1.96 </m:t>
                    </m:r>
                    <m:r>
                      <a:rPr lang="en-US" sz="1800" i="1" dirty="0">
                        <a:solidFill>
                          <a:schemeClr val="bg1">
                            <a:lumMod val="50000"/>
                          </a:schemeClr>
                        </a:solidFill>
                        <a:latin typeface="Cambria Math" panose="02040503050406030204" pitchFamily="18" charset="0"/>
                        <a:ea typeface="Cambria Math" panose="02040503050406030204" pitchFamily="18" charset="0"/>
                      </a:rPr>
                      <m:t>𝑆𝑡𝑑</m:t>
                    </m:r>
                    <m:r>
                      <a:rPr lang="en-US" sz="1800" i="1" dirty="0">
                        <a:solidFill>
                          <a:schemeClr val="bg1">
                            <a:lumMod val="50000"/>
                          </a:schemeClr>
                        </a:solidFill>
                        <a:latin typeface="Cambria Math" panose="02040503050406030204" pitchFamily="18" charset="0"/>
                        <a:ea typeface="Cambria Math" panose="02040503050406030204" pitchFamily="18" charset="0"/>
                      </a:rPr>
                      <m:t> </m:t>
                    </m:r>
                    <m:r>
                      <a:rPr lang="en-US" sz="1800" i="1" dirty="0">
                        <a:solidFill>
                          <a:schemeClr val="bg1">
                            <a:lumMod val="50000"/>
                          </a:schemeClr>
                        </a:solidFill>
                        <a:latin typeface="Cambria Math" panose="02040503050406030204" pitchFamily="18" charset="0"/>
                        <a:ea typeface="Cambria Math" panose="02040503050406030204" pitchFamily="18" charset="0"/>
                      </a:rPr>
                      <m:t>𝐸𝑟𝑟</m:t>
                    </m:r>
                    <m:r>
                      <a:rPr lang="en-US" sz="1800" i="1" dirty="0">
                        <a:solidFill>
                          <a:schemeClr val="bg1">
                            <a:lumMod val="50000"/>
                          </a:schemeClr>
                        </a:solidFill>
                        <a:latin typeface="Cambria Math" panose="02040503050406030204" pitchFamily="18" charset="0"/>
                        <a:ea typeface="Cambria Math" panose="02040503050406030204" pitchFamily="18" charset="0"/>
                      </a:rPr>
                      <m:t>(</m:t>
                    </m:r>
                    <m:acc>
                      <m:accPr>
                        <m:chr m:val="̅"/>
                        <m:ctrlPr>
                          <a:rPr lang="en-US" sz="1800" i="1">
                            <a:solidFill>
                              <a:schemeClr val="bg1">
                                <a:lumMod val="50000"/>
                              </a:schemeClr>
                            </a:solidFill>
                            <a:latin typeface="Cambria Math" panose="02040503050406030204" pitchFamily="18" charset="0"/>
                          </a:rPr>
                        </m:ctrlPr>
                      </m:accPr>
                      <m:e>
                        <m:r>
                          <a:rPr lang="en-US" sz="1800" i="1">
                            <a:solidFill>
                              <a:schemeClr val="bg1">
                                <a:lumMod val="50000"/>
                              </a:schemeClr>
                            </a:solidFill>
                            <a:latin typeface="Cambria Math" panose="02040503050406030204" pitchFamily="18" charset="0"/>
                          </a:rPr>
                          <m:t>𝑥</m:t>
                        </m:r>
                      </m:e>
                    </m:acc>
                    <m:r>
                      <a:rPr lang="en-US" sz="1800" i="1" dirty="0">
                        <a:solidFill>
                          <a:schemeClr val="bg1">
                            <a:lumMod val="50000"/>
                          </a:schemeClr>
                        </a:solidFill>
                        <a:latin typeface="Cambria Math" panose="02040503050406030204" pitchFamily="18" charset="0"/>
                        <a:ea typeface="Cambria Math" panose="02040503050406030204" pitchFamily="18" charset="0"/>
                      </a:rPr>
                      <m:t>)</m:t>
                    </m:r>
                  </m:oMath>
                </a14:m>
                <a:r>
                  <a:rPr lang="en-US" sz="1800" dirty="0">
                    <a:solidFill>
                      <a:schemeClr val="bg1">
                        <a:lumMod val="50000"/>
                      </a:schemeClr>
                    </a:solidFill>
                  </a:rPr>
                  <a:t>,</a:t>
                </a:r>
                <a:endParaRPr lang="en-US" sz="1800" b="0" i="0" dirty="0">
                  <a:solidFill>
                    <a:schemeClr val="bg1">
                      <a:lumMod val="50000"/>
                    </a:schemeClr>
                  </a:solidFill>
                  <a:latin typeface="Cambria Math" panose="02040503050406030204" pitchFamily="18" charset="0"/>
                  <a:cs typeface="Helvetica"/>
                </a:endParaRPr>
              </a:p>
              <a:p>
                <a:pPr marL="0" indent="0" algn="ctr">
                  <a:buNone/>
                </a:pPr>
                <a14:m>
                  <m:oMath xmlns:m="http://schemas.openxmlformats.org/officeDocument/2006/math">
                    <m:r>
                      <a:rPr lang="en-US" sz="1800" b="0" i="0" dirty="0" smtClean="0">
                        <a:solidFill>
                          <a:schemeClr val="bg1">
                            <a:lumMod val="50000"/>
                          </a:schemeClr>
                        </a:solidFill>
                        <a:latin typeface="Cambria Math" panose="02040503050406030204" pitchFamily="18" charset="0"/>
                        <a:cs typeface="Helvetica"/>
                      </a:rPr>
                      <m:t>.51</m:t>
                    </m:r>
                    <m:r>
                      <a:rPr lang="en-US" sz="1800" b="0" i="1" dirty="0" smtClean="0">
                        <a:solidFill>
                          <a:schemeClr val="bg1">
                            <a:lumMod val="50000"/>
                          </a:schemeClr>
                        </a:solidFill>
                        <a:latin typeface="Cambria Math" panose="02040503050406030204" pitchFamily="18" charset="0"/>
                        <a:cs typeface="Helvetica"/>
                      </a:rPr>
                      <m:t>± 1.96(.015)</m:t>
                    </m:r>
                  </m:oMath>
                </a14:m>
                <a:r>
                  <a:rPr lang="en-US" sz="1800" dirty="0">
                    <a:solidFill>
                      <a:schemeClr val="bg1">
                        <a:lumMod val="50000"/>
                      </a:schemeClr>
                    </a:solidFill>
                  </a:rPr>
                  <a:t> </a:t>
                </a:r>
              </a:p>
              <a:p>
                <a:pPr marL="0" indent="0" algn="ctr">
                  <a:buNone/>
                </a:pPr>
                <a14:m>
                  <m:oMathPara xmlns:m="http://schemas.openxmlformats.org/officeDocument/2006/math">
                    <m:oMathParaPr>
                      <m:jc m:val="centerGroup"/>
                    </m:oMathParaPr>
                    <m:oMath xmlns:m="http://schemas.openxmlformats.org/officeDocument/2006/math">
                      <m:r>
                        <a:rPr lang="en-US" sz="1800" dirty="0">
                          <a:solidFill>
                            <a:schemeClr val="bg1">
                              <a:lumMod val="50000"/>
                            </a:schemeClr>
                          </a:solidFill>
                          <a:latin typeface="Cambria Math" panose="02040503050406030204" pitchFamily="18" charset="0"/>
                          <a:cs typeface="Helvetica"/>
                        </a:rPr>
                        <m:t>.51</m:t>
                      </m:r>
                      <m:r>
                        <a:rPr lang="en-US" sz="1800" i="1" dirty="0">
                          <a:solidFill>
                            <a:schemeClr val="bg1">
                              <a:lumMod val="50000"/>
                            </a:schemeClr>
                          </a:solidFill>
                          <a:latin typeface="Cambria Math" panose="02040503050406030204" pitchFamily="18" charset="0"/>
                          <a:cs typeface="Helvetica"/>
                        </a:rPr>
                        <m:t>± </m:t>
                      </m:r>
                      <m:r>
                        <a:rPr lang="en-US" sz="1800" b="0" i="1" dirty="0" smtClean="0">
                          <a:solidFill>
                            <a:schemeClr val="bg1">
                              <a:lumMod val="50000"/>
                            </a:schemeClr>
                          </a:solidFill>
                          <a:latin typeface="Cambria Math" panose="02040503050406030204" pitchFamily="18" charset="0"/>
                          <a:cs typeface="Helvetica"/>
                        </a:rPr>
                        <m:t>.029</m:t>
                      </m:r>
                    </m:oMath>
                  </m:oMathPara>
                </a14:m>
                <a:endParaRPr lang="en-US" sz="1800" dirty="0">
                  <a:solidFill>
                    <a:schemeClr val="bg1">
                      <a:lumMod val="50000"/>
                    </a:schemeClr>
                  </a:solidFill>
                </a:endParaRPr>
              </a:p>
              <a:p>
                <a:pPr marL="0" indent="0" algn="ctr">
                  <a:buNone/>
                </a:pPr>
                <a14:m>
                  <m:oMathPara xmlns:m="http://schemas.openxmlformats.org/officeDocument/2006/math">
                    <m:oMathParaPr>
                      <m:jc m:val="centerGroup"/>
                    </m:oMathParaPr>
                    <m:oMath xmlns:m="http://schemas.openxmlformats.org/officeDocument/2006/math">
                      <m:r>
                        <a:rPr lang="en-US" sz="1800" i="1" dirty="0" smtClean="0">
                          <a:solidFill>
                            <a:schemeClr val="bg1">
                              <a:lumMod val="50000"/>
                            </a:schemeClr>
                          </a:solidFill>
                          <a:latin typeface="Cambria Math" panose="02040503050406030204" pitchFamily="18" charset="0"/>
                        </a:rPr>
                        <m:t>[.481, .539]</m:t>
                      </m:r>
                    </m:oMath>
                  </m:oMathPara>
                </a14:m>
                <a:endParaRPr lang="en-US" sz="1800" dirty="0">
                  <a:solidFill>
                    <a:schemeClr val="bg1">
                      <a:lumMod val="50000"/>
                    </a:schemeClr>
                  </a:solidFill>
                </a:endParaRPr>
              </a:p>
              <a:p>
                <a:pPr lvl="1"/>
                <a:endParaRPr lang="en-US" dirty="0">
                  <a:solidFill>
                    <a:schemeClr val="bg1">
                      <a:lumMod val="50000"/>
                    </a:schemeClr>
                  </a:solidFill>
                </a:endParaRPr>
              </a:p>
              <a:p>
                <a:pPr lvl="1"/>
                <a:endParaRPr lang="en-US" dirty="0">
                  <a:solidFill>
                    <a:schemeClr val="bg1">
                      <a:lumMod val="50000"/>
                    </a:schemeClr>
                  </a:solidFill>
                </a:endParaRPr>
              </a:p>
              <a:p>
                <a:pPr lvl="1"/>
                <a:endParaRPr lang="en-US" dirty="0"/>
              </a:p>
            </p:txBody>
          </p:sp>
        </mc:Choice>
        <mc:Fallback xmlns="">
          <p:sp>
            <p:nvSpPr>
              <p:cNvPr id="3" name="Content Placeholder 2">
                <a:extLst>
                  <a:ext uri="{FF2B5EF4-FFF2-40B4-BE49-F238E27FC236}">
                    <a16:creationId xmlns:a16="http://schemas.microsoft.com/office/drawing/2014/main" id="{98C3BE49-220E-4F77-8455-85133D2574A3}"/>
                  </a:ext>
                </a:extLst>
              </p:cNvPr>
              <p:cNvSpPr>
                <a:spLocks noGrp="1" noRot="1" noChangeAspect="1" noMove="1" noResize="1" noEditPoints="1" noAdjustHandles="1" noChangeArrowheads="1" noChangeShapeType="1" noTextEdit="1"/>
              </p:cNvSpPr>
              <p:nvPr>
                <p:ph idx="1"/>
              </p:nvPr>
            </p:nvSpPr>
            <p:spPr>
              <a:xfrm>
                <a:off x="354013" y="1089026"/>
                <a:ext cx="8437562" cy="1815042"/>
              </a:xfrm>
              <a:blipFill>
                <a:blip r:embed="rId2"/>
                <a:stretch>
                  <a:fillRect l="-650" b="-19932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AC049F6-0B2D-4302-A67D-1DB98954AF7B}"/>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76</a:t>
            </a:fld>
            <a:endParaRPr lang="en-GB"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89CEF8-E2F7-453A-BB39-C711DEDEAA5F}"/>
                  </a:ext>
                </a:extLst>
              </p:cNvPr>
              <p:cNvSpPr txBox="1"/>
              <p:nvPr/>
            </p:nvSpPr>
            <p:spPr>
              <a:xfrm>
                <a:off x="5244758" y="1132272"/>
                <a:ext cx="3840506" cy="1861343"/>
              </a:xfrm>
              <a:prstGeom prst="rect">
                <a:avLst/>
              </a:prstGeom>
              <a:solidFill>
                <a:srgbClr val="FFFF99"/>
              </a:solidFill>
              <a:ln w="3175">
                <a:solidFill>
                  <a:srgbClr val="FF0000"/>
                </a:solidFill>
              </a:ln>
            </p:spPr>
            <p:txBody>
              <a:bodyPr wrap="square" rtlCol="0">
                <a:spAutoFit/>
              </a:bodyPr>
              <a:lstStyle/>
              <a:p>
                <a:r>
                  <a:rPr lang="en-US" sz="1400" b="0" dirty="0">
                    <a:solidFill>
                      <a:srgbClr val="FF0000"/>
                    </a:solidFill>
                    <a:latin typeface="Arial" pitchFamily="34" charset="0"/>
                    <a:cs typeface="Arial" pitchFamily="34" charset="0"/>
                  </a:rPr>
                  <a:t>Note</a:t>
                </a:r>
                <a:r>
                  <a:rPr lang="en-US" sz="1400" b="0" u="none" dirty="0">
                    <a:solidFill>
                      <a:srgbClr val="FF0000"/>
                    </a:solidFill>
                    <a:latin typeface="Arial" pitchFamily="34" charset="0"/>
                    <a:cs typeface="Arial" pitchFamily="34" charset="0"/>
                  </a:rPr>
                  <a:t>: Pollsters often use .5 rather than the actual poll </a:t>
                </a:r>
                <a:r>
                  <a:rPr lang="en-US" sz="1400" b="0" u="none" dirty="0">
                    <a:solidFill>
                      <a:srgbClr val="FF0000"/>
                    </a:solidFill>
                    <a:cs typeface="Arial" pitchFamily="34" charset="0"/>
                  </a:rPr>
                  <a:t>standard deviation </a:t>
                </a:r>
                <a:r>
                  <a:rPr lang="en-US" sz="1400" b="0" u="none" dirty="0">
                    <a:solidFill>
                      <a:srgbClr val="FF0000"/>
                    </a:solidFill>
                    <a:latin typeface="Arial" pitchFamily="34" charset="0"/>
                    <a:cs typeface="Arial" pitchFamily="34" charset="0"/>
                  </a:rPr>
                  <a:t>to be conservative, because </a:t>
                </a:r>
                <a14:m>
                  <m:oMath xmlns:m="http://schemas.openxmlformats.org/officeDocument/2006/math">
                    <m:rad>
                      <m:radPr>
                        <m:degHide m:val="on"/>
                        <m:ctrlPr>
                          <a:rPr lang="en-US" sz="1400" b="0" i="1" u="none" smtClean="0">
                            <a:latin typeface="Cambria Math" panose="02040503050406030204" pitchFamily="18" charset="0"/>
                          </a:rPr>
                        </m:ctrlPr>
                      </m:radPr>
                      <m:deg/>
                      <m:e>
                        <m:acc>
                          <m:accPr>
                            <m:chr m:val="̅"/>
                            <m:ctrlPr>
                              <a:rPr lang="en-US" sz="1400" i="1" u="none">
                                <a:latin typeface="Cambria Math" panose="02040503050406030204" pitchFamily="18" charset="0"/>
                              </a:rPr>
                            </m:ctrlPr>
                          </m:accPr>
                          <m:e>
                            <m:r>
                              <a:rPr lang="en-US" sz="1400" i="1" u="none">
                                <a:latin typeface="Cambria Math" panose="02040503050406030204" pitchFamily="18" charset="0"/>
                              </a:rPr>
                              <m:t>𝑥</m:t>
                            </m:r>
                          </m:e>
                        </m:acc>
                        <m:r>
                          <a:rPr lang="en-US" sz="1400" b="0" i="1" u="none" smtClean="0">
                            <a:latin typeface="Cambria Math" panose="02040503050406030204" pitchFamily="18" charset="0"/>
                          </a:rPr>
                          <m:t>(1−</m:t>
                        </m:r>
                        <m:acc>
                          <m:accPr>
                            <m:chr m:val="̅"/>
                            <m:ctrlPr>
                              <a:rPr lang="en-US" sz="1400" i="1" u="none">
                                <a:latin typeface="Cambria Math" panose="02040503050406030204" pitchFamily="18" charset="0"/>
                              </a:rPr>
                            </m:ctrlPr>
                          </m:accPr>
                          <m:e>
                            <m:r>
                              <a:rPr lang="en-US" sz="1400" i="1" u="none">
                                <a:latin typeface="Cambria Math" panose="02040503050406030204" pitchFamily="18" charset="0"/>
                              </a:rPr>
                              <m:t>𝑥</m:t>
                            </m:r>
                          </m:e>
                        </m:acc>
                        <m:r>
                          <a:rPr lang="en-US" sz="1400" b="0" i="1" u="none" smtClean="0">
                            <a:latin typeface="Cambria Math" panose="02040503050406030204" pitchFamily="18" charset="0"/>
                          </a:rPr>
                          <m:t>)</m:t>
                        </m:r>
                      </m:e>
                    </m:rad>
                  </m:oMath>
                </a14:m>
                <a:r>
                  <a:rPr lang="en-US" sz="1400" b="0" u="none" dirty="0">
                    <a:solidFill>
                      <a:srgbClr val="FF0000"/>
                    </a:solidFill>
                    <a:latin typeface="Arial" pitchFamily="34" charset="0"/>
                    <a:cs typeface="Arial" pitchFamily="34" charset="0"/>
                  </a:rPr>
                  <a:t> is largest when p=.5.</a:t>
                </a:r>
              </a:p>
              <a:p>
                <a:endParaRPr lang="en-US" sz="1400" b="0" u="none" dirty="0">
                  <a:solidFill>
                    <a:srgbClr val="FF0000"/>
                  </a:solidFill>
                  <a:cs typeface="Arial" pitchFamily="34" charset="0"/>
                </a:endParaRPr>
              </a:p>
              <a:p>
                <a:r>
                  <a:rPr lang="en-US" sz="1400" b="0" u="none" dirty="0">
                    <a:solidFill>
                      <a:srgbClr val="FF0000"/>
                    </a:solidFill>
                    <a:latin typeface="Arial" pitchFamily="34" charset="0"/>
                    <a:cs typeface="Arial" pitchFamily="34" charset="0"/>
                  </a:rPr>
                  <a:t>In that case, the margin of error depends purely on </a:t>
                </a:r>
                <a14:m>
                  <m:oMath xmlns:m="http://schemas.openxmlformats.org/officeDocument/2006/math">
                    <m:r>
                      <a:rPr lang="en-US" sz="1400" b="0" i="1" u="none" smtClean="0">
                        <a:solidFill>
                          <a:srgbClr val="FF0000"/>
                        </a:solidFill>
                        <a:latin typeface="Cambria Math" panose="02040503050406030204" pitchFamily="18" charset="0"/>
                        <a:cs typeface="Arial" pitchFamily="34" charset="0"/>
                      </a:rPr>
                      <m:t>𝑁</m:t>
                    </m:r>
                  </m:oMath>
                </a14:m>
                <a:r>
                  <a:rPr lang="en-US" sz="1400" b="0" u="none" dirty="0">
                    <a:solidFill>
                      <a:srgbClr val="FF0000"/>
                    </a:solidFill>
                    <a:cs typeface="Arial" pitchFamily="34" charset="0"/>
                  </a:rPr>
                  <a:t>. Here, the difference for p=.5 and p=.51 is minimal. </a:t>
                </a:r>
                <a:endParaRPr lang="en-US" sz="1400" b="0" u="none" dirty="0">
                  <a:solidFill>
                    <a:srgbClr val="FF0000"/>
                  </a:solidFill>
                  <a:latin typeface="Arial" pitchFamily="34" charset="0"/>
                  <a:cs typeface="Arial" pitchFamily="34" charset="0"/>
                </a:endParaRPr>
              </a:p>
            </p:txBody>
          </p:sp>
        </mc:Choice>
        <mc:Fallback xmlns="">
          <p:sp>
            <p:nvSpPr>
              <p:cNvPr id="14" name="TextBox 13">
                <a:extLst>
                  <a:ext uri="{FF2B5EF4-FFF2-40B4-BE49-F238E27FC236}">
                    <a16:creationId xmlns:a16="http://schemas.microsoft.com/office/drawing/2014/main" id="{6889CEF8-E2F7-453A-BB39-C711DEDEAA5F}"/>
                  </a:ext>
                </a:extLst>
              </p:cNvPr>
              <p:cNvSpPr txBox="1">
                <a:spLocks noRot="1" noChangeAspect="1" noMove="1" noResize="1" noEditPoints="1" noAdjustHandles="1" noChangeArrowheads="1" noChangeShapeType="1" noTextEdit="1"/>
              </p:cNvSpPr>
              <p:nvPr/>
            </p:nvSpPr>
            <p:spPr>
              <a:xfrm>
                <a:off x="5244758" y="1132272"/>
                <a:ext cx="3840506" cy="1861343"/>
              </a:xfrm>
              <a:prstGeom prst="rect">
                <a:avLst/>
              </a:prstGeom>
              <a:blipFill>
                <a:blip r:embed="rId3"/>
                <a:stretch>
                  <a:fillRect l="-475" t="-654" b="-2288"/>
                </a:stretch>
              </a:blipFill>
              <a:ln w="3175">
                <a:solidFill>
                  <a:srgbClr val="FF0000"/>
                </a:solidFill>
              </a:ln>
            </p:spPr>
            <p:txBody>
              <a:bodyPr/>
              <a:lstStyle/>
              <a:p>
                <a:r>
                  <a:rPr lang="en-US">
                    <a:noFill/>
                  </a:rPr>
                  <a:t> </a:t>
                </a:r>
              </a:p>
            </p:txBody>
          </p:sp>
        </mc:Fallback>
      </mc:AlternateContent>
      <p:sp>
        <p:nvSpPr>
          <p:cNvPr id="15" name="Freeform: Shape 14">
            <a:extLst>
              <a:ext uri="{FF2B5EF4-FFF2-40B4-BE49-F238E27FC236}">
                <a16:creationId xmlns:a16="http://schemas.microsoft.com/office/drawing/2014/main" id="{29411D8D-8D2D-4B9C-AC9F-6D8C416E103F}"/>
              </a:ext>
            </a:extLst>
          </p:cNvPr>
          <p:cNvSpPr/>
          <p:nvPr/>
        </p:nvSpPr>
        <p:spPr bwMode="auto">
          <a:xfrm>
            <a:off x="4120979" y="1223001"/>
            <a:ext cx="1123778" cy="1075356"/>
          </a:xfrm>
          <a:custGeom>
            <a:avLst/>
            <a:gdLst>
              <a:gd name="connsiteX0" fmla="*/ 0 w 641350"/>
              <a:gd name="connsiteY0" fmla="*/ 1377950 h 1377950"/>
              <a:gd name="connsiteX1" fmla="*/ 127000 w 641350"/>
              <a:gd name="connsiteY1" fmla="*/ 622300 h 1377950"/>
              <a:gd name="connsiteX2" fmla="*/ 641350 w 641350"/>
              <a:gd name="connsiteY2" fmla="*/ 0 h 1377950"/>
            </a:gdLst>
            <a:ahLst/>
            <a:cxnLst>
              <a:cxn ang="0">
                <a:pos x="connsiteX0" y="connsiteY0"/>
              </a:cxn>
              <a:cxn ang="0">
                <a:pos x="connsiteX1" y="connsiteY1"/>
              </a:cxn>
              <a:cxn ang="0">
                <a:pos x="connsiteX2" y="connsiteY2"/>
              </a:cxn>
            </a:cxnLst>
            <a:rect l="l" t="t" r="r" b="b"/>
            <a:pathLst>
              <a:path w="641350" h="1377950">
                <a:moveTo>
                  <a:pt x="0" y="1377950"/>
                </a:moveTo>
                <a:cubicBezTo>
                  <a:pt x="10054" y="1114954"/>
                  <a:pt x="20108" y="851958"/>
                  <a:pt x="127000" y="622300"/>
                </a:cubicBezTo>
                <a:cubicBezTo>
                  <a:pt x="233892" y="392642"/>
                  <a:pt x="437621" y="196321"/>
                  <a:pt x="641350" y="0"/>
                </a:cubicBezTo>
              </a:path>
            </a:pathLst>
          </a:cu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203857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B2C8-E63C-41C2-9ED9-45558F98D87C}"/>
              </a:ext>
            </a:extLst>
          </p:cNvPr>
          <p:cNvSpPr>
            <a:spLocks noGrp="1"/>
          </p:cNvSpPr>
          <p:nvPr>
            <p:ph type="title"/>
          </p:nvPr>
        </p:nvSpPr>
        <p:spPr/>
        <p:txBody>
          <a:bodyPr/>
          <a:lstStyle/>
          <a:p>
            <a:r>
              <a:rPr lang="en-US" dirty="0"/>
              <a:t>Standard Deviation of Binomial Distribution</a:t>
            </a:r>
            <a:br>
              <a:rPr lang="en-US" dirty="0"/>
            </a:br>
            <a:r>
              <a:rPr lang="en-US" sz="1400" dirty="0"/>
              <a:t>For values of p=(0,1) </a:t>
            </a:r>
            <a:endParaRPr lang="en-US" dirty="0"/>
          </a:p>
        </p:txBody>
      </p:sp>
      <p:sp>
        <p:nvSpPr>
          <p:cNvPr id="3" name="Slide Number Placeholder 2">
            <a:extLst>
              <a:ext uri="{FF2B5EF4-FFF2-40B4-BE49-F238E27FC236}">
                <a16:creationId xmlns:a16="http://schemas.microsoft.com/office/drawing/2014/main" id="{253E86C0-13B2-46F4-AE3C-0623710DA347}"/>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77</a:t>
            </a:fld>
            <a:endParaRPr lang="en-GB" dirty="0"/>
          </a:p>
        </p:txBody>
      </p:sp>
      <p:pic>
        <p:nvPicPr>
          <p:cNvPr id="5" name="Picture 4">
            <a:extLst>
              <a:ext uri="{FF2B5EF4-FFF2-40B4-BE49-F238E27FC236}">
                <a16:creationId xmlns:a16="http://schemas.microsoft.com/office/drawing/2014/main" id="{EB88D4CF-030C-4A1E-8603-AA3B94C8C218}"/>
              </a:ext>
            </a:extLst>
          </p:cNvPr>
          <p:cNvPicPr>
            <a:picLocks noChangeAspect="1"/>
          </p:cNvPicPr>
          <p:nvPr/>
        </p:nvPicPr>
        <p:blipFill>
          <a:blip r:embed="rId2"/>
          <a:stretch>
            <a:fillRect/>
          </a:stretch>
        </p:blipFill>
        <p:spPr>
          <a:xfrm>
            <a:off x="2058543" y="2213483"/>
            <a:ext cx="5026914" cy="366293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B315FD9-BAF9-4B2E-8CC8-679546D90BE5}"/>
                  </a:ext>
                </a:extLst>
              </p:cNvPr>
              <p:cNvSpPr txBox="1"/>
              <p:nvPr/>
            </p:nvSpPr>
            <p:spPr>
              <a:xfrm>
                <a:off x="6632588" y="2108529"/>
                <a:ext cx="2511412" cy="1430456"/>
              </a:xfrm>
              <a:prstGeom prst="rect">
                <a:avLst/>
              </a:prstGeom>
              <a:solidFill>
                <a:schemeClr val="bg1"/>
              </a:solidFill>
            </p:spPr>
            <p:txBody>
              <a:bodyPr wrap="square" rtlCol="0">
                <a:spAutoFit/>
              </a:bodyPr>
              <a:lstStyle/>
              <a:p>
                <a:r>
                  <a:rPr lang="en-US" sz="1400" b="0" u="none" dirty="0">
                    <a:solidFill>
                      <a:srgbClr val="FF0000"/>
                    </a:solidFill>
                    <a:latin typeface="Arial" pitchFamily="34" charset="0"/>
                    <a:cs typeface="Arial" pitchFamily="34" charset="0"/>
                  </a:rPr>
                  <a:t>Recall that the maximum value for the standard deviation (</a:t>
                </a:r>
                <a14:m>
                  <m:oMath xmlns:m="http://schemas.openxmlformats.org/officeDocument/2006/math">
                    <m:r>
                      <a:rPr lang="en-US" sz="1400" b="0" i="1" u="none">
                        <a:solidFill>
                          <a:srgbClr val="FF0000"/>
                        </a:solidFill>
                        <a:latin typeface="Cambria Math" panose="02040503050406030204" pitchFamily="18" charset="0"/>
                      </a:rPr>
                      <m:t>𝜎</m:t>
                    </m:r>
                  </m:oMath>
                </a14:m>
                <a:r>
                  <a:rPr lang="en-US" sz="1400" b="0" u="none" dirty="0">
                    <a:solidFill>
                      <a:srgbClr val="FF0000"/>
                    </a:solidFill>
                    <a:latin typeface="Arial" pitchFamily="34" charset="0"/>
                    <a:cs typeface="Arial" pitchFamily="34" charset="0"/>
                  </a:rPr>
                  <a:t>) of the binomial distribution (</a:t>
                </a:r>
                <a14:m>
                  <m:oMath xmlns:m="http://schemas.openxmlformats.org/officeDocument/2006/math">
                    <m:rad>
                      <m:radPr>
                        <m:degHide m:val="on"/>
                        <m:ctrlPr>
                          <a:rPr lang="en-US" sz="1400" b="0" i="1" u="none">
                            <a:latin typeface="Cambria Math" panose="02040503050406030204" pitchFamily="18" charset="0"/>
                          </a:rPr>
                        </m:ctrlPr>
                      </m:radPr>
                      <m:deg/>
                      <m:e>
                        <m:r>
                          <a:rPr lang="en-US" sz="1400" b="0" i="1" u="none">
                            <a:latin typeface="Cambria Math" panose="02040503050406030204" pitchFamily="18" charset="0"/>
                          </a:rPr>
                          <m:t>𝑝</m:t>
                        </m:r>
                        <m:r>
                          <a:rPr lang="en-US" sz="1400" b="0" i="1" u="none">
                            <a:latin typeface="Cambria Math" panose="02040503050406030204" pitchFamily="18" charset="0"/>
                          </a:rPr>
                          <m:t>(1−</m:t>
                        </m:r>
                        <m:r>
                          <a:rPr lang="en-US" sz="1400" b="0" i="1" u="none">
                            <a:latin typeface="Cambria Math" panose="02040503050406030204" pitchFamily="18" charset="0"/>
                          </a:rPr>
                          <m:t>𝑝</m:t>
                        </m:r>
                        <m:r>
                          <a:rPr lang="en-US" sz="1400" b="0" i="1" u="none">
                            <a:latin typeface="Cambria Math" panose="02040503050406030204" pitchFamily="18" charset="0"/>
                          </a:rPr>
                          <m:t>)</m:t>
                        </m:r>
                      </m:e>
                    </m:rad>
                  </m:oMath>
                </a14:m>
                <a:r>
                  <a:rPr lang="en-US" sz="1400" b="0" u="none" dirty="0">
                    <a:solidFill>
                      <a:srgbClr val="FF0000"/>
                    </a:solidFill>
                    <a:latin typeface="Arial" pitchFamily="34" charset="0"/>
                    <a:cs typeface="Arial" pitchFamily="34" charset="0"/>
                  </a:rPr>
                  <a:t>) occurs when p=.5</a:t>
                </a:r>
              </a:p>
              <a:p>
                <a:endParaRPr lang="en-US" sz="1400" b="0" u="none" dirty="0">
                  <a:solidFill>
                    <a:srgbClr val="FF0000"/>
                  </a:solidFill>
                  <a:latin typeface="Arial" pitchFamily="34" charset="0"/>
                  <a:cs typeface="Arial" pitchFamily="34" charset="0"/>
                </a:endParaRPr>
              </a:p>
            </p:txBody>
          </p:sp>
        </mc:Choice>
        <mc:Fallback xmlns="">
          <p:sp>
            <p:nvSpPr>
              <p:cNvPr id="6" name="TextBox 5">
                <a:extLst>
                  <a:ext uri="{FF2B5EF4-FFF2-40B4-BE49-F238E27FC236}">
                    <a16:creationId xmlns:a16="http://schemas.microsoft.com/office/drawing/2014/main" id="{2B315FD9-BAF9-4B2E-8CC8-679546D90BE5}"/>
                  </a:ext>
                </a:extLst>
              </p:cNvPr>
              <p:cNvSpPr txBox="1">
                <a:spLocks noRot="1" noChangeAspect="1" noMove="1" noResize="1" noEditPoints="1" noAdjustHandles="1" noChangeArrowheads="1" noChangeShapeType="1" noTextEdit="1"/>
              </p:cNvSpPr>
              <p:nvPr/>
            </p:nvSpPr>
            <p:spPr>
              <a:xfrm>
                <a:off x="6632588" y="2108529"/>
                <a:ext cx="2511412" cy="1430456"/>
              </a:xfrm>
              <a:prstGeom prst="rect">
                <a:avLst/>
              </a:prstGeom>
              <a:blipFill>
                <a:blip r:embed="rId3"/>
                <a:stretch>
                  <a:fillRect l="-728" t="-851"/>
                </a:stretch>
              </a:blipFill>
            </p:spPr>
            <p:txBody>
              <a:bodyPr/>
              <a:lstStyle/>
              <a:p>
                <a:r>
                  <a:rPr lang="en-US">
                    <a:noFill/>
                  </a:rPr>
                  <a:t> </a:t>
                </a:r>
              </a:p>
            </p:txBody>
          </p:sp>
        </mc:Fallback>
      </mc:AlternateContent>
    </p:spTree>
    <p:extLst>
      <p:ext uri="{BB962C8B-B14F-4D97-AF65-F5344CB8AC3E}">
        <p14:creationId xmlns:p14="http://schemas.microsoft.com/office/powerpoint/2010/main" val="21792504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7FEE3-2591-419C-B2F9-DA7BAA1CD687}"/>
              </a:ext>
            </a:extLst>
          </p:cNvPr>
          <p:cNvSpPr>
            <a:spLocks noGrp="1"/>
          </p:cNvSpPr>
          <p:nvPr>
            <p:ph type="title"/>
          </p:nvPr>
        </p:nvSpPr>
        <p:spPr/>
        <p:txBody>
          <a:bodyPr/>
          <a:lstStyle/>
          <a:p>
            <a:r>
              <a:rPr lang="en-US" dirty="0"/>
              <a:t>Zogby’s Definition of “Margin of Error”</a:t>
            </a:r>
          </a:p>
        </p:txBody>
      </p:sp>
      <p:sp>
        <p:nvSpPr>
          <p:cNvPr id="4" name="Slide Number Placeholder 3">
            <a:extLst>
              <a:ext uri="{FF2B5EF4-FFF2-40B4-BE49-F238E27FC236}">
                <a16:creationId xmlns:a16="http://schemas.microsoft.com/office/drawing/2014/main" id="{A94BB5B7-4AE2-4A8B-B63A-DF3D36498DFC}"/>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78</a:t>
            </a:fld>
            <a:endParaRPr lang="en-GB" dirty="0"/>
          </a:p>
        </p:txBody>
      </p:sp>
      <p:grpSp>
        <p:nvGrpSpPr>
          <p:cNvPr id="5" name="Group 4">
            <a:extLst>
              <a:ext uri="{FF2B5EF4-FFF2-40B4-BE49-F238E27FC236}">
                <a16:creationId xmlns:a16="http://schemas.microsoft.com/office/drawing/2014/main" id="{ADCB29C1-47DE-4BAA-9270-6ADA63A5D6D9}"/>
              </a:ext>
            </a:extLst>
          </p:cNvPr>
          <p:cNvGrpSpPr>
            <a:grpSpLocks noChangeAspect="1"/>
          </p:cNvGrpSpPr>
          <p:nvPr/>
        </p:nvGrpSpPr>
        <p:grpSpPr>
          <a:xfrm>
            <a:off x="-119449" y="1232340"/>
            <a:ext cx="8359173" cy="5726726"/>
            <a:chOff x="2080213" y="917213"/>
            <a:chExt cx="8031573" cy="5502293"/>
          </a:xfrm>
        </p:grpSpPr>
        <p:pic>
          <p:nvPicPr>
            <p:cNvPr id="6" name="Picture 5">
              <a:extLst>
                <a:ext uri="{FF2B5EF4-FFF2-40B4-BE49-F238E27FC236}">
                  <a16:creationId xmlns:a16="http://schemas.microsoft.com/office/drawing/2014/main" id="{FE1393B4-DFEA-4A57-8CE5-BE26B6AF3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0213" y="917213"/>
              <a:ext cx="8031573" cy="5502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a:extLst>
                <a:ext uri="{FF2B5EF4-FFF2-40B4-BE49-F238E27FC236}">
                  <a16:creationId xmlns:a16="http://schemas.microsoft.com/office/drawing/2014/main" id="{D1516A31-CAEF-47F1-B46B-10109C223C93}"/>
                </a:ext>
              </a:extLst>
            </p:cNvPr>
            <p:cNvSpPr/>
            <p:nvPr/>
          </p:nvSpPr>
          <p:spPr>
            <a:xfrm>
              <a:off x="2222205" y="2190307"/>
              <a:ext cx="1616148" cy="20520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latin typeface="Arial" panose="020B0604020202020204" pitchFamily="34" charset="0"/>
              </a:endParaRPr>
            </a:p>
          </p:txBody>
        </p:sp>
      </p:grpSp>
    </p:spTree>
    <p:extLst>
      <p:ext uri="{BB962C8B-B14F-4D97-AF65-F5344CB8AC3E}">
        <p14:creationId xmlns:p14="http://schemas.microsoft.com/office/powerpoint/2010/main" val="17038496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7BAF-F03A-4402-AF14-8ACDBF1E1E75}"/>
              </a:ext>
            </a:extLst>
          </p:cNvPr>
          <p:cNvSpPr>
            <a:spLocks noGrp="1"/>
          </p:cNvSpPr>
          <p:nvPr>
            <p:ph type="title"/>
          </p:nvPr>
        </p:nvSpPr>
        <p:spPr/>
        <p:txBody>
          <a:bodyPr/>
          <a:lstStyle/>
          <a:p>
            <a:r>
              <a:rPr lang="en-US" dirty="0"/>
              <a:t>Computing the 95% CI of the Fox Poll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C3BE49-220E-4F77-8455-85133D2574A3}"/>
                  </a:ext>
                </a:extLst>
              </p:cNvPr>
              <p:cNvSpPr>
                <a:spLocks noGrp="1"/>
              </p:cNvSpPr>
              <p:nvPr>
                <p:ph idx="1"/>
              </p:nvPr>
            </p:nvSpPr>
            <p:spPr/>
            <p:txBody>
              <a:bodyPr/>
              <a:lstStyle/>
              <a:p>
                <a:endParaRPr lang="en-US" i="1" dirty="0">
                  <a:latin typeface="Cambria Math" panose="02040503050406030204" pitchFamily="18" charset="0"/>
                </a:endParaRPr>
              </a:p>
              <a:p>
                <a:r>
                  <a:rPr lang="en-US" dirty="0"/>
                  <a:t>95% confidence interval (</a:t>
                </a:r>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oMath>
                </a14:m>
                <a:r>
                  <a:rPr lang="en-US" dirty="0"/>
                  <a:t>)</a:t>
                </a:r>
              </a:p>
              <a:p>
                <a:pPr marL="0" indent="0" algn="ctr">
                  <a:buNone/>
                </a:pPr>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r>
                      <a:rPr lang="en-US" b="0" i="1" smtClean="0">
                        <a:solidFill>
                          <a:schemeClr val="accent6"/>
                        </a:solidFill>
                        <a:latin typeface="Cambria Math" panose="02040503050406030204" pitchFamily="18" charset="0"/>
                      </a:rPr>
                      <m:t>=</m:t>
                    </m:r>
                    <m:acc>
                      <m:accPr>
                        <m:chr m:val="̅"/>
                        <m:ctrlPr>
                          <a:rPr lang="en-US" i="1" smtClean="0">
                            <a:solidFill>
                              <a:schemeClr val="accent6"/>
                            </a:solidFill>
                            <a:latin typeface="Cambria Math" panose="02040503050406030204" pitchFamily="18" charset="0"/>
                          </a:rPr>
                        </m:ctrlPr>
                      </m:accPr>
                      <m:e>
                        <m:r>
                          <a:rPr lang="en-US" i="1">
                            <a:solidFill>
                              <a:schemeClr val="accent6"/>
                            </a:solidFill>
                            <a:latin typeface="Cambria Math" panose="02040503050406030204" pitchFamily="18" charset="0"/>
                          </a:rPr>
                          <m:t>𝑥</m:t>
                        </m:r>
                      </m:e>
                    </m:acc>
                    <m:r>
                      <a:rPr lang="en-US" i="1" dirty="0">
                        <a:solidFill>
                          <a:schemeClr val="accent6"/>
                        </a:solidFill>
                        <a:latin typeface="Cambria Math" panose="02040503050406030204" pitchFamily="18" charset="0"/>
                        <a:ea typeface="Cambria Math" panose="02040503050406030204" pitchFamily="18" charset="0"/>
                      </a:rPr>
                      <m:t>±</m:t>
                    </m:r>
                    <m:r>
                      <a:rPr lang="en-US" i="1" dirty="0">
                        <a:solidFill>
                          <a:schemeClr val="accent6"/>
                        </a:solidFill>
                        <a:latin typeface="Cambria Math" panose="02040503050406030204" pitchFamily="18" charset="0"/>
                        <a:ea typeface="Cambria Math" panose="02040503050406030204" pitchFamily="18" charset="0"/>
                      </a:rPr>
                      <m:t>1</m:t>
                    </m:r>
                    <m:r>
                      <a:rPr lang="en-US" i="1" dirty="0">
                        <a:solidFill>
                          <a:schemeClr val="accent6"/>
                        </a:solidFill>
                        <a:latin typeface="Cambria Math" panose="02040503050406030204" pitchFamily="18" charset="0"/>
                        <a:ea typeface="Cambria Math" panose="02040503050406030204" pitchFamily="18" charset="0"/>
                      </a:rPr>
                      <m:t>.</m:t>
                    </m:r>
                    <m:r>
                      <a:rPr lang="en-US" i="1" dirty="0">
                        <a:solidFill>
                          <a:schemeClr val="accent6"/>
                        </a:solidFill>
                        <a:latin typeface="Cambria Math" panose="02040503050406030204" pitchFamily="18" charset="0"/>
                        <a:ea typeface="Cambria Math" panose="02040503050406030204" pitchFamily="18" charset="0"/>
                      </a:rPr>
                      <m:t>96</m:t>
                    </m:r>
                    <m:r>
                      <a:rPr lang="en-US" i="1" dirty="0">
                        <a:solidFill>
                          <a:schemeClr val="accent6"/>
                        </a:solidFill>
                        <a:latin typeface="Cambria Math" panose="02040503050406030204" pitchFamily="18" charset="0"/>
                        <a:ea typeface="Cambria Math" panose="02040503050406030204" pitchFamily="18" charset="0"/>
                      </a:rPr>
                      <m:t> </m:t>
                    </m:r>
                    <m:r>
                      <a:rPr lang="en-US" i="1" dirty="0" smtClean="0">
                        <a:solidFill>
                          <a:srgbClr val="EB971B"/>
                        </a:solidFill>
                        <a:latin typeface="Cambria Math" panose="02040503050406030204" pitchFamily="18" charset="0"/>
                        <a:ea typeface="Cambria Math" panose="02040503050406030204" pitchFamily="18" charset="0"/>
                      </a:rPr>
                      <m:t>𝑆𝑡𝑑</m:t>
                    </m:r>
                    <m:r>
                      <a:rPr lang="en-US" i="1" dirty="0" smtClean="0">
                        <a:solidFill>
                          <a:srgbClr val="EB971B"/>
                        </a:solidFill>
                        <a:latin typeface="Cambria Math" panose="02040503050406030204" pitchFamily="18" charset="0"/>
                        <a:ea typeface="Cambria Math" panose="02040503050406030204" pitchFamily="18" charset="0"/>
                      </a:rPr>
                      <m:t> </m:t>
                    </m:r>
                    <m:r>
                      <a:rPr lang="en-US" i="1" dirty="0" smtClean="0">
                        <a:solidFill>
                          <a:srgbClr val="EB971B"/>
                        </a:solidFill>
                        <a:latin typeface="Cambria Math" panose="02040503050406030204" pitchFamily="18" charset="0"/>
                        <a:ea typeface="Cambria Math" panose="02040503050406030204" pitchFamily="18" charset="0"/>
                      </a:rPr>
                      <m:t>𝐸𝑟𝑟</m:t>
                    </m:r>
                    <m:r>
                      <a:rPr lang="en-US" i="1" dirty="0">
                        <a:solidFill>
                          <a:schemeClr val="tx1"/>
                        </a:solidFill>
                        <a:latin typeface="Cambria Math" panose="02040503050406030204" pitchFamily="18" charset="0"/>
                        <a:ea typeface="Cambria Math" panose="02040503050406030204" pitchFamily="18" charset="0"/>
                      </a:rPr>
                      <m:t>(</m:t>
                    </m:r>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i="1" dirty="0">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a:t>
                </a:r>
                <a:endParaRPr lang="en-US" dirty="0">
                  <a:solidFill>
                    <a:srgbClr val="000000"/>
                  </a:solidFill>
                  <a:latin typeface="Cambria Math" panose="02040503050406030204" pitchFamily="18" charset="0"/>
                  <a:cs typeface="Helvetica"/>
                </a:endParaRPr>
              </a:p>
              <a:p>
                <a:pPr marL="0" indent="0" algn="ctr">
                  <a:buNone/>
                </a:pPr>
                <a14:m>
                  <m:oMath xmlns:m="http://schemas.openxmlformats.org/officeDocument/2006/math">
                    <m:r>
                      <a:rPr lang="en-US" dirty="0" smtClean="0">
                        <a:solidFill>
                          <a:schemeClr val="accent6"/>
                        </a:solidFill>
                        <a:latin typeface="Cambria Math" panose="02040503050406030204" pitchFamily="18" charset="0"/>
                        <a:cs typeface="Helvetica"/>
                      </a:rPr>
                      <m:t>.</m:t>
                    </m:r>
                    <m:r>
                      <a:rPr lang="en-US" dirty="0" smtClean="0">
                        <a:solidFill>
                          <a:schemeClr val="accent6"/>
                        </a:solidFill>
                        <a:latin typeface="Cambria Math" panose="02040503050406030204" pitchFamily="18" charset="0"/>
                        <a:cs typeface="Helvetica"/>
                      </a:rPr>
                      <m:t>51</m:t>
                    </m:r>
                    <m:r>
                      <a:rPr lang="en-US" i="1" dirty="0">
                        <a:solidFill>
                          <a:schemeClr val="accent6"/>
                        </a:solidFill>
                        <a:latin typeface="Cambria Math" panose="02040503050406030204" pitchFamily="18" charset="0"/>
                        <a:cs typeface="Helvetica"/>
                      </a:rPr>
                      <m:t>± </m:t>
                    </m:r>
                    <m:r>
                      <a:rPr lang="en-US" i="1" dirty="0">
                        <a:solidFill>
                          <a:schemeClr val="accent6"/>
                        </a:solidFill>
                        <a:latin typeface="Cambria Math" panose="02040503050406030204" pitchFamily="18" charset="0"/>
                        <a:cs typeface="Helvetica"/>
                      </a:rPr>
                      <m:t>1</m:t>
                    </m:r>
                    <m:r>
                      <a:rPr lang="en-US" i="1" dirty="0">
                        <a:solidFill>
                          <a:schemeClr val="accent6"/>
                        </a:solidFill>
                        <a:latin typeface="Cambria Math" panose="02040503050406030204" pitchFamily="18" charset="0"/>
                        <a:cs typeface="Helvetica"/>
                      </a:rPr>
                      <m:t>.</m:t>
                    </m:r>
                    <m:r>
                      <a:rPr lang="en-US" i="1" dirty="0">
                        <a:solidFill>
                          <a:schemeClr val="accent6"/>
                        </a:solidFill>
                        <a:latin typeface="Cambria Math" panose="02040503050406030204" pitchFamily="18" charset="0"/>
                        <a:cs typeface="Helvetica"/>
                      </a:rPr>
                      <m:t>96</m:t>
                    </m:r>
                    <m:r>
                      <a:rPr lang="en-US" i="1" dirty="0">
                        <a:solidFill>
                          <a:schemeClr val="accent6"/>
                        </a:solidFill>
                        <a:latin typeface="Cambria Math" panose="02040503050406030204" pitchFamily="18" charset="0"/>
                        <a:cs typeface="Helvetica"/>
                      </a:rPr>
                      <m:t>(.</m:t>
                    </m:r>
                    <m:r>
                      <a:rPr lang="en-US" i="1" dirty="0">
                        <a:solidFill>
                          <a:schemeClr val="accent6"/>
                        </a:solidFill>
                        <a:latin typeface="Cambria Math" panose="02040503050406030204" pitchFamily="18" charset="0"/>
                        <a:cs typeface="Helvetica"/>
                      </a:rPr>
                      <m:t>015</m:t>
                    </m:r>
                    <m:r>
                      <a:rPr lang="en-US" i="1" dirty="0">
                        <a:solidFill>
                          <a:schemeClr val="accent6"/>
                        </a:solidFill>
                        <a:latin typeface="Cambria Math" panose="02040503050406030204" pitchFamily="18" charset="0"/>
                        <a:cs typeface="Helvetica"/>
                      </a:rPr>
                      <m:t>)</m:t>
                    </m:r>
                  </m:oMath>
                </a14:m>
                <a:r>
                  <a:rPr lang="en-US" dirty="0">
                    <a:solidFill>
                      <a:schemeClr val="accent6"/>
                    </a:solidFill>
                  </a:rPr>
                  <a:t> </a:t>
                </a:r>
              </a:p>
              <a:p>
                <a:pPr marL="0" indent="0" algn="ctr">
                  <a:buNone/>
                </a:pPr>
                <a14:m>
                  <m:oMathPara xmlns:m="http://schemas.openxmlformats.org/officeDocument/2006/math">
                    <m:oMathParaPr>
                      <m:jc m:val="centerGroup"/>
                    </m:oMathParaPr>
                    <m:oMath xmlns:m="http://schemas.openxmlformats.org/officeDocument/2006/math">
                      <m:r>
                        <a:rPr lang="en-US" dirty="0">
                          <a:solidFill>
                            <a:schemeClr val="accent6"/>
                          </a:solidFill>
                          <a:latin typeface="Cambria Math" panose="02040503050406030204" pitchFamily="18" charset="0"/>
                          <a:cs typeface="Helvetica"/>
                        </a:rPr>
                        <m:t>.</m:t>
                      </m:r>
                      <m:r>
                        <a:rPr lang="en-US" dirty="0">
                          <a:solidFill>
                            <a:schemeClr val="accent6"/>
                          </a:solidFill>
                          <a:latin typeface="Cambria Math" panose="02040503050406030204" pitchFamily="18" charset="0"/>
                          <a:cs typeface="Helvetica"/>
                        </a:rPr>
                        <m:t>51</m:t>
                      </m:r>
                      <m:r>
                        <a:rPr lang="en-US" i="1" dirty="0">
                          <a:solidFill>
                            <a:schemeClr val="accent6"/>
                          </a:solidFill>
                          <a:latin typeface="Cambria Math" panose="02040503050406030204" pitchFamily="18" charset="0"/>
                          <a:cs typeface="Helvetica"/>
                        </a:rPr>
                        <m:t>± .</m:t>
                      </m:r>
                      <m:r>
                        <a:rPr lang="en-US" i="1" dirty="0">
                          <a:solidFill>
                            <a:schemeClr val="accent6"/>
                          </a:solidFill>
                          <a:latin typeface="Cambria Math" panose="02040503050406030204" pitchFamily="18" charset="0"/>
                          <a:cs typeface="Helvetica"/>
                        </a:rPr>
                        <m:t>029</m:t>
                      </m:r>
                    </m:oMath>
                  </m:oMathPara>
                </a14:m>
                <a:endParaRPr lang="en-US" dirty="0">
                  <a:solidFill>
                    <a:schemeClr val="accent6"/>
                  </a:solidFill>
                </a:endParaRPr>
              </a:p>
              <a:p>
                <a:pPr marL="0" indent="0" algn="ctr">
                  <a:buNone/>
                </a:pPr>
                <a:r>
                  <a:rPr lang="en-US" dirty="0"/>
                  <a:t>[.481, .539]</a:t>
                </a:r>
              </a:p>
              <a:p>
                <a:endParaRPr lang="en-US" dirty="0"/>
              </a:p>
              <a:p>
                <a:r>
                  <a:rPr lang="en-US" dirty="0">
                    <a:solidFill>
                      <a:schemeClr val="accent6"/>
                    </a:solidFill>
                  </a:rPr>
                  <a:t>What do we conclude about candidate A’s chances of victory?</a:t>
                </a:r>
              </a:p>
              <a:p>
                <a:pPr lvl="1"/>
                <a:r>
                  <a:rPr lang="en-US" dirty="0">
                    <a:solidFill>
                      <a:schemeClr val="accent6"/>
                    </a:solidFill>
                  </a:rPr>
                  <a:t>The </a:t>
                </a:r>
                <a14:m>
                  <m:oMath xmlns:m="http://schemas.openxmlformats.org/officeDocument/2006/math">
                    <m:r>
                      <a:rPr lang="en-US" b="0" i="1" smtClean="0">
                        <a:solidFill>
                          <a:schemeClr val="accent6"/>
                        </a:solidFill>
                        <a:latin typeface="Cambria Math" panose="02040503050406030204" pitchFamily="18" charset="0"/>
                      </a:rPr>
                      <m:t>𝐶</m:t>
                    </m:r>
                    <m:sSup>
                      <m:sSupPr>
                        <m:ctrlPr>
                          <a:rPr lang="en-US" b="0"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𝐼</m:t>
                        </m:r>
                      </m:e>
                      <m:sup>
                        <m:r>
                          <a:rPr lang="en-US" b="0" i="1" smtClean="0">
                            <a:solidFill>
                              <a:schemeClr val="accent6"/>
                            </a:solidFill>
                            <a:latin typeface="Cambria Math" panose="02040503050406030204" pitchFamily="18" charset="0"/>
                          </a:rPr>
                          <m:t>95</m:t>
                        </m:r>
                      </m:sup>
                    </m:sSup>
                  </m:oMath>
                </a14:m>
                <a:r>
                  <a:rPr lang="en-US" dirty="0">
                    <a:solidFill>
                      <a:schemeClr val="accent6"/>
                    </a:solidFill>
                  </a:rPr>
                  <a:t> includes values </a:t>
                </a:r>
                <a14:m>
                  <m:oMath xmlns:m="http://schemas.openxmlformats.org/officeDocument/2006/math">
                    <m:r>
                      <a:rPr lang="en-US" i="1" dirty="0" smtClean="0">
                        <a:solidFill>
                          <a:schemeClr val="accent6"/>
                        </a:solidFill>
                        <a:latin typeface="Cambria Math" panose="02040503050406030204" pitchFamily="18" charset="0"/>
                        <a:ea typeface="Cambria Math" panose="02040503050406030204" pitchFamily="18" charset="0"/>
                      </a:rPr>
                      <m:t>≤</m:t>
                    </m:r>
                    <m:r>
                      <a:rPr lang="en-US" i="1" dirty="0" smtClean="0">
                        <a:solidFill>
                          <a:schemeClr val="accent6"/>
                        </a:solidFill>
                        <a:latin typeface="Cambria Math" panose="02040503050406030204" pitchFamily="18" charset="0"/>
                      </a:rPr>
                      <m:t>.</m:t>
                    </m:r>
                    <m:r>
                      <a:rPr lang="en-US" i="1" dirty="0">
                        <a:solidFill>
                          <a:schemeClr val="accent6"/>
                        </a:solidFill>
                        <a:latin typeface="Cambria Math" panose="02040503050406030204" pitchFamily="18" charset="0"/>
                      </a:rPr>
                      <m:t>50</m:t>
                    </m:r>
                  </m:oMath>
                </a14:m>
                <a:r>
                  <a:rPr lang="en-US" dirty="0">
                    <a:solidFill>
                      <a:schemeClr val="accent6"/>
                    </a:solidFill>
                  </a:rPr>
                  <a:t>. So we are NOT 95 percent confident that our candidate will win</a:t>
                </a:r>
              </a:p>
              <a:p>
                <a:endParaRPr lang="en-US" dirty="0"/>
              </a:p>
              <a:p>
                <a:r>
                  <a:rPr lang="en-US" dirty="0"/>
                  <a:t>Suppose same </a:t>
                </a:r>
                <a14:m>
                  <m:oMath xmlns:m="http://schemas.openxmlformats.org/officeDocument/2006/math">
                    <m:acc>
                      <m:accPr>
                        <m:chr m:val="̅"/>
                        <m:ctrlPr>
                          <a:rPr lang="en-US" i="1" smtClean="0">
                            <a:solidFill>
                              <a:srgbClr val="00B0F0"/>
                            </a:solidFill>
                            <a:latin typeface="Cambria Math" panose="02040503050406030204" pitchFamily="18" charset="0"/>
                          </a:rPr>
                        </m:ctrlPr>
                      </m:accPr>
                      <m:e>
                        <m:r>
                          <a:rPr lang="en-US" i="1">
                            <a:solidFill>
                              <a:srgbClr val="00B0F0"/>
                            </a:solidFill>
                            <a:latin typeface="Cambria Math" panose="02040503050406030204" pitchFamily="18" charset="0"/>
                          </a:rPr>
                          <m:t>𝑥</m:t>
                        </m:r>
                      </m:e>
                    </m:acc>
                    <m:r>
                      <a:rPr lang="en-US" b="0" i="1" smtClean="0">
                        <a:solidFill>
                          <a:srgbClr val="00B0F0"/>
                        </a:solidFill>
                        <a:latin typeface="Cambria Math" panose="02040503050406030204" pitchFamily="18" charset="0"/>
                      </a:rPr>
                      <m:t>=</m:t>
                    </m:r>
                    <m:r>
                      <a:rPr lang="en-US" b="0" i="1" smtClean="0">
                        <a:solidFill>
                          <a:srgbClr val="00B0F0"/>
                        </a:solidFill>
                        <a:latin typeface="Cambria Math" panose="02040503050406030204" pitchFamily="18" charset="0"/>
                      </a:rPr>
                      <m:t>51</m:t>
                    </m:r>
                  </m:oMath>
                </a14:m>
                <a:r>
                  <a:rPr lang="en-US" dirty="0"/>
                  <a:t> result, but sample size 10x larger?</a:t>
                </a:r>
              </a:p>
              <a:p>
                <a:pPr lvl="1"/>
                <a14:m>
                  <m:oMath xmlns:m="http://schemas.openxmlformats.org/officeDocument/2006/math">
                    <m:r>
                      <a:rPr lang="en-US" i="1">
                        <a:solidFill>
                          <a:schemeClr val="accent6"/>
                        </a:solidFill>
                        <a:latin typeface="Cambria Math" panose="02040503050406030204" pitchFamily="18" charset="0"/>
                      </a:rPr>
                      <m:t>𝐶</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𝐼</m:t>
                        </m:r>
                      </m:e>
                      <m:sup>
                        <m:r>
                          <a:rPr lang="en-US" i="1">
                            <a:solidFill>
                              <a:schemeClr val="accent6"/>
                            </a:solidFill>
                            <a:latin typeface="Cambria Math" panose="02040503050406030204" pitchFamily="18" charset="0"/>
                          </a:rPr>
                          <m:t>95</m:t>
                        </m:r>
                      </m:sup>
                    </m:sSup>
                    <m:r>
                      <a:rPr lang="en-US" i="1">
                        <a:solidFill>
                          <a:schemeClr val="accent6"/>
                        </a:solidFill>
                        <a:latin typeface="Cambria Math" panose="02040503050406030204" pitchFamily="18" charset="0"/>
                      </a:rPr>
                      <m:t> </m:t>
                    </m:r>
                  </m:oMath>
                </a14:m>
                <a:r>
                  <a:rPr lang="en-US" dirty="0"/>
                  <a:t>is then </a:t>
                </a:r>
                <a14:m>
                  <m:oMath xmlns:m="http://schemas.openxmlformats.org/officeDocument/2006/math">
                    <m:r>
                      <a:rPr lang="en-US" i="1" dirty="0" smtClean="0">
                        <a:solidFill>
                          <a:schemeClr val="accent6"/>
                        </a:solidFill>
                        <a:latin typeface="Cambria Math" panose="02040503050406030204" pitchFamily="18" charset="0"/>
                        <a:cs typeface="Helvetica"/>
                      </a:rPr>
                      <m:t>.</m:t>
                    </m:r>
                    <m:r>
                      <a:rPr lang="en-US" i="1" dirty="0" smtClean="0">
                        <a:solidFill>
                          <a:schemeClr val="accent6"/>
                        </a:solidFill>
                        <a:latin typeface="Cambria Math" panose="02040503050406030204" pitchFamily="18" charset="0"/>
                        <a:cs typeface="Helvetica"/>
                      </a:rPr>
                      <m:t>51</m:t>
                    </m:r>
                    <m:r>
                      <a:rPr lang="en-US" i="1" dirty="0" smtClean="0">
                        <a:solidFill>
                          <a:schemeClr val="accent6"/>
                        </a:solidFill>
                        <a:latin typeface="Cambria Math" panose="02040503050406030204" pitchFamily="18" charset="0"/>
                        <a:cs typeface="Helvetica"/>
                      </a:rPr>
                      <m:t>± .</m:t>
                    </m:r>
                    <m:r>
                      <a:rPr lang="en-US" b="0" i="1" dirty="0" smtClean="0">
                        <a:solidFill>
                          <a:schemeClr val="accent6"/>
                        </a:solidFill>
                        <a:latin typeface="Cambria Math" panose="02040503050406030204" pitchFamily="18" charset="0"/>
                        <a:cs typeface="Helvetica"/>
                      </a:rPr>
                      <m:t>004</m:t>
                    </m:r>
                    <m:r>
                      <a:rPr lang="en-US" i="1" dirty="0" smtClean="0">
                        <a:solidFill>
                          <a:schemeClr val="accent6"/>
                        </a:solidFill>
                        <a:latin typeface="Cambria Math" panose="02040503050406030204" pitchFamily="18" charset="0"/>
                      </a:rPr>
                      <m:t>=[.</m:t>
                    </m:r>
                    <m:r>
                      <a:rPr lang="en-US" i="1" dirty="0" smtClean="0">
                        <a:solidFill>
                          <a:schemeClr val="accent6"/>
                        </a:solidFill>
                        <a:latin typeface="Cambria Math" panose="02040503050406030204" pitchFamily="18" charset="0"/>
                      </a:rPr>
                      <m:t>506</m:t>
                    </m:r>
                    <m:r>
                      <a:rPr lang="en-US" i="1" dirty="0" smtClean="0">
                        <a:solidFill>
                          <a:schemeClr val="accent6"/>
                        </a:solidFill>
                        <a:latin typeface="Cambria Math" panose="02040503050406030204" pitchFamily="18" charset="0"/>
                      </a:rPr>
                      <m:t>,.</m:t>
                    </m:r>
                    <m:r>
                      <a:rPr lang="en-US" i="1" dirty="0" smtClean="0">
                        <a:solidFill>
                          <a:schemeClr val="accent6"/>
                        </a:solidFill>
                        <a:latin typeface="Cambria Math" panose="02040503050406030204" pitchFamily="18" charset="0"/>
                      </a:rPr>
                      <m:t>514</m:t>
                    </m:r>
                    <m:r>
                      <a:rPr lang="en-US" i="1" dirty="0" smtClean="0">
                        <a:solidFill>
                          <a:schemeClr val="accent6"/>
                        </a:solidFill>
                        <a:latin typeface="Cambria Math" panose="02040503050406030204" pitchFamily="18" charset="0"/>
                      </a:rPr>
                      <m:t>]</m:t>
                    </m:r>
                  </m:oMath>
                </a14:m>
                <a:endParaRPr lang="en-US" dirty="0"/>
              </a:p>
              <a:p>
                <a:pPr lvl="1"/>
                <a:r>
                  <a:rPr lang="en-US" dirty="0">
                    <a:solidFill>
                      <a:schemeClr val="accent6"/>
                    </a:solidFill>
                  </a:rPr>
                  <a:t>We are 95% confident that the true support is above .50, so we are 95% confident of victory</a:t>
                </a:r>
              </a:p>
            </p:txBody>
          </p:sp>
        </mc:Choice>
        <mc:Fallback xmlns="">
          <p:sp>
            <p:nvSpPr>
              <p:cNvPr id="3" name="Content Placeholder 2">
                <a:extLst>
                  <a:ext uri="{FF2B5EF4-FFF2-40B4-BE49-F238E27FC236}">
                    <a16:creationId xmlns:a16="http://schemas.microsoft.com/office/drawing/2014/main" id="{98C3BE49-220E-4F77-8455-85133D2574A3}"/>
                  </a:ext>
                </a:extLst>
              </p:cNvPr>
              <p:cNvSpPr>
                <a:spLocks noGrp="1" noRot="1" noChangeAspect="1" noMove="1" noResize="1" noEditPoints="1" noAdjustHandles="1" noChangeArrowheads="1" noChangeShapeType="1" noTextEdit="1"/>
              </p:cNvSpPr>
              <p:nvPr>
                <p:ph idx="1"/>
              </p:nvPr>
            </p:nvSpPr>
            <p:spPr>
              <a:blipFill>
                <a:blip r:embed="rId2"/>
                <a:stretch>
                  <a:fillRect l="-650" r="-159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AC049F6-0B2D-4302-A67D-1DB98954AF7B}"/>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79</a:t>
            </a:fld>
            <a:endParaRPr lang="en-GB" dirty="0"/>
          </a:p>
        </p:txBody>
      </p:sp>
    </p:spTree>
    <p:extLst>
      <p:ext uri="{BB962C8B-B14F-4D97-AF65-F5344CB8AC3E}">
        <p14:creationId xmlns:p14="http://schemas.microsoft.com/office/powerpoint/2010/main" val="244677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EC6A-BC20-D99B-2C11-EDC7D21F09D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A29DDD2-64F6-7EC0-93AD-E941DAC25A2E}"/>
              </a:ext>
            </a:extLst>
          </p:cNvPr>
          <p:cNvPicPr>
            <a:picLocks noChangeAspect="1"/>
          </p:cNvPicPr>
          <p:nvPr/>
        </p:nvPicPr>
        <p:blipFill>
          <a:blip r:embed="rId2"/>
          <a:stretch>
            <a:fillRect/>
          </a:stretch>
        </p:blipFill>
        <p:spPr>
          <a:xfrm>
            <a:off x="2281428" y="1372362"/>
            <a:ext cx="4581144" cy="4570476"/>
          </a:xfrm>
          <a:prstGeom prst="rect">
            <a:avLst/>
          </a:prstGeom>
        </p:spPr>
      </p:pic>
      <p:sp>
        <p:nvSpPr>
          <p:cNvPr id="2" name="Title 1">
            <a:extLst>
              <a:ext uri="{FF2B5EF4-FFF2-40B4-BE49-F238E27FC236}">
                <a16:creationId xmlns:a16="http://schemas.microsoft.com/office/drawing/2014/main" id="{1C0ACBB1-F016-5EFA-B8D9-87DF01ECA115}"/>
              </a:ext>
            </a:extLst>
          </p:cNvPr>
          <p:cNvSpPr>
            <a:spLocks noGrp="1"/>
          </p:cNvSpPr>
          <p:nvPr>
            <p:ph type="title"/>
          </p:nvPr>
        </p:nvSpPr>
        <p:spPr/>
        <p:txBody>
          <a:bodyPr/>
          <a:lstStyle/>
          <a:p>
            <a:r>
              <a:rPr lang="en-US" dirty="0"/>
              <a:t>Be Careful!!!</a:t>
            </a:r>
          </a:p>
        </p:txBody>
      </p:sp>
      <p:sp>
        <p:nvSpPr>
          <p:cNvPr id="4" name="Slide Number Placeholder 3">
            <a:extLst>
              <a:ext uri="{FF2B5EF4-FFF2-40B4-BE49-F238E27FC236}">
                <a16:creationId xmlns:a16="http://schemas.microsoft.com/office/drawing/2014/main" id="{A7B5FADE-EFDE-E896-2628-ED836B50693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80</a:t>
            </a:fld>
            <a:endParaRPr lang="en-GB" dirty="0"/>
          </a:p>
        </p:txBody>
      </p:sp>
      <p:sp>
        <p:nvSpPr>
          <p:cNvPr id="6" name="Freeform: Shape 5">
            <a:extLst>
              <a:ext uri="{FF2B5EF4-FFF2-40B4-BE49-F238E27FC236}">
                <a16:creationId xmlns:a16="http://schemas.microsoft.com/office/drawing/2014/main" id="{D2EEB2C6-1791-83E7-E48C-39133FAE27E1}"/>
              </a:ext>
            </a:extLst>
          </p:cNvPr>
          <p:cNvSpPr/>
          <p:nvPr/>
        </p:nvSpPr>
        <p:spPr bwMode="auto">
          <a:xfrm>
            <a:off x="6324600" y="3863353"/>
            <a:ext cx="780535" cy="931070"/>
          </a:xfrm>
          <a:custGeom>
            <a:avLst/>
            <a:gdLst>
              <a:gd name="connsiteX0" fmla="*/ 747584 w 747584"/>
              <a:gd name="connsiteY0" fmla="*/ 852617 h 852617"/>
              <a:gd name="connsiteX1" fmla="*/ 284206 w 747584"/>
              <a:gd name="connsiteY1" fmla="*/ 216244 h 852617"/>
              <a:gd name="connsiteX2" fmla="*/ 0 w 747584"/>
              <a:gd name="connsiteY2" fmla="*/ 0 h 852617"/>
            </a:gdLst>
            <a:ahLst/>
            <a:cxnLst>
              <a:cxn ang="0">
                <a:pos x="connsiteX0" y="connsiteY0"/>
              </a:cxn>
              <a:cxn ang="0">
                <a:pos x="connsiteX1" y="connsiteY1"/>
              </a:cxn>
              <a:cxn ang="0">
                <a:pos x="connsiteX2" y="connsiteY2"/>
              </a:cxn>
            </a:cxnLst>
            <a:rect l="l" t="t" r="r" b="b"/>
            <a:pathLst>
              <a:path w="747584" h="852617">
                <a:moveTo>
                  <a:pt x="747584" y="852617"/>
                </a:moveTo>
                <a:cubicBezTo>
                  <a:pt x="578193" y="605482"/>
                  <a:pt x="408803" y="358347"/>
                  <a:pt x="284206" y="216244"/>
                </a:cubicBezTo>
                <a:cubicBezTo>
                  <a:pt x="159609" y="74141"/>
                  <a:pt x="79804" y="37070"/>
                  <a:pt x="0" y="0"/>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a:p>
        </p:txBody>
      </p:sp>
      <p:sp>
        <p:nvSpPr>
          <p:cNvPr id="9" name="TextBox 8">
            <a:extLst>
              <a:ext uri="{FF2B5EF4-FFF2-40B4-BE49-F238E27FC236}">
                <a16:creationId xmlns:a16="http://schemas.microsoft.com/office/drawing/2014/main" id="{4A8BBF67-C892-E3EB-94A0-CE1544D4876D}"/>
              </a:ext>
            </a:extLst>
          </p:cNvPr>
          <p:cNvSpPr txBox="1"/>
          <p:nvPr/>
        </p:nvSpPr>
        <p:spPr>
          <a:xfrm>
            <a:off x="7112190" y="4692184"/>
            <a:ext cx="747585" cy="261610"/>
          </a:xfrm>
          <a:prstGeom prst="rect">
            <a:avLst/>
          </a:prstGeom>
          <a:noFill/>
        </p:spPr>
        <p:txBody>
          <a:bodyPr wrap="square" rtlCol="0">
            <a:spAutoFit/>
          </a:bodyPr>
          <a:lstStyle/>
          <a:p>
            <a:r>
              <a:rPr lang="en-US" sz="1100" b="0" u="none" dirty="0">
                <a:solidFill>
                  <a:srgbClr val="00B0F0"/>
                </a:solidFill>
                <a:cs typeface="Arial" pitchFamily="34" charset="0"/>
              </a:rPr>
              <a:t>Fox Poll</a:t>
            </a:r>
          </a:p>
        </p:txBody>
      </p:sp>
    </p:spTree>
    <p:extLst>
      <p:ext uri="{BB962C8B-B14F-4D97-AF65-F5344CB8AC3E}">
        <p14:creationId xmlns:p14="http://schemas.microsoft.com/office/powerpoint/2010/main" val="356778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9DD94-79FD-1107-B316-4DB7C7D04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206CF-F668-AB7A-A830-EDB8E76C6AEB}"/>
              </a:ext>
            </a:extLst>
          </p:cNvPr>
          <p:cNvSpPr>
            <a:spLocks noGrp="1"/>
          </p:cNvSpPr>
          <p:nvPr>
            <p:ph type="title"/>
          </p:nvPr>
        </p:nvSpPr>
        <p:spPr/>
        <p:txBody>
          <a:bodyPr/>
          <a:lstStyle/>
          <a:p>
            <a:r>
              <a:rPr lang="en-US" dirty="0"/>
              <a:t>Be Careful!!!</a:t>
            </a:r>
          </a:p>
        </p:txBody>
      </p:sp>
      <p:sp>
        <p:nvSpPr>
          <p:cNvPr id="4" name="Slide Number Placeholder 3">
            <a:extLst>
              <a:ext uri="{FF2B5EF4-FFF2-40B4-BE49-F238E27FC236}">
                <a16:creationId xmlns:a16="http://schemas.microsoft.com/office/drawing/2014/main" id="{4798F2A1-3882-43D3-E6B5-34E6C7204BAE}"/>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81</a:t>
            </a:fld>
            <a:endParaRPr lang="en-GB" dirty="0"/>
          </a:p>
        </p:txBody>
      </p:sp>
      <p:sp>
        <p:nvSpPr>
          <p:cNvPr id="8" name="TextBox 7">
            <a:extLst>
              <a:ext uri="{FF2B5EF4-FFF2-40B4-BE49-F238E27FC236}">
                <a16:creationId xmlns:a16="http://schemas.microsoft.com/office/drawing/2014/main" id="{935A2E89-927A-3DA9-F357-35C7747D4916}"/>
              </a:ext>
            </a:extLst>
          </p:cNvPr>
          <p:cNvSpPr txBox="1"/>
          <p:nvPr/>
        </p:nvSpPr>
        <p:spPr>
          <a:xfrm>
            <a:off x="6775769" y="2646897"/>
            <a:ext cx="2309494" cy="1169551"/>
          </a:xfrm>
          <a:prstGeom prst="rect">
            <a:avLst/>
          </a:prstGeom>
          <a:noFill/>
        </p:spPr>
        <p:txBody>
          <a:bodyPr wrap="square" rtlCol="0">
            <a:spAutoFit/>
          </a:bodyPr>
          <a:lstStyle/>
          <a:p>
            <a:r>
              <a:rPr lang="en-US" sz="1400" b="0" u="none" dirty="0">
                <a:solidFill>
                  <a:srgbClr val="FF0000"/>
                </a:solidFill>
                <a:cs typeface="Arial" pitchFamily="34" charset="0"/>
              </a:rPr>
              <a:t>Actual vote for candidate A in election was 52.3</a:t>
            </a:r>
          </a:p>
          <a:p>
            <a:endParaRPr lang="en-US" sz="1400" b="0" u="none" dirty="0">
              <a:solidFill>
                <a:srgbClr val="FF0000"/>
              </a:solidFill>
              <a:cs typeface="Arial" pitchFamily="34" charset="0"/>
            </a:endParaRPr>
          </a:p>
          <a:p>
            <a:r>
              <a:rPr lang="en-US" sz="1400" b="0" u="none" dirty="0">
                <a:solidFill>
                  <a:srgbClr val="FF0000"/>
                </a:solidFill>
                <a:highlight>
                  <a:srgbClr val="FFFF00"/>
                </a:highlight>
                <a:cs typeface="Arial" pitchFamily="34" charset="0"/>
              </a:rPr>
              <a:t>Why do so many intervals exclude the true support?</a:t>
            </a:r>
          </a:p>
        </p:txBody>
      </p:sp>
      <p:pic>
        <p:nvPicPr>
          <p:cNvPr id="5" name="Picture 4">
            <a:extLst>
              <a:ext uri="{FF2B5EF4-FFF2-40B4-BE49-F238E27FC236}">
                <a16:creationId xmlns:a16="http://schemas.microsoft.com/office/drawing/2014/main" id="{E619AE60-38EF-57AC-A8FE-C2506EBB3664}"/>
              </a:ext>
            </a:extLst>
          </p:cNvPr>
          <p:cNvPicPr>
            <a:picLocks noChangeAspect="1"/>
          </p:cNvPicPr>
          <p:nvPr/>
        </p:nvPicPr>
        <p:blipFill>
          <a:blip r:embed="rId2"/>
          <a:stretch>
            <a:fillRect/>
          </a:stretch>
        </p:blipFill>
        <p:spPr>
          <a:xfrm>
            <a:off x="2281428" y="1372362"/>
            <a:ext cx="4581144" cy="4570476"/>
          </a:xfrm>
          <a:prstGeom prst="rect">
            <a:avLst/>
          </a:prstGeom>
        </p:spPr>
      </p:pic>
      <p:sp>
        <p:nvSpPr>
          <p:cNvPr id="3" name="Freeform: Shape 2">
            <a:extLst>
              <a:ext uri="{FF2B5EF4-FFF2-40B4-BE49-F238E27FC236}">
                <a16:creationId xmlns:a16="http://schemas.microsoft.com/office/drawing/2014/main" id="{2ED9A3F1-9509-8475-2158-CBFB40BA31F2}"/>
              </a:ext>
            </a:extLst>
          </p:cNvPr>
          <p:cNvSpPr/>
          <p:nvPr/>
        </p:nvSpPr>
        <p:spPr bwMode="auto">
          <a:xfrm>
            <a:off x="6324600" y="3863353"/>
            <a:ext cx="780535" cy="931070"/>
          </a:xfrm>
          <a:custGeom>
            <a:avLst/>
            <a:gdLst>
              <a:gd name="connsiteX0" fmla="*/ 747584 w 747584"/>
              <a:gd name="connsiteY0" fmla="*/ 852617 h 852617"/>
              <a:gd name="connsiteX1" fmla="*/ 284206 w 747584"/>
              <a:gd name="connsiteY1" fmla="*/ 216244 h 852617"/>
              <a:gd name="connsiteX2" fmla="*/ 0 w 747584"/>
              <a:gd name="connsiteY2" fmla="*/ 0 h 852617"/>
            </a:gdLst>
            <a:ahLst/>
            <a:cxnLst>
              <a:cxn ang="0">
                <a:pos x="connsiteX0" y="connsiteY0"/>
              </a:cxn>
              <a:cxn ang="0">
                <a:pos x="connsiteX1" y="connsiteY1"/>
              </a:cxn>
              <a:cxn ang="0">
                <a:pos x="connsiteX2" y="connsiteY2"/>
              </a:cxn>
            </a:cxnLst>
            <a:rect l="l" t="t" r="r" b="b"/>
            <a:pathLst>
              <a:path w="747584" h="852617">
                <a:moveTo>
                  <a:pt x="747584" y="852617"/>
                </a:moveTo>
                <a:cubicBezTo>
                  <a:pt x="578193" y="605482"/>
                  <a:pt x="408803" y="358347"/>
                  <a:pt x="284206" y="216244"/>
                </a:cubicBezTo>
                <a:cubicBezTo>
                  <a:pt x="159609" y="74141"/>
                  <a:pt x="79804" y="37070"/>
                  <a:pt x="0" y="0"/>
                </a:cubicBezTo>
              </a:path>
            </a:pathLst>
          </a:custGeom>
          <a:noFill/>
          <a:ln w="9525" cap="flat" cmpd="sng" algn="ctr">
            <a:solidFill>
              <a:srgbClr val="00B0F0"/>
            </a:solidFill>
            <a:prstDash val="solid"/>
            <a:round/>
            <a:headEnd type="none" w="med" len="med"/>
            <a:tailEnd type="triangle" w="med" len="med"/>
          </a:ln>
          <a:effectLst/>
        </p:spPr>
        <p:txBody>
          <a:bodyPr rtlCol="0" anchor="ctr"/>
          <a:lstStyle/>
          <a:p>
            <a:pPr algn="ctr"/>
            <a:endParaRPr lang="en-US"/>
          </a:p>
        </p:txBody>
      </p:sp>
      <p:sp>
        <p:nvSpPr>
          <p:cNvPr id="7" name="TextBox 6">
            <a:extLst>
              <a:ext uri="{FF2B5EF4-FFF2-40B4-BE49-F238E27FC236}">
                <a16:creationId xmlns:a16="http://schemas.microsoft.com/office/drawing/2014/main" id="{C7101351-0101-F8ED-E8B9-D05767D8B671}"/>
              </a:ext>
            </a:extLst>
          </p:cNvPr>
          <p:cNvSpPr txBox="1"/>
          <p:nvPr/>
        </p:nvSpPr>
        <p:spPr>
          <a:xfrm>
            <a:off x="7112190" y="4692184"/>
            <a:ext cx="747585" cy="261610"/>
          </a:xfrm>
          <a:prstGeom prst="rect">
            <a:avLst/>
          </a:prstGeom>
          <a:noFill/>
        </p:spPr>
        <p:txBody>
          <a:bodyPr wrap="square" rtlCol="0">
            <a:spAutoFit/>
          </a:bodyPr>
          <a:lstStyle/>
          <a:p>
            <a:r>
              <a:rPr lang="en-US" sz="1100" b="0" u="none" dirty="0">
                <a:solidFill>
                  <a:srgbClr val="00B0F0"/>
                </a:solidFill>
                <a:cs typeface="Arial" pitchFamily="34" charset="0"/>
              </a:rPr>
              <a:t>Fox Poll</a:t>
            </a:r>
          </a:p>
        </p:txBody>
      </p:sp>
    </p:spTree>
    <p:extLst>
      <p:ext uri="{BB962C8B-B14F-4D97-AF65-F5344CB8AC3E}">
        <p14:creationId xmlns:p14="http://schemas.microsoft.com/office/powerpoint/2010/main" val="273519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35D9-EC61-81E4-E089-2EC7F76EE79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AEEB20-8510-D24C-D1E5-31F433D99CD4}"/>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82</a:t>
            </a:fld>
            <a:endParaRPr lang="en-GB" dirty="0"/>
          </a:p>
        </p:txBody>
      </p:sp>
      <p:pic>
        <p:nvPicPr>
          <p:cNvPr id="5" name="Picture 4">
            <a:extLst>
              <a:ext uri="{FF2B5EF4-FFF2-40B4-BE49-F238E27FC236}">
                <a16:creationId xmlns:a16="http://schemas.microsoft.com/office/drawing/2014/main" id="{2155F94E-B7D0-F720-74B2-6A97D49E7403}"/>
              </a:ext>
            </a:extLst>
          </p:cNvPr>
          <p:cNvPicPr>
            <a:picLocks noChangeAspect="1"/>
          </p:cNvPicPr>
          <p:nvPr/>
        </p:nvPicPr>
        <p:blipFill>
          <a:blip r:embed="rId2"/>
          <a:stretch>
            <a:fillRect/>
          </a:stretch>
        </p:blipFill>
        <p:spPr>
          <a:xfrm>
            <a:off x="2348014" y="358320"/>
            <a:ext cx="4447971" cy="6296479"/>
          </a:xfrm>
          <a:prstGeom prst="rect">
            <a:avLst/>
          </a:prstGeom>
        </p:spPr>
      </p:pic>
    </p:spTree>
    <p:extLst>
      <p:ext uri="{BB962C8B-B14F-4D97-AF65-F5344CB8AC3E}">
        <p14:creationId xmlns:p14="http://schemas.microsoft.com/office/powerpoint/2010/main" val="41761418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B89B0-5B8E-3F44-FF0A-8153795BBF8E}"/>
              </a:ext>
            </a:extLst>
          </p:cNvPr>
          <p:cNvSpPr>
            <a:spLocks noGrp="1"/>
          </p:cNvSpPr>
          <p:nvPr>
            <p:ph type="title"/>
          </p:nvPr>
        </p:nvSpPr>
        <p:spPr/>
        <p:txBody>
          <a:bodyPr/>
          <a:lstStyle/>
          <a:p>
            <a:r>
              <a:rPr lang="en-US" dirty="0"/>
              <a:t>End</a:t>
            </a:r>
          </a:p>
        </p:txBody>
      </p:sp>
      <p:sp>
        <p:nvSpPr>
          <p:cNvPr id="3" name="Slide Number Placeholder 2">
            <a:extLst>
              <a:ext uri="{FF2B5EF4-FFF2-40B4-BE49-F238E27FC236}">
                <a16:creationId xmlns:a16="http://schemas.microsoft.com/office/drawing/2014/main" id="{AF682596-344A-B00A-F0B3-42967499BF87}"/>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83</a:t>
            </a:fld>
            <a:endParaRPr lang="en-GB" dirty="0"/>
          </a:p>
        </p:txBody>
      </p:sp>
    </p:spTree>
    <p:extLst>
      <p:ext uri="{BB962C8B-B14F-4D97-AF65-F5344CB8AC3E}">
        <p14:creationId xmlns:p14="http://schemas.microsoft.com/office/powerpoint/2010/main" val="189728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EDC9-F048-6A07-C020-A8A5AAC3F2E4}"/>
              </a:ext>
            </a:extLst>
          </p:cNvPr>
          <p:cNvSpPr>
            <a:spLocks noGrp="1"/>
          </p:cNvSpPr>
          <p:nvPr>
            <p:ph type="title"/>
          </p:nvPr>
        </p:nvSpPr>
        <p:spPr/>
        <p:txBody>
          <a:bodyPr/>
          <a:lstStyle/>
          <a:p>
            <a:r>
              <a:rPr lang="en-US" dirty="0"/>
              <a:t>Broader Goals</a:t>
            </a:r>
          </a:p>
        </p:txBody>
      </p:sp>
      <p:sp>
        <p:nvSpPr>
          <p:cNvPr id="3" name="Slide Number Placeholder 2">
            <a:extLst>
              <a:ext uri="{FF2B5EF4-FFF2-40B4-BE49-F238E27FC236}">
                <a16:creationId xmlns:a16="http://schemas.microsoft.com/office/drawing/2014/main" id="{4E597F97-D581-A353-3F6B-9B310CA4069F}"/>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84</a:t>
            </a:fld>
            <a:endParaRPr lang="en-GB" dirty="0"/>
          </a:p>
        </p:txBody>
      </p:sp>
    </p:spTree>
    <p:extLst>
      <p:ext uri="{BB962C8B-B14F-4D97-AF65-F5344CB8AC3E}">
        <p14:creationId xmlns:p14="http://schemas.microsoft.com/office/powerpoint/2010/main" val="25740329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638B-3DB1-49DD-9EBA-EE602A803E31}"/>
              </a:ext>
            </a:extLst>
          </p:cNvPr>
          <p:cNvSpPr>
            <a:spLocks noGrp="1"/>
          </p:cNvSpPr>
          <p:nvPr>
            <p:ph type="title"/>
          </p:nvPr>
        </p:nvSpPr>
        <p:spPr/>
        <p:txBody>
          <a:bodyPr/>
          <a:lstStyle/>
          <a:p>
            <a:r>
              <a:rPr lang="en-US" dirty="0"/>
              <a:t>Higher-Order Goals</a:t>
            </a:r>
          </a:p>
        </p:txBody>
      </p:sp>
      <p:sp>
        <p:nvSpPr>
          <p:cNvPr id="3" name="Content Placeholder 2">
            <a:extLst>
              <a:ext uri="{FF2B5EF4-FFF2-40B4-BE49-F238E27FC236}">
                <a16:creationId xmlns:a16="http://schemas.microsoft.com/office/drawing/2014/main" id="{990E989B-743B-49E5-A0CB-BCB548B482C9}"/>
              </a:ext>
            </a:extLst>
          </p:cNvPr>
          <p:cNvSpPr>
            <a:spLocks noGrp="1"/>
          </p:cNvSpPr>
          <p:nvPr>
            <p:ph idx="1"/>
          </p:nvPr>
        </p:nvSpPr>
        <p:spPr/>
        <p:txBody>
          <a:bodyPr/>
          <a:lstStyle/>
          <a:p>
            <a:r>
              <a:rPr lang="en-US" dirty="0"/>
              <a:t>Learn how to simplify!</a:t>
            </a:r>
          </a:p>
          <a:p>
            <a:endParaRPr lang="en-US" dirty="0"/>
          </a:p>
          <a:p>
            <a:r>
              <a:rPr lang="en-US" dirty="0"/>
              <a:t>Learn a bit about the “art” of data analysis</a:t>
            </a:r>
          </a:p>
          <a:p>
            <a:pPr lvl="1"/>
            <a:r>
              <a:rPr lang="en-US" dirty="0"/>
              <a:t>How to frame a question?</a:t>
            </a:r>
          </a:p>
          <a:p>
            <a:pPr lvl="1"/>
            <a:r>
              <a:rPr lang="en-US" dirty="0"/>
              <a:t>How to display the results?</a:t>
            </a:r>
          </a:p>
          <a:p>
            <a:pPr lvl="1"/>
            <a:r>
              <a:rPr lang="en-US" dirty="0"/>
              <a:t>How to talk about them so ordinary people can understand you?</a:t>
            </a:r>
          </a:p>
        </p:txBody>
      </p:sp>
      <p:sp>
        <p:nvSpPr>
          <p:cNvPr id="4" name="Slide Number Placeholder 3">
            <a:extLst>
              <a:ext uri="{FF2B5EF4-FFF2-40B4-BE49-F238E27FC236}">
                <a16:creationId xmlns:a16="http://schemas.microsoft.com/office/drawing/2014/main" id="{7C285510-E5A7-425D-A812-559C103A986C}"/>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85</a:t>
            </a:fld>
            <a:endParaRPr lang="en-GB" dirty="0"/>
          </a:p>
        </p:txBody>
      </p:sp>
    </p:spTree>
    <p:extLst>
      <p:ext uri="{BB962C8B-B14F-4D97-AF65-F5344CB8AC3E}">
        <p14:creationId xmlns:p14="http://schemas.microsoft.com/office/powerpoint/2010/main" val="154482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Effective Data Analysis Stands on Three Legs</a:t>
            </a:r>
            <a:endParaRPr lang="en-US" dirty="0">
              <a:solidFill>
                <a:schemeClr val="bg1"/>
              </a:solidFill>
            </a:endParaRPr>
          </a:p>
        </p:txBody>
      </p:sp>
      <p:grpSp>
        <p:nvGrpSpPr>
          <p:cNvPr id="2" name="Group 14"/>
          <p:cNvGrpSpPr>
            <a:grpSpLocks/>
          </p:cNvGrpSpPr>
          <p:nvPr/>
        </p:nvGrpSpPr>
        <p:grpSpPr bwMode="auto">
          <a:xfrm>
            <a:off x="2284413" y="1524727"/>
            <a:ext cx="4497388" cy="3213101"/>
            <a:chOff x="1439" y="1088"/>
            <a:chExt cx="2833" cy="2024"/>
          </a:xfrm>
        </p:grpSpPr>
        <p:sp>
          <p:nvSpPr>
            <p:cNvPr id="11274" name="Text Box 4"/>
            <p:cNvSpPr txBox="1">
              <a:spLocks noChangeArrowheads="1"/>
            </p:cNvSpPr>
            <p:nvPr/>
          </p:nvSpPr>
          <p:spPr bwMode="auto">
            <a:xfrm>
              <a:off x="2452" y="1088"/>
              <a:ext cx="868" cy="465"/>
            </a:xfrm>
            <a:prstGeom prst="rect">
              <a:avLst/>
            </a:prstGeom>
            <a:noFill/>
            <a:ln w="9525">
              <a:noFill/>
              <a:miter lim="800000"/>
              <a:headEnd/>
              <a:tailEnd/>
            </a:ln>
          </p:spPr>
          <p:txBody>
            <a:bodyPr wrap="none">
              <a:spAutoFit/>
            </a:bodyPr>
            <a:lstStyle/>
            <a:p>
              <a:pPr algn="ctr"/>
              <a:r>
                <a:rPr lang="en-US" sz="2400" b="0" u="none" dirty="0">
                  <a:latin typeface="Arial" pitchFamily="34" charset="0"/>
                  <a:cs typeface="Arial" pitchFamily="34" charset="0"/>
                </a:rPr>
                <a:t>Issues </a:t>
              </a:r>
              <a:br>
                <a:rPr lang="en-US" sz="2400" b="0" u="none" dirty="0">
                  <a:latin typeface="Arial" pitchFamily="34" charset="0"/>
                  <a:cs typeface="Arial" pitchFamily="34" charset="0"/>
                </a:rPr>
              </a:br>
              <a:r>
                <a:rPr lang="en-US" sz="1800" b="0" u="none" dirty="0">
                  <a:solidFill>
                    <a:schemeClr val="bg1">
                      <a:lumMod val="50000"/>
                    </a:schemeClr>
                  </a:solidFill>
                  <a:latin typeface="Arial" pitchFamily="34" charset="0"/>
                  <a:cs typeface="Arial" pitchFamily="34" charset="0"/>
                </a:rPr>
                <a:t>(Questions)</a:t>
              </a:r>
              <a:endParaRPr lang="en-US" sz="2400" b="0" u="none" dirty="0">
                <a:solidFill>
                  <a:schemeClr val="bg1">
                    <a:lumMod val="50000"/>
                  </a:schemeClr>
                </a:solidFill>
                <a:latin typeface="Arial" pitchFamily="34" charset="0"/>
                <a:cs typeface="Arial" pitchFamily="34" charset="0"/>
              </a:endParaRPr>
            </a:p>
          </p:txBody>
        </p:sp>
        <p:sp>
          <p:nvSpPr>
            <p:cNvPr id="11275" name="Text Box 5"/>
            <p:cNvSpPr txBox="1">
              <a:spLocks noChangeArrowheads="1"/>
            </p:cNvSpPr>
            <p:nvPr/>
          </p:nvSpPr>
          <p:spPr bwMode="auto">
            <a:xfrm>
              <a:off x="1439" y="2647"/>
              <a:ext cx="850" cy="465"/>
            </a:xfrm>
            <a:prstGeom prst="rect">
              <a:avLst/>
            </a:prstGeom>
            <a:noFill/>
            <a:ln w="9525">
              <a:noFill/>
              <a:miter lim="800000"/>
              <a:headEnd/>
              <a:tailEnd/>
            </a:ln>
          </p:spPr>
          <p:txBody>
            <a:bodyPr wrap="square">
              <a:spAutoFit/>
            </a:bodyPr>
            <a:lstStyle/>
            <a:p>
              <a:pPr algn="ctr"/>
              <a:r>
                <a:rPr lang="en-US" sz="2400" b="0" u="none" dirty="0">
                  <a:latin typeface="Arial" pitchFamily="34" charset="0"/>
                  <a:cs typeface="Arial" pitchFamily="34" charset="0"/>
                </a:rPr>
                <a:t>Theory</a:t>
              </a:r>
              <a:br>
                <a:rPr lang="en-US" sz="2400" b="0" u="none" dirty="0">
                  <a:latin typeface="Arial" pitchFamily="34" charset="0"/>
                  <a:cs typeface="Arial" pitchFamily="34" charset="0"/>
                </a:rPr>
              </a:br>
              <a:r>
                <a:rPr lang="en-US" sz="1800" b="0" u="none" dirty="0">
                  <a:solidFill>
                    <a:schemeClr val="bg1">
                      <a:lumMod val="50000"/>
                    </a:schemeClr>
                  </a:solidFill>
                  <a:latin typeface="Arial" pitchFamily="34" charset="0"/>
                  <a:cs typeface="Arial" pitchFamily="34" charset="0"/>
                </a:rPr>
                <a:t>(Stories)</a:t>
              </a:r>
              <a:endParaRPr lang="en-US" sz="2400" b="0" u="none" dirty="0">
                <a:solidFill>
                  <a:schemeClr val="bg1">
                    <a:lumMod val="50000"/>
                  </a:schemeClr>
                </a:solidFill>
                <a:latin typeface="Arial" pitchFamily="34" charset="0"/>
                <a:cs typeface="Arial" pitchFamily="34" charset="0"/>
              </a:endParaRPr>
            </a:p>
          </p:txBody>
        </p:sp>
        <p:sp>
          <p:nvSpPr>
            <p:cNvPr id="11276" name="Text Box 6"/>
            <p:cNvSpPr txBox="1">
              <a:spLocks noChangeArrowheads="1"/>
            </p:cNvSpPr>
            <p:nvPr/>
          </p:nvSpPr>
          <p:spPr bwMode="auto">
            <a:xfrm>
              <a:off x="3461" y="2599"/>
              <a:ext cx="811" cy="465"/>
            </a:xfrm>
            <a:prstGeom prst="rect">
              <a:avLst/>
            </a:prstGeom>
            <a:noFill/>
            <a:ln w="9525">
              <a:noFill/>
              <a:miter lim="800000"/>
              <a:headEnd/>
              <a:tailEnd/>
            </a:ln>
          </p:spPr>
          <p:txBody>
            <a:bodyPr wrap="none">
              <a:spAutoFit/>
            </a:bodyPr>
            <a:lstStyle/>
            <a:p>
              <a:pPr algn="ctr"/>
              <a:r>
                <a:rPr lang="en-US" sz="2400" b="0" u="none" dirty="0">
                  <a:latin typeface="Arial" pitchFamily="34" charset="0"/>
                  <a:cs typeface="Arial" pitchFamily="34" charset="0"/>
                </a:rPr>
                <a:t>Data</a:t>
              </a:r>
              <a:br>
                <a:rPr lang="en-US" sz="2400" b="0" u="none" dirty="0">
                  <a:latin typeface="Arial" pitchFamily="34" charset="0"/>
                  <a:cs typeface="Arial" pitchFamily="34" charset="0"/>
                </a:rPr>
              </a:br>
              <a:r>
                <a:rPr lang="en-US" sz="1800" b="0" u="none" dirty="0">
                  <a:solidFill>
                    <a:schemeClr val="bg1">
                      <a:lumMod val="50000"/>
                    </a:schemeClr>
                  </a:solidFill>
                  <a:latin typeface="Arial" pitchFamily="34" charset="0"/>
                  <a:cs typeface="Arial" pitchFamily="34" charset="0"/>
                </a:rPr>
                <a:t>(Evidence)</a:t>
              </a:r>
              <a:endParaRPr lang="en-US" sz="2400" b="0" u="none" dirty="0">
                <a:solidFill>
                  <a:schemeClr val="bg1">
                    <a:lumMod val="50000"/>
                  </a:schemeClr>
                </a:solidFill>
                <a:latin typeface="Arial" pitchFamily="34" charset="0"/>
                <a:cs typeface="Arial" pitchFamily="34" charset="0"/>
              </a:endParaRPr>
            </a:p>
          </p:txBody>
        </p:sp>
      </p:grpSp>
      <p:sp>
        <p:nvSpPr>
          <p:cNvPr id="11268" name="Line 7"/>
          <p:cNvSpPr>
            <a:spLocks noChangeShapeType="1"/>
          </p:cNvSpPr>
          <p:nvPr/>
        </p:nvSpPr>
        <p:spPr bwMode="auto">
          <a:xfrm flipH="1">
            <a:off x="2990850" y="2434365"/>
            <a:ext cx="1362075" cy="1587500"/>
          </a:xfrm>
          <a:prstGeom prst="line">
            <a:avLst/>
          </a:prstGeom>
          <a:noFill/>
          <a:ln w="19050">
            <a:solidFill>
              <a:schemeClr val="tx1"/>
            </a:solidFill>
            <a:round/>
            <a:headEnd type="stealth" w="med" len="med"/>
            <a:tailEnd type="stealth" w="med" len="med"/>
          </a:ln>
        </p:spPr>
        <p:txBody>
          <a:bodyPr wrap="none" anchor="ctr"/>
          <a:lstStyle/>
          <a:p>
            <a:endParaRPr lang="en-US" b="0" u="none">
              <a:latin typeface="Arial" pitchFamily="34" charset="0"/>
              <a:cs typeface="Arial" pitchFamily="34" charset="0"/>
            </a:endParaRPr>
          </a:p>
        </p:txBody>
      </p:sp>
      <p:sp>
        <p:nvSpPr>
          <p:cNvPr id="11269" name="Line 8"/>
          <p:cNvSpPr>
            <a:spLocks noChangeShapeType="1"/>
          </p:cNvSpPr>
          <p:nvPr/>
        </p:nvSpPr>
        <p:spPr bwMode="auto">
          <a:xfrm rot="16200000" flipH="1">
            <a:off x="4667250" y="2497865"/>
            <a:ext cx="1524000" cy="1371600"/>
          </a:xfrm>
          <a:prstGeom prst="line">
            <a:avLst/>
          </a:prstGeom>
          <a:noFill/>
          <a:ln w="19050">
            <a:solidFill>
              <a:schemeClr val="tx1"/>
            </a:solidFill>
            <a:round/>
            <a:headEnd type="stealth" w="med" len="med"/>
            <a:tailEnd type="stealth" w="med" len="med"/>
          </a:ln>
        </p:spPr>
        <p:txBody>
          <a:bodyPr wrap="none" anchor="ctr"/>
          <a:lstStyle/>
          <a:p>
            <a:endParaRPr lang="en-US" b="0" u="none">
              <a:latin typeface="Arial" pitchFamily="34" charset="0"/>
              <a:cs typeface="Arial" pitchFamily="34" charset="0"/>
            </a:endParaRPr>
          </a:p>
        </p:txBody>
      </p:sp>
      <p:sp>
        <p:nvSpPr>
          <p:cNvPr id="11270" name="Line 9"/>
          <p:cNvSpPr>
            <a:spLocks noChangeShapeType="1"/>
          </p:cNvSpPr>
          <p:nvPr/>
        </p:nvSpPr>
        <p:spPr bwMode="auto">
          <a:xfrm rot="16200000" flipH="1">
            <a:off x="4476750" y="3450365"/>
            <a:ext cx="0" cy="1600200"/>
          </a:xfrm>
          <a:prstGeom prst="line">
            <a:avLst/>
          </a:prstGeom>
          <a:noFill/>
          <a:ln w="19050">
            <a:solidFill>
              <a:schemeClr val="tx1"/>
            </a:solidFill>
            <a:round/>
            <a:headEnd type="stealth" w="med" len="med"/>
            <a:tailEnd type="stealth" w="med" len="med"/>
          </a:ln>
        </p:spPr>
        <p:txBody>
          <a:bodyPr wrap="none" anchor="ctr"/>
          <a:lstStyle/>
          <a:p>
            <a:endParaRPr lang="en-US" b="0" u="none">
              <a:latin typeface="Arial" pitchFamily="34" charset="0"/>
              <a:cs typeface="Arial" pitchFamily="34" charset="0"/>
            </a:endParaRPr>
          </a:p>
        </p:txBody>
      </p:sp>
      <p:sp>
        <p:nvSpPr>
          <p:cNvPr id="11271" name="Text Box 10"/>
          <p:cNvSpPr txBox="1">
            <a:spLocks noChangeArrowheads="1"/>
          </p:cNvSpPr>
          <p:nvPr/>
        </p:nvSpPr>
        <p:spPr bwMode="auto">
          <a:xfrm>
            <a:off x="3725863" y="4858477"/>
            <a:ext cx="1711325" cy="646331"/>
          </a:xfrm>
          <a:prstGeom prst="rect">
            <a:avLst/>
          </a:prstGeom>
          <a:noFill/>
          <a:ln w="9525">
            <a:noFill/>
            <a:miter lim="800000"/>
            <a:headEnd/>
            <a:tailEnd/>
          </a:ln>
        </p:spPr>
        <p:txBody>
          <a:bodyPr>
            <a:spAutoFit/>
          </a:bodyPr>
          <a:lstStyle/>
          <a:p>
            <a:pPr algn="ctr"/>
            <a:r>
              <a:rPr lang="en-US" sz="1200" b="0" i="1" u="none" dirty="0">
                <a:solidFill>
                  <a:srgbClr val="0000FF"/>
                </a:solidFill>
                <a:latin typeface="Arial" pitchFamily="34" charset="0"/>
                <a:cs typeface="Arial" pitchFamily="34" charset="0"/>
              </a:rPr>
              <a:t>Which story is most favored by the available evidence?</a:t>
            </a:r>
          </a:p>
        </p:txBody>
      </p:sp>
      <p:sp>
        <p:nvSpPr>
          <p:cNvPr id="11272" name="Text Box 12"/>
          <p:cNvSpPr txBox="1">
            <a:spLocks noChangeArrowheads="1"/>
          </p:cNvSpPr>
          <p:nvPr/>
        </p:nvSpPr>
        <p:spPr bwMode="auto">
          <a:xfrm>
            <a:off x="5922963" y="2456590"/>
            <a:ext cx="1711325" cy="646331"/>
          </a:xfrm>
          <a:prstGeom prst="rect">
            <a:avLst/>
          </a:prstGeom>
          <a:noFill/>
          <a:ln w="9525">
            <a:noFill/>
            <a:miter lim="800000"/>
            <a:headEnd/>
            <a:tailEnd/>
          </a:ln>
        </p:spPr>
        <p:txBody>
          <a:bodyPr>
            <a:spAutoFit/>
          </a:bodyPr>
          <a:lstStyle/>
          <a:p>
            <a:pPr algn="ctr"/>
            <a:r>
              <a:rPr lang="en-US" sz="1200" b="0" i="1" u="none" dirty="0">
                <a:solidFill>
                  <a:srgbClr val="0000FF"/>
                </a:solidFill>
                <a:latin typeface="Arial" pitchFamily="34" charset="0"/>
                <a:cs typeface="Arial" pitchFamily="34" charset="0"/>
              </a:rPr>
              <a:t>What kind of evidence can you bring to bear on this question?</a:t>
            </a:r>
          </a:p>
        </p:txBody>
      </p:sp>
      <p:sp>
        <p:nvSpPr>
          <p:cNvPr id="11273" name="Text Box 13"/>
          <p:cNvSpPr txBox="1">
            <a:spLocks noChangeArrowheads="1"/>
          </p:cNvSpPr>
          <p:nvPr/>
        </p:nvSpPr>
        <p:spPr bwMode="auto">
          <a:xfrm>
            <a:off x="1597025" y="2455002"/>
            <a:ext cx="1711325" cy="646331"/>
          </a:xfrm>
          <a:prstGeom prst="rect">
            <a:avLst/>
          </a:prstGeom>
          <a:noFill/>
          <a:ln w="9525">
            <a:noFill/>
            <a:miter lim="800000"/>
            <a:headEnd/>
            <a:tailEnd/>
          </a:ln>
        </p:spPr>
        <p:txBody>
          <a:bodyPr>
            <a:spAutoFit/>
          </a:bodyPr>
          <a:lstStyle/>
          <a:p>
            <a:pPr algn="ctr"/>
            <a:r>
              <a:rPr lang="en-US" sz="1200" b="0" i="1" u="none" dirty="0">
                <a:solidFill>
                  <a:srgbClr val="0000FF"/>
                </a:solidFill>
                <a:latin typeface="Arial" pitchFamily="34" charset="0"/>
                <a:cs typeface="Arial" pitchFamily="34" charset="0"/>
              </a:rPr>
              <a:t>Is this the best story for answering your question?</a:t>
            </a:r>
          </a:p>
        </p:txBody>
      </p:sp>
      <p:sp>
        <p:nvSpPr>
          <p:cNvPr id="14" name="Slide Number Placeholder 3"/>
          <p:cNvSpPr>
            <a:spLocks noGrp="1"/>
          </p:cNvSpPr>
          <p:nvPr>
            <p:ph type="sldNum" sz="quarter" idx="11"/>
          </p:nvPr>
        </p:nvSpPr>
        <p:spPr>
          <a:xfrm>
            <a:off x="8589963" y="6260338"/>
            <a:ext cx="495300" cy="476250"/>
          </a:xfrm>
        </p:spPr>
        <p:txBody>
          <a:bodyPr/>
          <a:lstStyle/>
          <a:p>
            <a:pPr>
              <a:defRPr/>
            </a:pPr>
            <a:endParaRPr lang="en-GB"/>
          </a:p>
          <a:p>
            <a:pPr>
              <a:defRPr/>
            </a:pPr>
            <a:fld id="{FC96386F-C149-48D8-92C5-2CFDBA85534B}" type="slidenum">
              <a:rPr lang="en-GB" smtClean="0"/>
              <a:pPr>
                <a:defRPr/>
              </a:pPr>
              <a:t>86</a:t>
            </a:fld>
            <a:endParaRPr lang="en-GB"/>
          </a:p>
        </p:txBody>
      </p:sp>
    </p:spTree>
    <p:extLst>
      <p:ext uri="{BB962C8B-B14F-4D97-AF65-F5344CB8AC3E}">
        <p14:creationId xmlns:p14="http://schemas.microsoft.com/office/powerpoint/2010/main" val="30017933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19615E3-784B-91EB-03C5-3DF8DDA9DCF9}"/>
              </a:ext>
            </a:extLst>
          </p:cNvPr>
          <p:cNvGrpSpPr/>
          <p:nvPr/>
        </p:nvGrpSpPr>
        <p:grpSpPr>
          <a:xfrm>
            <a:off x="2427288" y="2052637"/>
            <a:ext cx="4427538" cy="2611438"/>
            <a:chOff x="2427288" y="2052637"/>
            <a:chExt cx="4427538" cy="2611438"/>
          </a:xfrm>
        </p:grpSpPr>
        <p:grpSp>
          <p:nvGrpSpPr>
            <p:cNvPr id="2" name="Group 14"/>
            <p:cNvGrpSpPr>
              <a:grpSpLocks/>
            </p:cNvGrpSpPr>
            <p:nvPr/>
          </p:nvGrpSpPr>
          <p:grpSpPr bwMode="auto">
            <a:xfrm>
              <a:off x="2427288" y="2052637"/>
              <a:ext cx="4427538" cy="2611438"/>
              <a:chOff x="1529" y="1293"/>
              <a:chExt cx="2789" cy="1645"/>
            </a:xfrm>
          </p:grpSpPr>
          <p:sp>
            <p:nvSpPr>
              <p:cNvPr id="11274" name="Text Box 4"/>
              <p:cNvSpPr txBox="1">
                <a:spLocks noChangeArrowheads="1"/>
              </p:cNvSpPr>
              <p:nvPr/>
            </p:nvSpPr>
            <p:spPr bwMode="auto">
              <a:xfrm>
                <a:off x="2467" y="1293"/>
                <a:ext cx="817" cy="291"/>
              </a:xfrm>
              <a:prstGeom prst="rect">
                <a:avLst/>
              </a:prstGeom>
              <a:noFill/>
              <a:ln w="9525">
                <a:noFill/>
                <a:miter lim="800000"/>
                <a:headEnd/>
                <a:tailEnd/>
              </a:ln>
            </p:spPr>
            <p:txBody>
              <a:bodyPr wrap="none">
                <a:spAutoFit/>
              </a:bodyPr>
              <a:lstStyle/>
              <a:p>
                <a:pPr algn="ctr"/>
                <a:r>
                  <a:rPr lang="en-US" sz="2400" b="0" u="none" dirty="0">
                    <a:latin typeface="Arial" pitchFamily="34" charset="0"/>
                    <a:cs typeface="Arial" pitchFamily="34" charset="0"/>
                  </a:rPr>
                  <a:t>Pictures</a:t>
                </a:r>
              </a:p>
            </p:txBody>
          </p:sp>
          <p:sp>
            <p:nvSpPr>
              <p:cNvPr id="11275" name="Text Box 5"/>
              <p:cNvSpPr txBox="1">
                <a:spLocks noChangeArrowheads="1"/>
              </p:cNvSpPr>
              <p:nvPr/>
            </p:nvSpPr>
            <p:spPr bwMode="auto">
              <a:xfrm>
                <a:off x="1529" y="2647"/>
                <a:ext cx="673" cy="291"/>
              </a:xfrm>
              <a:prstGeom prst="rect">
                <a:avLst/>
              </a:prstGeom>
              <a:noFill/>
              <a:ln w="9525">
                <a:noFill/>
                <a:miter lim="800000"/>
                <a:headEnd/>
                <a:tailEnd/>
              </a:ln>
            </p:spPr>
            <p:txBody>
              <a:bodyPr wrap="none">
                <a:spAutoFit/>
              </a:bodyPr>
              <a:lstStyle/>
              <a:p>
                <a:pPr algn="ctr"/>
                <a:r>
                  <a:rPr lang="en-US" sz="2400" b="0" u="none" dirty="0">
                    <a:latin typeface="Arial" pitchFamily="34" charset="0"/>
                    <a:cs typeface="Arial" pitchFamily="34" charset="0"/>
                  </a:rPr>
                  <a:t>Words</a:t>
                </a:r>
              </a:p>
            </p:txBody>
          </p:sp>
          <p:sp>
            <p:nvSpPr>
              <p:cNvPr id="11276" name="Text Box 6"/>
              <p:cNvSpPr txBox="1">
                <a:spLocks noChangeArrowheads="1"/>
              </p:cNvSpPr>
              <p:nvPr/>
            </p:nvSpPr>
            <p:spPr bwMode="auto">
              <a:xfrm>
                <a:off x="3414" y="2599"/>
                <a:ext cx="904" cy="291"/>
              </a:xfrm>
              <a:prstGeom prst="rect">
                <a:avLst/>
              </a:prstGeom>
              <a:noFill/>
              <a:ln w="9525">
                <a:noFill/>
                <a:miter lim="800000"/>
                <a:headEnd/>
                <a:tailEnd/>
              </a:ln>
            </p:spPr>
            <p:txBody>
              <a:bodyPr wrap="none">
                <a:spAutoFit/>
              </a:bodyPr>
              <a:lstStyle/>
              <a:p>
                <a:pPr algn="ctr"/>
                <a:r>
                  <a:rPr lang="en-US" sz="2400" b="0" u="none" dirty="0">
                    <a:latin typeface="Arial" pitchFamily="34" charset="0"/>
                    <a:cs typeface="Arial" pitchFamily="34" charset="0"/>
                  </a:rPr>
                  <a:t>Numbers</a:t>
                </a:r>
              </a:p>
            </p:txBody>
          </p:sp>
        </p:grpSp>
        <p:sp>
          <p:nvSpPr>
            <p:cNvPr id="11268" name="Line 7"/>
            <p:cNvSpPr>
              <a:spLocks noChangeShapeType="1"/>
            </p:cNvSpPr>
            <p:nvPr/>
          </p:nvSpPr>
          <p:spPr bwMode="auto">
            <a:xfrm flipH="1">
              <a:off x="2990850" y="2636838"/>
              <a:ext cx="1362075" cy="1587500"/>
            </a:xfrm>
            <a:prstGeom prst="line">
              <a:avLst/>
            </a:prstGeom>
            <a:noFill/>
            <a:ln w="28575">
              <a:solidFill>
                <a:schemeClr val="tx1"/>
              </a:solidFill>
              <a:round/>
              <a:headEnd type="none" w="med" len="med"/>
              <a:tailEnd type="none" w="med" len="med"/>
            </a:ln>
          </p:spPr>
          <p:txBody>
            <a:bodyPr wrap="none" anchor="ctr"/>
            <a:lstStyle/>
            <a:p>
              <a:endParaRPr lang="en-US" b="0" u="none">
                <a:latin typeface="Arial" pitchFamily="34" charset="0"/>
                <a:cs typeface="Arial" pitchFamily="34" charset="0"/>
              </a:endParaRPr>
            </a:p>
          </p:txBody>
        </p:sp>
        <p:sp>
          <p:nvSpPr>
            <p:cNvPr id="11269" name="Line 8"/>
            <p:cNvSpPr>
              <a:spLocks noChangeShapeType="1"/>
            </p:cNvSpPr>
            <p:nvPr/>
          </p:nvSpPr>
          <p:spPr bwMode="auto">
            <a:xfrm rot="16200000" flipH="1">
              <a:off x="4667250" y="2700338"/>
              <a:ext cx="1524000" cy="1371600"/>
            </a:xfrm>
            <a:prstGeom prst="line">
              <a:avLst/>
            </a:prstGeom>
            <a:noFill/>
            <a:ln w="28575">
              <a:solidFill>
                <a:schemeClr val="tx1"/>
              </a:solidFill>
              <a:round/>
              <a:headEnd type="none" w="med" len="med"/>
              <a:tailEnd type="none" w="med" len="med"/>
            </a:ln>
          </p:spPr>
          <p:txBody>
            <a:bodyPr wrap="none" anchor="ctr"/>
            <a:lstStyle/>
            <a:p>
              <a:endParaRPr lang="en-US" b="0" u="none">
                <a:latin typeface="Arial" pitchFamily="34" charset="0"/>
                <a:cs typeface="Arial" pitchFamily="34" charset="0"/>
              </a:endParaRPr>
            </a:p>
          </p:txBody>
        </p:sp>
        <p:sp>
          <p:nvSpPr>
            <p:cNvPr id="11270" name="Line 9"/>
            <p:cNvSpPr>
              <a:spLocks noChangeShapeType="1"/>
            </p:cNvSpPr>
            <p:nvPr/>
          </p:nvSpPr>
          <p:spPr bwMode="auto">
            <a:xfrm rot="16200000" flipH="1">
              <a:off x="4476750" y="3652838"/>
              <a:ext cx="0" cy="1600200"/>
            </a:xfrm>
            <a:prstGeom prst="line">
              <a:avLst/>
            </a:prstGeom>
            <a:noFill/>
            <a:ln w="28575">
              <a:solidFill>
                <a:schemeClr val="tx1"/>
              </a:solidFill>
              <a:round/>
              <a:headEnd type="none" w="med" len="med"/>
              <a:tailEnd type="none" w="med" len="med"/>
            </a:ln>
          </p:spPr>
          <p:txBody>
            <a:bodyPr wrap="none" anchor="ctr"/>
            <a:lstStyle/>
            <a:p>
              <a:endParaRPr lang="en-US" b="0" u="none">
                <a:latin typeface="Arial" pitchFamily="34" charset="0"/>
                <a:cs typeface="Arial" pitchFamily="34" charset="0"/>
              </a:endParaRPr>
            </a:p>
          </p:txBody>
        </p:sp>
      </p:grpSp>
      <p:sp>
        <p:nvSpPr>
          <p:cNvPr id="14" name="Slide Number Placeholder 3"/>
          <p:cNvSpPr>
            <a:spLocks noGrp="1"/>
          </p:cNvSpPr>
          <p:nvPr>
            <p:ph type="sldNum" sz="quarter" idx="11"/>
          </p:nvPr>
        </p:nvSpPr>
        <p:spPr>
          <a:xfrm>
            <a:off x="8589963" y="6260338"/>
            <a:ext cx="495300" cy="476250"/>
          </a:xfrm>
        </p:spPr>
        <p:txBody>
          <a:bodyPr/>
          <a:lstStyle/>
          <a:p>
            <a:pPr>
              <a:defRPr/>
            </a:pPr>
            <a:endParaRPr lang="en-GB"/>
          </a:p>
          <a:p>
            <a:pPr>
              <a:defRPr/>
            </a:pPr>
            <a:fld id="{FC96386F-C149-48D8-92C5-2CFDBA85534B}" type="slidenum">
              <a:rPr lang="en-GB" smtClean="0"/>
              <a:pPr>
                <a:defRPr/>
              </a:pPr>
              <a:t>87</a:t>
            </a:fld>
            <a:endParaRPr lang="en-GB"/>
          </a:p>
        </p:txBody>
      </p:sp>
      <p:sp>
        <p:nvSpPr>
          <p:cNvPr id="3" name="Title 1">
            <a:extLst>
              <a:ext uri="{FF2B5EF4-FFF2-40B4-BE49-F238E27FC236}">
                <a16:creationId xmlns:a16="http://schemas.microsoft.com/office/drawing/2014/main" id="{7FFD4EF5-BEC4-96A8-0705-A87276FD3C2B}"/>
              </a:ext>
            </a:extLst>
          </p:cNvPr>
          <p:cNvSpPr>
            <a:spLocks noGrp="1"/>
          </p:cNvSpPr>
          <p:nvPr>
            <p:ph type="title"/>
          </p:nvPr>
        </p:nvSpPr>
        <p:spPr>
          <a:xfrm>
            <a:off x="354013" y="274638"/>
            <a:ext cx="8437562" cy="723900"/>
          </a:xfrm>
        </p:spPr>
        <p:txBody>
          <a:bodyPr/>
          <a:lstStyle/>
          <a:p>
            <a:r>
              <a:rPr lang="en-US" dirty="0"/>
              <a:t>Tell Your Story in Three Languages</a:t>
            </a:r>
          </a:p>
        </p:txBody>
      </p:sp>
    </p:spTree>
    <p:extLst>
      <p:ext uri="{BB962C8B-B14F-4D97-AF65-F5344CB8AC3E}">
        <p14:creationId xmlns:p14="http://schemas.microsoft.com/office/powerpoint/2010/main" val="40937853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B7ED-075B-5F2D-7D9C-0A12128F6DC7}"/>
              </a:ext>
            </a:extLst>
          </p:cNvPr>
          <p:cNvSpPr>
            <a:spLocks noGrp="1"/>
          </p:cNvSpPr>
          <p:nvPr>
            <p:ph type="title"/>
          </p:nvPr>
        </p:nvSpPr>
        <p:spPr/>
        <p:txBody>
          <a:bodyPr/>
          <a:lstStyle/>
          <a:p>
            <a:r>
              <a:rPr lang="en-US" dirty="0"/>
              <a:t>Yale SOM Mission Statement</a:t>
            </a:r>
          </a:p>
        </p:txBody>
      </p:sp>
      <p:sp>
        <p:nvSpPr>
          <p:cNvPr id="3" name="Slide Number Placeholder 2">
            <a:extLst>
              <a:ext uri="{FF2B5EF4-FFF2-40B4-BE49-F238E27FC236}">
                <a16:creationId xmlns:a16="http://schemas.microsoft.com/office/drawing/2014/main" id="{829B8164-24F7-084D-D669-79D9EC694721}"/>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88</a:t>
            </a:fld>
            <a:endParaRPr lang="en-GB" dirty="0"/>
          </a:p>
        </p:txBody>
      </p:sp>
    </p:spTree>
    <p:extLst>
      <p:ext uri="{BB962C8B-B14F-4D97-AF65-F5344CB8AC3E}">
        <p14:creationId xmlns:p14="http://schemas.microsoft.com/office/powerpoint/2010/main" val="6872760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8279F-8F47-4AF3-BCFE-4A0018023229}"/>
              </a:ext>
            </a:extLst>
          </p:cNvPr>
          <p:cNvSpPr>
            <a:spLocks noGrp="1"/>
          </p:cNvSpPr>
          <p:nvPr>
            <p:ph type="title"/>
          </p:nvPr>
        </p:nvSpPr>
        <p:spPr/>
        <p:txBody>
          <a:bodyPr/>
          <a:lstStyle/>
          <a:p>
            <a:r>
              <a:rPr lang="en-US" dirty="0"/>
              <a:t>Yale Mission</a:t>
            </a:r>
          </a:p>
        </p:txBody>
      </p:sp>
      <p:sp>
        <p:nvSpPr>
          <p:cNvPr id="3" name="Content Placeholder 2">
            <a:extLst>
              <a:ext uri="{FF2B5EF4-FFF2-40B4-BE49-F238E27FC236}">
                <a16:creationId xmlns:a16="http://schemas.microsoft.com/office/drawing/2014/main" id="{FEC7B8BA-385B-4F96-AFF5-068E7C06CDD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The mission of the Yale School of Management is to educate leaders for business and society</a:t>
            </a:r>
          </a:p>
          <a:p>
            <a:pPr marL="0" indent="0">
              <a:buNone/>
            </a:pPr>
            <a:endParaRPr lang="en-US" dirty="0"/>
          </a:p>
        </p:txBody>
      </p:sp>
      <p:sp>
        <p:nvSpPr>
          <p:cNvPr id="4" name="Slide Number Placeholder 3">
            <a:extLst>
              <a:ext uri="{FF2B5EF4-FFF2-40B4-BE49-F238E27FC236}">
                <a16:creationId xmlns:a16="http://schemas.microsoft.com/office/drawing/2014/main" id="{DED3343E-5E7A-4E00-9AB1-5F9C36555BF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89</a:t>
            </a:fld>
            <a:endParaRPr lang="en-GB" dirty="0"/>
          </a:p>
        </p:txBody>
      </p:sp>
    </p:spTree>
    <p:extLst>
      <p:ext uri="{BB962C8B-B14F-4D97-AF65-F5344CB8AC3E}">
        <p14:creationId xmlns:p14="http://schemas.microsoft.com/office/powerpoint/2010/main" val="12501290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8279F-8F47-4AF3-BCFE-4A0018023229}"/>
              </a:ext>
            </a:extLst>
          </p:cNvPr>
          <p:cNvSpPr>
            <a:spLocks noGrp="1"/>
          </p:cNvSpPr>
          <p:nvPr>
            <p:ph type="title"/>
          </p:nvPr>
        </p:nvSpPr>
        <p:spPr/>
        <p:txBody>
          <a:bodyPr/>
          <a:lstStyle/>
          <a:p>
            <a:r>
              <a:rPr lang="en-US" dirty="0"/>
              <a:t>Yale Mission</a:t>
            </a:r>
          </a:p>
        </p:txBody>
      </p:sp>
      <p:sp>
        <p:nvSpPr>
          <p:cNvPr id="3" name="Content Placeholder 2">
            <a:extLst>
              <a:ext uri="{FF2B5EF4-FFF2-40B4-BE49-F238E27FC236}">
                <a16:creationId xmlns:a16="http://schemas.microsoft.com/office/drawing/2014/main" id="{FEC7B8BA-385B-4F96-AFF5-068E7C06CDD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The mission of the Yale School of Management is to educate leaders for business and society</a:t>
            </a:r>
          </a:p>
          <a:p>
            <a:pPr marL="0" indent="0">
              <a:buNone/>
            </a:pPr>
            <a:endParaRPr lang="en-US" dirty="0"/>
          </a:p>
          <a:p>
            <a:pPr marL="0" indent="0">
              <a:buNone/>
            </a:pPr>
            <a:r>
              <a:rPr lang="en-US" dirty="0"/>
              <a:t>We seek students who care deeply about the problems afflicting our world. </a:t>
            </a:r>
            <a:r>
              <a:rPr lang="en-US" dirty="0">
                <a:solidFill>
                  <a:srgbClr val="FF0000"/>
                </a:solidFill>
              </a:rPr>
              <a:t>We equip them with the knowledge</a:t>
            </a:r>
            <a:r>
              <a:rPr lang="en-US" dirty="0"/>
              <a:t>, the resources, and the networks </a:t>
            </a:r>
            <a:r>
              <a:rPr lang="en-US" dirty="0">
                <a:solidFill>
                  <a:srgbClr val="FF0000"/>
                </a:solidFill>
              </a:rPr>
              <a:t>to pursue positive and ambitious change</a:t>
            </a:r>
            <a:r>
              <a:rPr lang="en-US" dirty="0"/>
              <a:t>—whether that takes the form of launching a business that can refashion its market, advancing </a:t>
            </a:r>
            <a:r>
              <a:rPr lang="en-US" dirty="0">
                <a:solidFill>
                  <a:schemeClr val="accent6"/>
                </a:solidFill>
              </a:rPr>
              <a:t>far-reaching and rigorously considered policy initiatives, or steering a multinational corporation with keen awareness of and respect for its impact on workers, communities, and the environment</a:t>
            </a:r>
            <a:r>
              <a:rPr lang="en-US" dirty="0"/>
              <a:t>.</a:t>
            </a:r>
          </a:p>
        </p:txBody>
      </p:sp>
      <p:sp>
        <p:nvSpPr>
          <p:cNvPr id="4" name="Slide Number Placeholder 3">
            <a:extLst>
              <a:ext uri="{FF2B5EF4-FFF2-40B4-BE49-F238E27FC236}">
                <a16:creationId xmlns:a16="http://schemas.microsoft.com/office/drawing/2014/main" id="{DED3343E-5E7A-4E00-9AB1-5F9C36555BF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90</a:t>
            </a:fld>
            <a:endParaRPr lang="en-GB" dirty="0"/>
          </a:p>
        </p:txBody>
      </p:sp>
    </p:spTree>
    <p:extLst>
      <p:ext uri="{BB962C8B-B14F-4D97-AF65-F5344CB8AC3E}">
        <p14:creationId xmlns:p14="http://schemas.microsoft.com/office/powerpoint/2010/main" val="23808438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8C2B-D021-4EEE-B030-F614AF1A5E2C}"/>
              </a:ext>
            </a:extLst>
          </p:cNvPr>
          <p:cNvSpPr>
            <a:spLocks noGrp="1"/>
          </p:cNvSpPr>
          <p:nvPr>
            <p:ph type="title"/>
          </p:nvPr>
        </p:nvSpPr>
        <p:spPr/>
        <p:txBody>
          <a:bodyPr/>
          <a:lstStyle/>
          <a:p>
            <a:r>
              <a:rPr lang="en-US" dirty="0"/>
              <a:t>Bootstrapping a Means Test (if Time)</a:t>
            </a:r>
          </a:p>
        </p:txBody>
      </p:sp>
      <p:sp>
        <p:nvSpPr>
          <p:cNvPr id="3" name="Slide Number Placeholder 2">
            <a:extLst>
              <a:ext uri="{FF2B5EF4-FFF2-40B4-BE49-F238E27FC236}">
                <a16:creationId xmlns:a16="http://schemas.microsoft.com/office/drawing/2014/main" id="{E0F5EE0F-E1C5-4853-9CA8-684AFF909CCD}"/>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91</a:t>
            </a:fld>
            <a:endParaRPr lang="en-GB" dirty="0"/>
          </a:p>
        </p:txBody>
      </p:sp>
    </p:spTree>
    <p:extLst>
      <p:ext uri="{BB962C8B-B14F-4D97-AF65-F5344CB8AC3E}">
        <p14:creationId xmlns:p14="http://schemas.microsoft.com/office/powerpoint/2010/main" val="38992095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CD0D2-AB8B-4744-8016-450E2D0E5D1A}"/>
              </a:ext>
            </a:extLst>
          </p:cNvPr>
          <p:cNvSpPr>
            <a:spLocks noGrp="1"/>
          </p:cNvSpPr>
          <p:nvPr>
            <p:ph type="title"/>
          </p:nvPr>
        </p:nvSpPr>
        <p:spPr/>
        <p:txBody>
          <a:bodyPr/>
          <a:lstStyle/>
          <a:p>
            <a:r>
              <a:rPr lang="en-US" dirty="0"/>
              <a:t>Bootstrapping!</a:t>
            </a:r>
          </a:p>
        </p:txBody>
      </p:sp>
      <p:sp>
        <p:nvSpPr>
          <p:cNvPr id="3" name="Content Placeholder 2">
            <a:extLst>
              <a:ext uri="{FF2B5EF4-FFF2-40B4-BE49-F238E27FC236}">
                <a16:creationId xmlns:a16="http://schemas.microsoft.com/office/drawing/2014/main" id="{E82F08C5-3976-4B8D-A1C6-397783742458}"/>
              </a:ext>
            </a:extLst>
          </p:cNvPr>
          <p:cNvSpPr>
            <a:spLocks noGrp="1"/>
          </p:cNvSpPr>
          <p:nvPr>
            <p:ph idx="1"/>
          </p:nvPr>
        </p:nvSpPr>
        <p:spPr/>
        <p:txBody>
          <a:bodyPr/>
          <a:lstStyle/>
          <a:p>
            <a:endParaRPr lang="en-US" dirty="0"/>
          </a:p>
          <a:p>
            <a:r>
              <a:rPr lang="en-US" dirty="0"/>
              <a:t>Classical statistical theory evolved when computation was very costly</a:t>
            </a:r>
          </a:p>
          <a:p>
            <a:endParaRPr lang="en-US" dirty="0"/>
          </a:p>
          <a:p>
            <a:r>
              <a:rPr lang="en-US" dirty="0"/>
              <a:t>Huge premium on analytical solutions like above</a:t>
            </a:r>
          </a:p>
          <a:p>
            <a:endParaRPr lang="en-US" dirty="0"/>
          </a:p>
          <a:p>
            <a:r>
              <a:rPr lang="en-US" dirty="0"/>
              <a:t>Today, computation is cheap, so a lot more can be done numerically</a:t>
            </a:r>
          </a:p>
          <a:p>
            <a:endParaRPr lang="en-US" dirty="0"/>
          </a:p>
          <a:p>
            <a:r>
              <a:rPr lang="en-US" dirty="0"/>
              <a:t>Bootstrapping (re-sampling) is a powerful numerical approach to statistical inference</a:t>
            </a:r>
          </a:p>
        </p:txBody>
      </p:sp>
      <p:sp>
        <p:nvSpPr>
          <p:cNvPr id="4" name="Slide Number Placeholder 3">
            <a:extLst>
              <a:ext uri="{FF2B5EF4-FFF2-40B4-BE49-F238E27FC236}">
                <a16:creationId xmlns:a16="http://schemas.microsoft.com/office/drawing/2014/main" id="{7C3894DF-D4B0-4E15-A907-2664FAB34F87}"/>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92</a:t>
            </a:fld>
            <a:endParaRPr lang="en-GB" dirty="0"/>
          </a:p>
        </p:txBody>
      </p:sp>
    </p:spTree>
    <p:extLst>
      <p:ext uri="{BB962C8B-B14F-4D97-AF65-F5344CB8AC3E}">
        <p14:creationId xmlns:p14="http://schemas.microsoft.com/office/powerpoint/2010/main" val="206394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B653-DF89-4AA5-904E-3F78A93CFAA5}"/>
              </a:ext>
            </a:extLst>
          </p:cNvPr>
          <p:cNvSpPr>
            <a:spLocks noGrp="1"/>
          </p:cNvSpPr>
          <p:nvPr>
            <p:ph type="title"/>
          </p:nvPr>
        </p:nvSpPr>
        <p:spPr/>
        <p:txBody>
          <a:bodyPr/>
          <a:lstStyle/>
          <a:p>
            <a:r>
              <a:rPr lang="en-US" dirty="0"/>
              <a:t>History of Bootstrapping</a:t>
            </a:r>
          </a:p>
        </p:txBody>
      </p:sp>
      <p:sp>
        <p:nvSpPr>
          <p:cNvPr id="3" name="Content Placeholder 2">
            <a:extLst>
              <a:ext uri="{FF2B5EF4-FFF2-40B4-BE49-F238E27FC236}">
                <a16:creationId xmlns:a16="http://schemas.microsoft.com/office/drawing/2014/main" id="{D33EED9A-40FA-4572-BE21-291CC5A3BBEB}"/>
              </a:ext>
            </a:extLst>
          </p:cNvPr>
          <p:cNvSpPr>
            <a:spLocks noGrp="1"/>
          </p:cNvSpPr>
          <p:nvPr>
            <p:ph idx="1"/>
          </p:nvPr>
        </p:nvSpPr>
        <p:spPr/>
        <p:txBody>
          <a:bodyPr/>
          <a:lstStyle/>
          <a:p>
            <a:r>
              <a:rPr lang="en-US" dirty="0"/>
              <a:t>Idea goes back to the 1930s</a:t>
            </a:r>
          </a:p>
          <a:p>
            <a:endParaRPr lang="en-US" dirty="0"/>
          </a:p>
          <a:p>
            <a:r>
              <a:rPr lang="en-US" dirty="0"/>
              <a:t>Formally introduced in 1979 by Bradley Efron</a:t>
            </a:r>
          </a:p>
          <a:p>
            <a:endParaRPr lang="en-US" dirty="0"/>
          </a:p>
          <a:p>
            <a:pPr marL="400050" lvl="1" indent="0">
              <a:buNone/>
            </a:pPr>
            <a:r>
              <a:rPr lang="en-US" dirty="0">
                <a:solidFill>
                  <a:schemeClr val="tx1"/>
                </a:solidFill>
              </a:rPr>
              <a:t>Instead of relying on analytical formulas or </a:t>
            </a:r>
            <a:br>
              <a:rPr lang="en-US" dirty="0">
                <a:solidFill>
                  <a:schemeClr val="tx1"/>
                </a:solidFill>
              </a:rPr>
            </a:br>
            <a:r>
              <a:rPr lang="en-US" dirty="0">
                <a:solidFill>
                  <a:schemeClr val="tx1"/>
                </a:solidFill>
              </a:rPr>
              <a:t>asymptotic theory, simulate the sampling </a:t>
            </a:r>
            <a:br>
              <a:rPr lang="en-US" dirty="0">
                <a:solidFill>
                  <a:schemeClr val="tx1"/>
                </a:solidFill>
              </a:rPr>
            </a:br>
            <a:r>
              <a:rPr lang="en-US" dirty="0">
                <a:solidFill>
                  <a:schemeClr val="tx1"/>
                </a:solidFill>
              </a:rPr>
              <a:t>distribution of a statistic by resampling with </a:t>
            </a:r>
            <a:br>
              <a:rPr lang="en-US" dirty="0">
                <a:solidFill>
                  <a:schemeClr val="tx1"/>
                </a:solidFill>
              </a:rPr>
            </a:br>
            <a:r>
              <a:rPr lang="en-US" dirty="0">
                <a:solidFill>
                  <a:schemeClr val="tx1"/>
                </a:solidFill>
              </a:rPr>
              <a:t>replacement from the observed data.</a:t>
            </a:r>
          </a:p>
          <a:p>
            <a:pPr marL="400050" lvl="1" indent="0">
              <a:buNone/>
            </a:pPr>
            <a:endParaRPr lang="en-US" dirty="0">
              <a:solidFill>
                <a:schemeClr val="tx1"/>
              </a:solidFill>
            </a:endParaRPr>
          </a:p>
          <a:p>
            <a:r>
              <a:rPr lang="en-US" dirty="0">
                <a:solidFill>
                  <a:schemeClr val="accent6"/>
                </a:solidFill>
              </a:rPr>
              <a:t>Basic idea: if a sample is representative, you can use re-sampling of it to determine the empirical distribution of your test statistic</a:t>
            </a:r>
          </a:p>
          <a:p>
            <a:endParaRPr lang="en-US" dirty="0">
              <a:solidFill>
                <a:schemeClr val="accent6"/>
              </a:solidFill>
            </a:endParaRPr>
          </a:p>
          <a:p>
            <a:r>
              <a:rPr lang="en-US" dirty="0">
                <a:solidFill>
                  <a:schemeClr val="accent6"/>
                </a:solidFill>
              </a:rPr>
              <a:t>So, instead of using the central limit theorem to get an analytic normal distribution for polls, re-sample the same poll many times to get an empirical distribution</a:t>
            </a:r>
          </a:p>
        </p:txBody>
      </p:sp>
      <p:sp>
        <p:nvSpPr>
          <p:cNvPr id="4" name="Slide Number Placeholder 3">
            <a:extLst>
              <a:ext uri="{FF2B5EF4-FFF2-40B4-BE49-F238E27FC236}">
                <a16:creationId xmlns:a16="http://schemas.microsoft.com/office/drawing/2014/main" id="{4CBE5E9C-F94F-405F-8A29-C4EC2B34A61B}"/>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93</a:t>
            </a:fld>
            <a:endParaRPr lang="en-GB" dirty="0"/>
          </a:p>
        </p:txBody>
      </p:sp>
      <p:pic>
        <p:nvPicPr>
          <p:cNvPr id="1028" name="Picture 4" descr="Bradley Efron - National Science and Technology Medals Foundation">
            <a:extLst>
              <a:ext uri="{FF2B5EF4-FFF2-40B4-BE49-F238E27FC236}">
                <a16:creationId xmlns:a16="http://schemas.microsoft.com/office/drawing/2014/main" id="{3E1ED12D-36FF-428E-970A-9A10C5B9E1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8901" y="1879012"/>
            <a:ext cx="1867314" cy="2007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80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138F-3AEB-479E-8D51-5FC9398E841D}"/>
              </a:ext>
            </a:extLst>
          </p:cNvPr>
          <p:cNvSpPr>
            <a:spLocks noGrp="1"/>
          </p:cNvSpPr>
          <p:nvPr>
            <p:ph type="title"/>
          </p:nvPr>
        </p:nvSpPr>
        <p:spPr/>
        <p:txBody>
          <a:bodyPr/>
          <a:lstStyle/>
          <a:p>
            <a:r>
              <a:rPr lang="en-US" dirty="0"/>
              <a:t>Poll Reliability with Bootstrapping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4B6347-3C5C-43B6-BAF4-6943E8F76B06}"/>
                  </a:ext>
                </a:extLst>
              </p:cNvPr>
              <p:cNvSpPr>
                <a:spLocks noGrp="1"/>
              </p:cNvSpPr>
              <p:nvPr>
                <p:ph idx="1"/>
              </p:nvPr>
            </p:nvSpPr>
            <p:spPr>
              <a:xfrm>
                <a:off x="354013" y="1089026"/>
                <a:ext cx="8437562" cy="3169708"/>
              </a:xfrm>
            </p:spPr>
            <p:txBody>
              <a:bodyPr/>
              <a:lstStyle/>
              <a:p>
                <a:r>
                  <a:rPr lang="en-US" dirty="0"/>
                  <a:t>We can use bootstrapping to construct an alternate Fox poll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95</m:t>
                        </m:r>
                      </m:sup>
                    </m:sSup>
                  </m:oMath>
                </a14:m>
                <a:endParaRPr lang="en-US" dirty="0"/>
              </a:p>
              <a:p>
                <a:endParaRPr lang="en-US" dirty="0"/>
              </a:p>
              <a:p>
                <a:r>
                  <a:rPr lang="en-US" dirty="0"/>
                  <a:t>Assuming the Fox poll sample is representative of the population, we treat sample as the population and repeatedly randomly sample from it with replacement</a:t>
                </a:r>
              </a:p>
            </p:txBody>
          </p:sp>
        </mc:Choice>
        <mc:Fallback xmlns="">
          <p:sp>
            <p:nvSpPr>
              <p:cNvPr id="3" name="Content Placeholder 2">
                <a:extLst>
                  <a:ext uri="{FF2B5EF4-FFF2-40B4-BE49-F238E27FC236}">
                    <a16:creationId xmlns:a16="http://schemas.microsoft.com/office/drawing/2014/main" id="{AF4B6347-3C5C-43B6-BAF4-6943E8F76B06}"/>
                  </a:ext>
                </a:extLst>
              </p:cNvPr>
              <p:cNvSpPr>
                <a:spLocks noGrp="1" noRot="1" noChangeAspect="1" noMove="1" noResize="1" noEditPoints="1" noAdjustHandles="1" noChangeArrowheads="1" noChangeShapeType="1" noTextEdit="1"/>
              </p:cNvSpPr>
              <p:nvPr>
                <p:ph idx="1"/>
              </p:nvPr>
            </p:nvSpPr>
            <p:spPr>
              <a:xfrm>
                <a:off x="354013" y="1089026"/>
                <a:ext cx="8437562" cy="3169708"/>
              </a:xfrm>
              <a:blipFill>
                <a:blip r:embed="rId2"/>
                <a:stretch>
                  <a:fillRect l="-650" t="-96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3D0E8EF-C1A3-424E-A204-82875AE3B960}"/>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94</a:t>
            </a:fld>
            <a:endParaRPr lang="en-GB" dirty="0"/>
          </a:p>
        </p:txBody>
      </p:sp>
      <p:sp>
        <p:nvSpPr>
          <p:cNvPr id="41" name="Oval 40">
            <a:extLst>
              <a:ext uri="{FF2B5EF4-FFF2-40B4-BE49-F238E27FC236}">
                <a16:creationId xmlns:a16="http://schemas.microsoft.com/office/drawing/2014/main" id="{CD41C1FE-0852-4086-9701-CB4F757BC671}"/>
              </a:ext>
            </a:extLst>
          </p:cNvPr>
          <p:cNvSpPr/>
          <p:nvPr/>
        </p:nvSpPr>
        <p:spPr bwMode="auto">
          <a:xfrm>
            <a:off x="404820" y="3645523"/>
            <a:ext cx="3138480" cy="2041872"/>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chemeClr val="tx1"/>
              </a:solidFill>
              <a:effectLst/>
              <a:latin typeface="Arial" panose="020B0604020202020204" pitchFamily="34" charset="0"/>
            </a:endParaRPr>
          </a:p>
        </p:txBody>
      </p:sp>
      <p:sp>
        <p:nvSpPr>
          <p:cNvPr id="46" name="TextBox 45">
            <a:extLst>
              <a:ext uri="{FF2B5EF4-FFF2-40B4-BE49-F238E27FC236}">
                <a16:creationId xmlns:a16="http://schemas.microsoft.com/office/drawing/2014/main" id="{B1BD3E82-DDEE-44EC-8CA4-C579E994B938}"/>
              </a:ext>
            </a:extLst>
          </p:cNvPr>
          <p:cNvSpPr txBox="1"/>
          <p:nvPr/>
        </p:nvSpPr>
        <p:spPr>
          <a:xfrm>
            <a:off x="1024904" y="3784628"/>
            <a:ext cx="1861825" cy="400110"/>
          </a:xfrm>
          <a:prstGeom prst="rect">
            <a:avLst/>
          </a:prstGeom>
          <a:noFill/>
        </p:spPr>
        <p:txBody>
          <a:bodyPr wrap="square" rtlCol="0">
            <a:spAutoFit/>
          </a:bodyPr>
          <a:lstStyle/>
          <a:p>
            <a:pPr algn="ctr"/>
            <a:r>
              <a:rPr lang="en-US" b="0" u="none" dirty="0">
                <a:latin typeface="Arial" pitchFamily="34" charset="0"/>
                <a:cs typeface="Arial" pitchFamily="34" charset="0"/>
              </a:rPr>
              <a:t>Population</a:t>
            </a:r>
          </a:p>
        </p:txBody>
      </p:sp>
      <p:sp>
        <p:nvSpPr>
          <p:cNvPr id="47" name="Oval 46">
            <a:extLst>
              <a:ext uri="{FF2B5EF4-FFF2-40B4-BE49-F238E27FC236}">
                <a16:creationId xmlns:a16="http://schemas.microsoft.com/office/drawing/2014/main" id="{6666E010-4418-4E98-AC4C-4306709F003A}"/>
              </a:ext>
            </a:extLst>
          </p:cNvPr>
          <p:cNvSpPr/>
          <p:nvPr/>
        </p:nvSpPr>
        <p:spPr bwMode="auto">
          <a:xfrm>
            <a:off x="1291817" y="4428234"/>
            <a:ext cx="1326398" cy="1063256"/>
          </a:xfrm>
          <a:prstGeom prst="ellipse">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000" b="1" i="0" u="sng" strike="noStrike" cap="none" normalizeH="0" baseline="0" dirty="0">
              <a:ln>
                <a:noFill/>
              </a:ln>
              <a:solidFill>
                <a:srgbClr val="00B0F0"/>
              </a:solidFill>
              <a:effectLst/>
              <a:latin typeface="Arial" panose="020B0604020202020204" pitchFamily="34" charset="0"/>
            </a:endParaRPr>
          </a:p>
        </p:txBody>
      </p:sp>
      <p:sp>
        <p:nvSpPr>
          <p:cNvPr id="48" name="TextBox 47">
            <a:extLst>
              <a:ext uri="{FF2B5EF4-FFF2-40B4-BE49-F238E27FC236}">
                <a16:creationId xmlns:a16="http://schemas.microsoft.com/office/drawing/2014/main" id="{486D98F9-6649-4FF8-BA0A-0FA44451CBD3}"/>
              </a:ext>
            </a:extLst>
          </p:cNvPr>
          <p:cNvSpPr txBox="1"/>
          <p:nvPr/>
        </p:nvSpPr>
        <p:spPr>
          <a:xfrm>
            <a:off x="1271930" y="4401235"/>
            <a:ext cx="1366172" cy="1015663"/>
          </a:xfrm>
          <a:prstGeom prst="rect">
            <a:avLst/>
          </a:prstGeom>
          <a:noFill/>
        </p:spPr>
        <p:txBody>
          <a:bodyPr wrap="square" rtlCol="0">
            <a:spAutoFit/>
          </a:bodyPr>
          <a:lstStyle/>
          <a:p>
            <a:pPr algn="ctr"/>
            <a:r>
              <a:rPr lang="en-US" b="0" u="none" dirty="0">
                <a:solidFill>
                  <a:srgbClr val="00B0F0"/>
                </a:solidFill>
                <a:latin typeface="Arial" pitchFamily="34" charset="0"/>
                <a:cs typeface="Arial" pitchFamily="34" charset="0"/>
              </a:rPr>
              <a:t>Fox</a:t>
            </a:r>
          </a:p>
          <a:p>
            <a:pPr algn="ctr"/>
            <a:r>
              <a:rPr lang="en-US" b="0" u="none" dirty="0">
                <a:solidFill>
                  <a:srgbClr val="00B0F0"/>
                </a:solidFill>
                <a:latin typeface="Arial" pitchFamily="34" charset="0"/>
                <a:cs typeface="Arial" pitchFamily="34" charset="0"/>
              </a:rPr>
              <a:t>News</a:t>
            </a:r>
          </a:p>
          <a:p>
            <a:pPr algn="ctr"/>
            <a:r>
              <a:rPr lang="en-US" b="0" u="none" dirty="0">
                <a:solidFill>
                  <a:srgbClr val="00B0F0"/>
                </a:solidFill>
                <a:latin typeface="Arial" pitchFamily="34" charset="0"/>
                <a:cs typeface="Arial" pitchFamily="34" charset="0"/>
              </a:rPr>
              <a:t>Sample</a:t>
            </a:r>
          </a:p>
        </p:txBody>
      </p:sp>
      <p:sp>
        <p:nvSpPr>
          <p:cNvPr id="6" name="TextBox 5">
            <a:extLst>
              <a:ext uri="{FF2B5EF4-FFF2-40B4-BE49-F238E27FC236}">
                <a16:creationId xmlns:a16="http://schemas.microsoft.com/office/drawing/2014/main" id="{61C8AA57-7564-4373-BD6F-EF81567AF00A}"/>
              </a:ext>
            </a:extLst>
          </p:cNvPr>
          <p:cNvSpPr txBox="1"/>
          <p:nvPr/>
        </p:nvSpPr>
        <p:spPr>
          <a:xfrm>
            <a:off x="4258206" y="3493294"/>
            <a:ext cx="2055371" cy="1815882"/>
          </a:xfrm>
          <a:prstGeom prst="rect">
            <a:avLst/>
          </a:prstGeom>
          <a:noFill/>
        </p:spPr>
        <p:txBody>
          <a:bodyPr wrap="none" rtlCol="0">
            <a:spAutoFit/>
          </a:bodyPr>
          <a:lstStyle/>
          <a:p>
            <a:r>
              <a:rPr lang="en-US" sz="1400" b="0" u="none" dirty="0">
                <a:solidFill>
                  <a:srgbClr val="00B0F0"/>
                </a:solidFill>
                <a:latin typeface="Arial" pitchFamily="34" charset="0"/>
                <a:cs typeface="Arial" pitchFamily="34" charset="0"/>
              </a:rPr>
              <a:t>Bootstrap Sample 1</a:t>
            </a:r>
          </a:p>
          <a:p>
            <a:r>
              <a:rPr lang="en-US" sz="1400" b="0" u="none" dirty="0">
                <a:solidFill>
                  <a:srgbClr val="00B0F0"/>
                </a:solidFill>
                <a:latin typeface="Arial" pitchFamily="34" charset="0"/>
                <a:cs typeface="Arial" pitchFamily="34" charset="0"/>
              </a:rPr>
              <a:t>Bootstrap Sample 2</a:t>
            </a:r>
          </a:p>
          <a:p>
            <a:r>
              <a:rPr lang="en-US" sz="1400" b="0" u="none" dirty="0">
                <a:solidFill>
                  <a:srgbClr val="00B0F0"/>
                </a:solidFill>
                <a:latin typeface="Arial" pitchFamily="34" charset="0"/>
                <a:cs typeface="Arial" pitchFamily="34" charset="0"/>
              </a:rPr>
              <a:t>Bootstrap Sample 3</a:t>
            </a:r>
          </a:p>
          <a:p>
            <a:r>
              <a:rPr lang="en-US" sz="1400" b="0" u="none" dirty="0">
                <a:solidFill>
                  <a:srgbClr val="00B0F0"/>
                </a:solidFill>
                <a:latin typeface="Arial" pitchFamily="34" charset="0"/>
                <a:cs typeface="Arial" pitchFamily="34" charset="0"/>
              </a:rPr>
              <a:t>Bootstrap Sample 4</a:t>
            </a:r>
          </a:p>
          <a:p>
            <a:r>
              <a:rPr lang="en-US" sz="1400" b="0" u="none" dirty="0">
                <a:solidFill>
                  <a:srgbClr val="00B0F0"/>
                </a:solidFill>
                <a:latin typeface="Arial" pitchFamily="34" charset="0"/>
                <a:cs typeface="Arial" pitchFamily="34" charset="0"/>
              </a:rPr>
              <a:t>.</a:t>
            </a:r>
          </a:p>
          <a:p>
            <a:r>
              <a:rPr lang="en-US" sz="1400" b="0" u="none" dirty="0">
                <a:solidFill>
                  <a:srgbClr val="00B0F0"/>
                </a:solidFill>
                <a:latin typeface="Arial" pitchFamily="34" charset="0"/>
                <a:cs typeface="Arial" pitchFamily="34" charset="0"/>
              </a:rPr>
              <a:t>.</a:t>
            </a:r>
          </a:p>
          <a:p>
            <a:r>
              <a:rPr lang="en-US" sz="1400" b="0" u="none" dirty="0">
                <a:solidFill>
                  <a:srgbClr val="00B0F0"/>
                </a:solidFill>
                <a:latin typeface="Arial" pitchFamily="34" charset="0"/>
                <a:cs typeface="Arial" pitchFamily="34" charset="0"/>
              </a:rPr>
              <a:t>.</a:t>
            </a:r>
          </a:p>
          <a:p>
            <a:r>
              <a:rPr lang="en-US" sz="1400" b="0" u="none" dirty="0">
                <a:solidFill>
                  <a:srgbClr val="00B0F0"/>
                </a:solidFill>
                <a:latin typeface="Arial" pitchFamily="34" charset="0"/>
                <a:cs typeface="Arial" pitchFamily="34" charset="0"/>
              </a:rPr>
              <a:t>Bootstrap Sample 1000</a:t>
            </a:r>
          </a:p>
        </p:txBody>
      </p:sp>
      <p:cxnSp>
        <p:nvCxnSpPr>
          <p:cNvPr id="10" name="Straight Arrow Connector 9">
            <a:extLst>
              <a:ext uri="{FF2B5EF4-FFF2-40B4-BE49-F238E27FC236}">
                <a16:creationId xmlns:a16="http://schemas.microsoft.com/office/drawing/2014/main" id="{4DF4D46A-2546-42A4-A253-F82FA3CC342F}"/>
              </a:ext>
            </a:extLst>
          </p:cNvPr>
          <p:cNvCxnSpPr>
            <a:cxnSpLocks/>
            <a:stCxn id="48" idx="3"/>
          </p:cNvCxnSpPr>
          <p:nvPr/>
        </p:nvCxnSpPr>
        <p:spPr bwMode="auto">
          <a:xfrm flipV="1">
            <a:off x="2638102" y="3645523"/>
            <a:ext cx="1641798" cy="1263544"/>
          </a:xfrm>
          <a:prstGeom prst="straightConnector1">
            <a:avLst/>
          </a:prstGeom>
          <a:solidFill>
            <a:schemeClr val="accent1"/>
          </a:solidFill>
          <a:ln w="9525" cap="flat" cmpd="sng" algn="ctr">
            <a:solidFill>
              <a:srgbClr val="00B0F0"/>
            </a:solidFill>
            <a:prstDash val="solid"/>
            <a:round/>
            <a:headEnd type="none" w="med" len="med"/>
            <a:tailEnd type="triangle" w="med" len="med"/>
          </a:ln>
          <a:effectLst/>
        </p:spPr>
      </p:cxnSp>
      <p:cxnSp>
        <p:nvCxnSpPr>
          <p:cNvPr id="51" name="Straight Arrow Connector 50">
            <a:extLst>
              <a:ext uri="{FF2B5EF4-FFF2-40B4-BE49-F238E27FC236}">
                <a16:creationId xmlns:a16="http://schemas.microsoft.com/office/drawing/2014/main" id="{055AC3F1-655C-4B6F-B5C9-158DA15C562B}"/>
              </a:ext>
            </a:extLst>
          </p:cNvPr>
          <p:cNvCxnSpPr>
            <a:cxnSpLocks/>
            <a:stCxn id="48" idx="3"/>
          </p:cNvCxnSpPr>
          <p:nvPr/>
        </p:nvCxnSpPr>
        <p:spPr bwMode="auto">
          <a:xfrm flipV="1">
            <a:off x="2638102" y="3860715"/>
            <a:ext cx="1641798" cy="1048352"/>
          </a:xfrm>
          <a:prstGeom prst="straightConnector1">
            <a:avLst/>
          </a:prstGeom>
          <a:solidFill>
            <a:schemeClr val="accent1"/>
          </a:solidFill>
          <a:ln w="9525" cap="flat" cmpd="sng" algn="ctr">
            <a:solidFill>
              <a:srgbClr val="00B0F0"/>
            </a:solidFill>
            <a:prstDash val="solid"/>
            <a:round/>
            <a:headEnd type="none" w="med" len="med"/>
            <a:tailEnd type="triangle" w="med" len="med"/>
          </a:ln>
          <a:effectLst/>
        </p:spPr>
      </p:cxnSp>
      <p:cxnSp>
        <p:nvCxnSpPr>
          <p:cNvPr id="52" name="Straight Arrow Connector 51">
            <a:extLst>
              <a:ext uri="{FF2B5EF4-FFF2-40B4-BE49-F238E27FC236}">
                <a16:creationId xmlns:a16="http://schemas.microsoft.com/office/drawing/2014/main" id="{CB2E47DC-E061-4060-9940-137B3579A253}"/>
              </a:ext>
            </a:extLst>
          </p:cNvPr>
          <p:cNvCxnSpPr>
            <a:cxnSpLocks/>
            <a:stCxn id="48" idx="3"/>
          </p:cNvCxnSpPr>
          <p:nvPr/>
        </p:nvCxnSpPr>
        <p:spPr bwMode="auto">
          <a:xfrm flipV="1">
            <a:off x="2638102" y="4075557"/>
            <a:ext cx="1641798" cy="833510"/>
          </a:xfrm>
          <a:prstGeom prst="straightConnector1">
            <a:avLst/>
          </a:prstGeom>
          <a:solidFill>
            <a:schemeClr val="accent1"/>
          </a:solidFill>
          <a:ln w="9525" cap="flat" cmpd="sng" algn="ctr">
            <a:solidFill>
              <a:srgbClr val="00B0F0"/>
            </a:solidFill>
            <a:prstDash val="solid"/>
            <a:round/>
            <a:headEnd type="none" w="med" len="med"/>
            <a:tailEnd type="triangle" w="med" len="med"/>
          </a:ln>
          <a:effectLst/>
        </p:spPr>
      </p:cxnSp>
      <p:cxnSp>
        <p:nvCxnSpPr>
          <p:cNvPr id="53" name="Straight Arrow Connector 52">
            <a:extLst>
              <a:ext uri="{FF2B5EF4-FFF2-40B4-BE49-F238E27FC236}">
                <a16:creationId xmlns:a16="http://schemas.microsoft.com/office/drawing/2014/main" id="{8C20D507-371C-41AA-914F-B1292EE1BEF1}"/>
              </a:ext>
            </a:extLst>
          </p:cNvPr>
          <p:cNvCxnSpPr>
            <a:cxnSpLocks/>
            <a:stCxn id="48" idx="3"/>
          </p:cNvCxnSpPr>
          <p:nvPr/>
        </p:nvCxnSpPr>
        <p:spPr bwMode="auto">
          <a:xfrm flipV="1">
            <a:off x="2638102" y="4277295"/>
            <a:ext cx="1641798" cy="631772"/>
          </a:xfrm>
          <a:prstGeom prst="straightConnector1">
            <a:avLst/>
          </a:prstGeom>
          <a:solidFill>
            <a:schemeClr val="accent1"/>
          </a:solidFill>
          <a:ln w="9525" cap="flat" cmpd="sng" algn="ctr">
            <a:solidFill>
              <a:srgbClr val="00B0F0"/>
            </a:solidFill>
            <a:prstDash val="solid"/>
            <a:round/>
            <a:headEnd type="none" w="med" len="med"/>
            <a:tailEnd type="triangle" w="med" len="med"/>
          </a:ln>
          <a:effectLst/>
        </p:spPr>
      </p:cxnSp>
      <p:cxnSp>
        <p:nvCxnSpPr>
          <p:cNvPr id="54" name="Straight Arrow Connector 53">
            <a:extLst>
              <a:ext uri="{FF2B5EF4-FFF2-40B4-BE49-F238E27FC236}">
                <a16:creationId xmlns:a16="http://schemas.microsoft.com/office/drawing/2014/main" id="{3A0DC68B-B6B7-4B32-99F4-77CFF207405D}"/>
              </a:ext>
            </a:extLst>
          </p:cNvPr>
          <p:cNvCxnSpPr>
            <a:cxnSpLocks/>
            <a:stCxn id="48" idx="3"/>
          </p:cNvCxnSpPr>
          <p:nvPr/>
        </p:nvCxnSpPr>
        <p:spPr bwMode="auto">
          <a:xfrm>
            <a:off x="2638102" y="4909067"/>
            <a:ext cx="1668256" cy="237523"/>
          </a:xfrm>
          <a:prstGeom prst="straightConnector1">
            <a:avLst/>
          </a:prstGeom>
          <a:solidFill>
            <a:schemeClr val="accent1"/>
          </a:solidFill>
          <a:ln w="9525" cap="flat" cmpd="sng" algn="ctr">
            <a:solidFill>
              <a:srgbClr val="00B0F0"/>
            </a:solidFill>
            <a:prstDash val="solid"/>
            <a:round/>
            <a:headEnd type="none" w="med" len="med"/>
            <a:tailEnd type="triangle" w="med" len="med"/>
          </a:ln>
          <a:effectLst/>
        </p:spPr>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AFB0635-EBCB-4AA2-9EF7-9F452CE627B2}"/>
                  </a:ext>
                </a:extLst>
              </p:cNvPr>
              <p:cNvSpPr txBox="1"/>
              <p:nvPr/>
            </p:nvSpPr>
            <p:spPr>
              <a:xfrm>
                <a:off x="6403714" y="3493294"/>
                <a:ext cx="623825" cy="181588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1</m:t>
                          </m:r>
                        </m:sub>
                      </m:sSub>
                    </m:oMath>
                  </m:oMathPara>
                </a14:m>
                <a:endParaRPr lang="en-US" sz="1400" b="0" i="1" u="none" dirty="0">
                  <a:solidFill>
                    <a:srgbClr val="00B0F0"/>
                  </a:solidFill>
                  <a:latin typeface="Cambria Math" panose="02040503050406030204" pitchFamily="18" charset="0"/>
                  <a:ea typeface="Cambria Math" panose="02040503050406030204" pitchFamily="18" charset="0"/>
                  <a:cs typeface="Arial" pitchFamily="34" charset="0"/>
                </a:endParaRPr>
              </a:p>
              <a:p>
                <a:pPr/>
                <a14:m>
                  <m:oMathPara xmlns:m="http://schemas.openxmlformats.org/officeDocument/2006/math">
                    <m:oMathParaPr>
                      <m:jc m:val="left"/>
                    </m:oMathParaPr>
                    <m:oMath xmlns:m="http://schemas.openxmlformats.org/officeDocument/2006/math">
                      <m:sSub>
                        <m:sSubPr>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2</m:t>
                          </m:r>
                        </m:sub>
                      </m:sSub>
                    </m:oMath>
                  </m:oMathPara>
                </a14:m>
                <a:endParaRPr lang="en-US" sz="1400" b="0" i="1" u="none" dirty="0">
                  <a:solidFill>
                    <a:srgbClr val="00B0F0"/>
                  </a:solidFill>
                  <a:latin typeface="Cambria Math" panose="02040503050406030204" pitchFamily="18" charset="0"/>
                  <a:ea typeface="Cambria Math" panose="02040503050406030204" pitchFamily="18" charset="0"/>
                  <a:cs typeface="Arial" pitchFamily="34" charset="0"/>
                </a:endParaRPr>
              </a:p>
              <a:p>
                <a:pPr/>
                <a14:m>
                  <m:oMathPara xmlns:m="http://schemas.openxmlformats.org/officeDocument/2006/math">
                    <m:oMathParaPr>
                      <m:jc m:val="left"/>
                    </m:oMathParaPr>
                    <m:oMath xmlns:m="http://schemas.openxmlformats.org/officeDocument/2006/math">
                      <m:sSub>
                        <m:sSubPr>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3</m:t>
                          </m:r>
                        </m:sub>
                      </m:sSub>
                    </m:oMath>
                  </m:oMathPara>
                </a14:m>
                <a:endParaRPr lang="en-US" sz="1400" b="0" i="1" u="none" dirty="0">
                  <a:solidFill>
                    <a:srgbClr val="00B0F0"/>
                  </a:solidFill>
                  <a:latin typeface="Cambria Math" panose="02040503050406030204" pitchFamily="18" charset="0"/>
                  <a:ea typeface="Cambria Math" panose="02040503050406030204" pitchFamily="18" charset="0"/>
                  <a:cs typeface="Arial" pitchFamily="34" charset="0"/>
                </a:endParaRPr>
              </a:p>
              <a:p>
                <a:pPr/>
                <a14:m>
                  <m:oMathPara xmlns:m="http://schemas.openxmlformats.org/officeDocument/2006/math">
                    <m:oMathParaPr>
                      <m:jc m:val="left"/>
                    </m:oMathParaPr>
                    <m:oMath xmlns:m="http://schemas.openxmlformats.org/officeDocument/2006/math">
                      <m:sSub>
                        <m:sSubPr>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4</m:t>
                          </m:r>
                        </m:sub>
                      </m:sSub>
                    </m:oMath>
                  </m:oMathPara>
                </a14:m>
                <a:endParaRPr lang="en-US" sz="1400" b="0" u="none" dirty="0">
                  <a:solidFill>
                    <a:srgbClr val="00B0F0"/>
                  </a:solidFill>
                  <a:latin typeface="Cambria Math" panose="02040503050406030204" pitchFamily="18" charset="0"/>
                  <a:ea typeface="Cambria Math" panose="02040503050406030204" pitchFamily="18" charset="0"/>
                  <a:cs typeface="Arial" pitchFamily="34" charset="0"/>
                </a:endParaRPr>
              </a:p>
              <a:p>
                <a:r>
                  <a:rPr lang="en-US" sz="1400" b="0" u="none" dirty="0">
                    <a:solidFill>
                      <a:srgbClr val="00B0F0"/>
                    </a:solidFill>
                    <a:latin typeface="Cambria Math" panose="02040503050406030204" pitchFamily="18" charset="0"/>
                    <a:ea typeface="Cambria Math" panose="02040503050406030204" pitchFamily="18" charset="0"/>
                    <a:cs typeface="Arial" pitchFamily="34" charset="0"/>
                  </a:rPr>
                  <a:t>.</a:t>
                </a:r>
              </a:p>
              <a:p>
                <a:r>
                  <a:rPr lang="en-US" sz="1400" b="0" u="none" dirty="0">
                    <a:solidFill>
                      <a:srgbClr val="00B0F0"/>
                    </a:solidFill>
                    <a:latin typeface="Cambria Math" panose="02040503050406030204" pitchFamily="18" charset="0"/>
                    <a:ea typeface="Cambria Math" panose="02040503050406030204" pitchFamily="18" charset="0"/>
                    <a:cs typeface="Arial" pitchFamily="34" charset="0"/>
                  </a:rPr>
                  <a:t>.</a:t>
                </a:r>
              </a:p>
              <a:p>
                <a:r>
                  <a:rPr lang="en-US" sz="1400" b="0" u="none" dirty="0">
                    <a:solidFill>
                      <a:srgbClr val="00B0F0"/>
                    </a:solidFill>
                    <a:latin typeface="Cambria Math" panose="02040503050406030204" pitchFamily="18" charset="0"/>
                    <a:ea typeface="Cambria Math" panose="02040503050406030204" pitchFamily="18" charset="0"/>
                    <a:cs typeface="Arial" pitchFamily="34" charset="0"/>
                  </a:rPr>
                  <a:t>.</a:t>
                </a:r>
              </a:p>
              <a:p>
                <a:pPr/>
                <a14:m>
                  <m:oMathPara xmlns:m="http://schemas.openxmlformats.org/officeDocument/2006/math">
                    <m:oMathParaPr>
                      <m:jc m:val="centerGroup"/>
                    </m:oMathParaPr>
                    <m:oMath xmlns:m="http://schemas.openxmlformats.org/officeDocument/2006/math">
                      <m:sSub>
                        <m:sSubPr>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a:solidFill>
                                <a:srgbClr val="00B0F0"/>
                              </a:solidFill>
                              <a:latin typeface="Cambria Math" panose="02040503050406030204" pitchFamily="18" charset="0"/>
                              <a:ea typeface="Cambria Math" panose="02040503050406030204" pitchFamily="18" charset="0"/>
                              <a:cs typeface="Arial" pitchFamily="34" charset="0"/>
                            </a:rPr>
                            <m:t>1</m:t>
                          </m:r>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000</m:t>
                          </m:r>
                        </m:sub>
                      </m:sSub>
                    </m:oMath>
                  </m:oMathPara>
                </a14:m>
                <a:endParaRPr lang="en-US" sz="1400" b="0" u="none" dirty="0">
                  <a:solidFill>
                    <a:srgbClr val="00B0F0"/>
                  </a:solidFill>
                  <a:latin typeface="Cambria Math" panose="02040503050406030204" pitchFamily="18" charset="0"/>
                  <a:ea typeface="Cambria Math" panose="02040503050406030204" pitchFamily="18" charset="0"/>
                  <a:cs typeface="Arial" pitchFamily="34" charset="0"/>
                </a:endParaRPr>
              </a:p>
            </p:txBody>
          </p:sp>
        </mc:Choice>
        <mc:Fallback xmlns="">
          <p:sp>
            <p:nvSpPr>
              <p:cNvPr id="55" name="TextBox 54">
                <a:extLst>
                  <a:ext uri="{FF2B5EF4-FFF2-40B4-BE49-F238E27FC236}">
                    <a16:creationId xmlns:a16="http://schemas.microsoft.com/office/drawing/2014/main" id="{AAFB0635-EBCB-4AA2-9EF7-9F452CE627B2}"/>
                  </a:ext>
                </a:extLst>
              </p:cNvPr>
              <p:cNvSpPr txBox="1">
                <a:spLocks noRot="1" noChangeAspect="1" noMove="1" noResize="1" noEditPoints="1" noAdjustHandles="1" noChangeArrowheads="1" noChangeShapeType="1" noTextEdit="1"/>
              </p:cNvSpPr>
              <p:nvPr/>
            </p:nvSpPr>
            <p:spPr>
              <a:xfrm>
                <a:off x="6403714" y="3493294"/>
                <a:ext cx="623825" cy="1815882"/>
              </a:xfrm>
              <a:prstGeom prst="rect">
                <a:avLst/>
              </a:prstGeom>
              <a:blipFill>
                <a:blip r:embed="rId3"/>
                <a:stretch>
                  <a:fillRect l="-2913"/>
                </a:stretch>
              </a:blipFill>
            </p:spPr>
            <p:txBody>
              <a:bodyPr/>
              <a:lstStyle/>
              <a:p>
                <a:r>
                  <a:rPr lang="en-US">
                    <a:noFill/>
                  </a:rPr>
                  <a:t> </a:t>
                </a:r>
              </a:p>
            </p:txBody>
          </p:sp>
        </mc:Fallback>
      </mc:AlternateContent>
      <p:sp>
        <p:nvSpPr>
          <p:cNvPr id="20" name="Right Brace 19">
            <a:extLst>
              <a:ext uri="{FF2B5EF4-FFF2-40B4-BE49-F238E27FC236}">
                <a16:creationId xmlns:a16="http://schemas.microsoft.com/office/drawing/2014/main" id="{580837EE-2452-4C6D-ADE2-57E734AC6E78}"/>
              </a:ext>
            </a:extLst>
          </p:cNvPr>
          <p:cNvSpPr/>
          <p:nvPr/>
        </p:nvSpPr>
        <p:spPr bwMode="auto">
          <a:xfrm>
            <a:off x="7006169" y="3397165"/>
            <a:ext cx="220133" cy="2018241"/>
          </a:xfrm>
          <a:prstGeom prst="rightBrace">
            <a:avLst/>
          </a:prstGeom>
          <a:noFill/>
          <a:ln w="9525" cap="flat" cmpd="sng" algn="ctr">
            <a:solidFill>
              <a:srgbClr val="00B0F0"/>
            </a:solidFill>
            <a:prstDash val="solid"/>
            <a:round/>
            <a:headEnd type="none" w="med" len="med"/>
            <a:tailEnd type="none" w="med" len="med"/>
          </a:ln>
          <a:effectLst/>
        </p:spPr>
        <p:txBody>
          <a:bodyPr rtlCol="0" anchor="ctr"/>
          <a:lstStyle/>
          <a:p>
            <a:pPr algn="ctr"/>
            <a:endParaRPr lang="en-US" dirty="0">
              <a:latin typeface="Arial" panose="020B0604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C93252-F5B6-48F6-AD0B-2E665B3DCF9D}"/>
                  </a:ext>
                </a:extLst>
              </p:cNvPr>
              <p:cNvSpPr txBox="1"/>
              <p:nvPr/>
            </p:nvSpPr>
            <p:spPr>
              <a:xfrm>
                <a:off x="7306504" y="3590830"/>
                <a:ext cx="1778760" cy="1602811"/>
              </a:xfrm>
              <a:prstGeom prst="rect">
                <a:avLst/>
              </a:prstGeom>
              <a:solidFill>
                <a:schemeClr val="accent3">
                  <a:lumMod val="95000"/>
                </a:schemeClr>
              </a:solidFill>
              <a:ln w="3175">
                <a:solidFill>
                  <a:srgbClr val="FF0000"/>
                </a:solidFill>
              </a:ln>
            </p:spPr>
            <p:txBody>
              <a:bodyPr wrap="square" rtlCol="0">
                <a:spAutoFit/>
              </a:bodyPr>
              <a:lstStyle/>
              <a:p>
                <a:r>
                  <a:rPr lang="en-US" sz="1400" b="0" u="none" dirty="0">
                    <a:solidFill>
                      <a:schemeClr val="accent6"/>
                    </a:solidFill>
                    <a:latin typeface="Arial" pitchFamily="34" charset="0"/>
                    <a:cs typeface="Arial" pitchFamily="34" charset="0"/>
                  </a:rPr>
                  <a:t>We can use the distribution of these bootstrap sample vote shares for candidate A to compute a bootstrap</a:t>
                </a:r>
                <a:r>
                  <a:rPr lang="en-US" sz="1400" b="0" u="none" dirty="0">
                    <a:solidFill>
                      <a:schemeClr val="accent6"/>
                    </a:solidFill>
                    <a:cs typeface="Arial" pitchFamily="34" charset="0"/>
                  </a:rPr>
                  <a:t> </a:t>
                </a:r>
                <a14:m>
                  <m:oMath xmlns:m="http://schemas.openxmlformats.org/officeDocument/2006/math">
                    <m:r>
                      <a:rPr lang="en-US" sz="1400" b="0" i="1" u="none">
                        <a:solidFill>
                          <a:schemeClr val="accent6"/>
                        </a:solidFill>
                        <a:latin typeface="Cambria Math" panose="02040503050406030204" pitchFamily="18" charset="0"/>
                      </a:rPr>
                      <m:t>𝐶</m:t>
                    </m:r>
                    <m:sSup>
                      <m:sSupPr>
                        <m:ctrlPr>
                          <a:rPr lang="en-US" sz="1400" b="0" i="1" u="none">
                            <a:solidFill>
                              <a:schemeClr val="accent6"/>
                            </a:solidFill>
                            <a:latin typeface="Cambria Math" panose="02040503050406030204" pitchFamily="18" charset="0"/>
                          </a:rPr>
                        </m:ctrlPr>
                      </m:sSupPr>
                      <m:e>
                        <m:r>
                          <a:rPr lang="en-US" sz="1400" b="0" i="1" u="none">
                            <a:solidFill>
                              <a:schemeClr val="accent6"/>
                            </a:solidFill>
                            <a:latin typeface="Cambria Math" panose="02040503050406030204" pitchFamily="18" charset="0"/>
                          </a:rPr>
                          <m:t>𝐼</m:t>
                        </m:r>
                      </m:e>
                      <m:sup>
                        <m:r>
                          <a:rPr lang="en-US" sz="1400" b="0" i="1" u="none">
                            <a:solidFill>
                              <a:schemeClr val="accent6"/>
                            </a:solidFill>
                            <a:latin typeface="Cambria Math" panose="02040503050406030204" pitchFamily="18" charset="0"/>
                          </a:rPr>
                          <m:t>95</m:t>
                        </m:r>
                      </m:sup>
                    </m:sSup>
                  </m:oMath>
                </a14:m>
                <a:endParaRPr lang="en-US" sz="1400" b="0" u="none" dirty="0">
                  <a:solidFill>
                    <a:schemeClr val="accent6"/>
                  </a:solidFill>
                  <a:cs typeface="Arial" pitchFamily="34" charset="0"/>
                </a:endParaRPr>
              </a:p>
            </p:txBody>
          </p:sp>
        </mc:Choice>
        <mc:Fallback xmlns="">
          <p:sp>
            <p:nvSpPr>
              <p:cNvPr id="21" name="TextBox 20">
                <a:extLst>
                  <a:ext uri="{FF2B5EF4-FFF2-40B4-BE49-F238E27FC236}">
                    <a16:creationId xmlns:a16="http://schemas.microsoft.com/office/drawing/2014/main" id="{6BC93252-F5B6-48F6-AD0B-2E665B3DCF9D}"/>
                  </a:ext>
                </a:extLst>
              </p:cNvPr>
              <p:cNvSpPr txBox="1">
                <a:spLocks noRot="1" noChangeAspect="1" noMove="1" noResize="1" noEditPoints="1" noAdjustHandles="1" noChangeArrowheads="1" noChangeShapeType="1" noTextEdit="1"/>
              </p:cNvSpPr>
              <p:nvPr/>
            </p:nvSpPr>
            <p:spPr>
              <a:xfrm>
                <a:off x="7306504" y="3590830"/>
                <a:ext cx="1778760" cy="1602811"/>
              </a:xfrm>
              <a:prstGeom prst="rect">
                <a:avLst/>
              </a:prstGeom>
              <a:blipFill>
                <a:blip r:embed="rId4"/>
                <a:stretch>
                  <a:fillRect l="-1027" t="-758" r="-342" b="-3030"/>
                </a:stretch>
              </a:blipFill>
              <a:ln w="3175">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50343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xEl>
                                              <p:pRg st="5" end="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1" grpId="0" animBg="1"/>
      <p:bldP spid="46" grpId="0"/>
      <p:bldP spid="47" grpId="0" animBg="1"/>
      <p:bldP spid="48" grpId="0"/>
      <p:bldP spid="6" grpId="0" build="allAtOnce"/>
      <p:bldP spid="55" grpId="0"/>
      <p:bldP spid="20" grpId="0" animBg="1"/>
      <p:bldP spid="21"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3CB46-2701-4742-BB51-33F432AEA952}"/>
              </a:ext>
            </a:extLst>
          </p:cNvPr>
          <p:cNvSpPr>
            <a:spLocks noGrp="1"/>
          </p:cNvSpPr>
          <p:nvPr>
            <p:ph type="title"/>
          </p:nvPr>
        </p:nvSpPr>
        <p:spPr/>
        <p:txBody>
          <a:bodyPr/>
          <a:lstStyle/>
          <a:p>
            <a:r>
              <a:rPr lang="en-US" dirty="0"/>
              <a:t>Recipe for Finding a Bootstrap Confidence Interval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B4EE80-04FC-473A-9F39-BB3CF8CF3F6C}"/>
                  </a:ext>
                </a:extLst>
              </p:cNvPr>
              <p:cNvSpPr>
                <a:spLocks noGrp="1"/>
              </p:cNvSpPr>
              <p:nvPr>
                <p:ph idx="1"/>
              </p:nvPr>
            </p:nvSpPr>
            <p:spPr/>
            <p:txBody>
              <a:bodyPr/>
              <a:lstStyle/>
              <a:p>
                <a:endParaRPr lang="en-US" sz="2000" b="1" dirty="0">
                  <a:solidFill>
                    <a:srgbClr val="0070C0"/>
                  </a:solidFill>
                </a:endParaRPr>
              </a:p>
              <a:p>
                <a:endParaRPr lang="en-US" b="1" dirty="0">
                  <a:solidFill>
                    <a:srgbClr val="0070C0"/>
                  </a:solidFill>
                </a:endParaRPr>
              </a:p>
              <a:p>
                <a:r>
                  <a:rPr lang="en-US" sz="2000" b="1" dirty="0">
                    <a:solidFill>
                      <a:srgbClr val="0070C0"/>
                    </a:solidFill>
                  </a:rPr>
                  <a:t>Step 1</a:t>
                </a:r>
                <a:r>
                  <a:rPr lang="en-US" b="1" dirty="0">
                    <a:solidFill>
                      <a:schemeClr val="tx1"/>
                    </a:solidFill>
                  </a:rPr>
                  <a:t>:</a:t>
                </a:r>
                <a:r>
                  <a:rPr lang="en-US" sz="2000" dirty="0">
                    <a:solidFill>
                      <a:schemeClr val="tx1"/>
                    </a:solidFill>
                  </a:rPr>
                  <a:t> </a:t>
                </a:r>
                <a:r>
                  <a:rPr lang="en-US" dirty="0">
                    <a:solidFill>
                      <a:schemeClr val="tx1"/>
                    </a:solidFill>
                  </a:rPr>
                  <a:t>Take 1000 draws with replacement from your sample and </a:t>
                </a:r>
                <a:br>
                  <a:rPr lang="en-US" dirty="0">
                    <a:solidFill>
                      <a:schemeClr val="tx1"/>
                    </a:solidFill>
                  </a:rPr>
                </a:br>
                <a:r>
                  <a:rPr lang="en-US" dirty="0">
                    <a:solidFill>
                      <a:schemeClr val="tx1"/>
                    </a:solidFill>
                  </a:rPr>
                  <a:t>             compute the mean of each draw</a:t>
                </a:r>
              </a:p>
              <a:p>
                <a:endParaRPr lang="en-US" sz="2000" b="1" dirty="0">
                  <a:solidFill>
                    <a:srgbClr val="0070C0"/>
                  </a:solidFill>
                </a:endParaRPr>
              </a:p>
              <a:p>
                <a:r>
                  <a:rPr lang="en-US" sz="2000" b="1" dirty="0">
                    <a:solidFill>
                      <a:srgbClr val="0070C0"/>
                    </a:solidFill>
                  </a:rPr>
                  <a:t>Step 2</a:t>
                </a:r>
                <a:r>
                  <a:rPr lang="en-US" sz="2000" dirty="0">
                    <a:solidFill>
                      <a:schemeClr val="tx1"/>
                    </a:solidFill>
                  </a:rPr>
                  <a:t>: Plot or list the means</a:t>
                </a:r>
              </a:p>
              <a:p>
                <a:endParaRPr lang="en-US" sz="2000" dirty="0"/>
              </a:p>
              <a:p>
                <a:r>
                  <a:rPr lang="en-US" sz="2000" b="1" dirty="0">
                    <a:solidFill>
                      <a:srgbClr val="0070C0"/>
                    </a:solidFill>
                  </a:rPr>
                  <a:t>Step 3</a:t>
                </a:r>
                <a:r>
                  <a:rPr lang="en-US" sz="2000" dirty="0">
                    <a:solidFill>
                      <a:schemeClr val="tx1"/>
                    </a:solidFill>
                  </a:rPr>
                  <a:t>: Build the </a:t>
                </a:r>
                <a14:m>
                  <m:oMath xmlns:m="http://schemas.openxmlformats.org/officeDocument/2006/math">
                    <m:r>
                      <a:rPr lang="en-US" sz="2000" b="0" i="1" smtClean="0">
                        <a:solidFill>
                          <a:schemeClr val="tx1"/>
                        </a:solidFill>
                        <a:latin typeface="Cambria Math" panose="02040503050406030204" pitchFamily="18" charset="0"/>
                      </a:rPr>
                      <m:t>𝐶</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𝐼</m:t>
                        </m:r>
                      </m:e>
                      <m:sup>
                        <m:r>
                          <a:rPr lang="en-US" sz="2000" b="0" i="1" smtClean="0">
                            <a:solidFill>
                              <a:schemeClr val="tx1"/>
                            </a:solidFill>
                            <a:latin typeface="Cambria Math" panose="02040503050406030204" pitchFamily="18" charset="0"/>
                          </a:rPr>
                          <m:t>95</m:t>
                        </m:r>
                      </m:sup>
                    </m:sSup>
                  </m:oMath>
                </a14:m>
                <a:r>
                  <a:rPr lang="en-US" sz="2000" dirty="0">
                    <a:solidFill>
                      <a:schemeClr val="tx1"/>
                    </a:solidFill>
                  </a:rPr>
                  <a:t> using the 25</a:t>
                </a:r>
                <a:r>
                  <a:rPr lang="en-US" sz="2000" baseline="30000" dirty="0">
                    <a:solidFill>
                      <a:schemeClr val="tx1"/>
                    </a:solidFill>
                  </a:rPr>
                  <a:t>th</a:t>
                </a:r>
                <a:r>
                  <a:rPr lang="en-US" sz="2000" dirty="0">
                    <a:solidFill>
                      <a:schemeClr val="tx1"/>
                    </a:solidFill>
                  </a:rPr>
                  <a:t> and 975</a:t>
                </a:r>
                <a:r>
                  <a:rPr lang="en-US" sz="2000" baseline="30000" dirty="0">
                    <a:solidFill>
                      <a:schemeClr val="tx1"/>
                    </a:solidFill>
                  </a:rPr>
                  <a:t>th</a:t>
                </a:r>
                <a:r>
                  <a:rPr lang="en-US" sz="2000" dirty="0">
                    <a:solidFill>
                      <a:schemeClr val="tx1"/>
                    </a:solidFill>
                  </a:rPr>
                  <a:t> observations (out of</a:t>
                </a:r>
                <a:br>
                  <a:rPr lang="en-US" sz="2000" dirty="0">
                    <a:solidFill>
                      <a:schemeClr val="tx1"/>
                    </a:solidFill>
                  </a:rPr>
                </a:br>
                <a:r>
                  <a:rPr lang="en-US" sz="2000" dirty="0">
                    <a:solidFill>
                      <a:schemeClr val="tx1"/>
                    </a:solidFill>
                  </a:rPr>
                  <a:t>            1000) from low to high</a:t>
                </a:r>
              </a:p>
              <a:p>
                <a:endParaRPr lang="en-US" dirty="0"/>
              </a:p>
            </p:txBody>
          </p:sp>
        </mc:Choice>
        <mc:Fallback xmlns="">
          <p:sp>
            <p:nvSpPr>
              <p:cNvPr id="3" name="Content Placeholder 2">
                <a:extLst>
                  <a:ext uri="{FF2B5EF4-FFF2-40B4-BE49-F238E27FC236}">
                    <a16:creationId xmlns:a16="http://schemas.microsoft.com/office/drawing/2014/main" id="{37B4EE80-04FC-473A-9F39-BB3CF8CF3F6C}"/>
                  </a:ext>
                </a:extLst>
              </p:cNvPr>
              <p:cNvSpPr>
                <a:spLocks noGrp="1" noRot="1" noChangeAspect="1" noMove="1" noResize="1" noEditPoints="1" noAdjustHandles="1" noChangeArrowheads="1" noChangeShapeType="1" noTextEdit="1"/>
              </p:cNvSpPr>
              <p:nvPr>
                <p:ph idx="1"/>
              </p:nvPr>
            </p:nvSpPr>
            <p:spPr>
              <a:blipFill>
                <a:blip r:embed="rId2"/>
                <a:stretch>
                  <a:fillRect l="-65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B1ED4E3-9298-4630-86BB-72925D4DE2B3}"/>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95</a:t>
            </a:fld>
            <a:endParaRPr lang="en-GB" dirty="0"/>
          </a:p>
        </p:txBody>
      </p:sp>
    </p:spTree>
    <p:extLst>
      <p:ext uri="{BB962C8B-B14F-4D97-AF65-F5344CB8AC3E}">
        <p14:creationId xmlns:p14="http://schemas.microsoft.com/office/powerpoint/2010/main" val="32510625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9C1A3-FB7B-465A-9A9E-151A04D560C6}"/>
              </a:ext>
            </a:extLst>
          </p:cNvPr>
          <p:cNvSpPr>
            <a:spLocks noGrp="1"/>
          </p:cNvSpPr>
          <p:nvPr>
            <p:ph type="title"/>
          </p:nvPr>
        </p:nvSpPr>
        <p:spPr/>
        <p:txBody>
          <a:bodyPr/>
          <a:lstStyle/>
          <a:p>
            <a:r>
              <a:rPr lang="en-US" dirty="0"/>
              <a:t>Poll Reliability with Bootstrapping</a:t>
            </a:r>
          </a:p>
        </p:txBody>
      </p:sp>
      <p:sp>
        <p:nvSpPr>
          <p:cNvPr id="4" name="Slide Number Placeholder 3">
            <a:extLst>
              <a:ext uri="{FF2B5EF4-FFF2-40B4-BE49-F238E27FC236}">
                <a16:creationId xmlns:a16="http://schemas.microsoft.com/office/drawing/2014/main" id="{6894A1C5-367B-40FD-807A-C55541A4E6D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96</a:t>
            </a:fld>
            <a:endParaRPr lang="en-GB" dirty="0"/>
          </a:p>
        </p:txBody>
      </p:sp>
      <p:sp>
        <p:nvSpPr>
          <p:cNvPr id="5" name="AutoShape 2" descr="Output image">
            <a:extLst>
              <a:ext uri="{FF2B5EF4-FFF2-40B4-BE49-F238E27FC236}">
                <a16:creationId xmlns:a16="http://schemas.microsoft.com/office/drawing/2014/main" id="{746A843B-56F2-434D-B0E9-E01A96EDDDA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pic>
        <p:nvPicPr>
          <p:cNvPr id="6" name="Picture 5">
            <a:extLst>
              <a:ext uri="{FF2B5EF4-FFF2-40B4-BE49-F238E27FC236}">
                <a16:creationId xmlns:a16="http://schemas.microsoft.com/office/drawing/2014/main" id="{8CC921AA-BC01-4EE7-A165-9B19FD7140D7}"/>
              </a:ext>
            </a:extLst>
          </p:cNvPr>
          <p:cNvPicPr>
            <a:picLocks noChangeAspect="1"/>
          </p:cNvPicPr>
          <p:nvPr/>
        </p:nvPicPr>
        <p:blipFill>
          <a:blip r:embed="rId2"/>
          <a:stretch>
            <a:fillRect/>
          </a:stretch>
        </p:blipFill>
        <p:spPr>
          <a:xfrm>
            <a:off x="309034" y="1806738"/>
            <a:ext cx="6477000" cy="4184323"/>
          </a:xfrm>
          <a:prstGeom prst="rect">
            <a:avLst/>
          </a:prstGeom>
          <a:solidFill>
            <a:schemeClr val="tx1"/>
          </a:solidFill>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CB40928-D9C2-4B3D-BB2F-D7A69E64ED8A}"/>
                  </a:ext>
                </a:extLst>
              </p:cNvPr>
              <p:cNvSpPr txBox="1"/>
              <p:nvPr/>
            </p:nvSpPr>
            <p:spPr>
              <a:xfrm>
                <a:off x="7247766" y="2133620"/>
                <a:ext cx="1837497" cy="2906373"/>
              </a:xfrm>
              <a:prstGeom prst="rect">
                <a:avLst/>
              </a:prstGeom>
              <a:solidFill>
                <a:schemeClr val="accent3">
                  <a:lumMod val="95000"/>
                </a:schemeClr>
              </a:solidFill>
            </p:spPr>
            <p:txBody>
              <a:bodyPr wrap="square" rtlCol="0">
                <a:spAutoFit/>
              </a:bodyPr>
              <a:lstStyle/>
              <a:p>
                <a:r>
                  <a:rPr lang="en-US" sz="1400" b="0" u="none" dirty="0">
                    <a:solidFill>
                      <a:schemeClr val="accent6"/>
                    </a:solidFill>
                    <a:latin typeface="Arial" pitchFamily="34" charset="0"/>
                    <a:cs typeface="Arial" pitchFamily="34" charset="0"/>
                  </a:rPr>
                  <a:t>If we sort the 1000 </a:t>
                </a:r>
                <a14:m>
                  <m:oMath xmlns:m="http://schemas.openxmlformats.org/officeDocument/2006/math">
                    <m:sSub>
                      <m:sSubPr>
                        <m:ctrlP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ctrlPr>
                      </m:sSubPr>
                      <m:e>
                        <m:acc>
                          <m:accPr>
                            <m:chr m:val="̅"/>
                            <m:ctrlP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ctrlPr>
                          </m:accPr>
                          <m:e>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𝑥</m:t>
                            </m:r>
                          </m:e>
                        </m:acc>
                      </m:e>
                      <m:sub>
                        <m:r>
                          <a:rPr lang="en-US" sz="1400" b="0" i="1" u="none" dirty="0" smtClean="0">
                            <a:solidFill>
                              <a:srgbClr val="00B0F0"/>
                            </a:solidFill>
                            <a:latin typeface="Cambria Math" panose="02040503050406030204" pitchFamily="18" charset="0"/>
                            <a:ea typeface="Cambria Math" panose="02040503050406030204" pitchFamily="18" charset="0"/>
                            <a:cs typeface="Arial" pitchFamily="34" charset="0"/>
                          </a:rPr>
                          <m:t>1</m:t>
                        </m:r>
                      </m:sub>
                    </m:sSub>
                  </m:oMath>
                </a14:m>
                <a:r>
                  <a:rPr lang="en-US" sz="1400" b="0" u="none" dirty="0">
                    <a:solidFill>
                      <a:srgbClr val="FF0000"/>
                    </a:solidFill>
                    <a:latin typeface="Arial" pitchFamily="34" charset="0"/>
                    <a:cs typeface="Arial" pitchFamily="34" charset="0"/>
                  </a:rPr>
                  <a:t> </a:t>
                </a:r>
                <a:r>
                  <a:rPr lang="en-US" sz="1400" b="0" u="none" dirty="0">
                    <a:solidFill>
                      <a:schemeClr val="accent6"/>
                    </a:solidFill>
                    <a:latin typeface="Arial" pitchFamily="34" charset="0"/>
                    <a:cs typeface="Arial" pitchFamily="34" charset="0"/>
                  </a:rPr>
                  <a:t>from low to high, the 25</a:t>
                </a:r>
                <a:r>
                  <a:rPr lang="en-US" sz="1400" b="0" u="none" baseline="30000" dirty="0">
                    <a:solidFill>
                      <a:schemeClr val="accent6"/>
                    </a:solidFill>
                    <a:latin typeface="Arial" pitchFamily="34" charset="0"/>
                    <a:cs typeface="Arial" pitchFamily="34" charset="0"/>
                  </a:rPr>
                  <a:t>th</a:t>
                </a:r>
                <a:r>
                  <a:rPr lang="en-US" sz="1400" b="0" u="none" dirty="0">
                    <a:solidFill>
                      <a:schemeClr val="accent6"/>
                    </a:solidFill>
                    <a:latin typeface="Arial" pitchFamily="34" charset="0"/>
                    <a:cs typeface="Arial" pitchFamily="34" charset="0"/>
                  </a:rPr>
                  <a:t> and 975</a:t>
                </a:r>
                <a:r>
                  <a:rPr lang="en-US" sz="1400" b="0" u="none" baseline="30000" dirty="0">
                    <a:solidFill>
                      <a:schemeClr val="accent6"/>
                    </a:solidFill>
                    <a:latin typeface="Arial" pitchFamily="34" charset="0"/>
                    <a:cs typeface="Arial" pitchFamily="34" charset="0"/>
                  </a:rPr>
                  <a:t>th</a:t>
                </a:r>
                <a:r>
                  <a:rPr lang="en-US" sz="1400" b="0" u="none" dirty="0">
                    <a:solidFill>
                      <a:schemeClr val="accent6"/>
                    </a:solidFill>
                    <a:latin typeface="Arial" pitchFamily="34" charset="0"/>
                    <a:cs typeface="Arial" pitchFamily="34" charset="0"/>
                  </a:rPr>
                  <a:t> observations give us the </a:t>
                </a:r>
                <a14:m>
                  <m:oMath xmlns:m="http://schemas.openxmlformats.org/officeDocument/2006/math">
                    <m:r>
                      <a:rPr lang="en-US" sz="1400" b="0" i="1" u="none" smtClean="0">
                        <a:solidFill>
                          <a:schemeClr val="accent6"/>
                        </a:solidFill>
                        <a:latin typeface="Cambria Math" panose="02040503050406030204" pitchFamily="18" charset="0"/>
                        <a:cs typeface="Arial" pitchFamily="34" charset="0"/>
                      </a:rPr>
                      <m:t>𝐶</m:t>
                    </m:r>
                    <m:sSup>
                      <m:sSupPr>
                        <m:ctrlPr>
                          <a:rPr lang="en-US" sz="1400" b="0" i="1" u="none" smtClean="0">
                            <a:solidFill>
                              <a:schemeClr val="accent6"/>
                            </a:solidFill>
                            <a:latin typeface="Cambria Math" panose="02040503050406030204" pitchFamily="18" charset="0"/>
                            <a:cs typeface="Arial" pitchFamily="34" charset="0"/>
                          </a:rPr>
                        </m:ctrlPr>
                      </m:sSupPr>
                      <m:e>
                        <m:r>
                          <a:rPr lang="en-US" sz="1400" b="0" i="1" u="none" smtClean="0">
                            <a:solidFill>
                              <a:schemeClr val="accent6"/>
                            </a:solidFill>
                            <a:latin typeface="Cambria Math" panose="02040503050406030204" pitchFamily="18" charset="0"/>
                            <a:cs typeface="Arial" pitchFamily="34" charset="0"/>
                          </a:rPr>
                          <m:t>𝐼</m:t>
                        </m:r>
                      </m:e>
                      <m:sup>
                        <m:r>
                          <a:rPr lang="en-US" sz="1400" b="0" i="1" u="none" smtClean="0">
                            <a:solidFill>
                              <a:schemeClr val="accent6"/>
                            </a:solidFill>
                            <a:latin typeface="Cambria Math" panose="02040503050406030204" pitchFamily="18" charset="0"/>
                            <a:cs typeface="Arial" pitchFamily="34" charset="0"/>
                          </a:rPr>
                          <m:t>95</m:t>
                        </m:r>
                      </m:sup>
                    </m:sSup>
                  </m:oMath>
                </a14:m>
                <a:endParaRPr lang="en-US" sz="1400" b="0" u="none" dirty="0">
                  <a:solidFill>
                    <a:schemeClr val="accent6"/>
                  </a:solidFill>
                  <a:latin typeface="Arial" pitchFamily="34" charset="0"/>
                  <a:cs typeface="Arial" pitchFamily="34" charset="0"/>
                </a:endParaRPr>
              </a:p>
              <a:p>
                <a:endParaRPr lang="en-US" sz="1400" b="0" u="none" dirty="0">
                  <a:solidFill>
                    <a:schemeClr val="accent6"/>
                  </a:solidFill>
                  <a:latin typeface="Arial" pitchFamily="34" charset="0"/>
                  <a:cs typeface="Arial" pitchFamily="34" charset="0"/>
                </a:endParaRPr>
              </a:p>
              <a:p>
                <a:r>
                  <a:rPr lang="en-US" sz="1400" b="0" u="none" dirty="0">
                    <a:solidFill>
                      <a:schemeClr val="accent6"/>
                    </a:solidFill>
                    <a:latin typeface="Arial" pitchFamily="34" charset="0"/>
                    <a:cs typeface="Arial" pitchFamily="34" charset="0"/>
                  </a:rPr>
                  <a:t>In this case, </a:t>
                </a:r>
              </a:p>
              <a:p>
                <a:pPr algn="ctr"/>
                <a14:m>
                  <m:oMath xmlns:m="http://schemas.openxmlformats.org/officeDocument/2006/math">
                    <m:r>
                      <a:rPr lang="en-US" sz="1400" b="0" i="1" u="none">
                        <a:solidFill>
                          <a:schemeClr val="accent6"/>
                        </a:solidFill>
                        <a:latin typeface="Cambria Math" panose="02040503050406030204" pitchFamily="18" charset="0"/>
                        <a:cs typeface="Arial" pitchFamily="34" charset="0"/>
                      </a:rPr>
                      <m:t>𝐶</m:t>
                    </m:r>
                    <m:sSubSup>
                      <m:sSubSupPr>
                        <m:ctrlPr>
                          <a:rPr lang="en-US" sz="1400" b="0" i="1" u="none" smtClean="0">
                            <a:solidFill>
                              <a:schemeClr val="accent6"/>
                            </a:solidFill>
                            <a:latin typeface="Cambria Math" panose="02040503050406030204" pitchFamily="18" charset="0"/>
                            <a:cs typeface="Arial" pitchFamily="34" charset="0"/>
                          </a:rPr>
                        </m:ctrlPr>
                      </m:sSubSupPr>
                      <m:e>
                        <m:r>
                          <a:rPr lang="en-US" sz="1400" b="0" i="1" u="none">
                            <a:solidFill>
                              <a:schemeClr val="accent6"/>
                            </a:solidFill>
                            <a:latin typeface="Cambria Math" panose="02040503050406030204" pitchFamily="18" charset="0"/>
                            <a:cs typeface="Arial" pitchFamily="34" charset="0"/>
                          </a:rPr>
                          <m:t>𝐼</m:t>
                        </m:r>
                      </m:e>
                      <m:sub>
                        <m:r>
                          <a:rPr lang="en-US" sz="1400" b="0" i="1" u="none" smtClean="0">
                            <a:solidFill>
                              <a:schemeClr val="accent6"/>
                            </a:solidFill>
                            <a:latin typeface="Cambria Math" panose="02040503050406030204" pitchFamily="18" charset="0"/>
                            <a:cs typeface="Arial" pitchFamily="34" charset="0"/>
                          </a:rPr>
                          <m:t>𝐵𝑜𝑜𝑡</m:t>
                        </m:r>
                      </m:sub>
                      <m:sup>
                        <m:r>
                          <a:rPr lang="en-US" sz="1400" b="0" i="1" u="none">
                            <a:solidFill>
                              <a:schemeClr val="accent6"/>
                            </a:solidFill>
                            <a:latin typeface="Cambria Math" panose="02040503050406030204" pitchFamily="18" charset="0"/>
                            <a:cs typeface="Arial" pitchFamily="34" charset="0"/>
                          </a:rPr>
                          <m:t>95</m:t>
                        </m:r>
                      </m:sup>
                    </m:sSubSup>
                  </m:oMath>
                </a14:m>
                <a:r>
                  <a:rPr lang="en-US" sz="1400" b="0" u="none" dirty="0">
                    <a:solidFill>
                      <a:schemeClr val="accent6"/>
                    </a:solidFill>
                    <a:latin typeface="Arial" panose="020B0604020202020204" pitchFamily="34" charset="0"/>
                  </a:rPr>
                  <a:t>=</a:t>
                </a:r>
                <a:r>
                  <a:rPr lang="en-US" sz="1400" b="0" u="none" dirty="0">
                    <a:solidFill>
                      <a:srgbClr val="00B0F0"/>
                    </a:solidFill>
                    <a:latin typeface="Arial" panose="020B0604020202020204" pitchFamily="34" charset="0"/>
                  </a:rPr>
                  <a:t>.481 </a:t>
                </a:r>
                <a:r>
                  <a:rPr lang="en-US" sz="1400" b="0" u="none" dirty="0">
                    <a:solidFill>
                      <a:schemeClr val="accent6"/>
                    </a:solidFill>
                    <a:latin typeface="Arial" panose="020B0604020202020204" pitchFamily="34" charset="0"/>
                  </a:rPr>
                  <a:t>to</a:t>
                </a:r>
                <a:r>
                  <a:rPr lang="en-US" sz="1400" b="0" u="none" dirty="0">
                    <a:solidFill>
                      <a:srgbClr val="00B0F0"/>
                    </a:solidFill>
                    <a:latin typeface="Arial" panose="020B0604020202020204" pitchFamily="34" charset="0"/>
                  </a:rPr>
                  <a:t> .536</a:t>
                </a:r>
                <a:r>
                  <a:rPr lang="en-US" sz="1400" b="0" u="none" dirty="0">
                    <a:latin typeface="Arial" panose="020B0604020202020204" pitchFamily="34" charset="0"/>
                  </a:rPr>
                  <a:t> </a:t>
                </a:r>
                <a:endParaRPr lang="en-US" sz="1400" b="0" u="none" dirty="0">
                  <a:solidFill>
                    <a:srgbClr val="FF0000"/>
                  </a:solidFill>
                  <a:latin typeface="Arial" pitchFamily="34" charset="0"/>
                  <a:cs typeface="Arial" pitchFamily="34" charset="0"/>
                </a:endParaRPr>
              </a:p>
              <a:p>
                <a:endParaRPr lang="en-US" sz="1400" b="0" u="none" dirty="0">
                  <a:solidFill>
                    <a:srgbClr val="FF0000"/>
                  </a:solidFill>
                  <a:latin typeface="Arial" pitchFamily="34" charset="0"/>
                  <a:cs typeface="Arial" pitchFamily="34" charset="0"/>
                </a:endParaRPr>
              </a:p>
              <a:p>
                <a:r>
                  <a:rPr lang="en-US" sz="1400" b="0" u="none" dirty="0">
                    <a:solidFill>
                      <a:schemeClr val="accent6"/>
                    </a:solidFill>
                    <a:latin typeface="Arial" pitchFamily="34" charset="0"/>
                    <a:cs typeface="Arial" pitchFamily="34" charset="0"/>
                  </a:rPr>
                  <a:t>Recall that our analytical interval was</a:t>
                </a:r>
              </a:p>
              <a:p>
                <a:pPr algn="ctr"/>
                <a14:m>
                  <m:oMath xmlns:m="http://schemas.openxmlformats.org/officeDocument/2006/math">
                    <m:r>
                      <a:rPr lang="en-US" sz="1400" b="0" i="1" u="none">
                        <a:solidFill>
                          <a:schemeClr val="accent6"/>
                        </a:solidFill>
                        <a:latin typeface="Cambria Math" panose="02040503050406030204" pitchFamily="18" charset="0"/>
                        <a:cs typeface="Arial" pitchFamily="34" charset="0"/>
                      </a:rPr>
                      <m:t>𝐶</m:t>
                    </m:r>
                    <m:sSup>
                      <m:sSupPr>
                        <m:ctrlPr>
                          <a:rPr lang="en-US" sz="1400" b="0" i="1" u="none">
                            <a:solidFill>
                              <a:schemeClr val="accent6"/>
                            </a:solidFill>
                            <a:latin typeface="Cambria Math" panose="02040503050406030204" pitchFamily="18" charset="0"/>
                            <a:cs typeface="Arial" pitchFamily="34" charset="0"/>
                          </a:rPr>
                        </m:ctrlPr>
                      </m:sSupPr>
                      <m:e>
                        <m:r>
                          <a:rPr lang="en-US" sz="1400" b="0" i="1" u="none">
                            <a:solidFill>
                              <a:schemeClr val="accent6"/>
                            </a:solidFill>
                            <a:latin typeface="Cambria Math" panose="02040503050406030204" pitchFamily="18" charset="0"/>
                            <a:cs typeface="Arial" pitchFamily="34" charset="0"/>
                          </a:rPr>
                          <m:t>𝐼</m:t>
                        </m:r>
                      </m:e>
                      <m:sup>
                        <m:r>
                          <a:rPr lang="en-US" sz="1400" b="0" i="1" u="none">
                            <a:solidFill>
                              <a:schemeClr val="accent6"/>
                            </a:solidFill>
                            <a:latin typeface="Cambria Math" panose="02040503050406030204" pitchFamily="18" charset="0"/>
                            <a:cs typeface="Arial" pitchFamily="34" charset="0"/>
                          </a:rPr>
                          <m:t>95</m:t>
                        </m:r>
                      </m:sup>
                    </m:sSup>
                  </m:oMath>
                </a14:m>
                <a:r>
                  <a:rPr lang="en-US" sz="1400" b="0" u="none" dirty="0">
                    <a:solidFill>
                      <a:schemeClr val="accent6"/>
                    </a:solidFill>
                    <a:latin typeface="Arial" panose="020B0604020202020204" pitchFamily="34" charset="0"/>
                  </a:rPr>
                  <a:t>=</a:t>
                </a:r>
                <a:r>
                  <a:rPr lang="en-US" sz="1400" b="0" u="none" dirty="0">
                    <a:solidFill>
                      <a:srgbClr val="00B0F0"/>
                    </a:solidFill>
                    <a:latin typeface="Arial" panose="020B0604020202020204" pitchFamily="34" charset="0"/>
                  </a:rPr>
                  <a:t>.481 </a:t>
                </a:r>
                <a:r>
                  <a:rPr lang="en-US" sz="1400" b="0" u="none" dirty="0">
                    <a:solidFill>
                      <a:schemeClr val="accent6"/>
                    </a:solidFill>
                    <a:latin typeface="Arial" panose="020B0604020202020204" pitchFamily="34" charset="0"/>
                  </a:rPr>
                  <a:t>to</a:t>
                </a:r>
                <a:r>
                  <a:rPr lang="en-US" sz="1400" b="0" u="none" dirty="0">
                    <a:solidFill>
                      <a:srgbClr val="00B0F0"/>
                    </a:solidFill>
                    <a:latin typeface="Arial" panose="020B0604020202020204" pitchFamily="34" charset="0"/>
                  </a:rPr>
                  <a:t> .539</a:t>
                </a:r>
                <a:r>
                  <a:rPr lang="en-US" sz="1400" b="0" u="none" dirty="0">
                    <a:latin typeface="Arial" panose="020B0604020202020204" pitchFamily="34" charset="0"/>
                  </a:rPr>
                  <a:t> </a:t>
                </a:r>
                <a:endParaRPr lang="en-US" sz="1400" b="0" u="none" dirty="0">
                  <a:solidFill>
                    <a:srgbClr val="FF0000"/>
                  </a:solidFill>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0CB40928-D9C2-4B3D-BB2F-D7A69E64ED8A}"/>
                  </a:ext>
                </a:extLst>
              </p:cNvPr>
              <p:cNvSpPr txBox="1">
                <a:spLocks noRot="1" noChangeAspect="1" noMove="1" noResize="1" noEditPoints="1" noAdjustHandles="1" noChangeArrowheads="1" noChangeShapeType="1" noTextEdit="1"/>
              </p:cNvSpPr>
              <p:nvPr/>
            </p:nvSpPr>
            <p:spPr>
              <a:xfrm>
                <a:off x="7247766" y="2133620"/>
                <a:ext cx="1837497" cy="2906373"/>
              </a:xfrm>
              <a:prstGeom prst="rect">
                <a:avLst/>
              </a:prstGeom>
              <a:blipFill>
                <a:blip r:embed="rId3"/>
                <a:stretch>
                  <a:fillRect l="-997" t="-419" r="-1661" b="-1468"/>
                </a:stretch>
              </a:blipFill>
            </p:spPr>
            <p:txBody>
              <a:bodyPr/>
              <a:lstStyle/>
              <a:p>
                <a:r>
                  <a:rPr lang="en-US">
                    <a:noFill/>
                  </a:rPr>
                  <a:t> </a:t>
                </a:r>
              </a:p>
            </p:txBody>
          </p:sp>
        </mc:Fallback>
      </mc:AlternateContent>
    </p:spTree>
    <p:extLst>
      <p:ext uri="{BB962C8B-B14F-4D97-AF65-F5344CB8AC3E}">
        <p14:creationId xmlns:p14="http://schemas.microsoft.com/office/powerpoint/2010/main" val="1715155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C125-F9AC-45C2-A56B-FCCC608DE558}"/>
              </a:ext>
            </a:extLst>
          </p:cNvPr>
          <p:cNvSpPr>
            <a:spLocks noGrp="1"/>
          </p:cNvSpPr>
          <p:nvPr>
            <p:ph type="title"/>
          </p:nvPr>
        </p:nvSpPr>
        <p:spPr/>
        <p:txBody>
          <a:bodyPr/>
          <a:lstStyle/>
          <a:p>
            <a:r>
              <a:rPr lang="en-US" dirty="0"/>
              <a:t>How to Actually Run a Bootstrap?</a:t>
            </a:r>
          </a:p>
        </p:txBody>
      </p:sp>
      <p:sp>
        <p:nvSpPr>
          <p:cNvPr id="3" name="Content Placeholder 2">
            <a:extLst>
              <a:ext uri="{FF2B5EF4-FFF2-40B4-BE49-F238E27FC236}">
                <a16:creationId xmlns:a16="http://schemas.microsoft.com/office/drawing/2014/main" id="{97D5539E-54BC-4000-BCD3-FE356219147E}"/>
              </a:ext>
            </a:extLst>
          </p:cNvPr>
          <p:cNvSpPr>
            <a:spLocks noGrp="1"/>
          </p:cNvSpPr>
          <p:nvPr>
            <p:ph idx="1"/>
          </p:nvPr>
        </p:nvSpPr>
        <p:spPr/>
        <p:txBody>
          <a:bodyPr/>
          <a:lstStyle/>
          <a:p>
            <a:endParaRPr lang="en-US" dirty="0"/>
          </a:p>
          <a:p>
            <a:r>
              <a:rPr lang="en-US" dirty="0"/>
              <a:t>If you know how to code, you can write a program</a:t>
            </a:r>
          </a:p>
          <a:p>
            <a:endParaRPr lang="en-US" dirty="0"/>
          </a:p>
          <a:p>
            <a:r>
              <a:rPr lang="en-US" dirty="0"/>
              <a:t>If you know how to use a good statistical package like Stata, R, </a:t>
            </a:r>
            <a:r>
              <a:rPr lang="en-US" dirty="0" err="1"/>
              <a:t>Matlab</a:t>
            </a:r>
            <a:r>
              <a:rPr lang="en-US" dirty="0"/>
              <a:t>, or Python, you can use already-created routines</a:t>
            </a:r>
          </a:p>
          <a:p>
            <a:endParaRPr lang="en-US" dirty="0"/>
          </a:p>
          <a:p>
            <a:r>
              <a:rPr lang="en-US" dirty="0"/>
              <a:t>ChatGPT:</a:t>
            </a:r>
          </a:p>
          <a:p>
            <a:endParaRPr lang="en-US" dirty="0"/>
          </a:p>
          <a:p>
            <a:pPr marL="400050" lvl="1" indent="0">
              <a:buNone/>
            </a:pPr>
            <a:r>
              <a:rPr lang="en-US" sz="1800" u="sng" dirty="0">
                <a:solidFill>
                  <a:schemeClr val="tx1"/>
                </a:solidFill>
              </a:rPr>
              <a:t>Prompt</a:t>
            </a:r>
            <a:r>
              <a:rPr lang="en-US" sz="1800" dirty="0">
                <a:solidFill>
                  <a:schemeClr val="tx1"/>
                </a:solidFill>
              </a:rPr>
              <a:t>: Suppose a poll of 1100 likely voters reveals that 51 percent will vote for candidate A. Please do a bootstrap of this poll's sample using 1000 draws of 1100 with replacement and plot the resulting vote shares for candidate A in </a:t>
            </a:r>
            <a:r>
              <a:rPr lang="en-US" sz="1800">
                <a:solidFill>
                  <a:schemeClr val="tx1"/>
                </a:solidFill>
              </a:rPr>
              <a:t>a histogram. </a:t>
            </a:r>
            <a:r>
              <a:rPr lang="en-US" sz="1800" dirty="0">
                <a:solidFill>
                  <a:schemeClr val="tx1"/>
                </a:solidFill>
              </a:rPr>
              <a:t>Please also tell me the bootstrap 95 percent confidence interval</a:t>
            </a:r>
          </a:p>
        </p:txBody>
      </p:sp>
      <p:sp>
        <p:nvSpPr>
          <p:cNvPr id="4" name="Slide Number Placeholder 3">
            <a:extLst>
              <a:ext uri="{FF2B5EF4-FFF2-40B4-BE49-F238E27FC236}">
                <a16:creationId xmlns:a16="http://schemas.microsoft.com/office/drawing/2014/main" id="{FF80DD56-C453-44E1-A388-7C02DF1D9E5A}"/>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97</a:t>
            </a:fld>
            <a:endParaRPr lang="en-GB" dirty="0"/>
          </a:p>
        </p:txBody>
      </p:sp>
    </p:spTree>
    <p:extLst>
      <p:ext uri="{BB962C8B-B14F-4D97-AF65-F5344CB8AC3E}">
        <p14:creationId xmlns:p14="http://schemas.microsoft.com/office/powerpoint/2010/main" val="43196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3ECC-53CF-4A43-BAFD-D0235BE81681}"/>
              </a:ext>
            </a:extLst>
          </p:cNvPr>
          <p:cNvSpPr>
            <a:spLocks noGrp="1"/>
          </p:cNvSpPr>
          <p:nvPr>
            <p:ph type="title"/>
          </p:nvPr>
        </p:nvSpPr>
        <p:spPr/>
        <p:txBody>
          <a:bodyPr/>
          <a:lstStyle/>
          <a:p>
            <a:r>
              <a:rPr lang="en-US" dirty="0"/>
              <a:t>When to Bootstrap?</a:t>
            </a:r>
          </a:p>
        </p:txBody>
      </p:sp>
      <p:sp>
        <p:nvSpPr>
          <p:cNvPr id="3" name="Content Placeholder 2">
            <a:extLst>
              <a:ext uri="{FF2B5EF4-FFF2-40B4-BE49-F238E27FC236}">
                <a16:creationId xmlns:a16="http://schemas.microsoft.com/office/drawing/2014/main" id="{6F677966-6A3E-4764-9064-2E32721153EE}"/>
              </a:ext>
            </a:extLst>
          </p:cNvPr>
          <p:cNvSpPr>
            <a:spLocks noGrp="1"/>
          </p:cNvSpPr>
          <p:nvPr>
            <p:ph idx="1"/>
          </p:nvPr>
        </p:nvSpPr>
        <p:spPr/>
        <p:txBody>
          <a:bodyPr/>
          <a:lstStyle/>
          <a:p>
            <a:endParaRPr lang="en-US" dirty="0"/>
          </a:p>
          <a:p>
            <a:r>
              <a:rPr lang="en-US" dirty="0"/>
              <a:t>Can depend on setting and assumptions</a:t>
            </a:r>
          </a:p>
          <a:p>
            <a:endParaRPr lang="en-US" dirty="0"/>
          </a:p>
          <a:p>
            <a:r>
              <a:rPr lang="en-US" dirty="0"/>
              <a:t>If you are interested in this topic, </a:t>
            </a:r>
            <a:r>
              <a:rPr lang="en-US" dirty="0">
                <a:hlinkClick r:id="rId2"/>
              </a:rPr>
              <a:t>this article </a:t>
            </a:r>
            <a:r>
              <a:rPr lang="en-US" dirty="0"/>
              <a:t>provides an interesting discussion of the pros and cons in a particular setting. If the link breaks, google “LSE Blog ‘New poll suggests…’: How to tell when public opinion has really changed”</a:t>
            </a:r>
          </a:p>
        </p:txBody>
      </p:sp>
      <p:sp>
        <p:nvSpPr>
          <p:cNvPr id="4" name="Slide Number Placeholder 3">
            <a:extLst>
              <a:ext uri="{FF2B5EF4-FFF2-40B4-BE49-F238E27FC236}">
                <a16:creationId xmlns:a16="http://schemas.microsoft.com/office/drawing/2014/main" id="{D30E4913-FDCC-41B5-80C8-E5F0A6E6D7CC}"/>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98</a:t>
            </a:fld>
            <a:endParaRPr lang="en-GB" dirty="0"/>
          </a:p>
        </p:txBody>
      </p:sp>
    </p:spTree>
    <p:extLst>
      <p:ext uri="{BB962C8B-B14F-4D97-AF65-F5344CB8AC3E}">
        <p14:creationId xmlns:p14="http://schemas.microsoft.com/office/powerpoint/2010/main" val="287096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0FD9FF4-6DD2-4705-AA40-F6284F36A320}"/>
                  </a:ext>
                </a:extLst>
              </p:cNvPr>
              <p:cNvSpPr>
                <a:spLocks noGrp="1"/>
              </p:cNvSpPr>
              <p:nvPr>
                <p:ph type="title"/>
              </p:nvPr>
            </p:nvSpPr>
            <p:spPr/>
            <p:txBody>
              <a:bodyPr/>
              <a:lstStyle/>
              <a:p>
                <a:r>
                  <a:rPr lang="en-US" dirty="0"/>
                  <a:t>Three Approaches to </a:t>
                </a:r>
                <a14:m>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95</m:t>
                        </m:r>
                      </m:sup>
                    </m:sSup>
                  </m:oMath>
                </a14:m>
                <a:endParaRPr lang="en-US" dirty="0"/>
              </a:p>
            </p:txBody>
          </p:sp>
        </mc:Choice>
        <mc:Fallback xmlns="">
          <p:sp>
            <p:nvSpPr>
              <p:cNvPr id="2" name="Title 1">
                <a:extLst>
                  <a:ext uri="{FF2B5EF4-FFF2-40B4-BE49-F238E27FC236}">
                    <a16:creationId xmlns:a16="http://schemas.microsoft.com/office/drawing/2014/main" id="{D0FD9FF4-6DD2-4705-AA40-F6284F36A320}"/>
                  </a:ext>
                </a:extLst>
              </p:cNvPr>
              <p:cNvSpPr>
                <a:spLocks noGrp="1" noRot="1" noChangeAspect="1" noMove="1" noResize="1" noEditPoints="1" noAdjustHandles="1" noChangeArrowheads="1" noChangeShapeType="1" noTextEdit="1"/>
              </p:cNvSpPr>
              <p:nvPr>
                <p:ph type="title"/>
              </p:nvPr>
            </p:nvSpPr>
            <p:spPr>
              <a:blipFill>
                <a:blip r:embed="rId2"/>
                <a:stretch>
                  <a:fillRect b="-168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0F2DDCA-04E8-4E59-A191-AFC5F2942AEA}"/>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99</a:t>
            </a:fld>
            <a:endParaRPr lang="en-GB" dirty="0"/>
          </a:p>
        </p:txBody>
      </p:sp>
      <p:sp>
        <p:nvSpPr>
          <p:cNvPr id="4" name="TextBox 3">
            <a:extLst>
              <a:ext uri="{FF2B5EF4-FFF2-40B4-BE49-F238E27FC236}">
                <a16:creationId xmlns:a16="http://schemas.microsoft.com/office/drawing/2014/main" id="{75CC3B09-6168-4A32-8F19-5A726C301C36}"/>
              </a:ext>
            </a:extLst>
          </p:cNvPr>
          <p:cNvSpPr txBox="1"/>
          <p:nvPr/>
        </p:nvSpPr>
        <p:spPr>
          <a:xfrm>
            <a:off x="2919305" y="1583356"/>
            <a:ext cx="3305392" cy="369332"/>
          </a:xfrm>
          <a:prstGeom prst="rect">
            <a:avLst/>
          </a:prstGeom>
          <a:noFill/>
        </p:spPr>
        <p:txBody>
          <a:bodyPr wrap="none" rtlCol="0">
            <a:spAutoFit/>
          </a:bodyPr>
          <a:lstStyle/>
          <a:p>
            <a:pPr algn="ctr"/>
            <a:r>
              <a:rPr lang="en-US" sz="1800" b="0" u="none" dirty="0">
                <a:latin typeface="Arial" pitchFamily="34" charset="0"/>
                <a:cs typeface="Arial" pitchFamily="34" charset="0"/>
              </a:rPr>
              <a:t>Share Voting for Candidate A?</a:t>
            </a:r>
          </a:p>
        </p:txBody>
      </p:sp>
      <p:cxnSp>
        <p:nvCxnSpPr>
          <p:cNvPr id="10" name="Straight Arrow Connector 9">
            <a:extLst>
              <a:ext uri="{FF2B5EF4-FFF2-40B4-BE49-F238E27FC236}">
                <a16:creationId xmlns:a16="http://schemas.microsoft.com/office/drawing/2014/main" id="{9BF437DE-5A08-4B10-9CB3-094FFCAA3760}"/>
              </a:ext>
            </a:extLst>
          </p:cNvPr>
          <p:cNvCxnSpPr>
            <a:cxnSpLocks/>
          </p:cNvCxnSpPr>
          <p:nvPr/>
        </p:nvCxnSpPr>
        <p:spPr bwMode="auto">
          <a:xfrm flipH="1">
            <a:off x="2016493" y="1952688"/>
            <a:ext cx="2555508" cy="93970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9E57C1A9-379A-449E-8E6D-1CCAF2DA0A9B}"/>
              </a:ext>
            </a:extLst>
          </p:cNvPr>
          <p:cNvSpPr txBox="1"/>
          <p:nvPr/>
        </p:nvSpPr>
        <p:spPr>
          <a:xfrm>
            <a:off x="1329473" y="2924888"/>
            <a:ext cx="1441420" cy="369332"/>
          </a:xfrm>
          <a:prstGeom prst="rect">
            <a:avLst/>
          </a:prstGeom>
          <a:noFill/>
        </p:spPr>
        <p:txBody>
          <a:bodyPr wrap="none" rtlCol="0">
            <a:spAutoFit/>
          </a:bodyPr>
          <a:lstStyle/>
          <a:p>
            <a:pPr algn="ctr"/>
            <a:r>
              <a:rPr lang="en-US" sz="1800" b="0" u="none" dirty="0">
                <a:latin typeface="Arial" pitchFamily="34" charset="0"/>
                <a:cs typeface="Arial" pitchFamily="34" charset="0"/>
              </a:rPr>
              <a:t>Many Polls?</a:t>
            </a:r>
          </a:p>
        </p:txBody>
      </p:sp>
      <p:sp>
        <p:nvSpPr>
          <p:cNvPr id="13" name="TextBox 12">
            <a:extLst>
              <a:ext uri="{FF2B5EF4-FFF2-40B4-BE49-F238E27FC236}">
                <a16:creationId xmlns:a16="http://schemas.microsoft.com/office/drawing/2014/main" id="{28EA31B3-715E-47E9-974C-B85891B2B827}"/>
              </a:ext>
            </a:extLst>
          </p:cNvPr>
          <p:cNvSpPr txBox="1"/>
          <p:nvPr/>
        </p:nvSpPr>
        <p:spPr>
          <a:xfrm>
            <a:off x="3973119" y="2924888"/>
            <a:ext cx="1197764" cy="369332"/>
          </a:xfrm>
          <a:prstGeom prst="rect">
            <a:avLst/>
          </a:prstGeom>
          <a:noFill/>
        </p:spPr>
        <p:txBody>
          <a:bodyPr wrap="none" rtlCol="0">
            <a:spAutoFit/>
          </a:bodyPr>
          <a:lstStyle/>
          <a:p>
            <a:pPr algn="ctr"/>
            <a:r>
              <a:rPr lang="en-US" sz="1800" b="0" u="none" dirty="0">
                <a:latin typeface="Arial" pitchFamily="34" charset="0"/>
                <a:cs typeface="Arial" pitchFamily="34" charset="0"/>
              </a:rPr>
              <a:t>One Poll?</a:t>
            </a:r>
          </a:p>
        </p:txBody>
      </p:sp>
      <p:cxnSp>
        <p:nvCxnSpPr>
          <p:cNvPr id="15" name="Straight Arrow Connector 14">
            <a:extLst>
              <a:ext uri="{FF2B5EF4-FFF2-40B4-BE49-F238E27FC236}">
                <a16:creationId xmlns:a16="http://schemas.microsoft.com/office/drawing/2014/main" id="{EE3A6C40-00B0-4A13-A267-386A6E638537}"/>
              </a:ext>
            </a:extLst>
          </p:cNvPr>
          <p:cNvCxnSpPr>
            <a:cxnSpLocks/>
            <a:stCxn id="4" idx="2"/>
            <a:endCxn id="13" idx="0"/>
          </p:cNvCxnSpPr>
          <p:nvPr/>
        </p:nvCxnSpPr>
        <p:spPr bwMode="auto">
          <a:xfrm>
            <a:off x="4572001" y="1952688"/>
            <a:ext cx="0" cy="972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C22DF4BE-E8CB-469B-9D85-5B1E95071C55}"/>
              </a:ext>
            </a:extLst>
          </p:cNvPr>
          <p:cNvCxnSpPr>
            <a:cxnSpLocks/>
          </p:cNvCxnSpPr>
          <p:nvPr/>
        </p:nvCxnSpPr>
        <p:spPr bwMode="auto">
          <a:xfrm>
            <a:off x="4572000" y="3294220"/>
            <a:ext cx="2399990" cy="5703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3E29402B-D501-4D59-ADFA-4A9D14C6F634}"/>
              </a:ext>
            </a:extLst>
          </p:cNvPr>
          <p:cNvCxnSpPr>
            <a:cxnSpLocks/>
            <a:stCxn id="12" idx="2"/>
          </p:cNvCxnSpPr>
          <p:nvPr/>
        </p:nvCxnSpPr>
        <p:spPr bwMode="auto">
          <a:xfrm>
            <a:off x="2050183" y="3294220"/>
            <a:ext cx="0" cy="5523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508276FB-3D31-4232-BD1A-C32BAA9E8E1F}"/>
              </a:ext>
            </a:extLst>
          </p:cNvPr>
          <p:cNvCxnSpPr>
            <a:cxnSpLocks/>
          </p:cNvCxnSpPr>
          <p:nvPr/>
        </p:nvCxnSpPr>
        <p:spPr bwMode="auto">
          <a:xfrm>
            <a:off x="4572000" y="3294220"/>
            <a:ext cx="0" cy="5523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94049F7-C98B-404E-A465-E00C8DBF07D8}"/>
                  </a:ext>
                </a:extLst>
              </p:cNvPr>
              <p:cNvSpPr txBox="1"/>
              <p:nvPr/>
            </p:nvSpPr>
            <p:spPr>
              <a:xfrm>
                <a:off x="937636" y="3865890"/>
                <a:ext cx="2225093" cy="2180469"/>
              </a:xfrm>
              <a:prstGeom prst="rect">
                <a:avLst/>
              </a:prstGeom>
              <a:noFill/>
            </p:spPr>
            <p:txBody>
              <a:bodyPr wrap="square" rtlCol="0">
                <a:spAutoFit/>
              </a:bodyPr>
              <a:lstStyle/>
              <a:p>
                <a:pPr algn="ctr"/>
                <a:r>
                  <a:rPr lang="en-US" sz="1800" b="0" u="none" dirty="0">
                    <a:cs typeface="Arial" pitchFamily="34" charset="0"/>
                  </a:rPr>
                  <a:t>Distribution of polls converges to </a:t>
                </a:r>
                <a14:m>
                  <m:oMath xmlns:m="http://schemas.openxmlformats.org/officeDocument/2006/math">
                    <m:r>
                      <a:rPr lang="en-US" sz="1800" b="0" i="1" u="none" dirty="0">
                        <a:latin typeface="Cambria Math" panose="02040503050406030204" pitchFamily="18" charset="0"/>
                        <a:cs typeface="Arial" panose="020B0604020202020204" pitchFamily="34" charset="0"/>
                      </a:rPr>
                      <m:t>𝑁</m:t>
                    </m:r>
                    <m:d>
                      <m:dPr>
                        <m:ctrlPr>
                          <a:rPr lang="en-US" sz="1800" b="0" i="1" u="none" dirty="0">
                            <a:latin typeface="Cambria Math" panose="02040503050406030204" pitchFamily="18" charset="0"/>
                            <a:cs typeface="Arial" panose="020B0604020202020204" pitchFamily="34" charset="0"/>
                          </a:rPr>
                        </m:ctrlPr>
                      </m:dPr>
                      <m:e>
                        <m:r>
                          <a:rPr lang="en-US" sz="1800" b="0" i="1" u="none" dirty="0">
                            <a:solidFill>
                              <a:srgbClr val="FF0000"/>
                            </a:solidFill>
                            <a:latin typeface="Cambria Math" panose="02040503050406030204" pitchFamily="18" charset="0"/>
                            <a:cs typeface="Arial" panose="020B0604020202020204" pitchFamily="34" charset="0"/>
                          </a:rPr>
                          <m:t>𝜇</m:t>
                        </m:r>
                        <m:r>
                          <a:rPr lang="en-US" sz="1800" b="0" i="1" u="none" dirty="0">
                            <a:latin typeface="Cambria Math" panose="02040503050406030204" pitchFamily="18" charset="0"/>
                            <a:cs typeface="Arial" panose="020B0604020202020204" pitchFamily="34" charset="0"/>
                          </a:rPr>
                          <m:t>,</m:t>
                        </m:r>
                        <m:f>
                          <m:fPr>
                            <m:ctrlPr>
                              <a:rPr lang="en-US" sz="1800" b="0" i="1" u="none">
                                <a:solidFill>
                                  <a:schemeClr val="accent6"/>
                                </a:solidFill>
                                <a:latin typeface="Cambria Math" panose="02040503050406030204" pitchFamily="18" charset="0"/>
                                <a:cs typeface="Arial" panose="020B0604020202020204" pitchFamily="34" charset="0"/>
                              </a:rPr>
                            </m:ctrlPr>
                          </m:fPr>
                          <m:num>
                            <m:r>
                              <a:rPr lang="en-US" sz="1800" b="0" i="1" u="none">
                                <a:solidFill>
                                  <a:srgbClr val="FF0000"/>
                                </a:solidFill>
                                <a:latin typeface="Cambria Math" panose="02040503050406030204" pitchFamily="18" charset="0"/>
                                <a:cs typeface="Arial" panose="020B0604020202020204" pitchFamily="34" charset="0"/>
                              </a:rPr>
                              <m:t>𝜎</m:t>
                            </m:r>
                          </m:num>
                          <m:den>
                            <m:rad>
                              <m:radPr>
                                <m:degHide m:val="on"/>
                                <m:ctrlPr>
                                  <a:rPr lang="en-US" sz="1800" b="0" i="1" u="none">
                                    <a:solidFill>
                                      <a:schemeClr val="accent6"/>
                                    </a:solidFill>
                                    <a:latin typeface="Cambria Math" panose="02040503050406030204" pitchFamily="18" charset="0"/>
                                    <a:cs typeface="Arial" panose="020B0604020202020204" pitchFamily="34" charset="0"/>
                                  </a:rPr>
                                </m:ctrlPr>
                              </m:radPr>
                              <m:deg/>
                              <m:e>
                                <m:r>
                                  <a:rPr lang="en-US" sz="1800" b="0" i="1" u="none">
                                    <a:solidFill>
                                      <a:schemeClr val="accent6"/>
                                    </a:solidFill>
                                    <a:latin typeface="Cambria Math" panose="02040503050406030204" pitchFamily="18" charset="0"/>
                                    <a:cs typeface="Arial" panose="020B0604020202020204" pitchFamily="34" charset="0"/>
                                  </a:rPr>
                                  <m:t>𝑁</m:t>
                                </m:r>
                              </m:e>
                            </m:rad>
                          </m:den>
                        </m:f>
                      </m:e>
                    </m:d>
                  </m:oMath>
                </a14:m>
                <a:endParaRPr lang="en-US" sz="1800" b="0" u="none" dirty="0">
                  <a:cs typeface="Arial" panose="020B0604020202020204" pitchFamily="34" charset="0"/>
                </a:endParaRPr>
              </a:p>
              <a:p>
                <a:pPr algn="ctr"/>
                <a:br>
                  <a:rPr lang="en-US" sz="1800" b="0" u="none" dirty="0">
                    <a:cs typeface="Arial" panose="020B0604020202020204" pitchFamily="34" charset="0"/>
                  </a:rPr>
                </a:br>
                <a:r>
                  <a:rPr lang="en-US" sz="1800" b="0" u="none" dirty="0"/>
                  <a:t>Use polls’ distribution to find </a:t>
                </a:r>
                <a14:m>
                  <m:oMath xmlns:m="http://schemas.openxmlformats.org/officeDocument/2006/math">
                    <m:r>
                      <a:rPr lang="en-US" sz="1800" b="0" i="1" u="none" smtClean="0">
                        <a:latin typeface="Cambria Math" panose="02040503050406030204" pitchFamily="18" charset="0"/>
                      </a:rPr>
                      <m:t>𝐶</m:t>
                    </m:r>
                    <m:sSup>
                      <m:sSupPr>
                        <m:ctrlPr>
                          <a:rPr lang="en-US" sz="1800" b="0" i="1" u="none" smtClean="0">
                            <a:latin typeface="Cambria Math" panose="02040503050406030204" pitchFamily="18" charset="0"/>
                          </a:rPr>
                        </m:ctrlPr>
                      </m:sSupPr>
                      <m:e>
                        <m:r>
                          <a:rPr lang="en-US" sz="1800" b="0" i="1" u="none" smtClean="0">
                            <a:latin typeface="Cambria Math" panose="02040503050406030204" pitchFamily="18" charset="0"/>
                          </a:rPr>
                          <m:t>𝐼</m:t>
                        </m:r>
                      </m:e>
                      <m:sup>
                        <m:r>
                          <a:rPr lang="en-US" sz="1800" b="0" i="1" u="none" smtClean="0">
                            <a:latin typeface="Cambria Math" panose="02040503050406030204" pitchFamily="18" charset="0"/>
                          </a:rPr>
                          <m:t>95</m:t>
                        </m:r>
                      </m:sup>
                    </m:sSup>
                  </m:oMath>
                </a14:m>
                <a:endParaRPr lang="en-US" sz="1800" b="0" u="none" dirty="0"/>
              </a:p>
            </p:txBody>
          </p:sp>
        </mc:Choice>
        <mc:Fallback xmlns="">
          <p:sp>
            <p:nvSpPr>
              <p:cNvPr id="28" name="TextBox 27">
                <a:extLst>
                  <a:ext uri="{FF2B5EF4-FFF2-40B4-BE49-F238E27FC236}">
                    <a16:creationId xmlns:a16="http://schemas.microsoft.com/office/drawing/2014/main" id="{694049F7-C98B-404E-A465-E00C8DBF07D8}"/>
                  </a:ext>
                </a:extLst>
              </p:cNvPr>
              <p:cNvSpPr txBox="1">
                <a:spLocks noRot="1" noChangeAspect="1" noMove="1" noResize="1" noEditPoints="1" noAdjustHandles="1" noChangeArrowheads="1" noChangeShapeType="1" noTextEdit="1"/>
              </p:cNvSpPr>
              <p:nvPr/>
            </p:nvSpPr>
            <p:spPr>
              <a:xfrm>
                <a:off x="937636" y="3865890"/>
                <a:ext cx="2225093" cy="2180469"/>
              </a:xfrm>
              <a:prstGeom prst="rect">
                <a:avLst/>
              </a:prstGeom>
              <a:blipFill>
                <a:blip r:embed="rId3"/>
                <a:stretch>
                  <a:fillRect l="-274" t="-1397" r="-21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A65C2CF-682D-4088-B951-ED2FAD2B12BC}"/>
                  </a:ext>
                </a:extLst>
              </p:cNvPr>
              <p:cNvSpPr txBox="1"/>
              <p:nvPr/>
            </p:nvSpPr>
            <p:spPr>
              <a:xfrm>
                <a:off x="3471073" y="3846542"/>
                <a:ext cx="2225093" cy="649409"/>
              </a:xfrm>
              <a:prstGeom prst="rect">
                <a:avLst/>
              </a:prstGeom>
              <a:noFill/>
            </p:spPr>
            <p:txBody>
              <a:bodyPr wrap="square" rtlCol="0">
                <a:spAutoFit/>
              </a:bodyPr>
              <a:lstStyle/>
              <a:p>
                <a:pPr algn="ctr"/>
                <a:r>
                  <a:rPr lang="en-US" sz="1800" b="0" u="none" dirty="0">
                    <a:cs typeface="Arial" pitchFamily="34" charset="0"/>
                  </a:rPr>
                  <a:t>Construct </a:t>
                </a:r>
                <a14:m>
                  <m:oMath xmlns:m="http://schemas.openxmlformats.org/officeDocument/2006/math">
                    <m:r>
                      <a:rPr lang="en-US" sz="1800" b="0" i="1" u="none" smtClean="0">
                        <a:latin typeface="Cambria Math" panose="02040503050406030204" pitchFamily="18" charset="0"/>
                        <a:cs typeface="Arial" pitchFamily="34" charset="0"/>
                      </a:rPr>
                      <m:t>𝐶</m:t>
                    </m:r>
                    <m:sSup>
                      <m:sSupPr>
                        <m:ctrlPr>
                          <a:rPr lang="en-US" sz="1800" b="0" i="1" u="none" smtClean="0">
                            <a:latin typeface="Cambria Math" panose="02040503050406030204" pitchFamily="18" charset="0"/>
                            <a:cs typeface="Arial" pitchFamily="34" charset="0"/>
                          </a:rPr>
                        </m:ctrlPr>
                      </m:sSupPr>
                      <m:e>
                        <m:r>
                          <a:rPr lang="en-US" sz="1800" b="0" i="1" u="none" smtClean="0">
                            <a:latin typeface="Cambria Math" panose="02040503050406030204" pitchFamily="18" charset="0"/>
                            <a:cs typeface="Arial" pitchFamily="34" charset="0"/>
                          </a:rPr>
                          <m:t>𝐼</m:t>
                        </m:r>
                      </m:e>
                      <m:sup>
                        <m:r>
                          <a:rPr lang="en-US" sz="1800" b="0" i="1" u="none" smtClean="0">
                            <a:latin typeface="Cambria Math" panose="02040503050406030204" pitchFamily="18" charset="0"/>
                            <a:cs typeface="Arial" pitchFamily="34" charset="0"/>
                          </a:rPr>
                          <m:t>95</m:t>
                        </m:r>
                      </m:sup>
                    </m:sSup>
                  </m:oMath>
                </a14:m>
                <a:r>
                  <a:rPr lang="en-US" sz="1800" b="0" u="none" dirty="0"/>
                  <a:t> as </a:t>
                </a:r>
                <a14:m>
                  <m:oMath xmlns:m="http://schemas.openxmlformats.org/officeDocument/2006/math">
                    <m:acc>
                      <m:accPr>
                        <m:chr m:val="̅"/>
                        <m:ctrlPr>
                          <a:rPr lang="en-US" sz="1800" i="1" u="none">
                            <a:latin typeface="Cambria Math" panose="02040503050406030204" pitchFamily="18" charset="0"/>
                          </a:rPr>
                        </m:ctrlPr>
                      </m:accPr>
                      <m:e>
                        <m:r>
                          <a:rPr lang="en-US" sz="1800" i="1" u="none">
                            <a:latin typeface="Cambria Math" panose="02040503050406030204" pitchFamily="18" charset="0"/>
                          </a:rPr>
                          <m:t>𝑥</m:t>
                        </m:r>
                      </m:e>
                    </m:acc>
                    <m:r>
                      <a:rPr lang="en-US" sz="1800" i="1" u="none" dirty="0">
                        <a:latin typeface="Cambria Math" panose="02040503050406030204" pitchFamily="18" charset="0"/>
                        <a:ea typeface="Cambria Math" panose="02040503050406030204" pitchFamily="18" charset="0"/>
                      </a:rPr>
                      <m:t>±</m:t>
                    </m:r>
                    <m:r>
                      <a:rPr lang="en-US" sz="1800" i="1" u="none" dirty="0">
                        <a:latin typeface="Cambria Math" panose="02040503050406030204" pitchFamily="18" charset="0"/>
                        <a:ea typeface="Cambria Math" panose="02040503050406030204" pitchFamily="18" charset="0"/>
                      </a:rPr>
                      <m:t>1</m:t>
                    </m:r>
                    <m:r>
                      <a:rPr lang="en-US" sz="1800" i="1" u="none" dirty="0">
                        <a:latin typeface="Cambria Math" panose="02040503050406030204" pitchFamily="18" charset="0"/>
                        <a:ea typeface="Cambria Math" panose="02040503050406030204" pitchFamily="18" charset="0"/>
                      </a:rPr>
                      <m:t>.</m:t>
                    </m:r>
                    <m:r>
                      <a:rPr lang="en-US" sz="1800" i="1" u="none" dirty="0">
                        <a:latin typeface="Cambria Math" panose="02040503050406030204" pitchFamily="18" charset="0"/>
                        <a:ea typeface="Cambria Math" panose="02040503050406030204" pitchFamily="18" charset="0"/>
                      </a:rPr>
                      <m:t>96</m:t>
                    </m:r>
                    <m:r>
                      <a:rPr lang="en-US" sz="1800" i="1" u="none" dirty="0">
                        <a:latin typeface="Cambria Math" panose="02040503050406030204" pitchFamily="18" charset="0"/>
                        <a:ea typeface="Cambria Math" panose="02040503050406030204" pitchFamily="18" charset="0"/>
                      </a:rPr>
                      <m:t> </m:t>
                    </m:r>
                    <m:r>
                      <a:rPr lang="en-US" sz="1800" i="1" u="none" dirty="0">
                        <a:latin typeface="Cambria Math" panose="02040503050406030204" pitchFamily="18" charset="0"/>
                        <a:ea typeface="Cambria Math" panose="02040503050406030204" pitchFamily="18" charset="0"/>
                      </a:rPr>
                      <m:t>𝑆𝑡𝑑</m:t>
                    </m:r>
                    <m:r>
                      <a:rPr lang="en-US" sz="1800" i="1" u="none" dirty="0">
                        <a:latin typeface="Cambria Math" panose="02040503050406030204" pitchFamily="18" charset="0"/>
                        <a:ea typeface="Cambria Math" panose="02040503050406030204" pitchFamily="18" charset="0"/>
                      </a:rPr>
                      <m:t> </m:t>
                    </m:r>
                    <m:r>
                      <a:rPr lang="en-US" sz="1800" i="1" u="none" dirty="0">
                        <a:latin typeface="Cambria Math" panose="02040503050406030204" pitchFamily="18" charset="0"/>
                        <a:ea typeface="Cambria Math" panose="02040503050406030204" pitchFamily="18" charset="0"/>
                      </a:rPr>
                      <m:t>𝐸𝑟𝑟</m:t>
                    </m:r>
                    <m:r>
                      <a:rPr lang="en-US" sz="1800" i="1" u="none" dirty="0">
                        <a:latin typeface="Cambria Math" panose="02040503050406030204" pitchFamily="18" charset="0"/>
                        <a:ea typeface="Cambria Math" panose="02040503050406030204" pitchFamily="18" charset="0"/>
                      </a:rPr>
                      <m:t>(</m:t>
                    </m:r>
                    <m:acc>
                      <m:accPr>
                        <m:chr m:val="̅"/>
                        <m:ctrlPr>
                          <a:rPr lang="en-US" sz="1800" i="1" u="none">
                            <a:latin typeface="Cambria Math" panose="02040503050406030204" pitchFamily="18" charset="0"/>
                          </a:rPr>
                        </m:ctrlPr>
                      </m:accPr>
                      <m:e>
                        <m:r>
                          <a:rPr lang="en-US" sz="1800" i="1" u="none">
                            <a:latin typeface="Cambria Math" panose="02040503050406030204" pitchFamily="18" charset="0"/>
                          </a:rPr>
                          <m:t>𝑥</m:t>
                        </m:r>
                      </m:e>
                    </m:acc>
                    <m:r>
                      <a:rPr lang="en-US" sz="1800" i="1" u="none" dirty="0">
                        <a:latin typeface="Cambria Math" panose="02040503050406030204" pitchFamily="18" charset="0"/>
                        <a:ea typeface="Cambria Math" panose="02040503050406030204" pitchFamily="18" charset="0"/>
                      </a:rPr>
                      <m:t>)</m:t>
                    </m:r>
                  </m:oMath>
                </a14:m>
                <a:endParaRPr lang="en-US" sz="1800" b="0" u="none" dirty="0">
                  <a:solidFill>
                    <a:srgbClr val="000000"/>
                  </a:solidFill>
                  <a:latin typeface="Cambria Math" panose="02040503050406030204" pitchFamily="18" charset="0"/>
                  <a:cs typeface="Helvetica"/>
                </a:endParaRPr>
              </a:p>
            </p:txBody>
          </p:sp>
        </mc:Choice>
        <mc:Fallback xmlns="">
          <p:sp>
            <p:nvSpPr>
              <p:cNvPr id="29" name="TextBox 28">
                <a:extLst>
                  <a:ext uri="{FF2B5EF4-FFF2-40B4-BE49-F238E27FC236}">
                    <a16:creationId xmlns:a16="http://schemas.microsoft.com/office/drawing/2014/main" id="{1A65C2CF-682D-4088-B951-ED2FAD2B12BC}"/>
                  </a:ext>
                </a:extLst>
              </p:cNvPr>
              <p:cNvSpPr txBox="1">
                <a:spLocks noRot="1" noChangeAspect="1" noMove="1" noResize="1" noEditPoints="1" noAdjustHandles="1" noChangeArrowheads="1" noChangeShapeType="1" noTextEdit="1"/>
              </p:cNvSpPr>
              <p:nvPr/>
            </p:nvSpPr>
            <p:spPr>
              <a:xfrm>
                <a:off x="3471073" y="3846542"/>
                <a:ext cx="2225093" cy="649409"/>
              </a:xfrm>
              <a:prstGeom prst="rect">
                <a:avLst/>
              </a:prstGeom>
              <a:blipFill>
                <a:blip r:embed="rId4"/>
                <a:stretch>
                  <a:fillRect t="-4673" r="-6027" b="-74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0C039F2-399D-4317-8DC0-7D86CCCC135C}"/>
                  </a:ext>
                </a:extLst>
              </p:cNvPr>
              <p:cNvSpPr txBox="1"/>
              <p:nvPr/>
            </p:nvSpPr>
            <p:spPr>
              <a:xfrm>
                <a:off x="6193034" y="3909219"/>
                <a:ext cx="1531247" cy="1480405"/>
              </a:xfrm>
              <a:prstGeom prst="rect">
                <a:avLst/>
              </a:prstGeom>
              <a:noFill/>
            </p:spPr>
            <p:txBody>
              <a:bodyPr wrap="square" rtlCol="0">
                <a:spAutoFit/>
              </a:bodyPr>
              <a:lstStyle/>
              <a:p>
                <a:pPr algn="ctr"/>
                <a:r>
                  <a:rPr lang="en-US" sz="1800" b="0" u="none" dirty="0">
                    <a:cs typeface="Arial" pitchFamily="34" charset="0"/>
                  </a:rPr>
                  <a:t>Bootstrap!</a:t>
                </a:r>
              </a:p>
              <a:p>
                <a:pPr algn="ctr"/>
                <a:endParaRPr lang="en-US" sz="1800" b="0" u="none" dirty="0">
                  <a:solidFill>
                    <a:srgbClr val="000000"/>
                  </a:solidFill>
                  <a:latin typeface="Cambria Math" panose="02040503050406030204" pitchFamily="18" charset="0"/>
                  <a:cs typeface="Arial" pitchFamily="34" charset="0"/>
                </a:endParaRPr>
              </a:p>
              <a:p>
                <a:pPr algn="ctr"/>
                <a:r>
                  <a:rPr lang="en-US" sz="1800" b="0" u="none" dirty="0"/>
                  <a:t>Use resampling to find </a:t>
                </a:r>
                <a14:m>
                  <m:oMath xmlns:m="http://schemas.openxmlformats.org/officeDocument/2006/math">
                    <m:r>
                      <a:rPr lang="en-US" sz="1800" b="0" i="1" u="none" smtClean="0">
                        <a:latin typeface="Cambria Math" panose="02040503050406030204" pitchFamily="18" charset="0"/>
                      </a:rPr>
                      <m:t>𝐶</m:t>
                    </m:r>
                    <m:sSup>
                      <m:sSupPr>
                        <m:ctrlPr>
                          <a:rPr lang="en-US" sz="1800" b="0" i="1" u="none" smtClean="0">
                            <a:latin typeface="Cambria Math" panose="02040503050406030204" pitchFamily="18" charset="0"/>
                          </a:rPr>
                        </m:ctrlPr>
                      </m:sSupPr>
                      <m:e>
                        <m:r>
                          <a:rPr lang="en-US" sz="1800" b="0" i="1" u="none" smtClean="0">
                            <a:latin typeface="Cambria Math" panose="02040503050406030204" pitchFamily="18" charset="0"/>
                          </a:rPr>
                          <m:t>𝐼</m:t>
                        </m:r>
                      </m:e>
                      <m:sup>
                        <m:r>
                          <a:rPr lang="en-US" sz="1800" b="0" i="1" u="none" smtClean="0">
                            <a:latin typeface="Cambria Math" panose="02040503050406030204" pitchFamily="18" charset="0"/>
                          </a:rPr>
                          <m:t>95</m:t>
                        </m:r>
                      </m:sup>
                    </m:sSup>
                  </m:oMath>
                </a14:m>
                <a:endParaRPr lang="en-US" sz="1800" b="0" u="none" dirty="0">
                  <a:solidFill>
                    <a:srgbClr val="000000"/>
                  </a:solidFill>
                  <a:latin typeface="Cambria Math" panose="02040503050406030204" pitchFamily="18" charset="0"/>
                  <a:cs typeface="Helvetica"/>
                </a:endParaRPr>
              </a:p>
            </p:txBody>
          </p:sp>
        </mc:Choice>
        <mc:Fallback xmlns="">
          <p:sp>
            <p:nvSpPr>
              <p:cNvPr id="30" name="TextBox 29">
                <a:extLst>
                  <a:ext uri="{FF2B5EF4-FFF2-40B4-BE49-F238E27FC236}">
                    <a16:creationId xmlns:a16="http://schemas.microsoft.com/office/drawing/2014/main" id="{90C039F2-399D-4317-8DC0-7D86CCCC135C}"/>
                  </a:ext>
                </a:extLst>
              </p:cNvPr>
              <p:cNvSpPr txBox="1">
                <a:spLocks noRot="1" noChangeAspect="1" noMove="1" noResize="1" noEditPoints="1" noAdjustHandles="1" noChangeArrowheads="1" noChangeShapeType="1" noTextEdit="1"/>
              </p:cNvSpPr>
              <p:nvPr/>
            </p:nvSpPr>
            <p:spPr>
              <a:xfrm>
                <a:off x="6193034" y="3909219"/>
                <a:ext cx="1531247" cy="1480405"/>
              </a:xfrm>
              <a:prstGeom prst="rect">
                <a:avLst/>
              </a:prstGeom>
              <a:blipFill>
                <a:blip r:embed="rId5"/>
                <a:stretch>
                  <a:fillRect t="-2058" b="-5761"/>
                </a:stretch>
              </a:blipFill>
            </p:spPr>
            <p:txBody>
              <a:bodyPr/>
              <a:lstStyle/>
              <a:p>
                <a:r>
                  <a:rPr lang="en-US">
                    <a:noFill/>
                  </a:rPr>
                  <a:t> </a:t>
                </a:r>
              </a:p>
            </p:txBody>
          </p:sp>
        </mc:Fallback>
      </mc:AlternateContent>
    </p:spTree>
    <p:extLst>
      <p:ext uri="{BB962C8B-B14F-4D97-AF65-F5344CB8AC3E}">
        <p14:creationId xmlns:p14="http://schemas.microsoft.com/office/powerpoint/2010/main" val="8865847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F8BA-2D96-F3A8-26C9-7AE8A9589F56}"/>
              </a:ext>
            </a:extLst>
          </p:cNvPr>
          <p:cNvSpPr>
            <a:spLocks noGrp="1"/>
          </p:cNvSpPr>
          <p:nvPr>
            <p:ph type="title"/>
          </p:nvPr>
        </p:nvSpPr>
        <p:spPr/>
        <p:txBody>
          <a:bodyPr/>
          <a:lstStyle/>
          <a:p>
            <a:r>
              <a:rPr lang="en-US" dirty="0"/>
              <a:t>Extra Example if Time: How Good is Warren Buffett?</a:t>
            </a:r>
          </a:p>
        </p:txBody>
      </p:sp>
      <p:sp>
        <p:nvSpPr>
          <p:cNvPr id="3" name="Slide Number Placeholder 2">
            <a:extLst>
              <a:ext uri="{FF2B5EF4-FFF2-40B4-BE49-F238E27FC236}">
                <a16:creationId xmlns:a16="http://schemas.microsoft.com/office/drawing/2014/main" id="{E30E5153-B876-35A1-58CF-A590B506AD42}"/>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100</a:t>
            </a:fld>
            <a:endParaRPr lang="en-GB" dirty="0"/>
          </a:p>
        </p:txBody>
      </p:sp>
    </p:spTree>
    <p:extLst>
      <p:ext uri="{BB962C8B-B14F-4D97-AF65-F5344CB8AC3E}">
        <p14:creationId xmlns:p14="http://schemas.microsoft.com/office/powerpoint/2010/main" val="22966497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13747-6181-4ACE-80D0-3DE5E7F08863}"/>
              </a:ext>
            </a:extLst>
          </p:cNvPr>
          <p:cNvSpPr>
            <a:spLocks noGrp="1"/>
          </p:cNvSpPr>
          <p:nvPr>
            <p:ph type="title"/>
          </p:nvPr>
        </p:nvSpPr>
        <p:spPr/>
        <p:txBody>
          <a:bodyPr/>
          <a:lstStyle/>
          <a:p>
            <a:r>
              <a:rPr lang="en-US" dirty="0"/>
              <a:t>Expected Return of Berkshire Hathaway Class A</a:t>
            </a:r>
          </a:p>
        </p:txBody>
      </p:sp>
      <p:sp>
        <p:nvSpPr>
          <p:cNvPr id="3" name="Content Placeholder 2">
            <a:extLst>
              <a:ext uri="{FF2B5EF4-FFF2-40B4-BE49-F238E27FC236}">
                <a16:creationId xmlns:a16="http://schemas.microsoft.com/office/drawing/2014/main" id="{77BBCC0E-67C8-428B-82D6-623A4C26CCB6}"/>
              </a:ext>
            </a:extLst>
          </p:cNvPr>
          <p:cNvSpPr>
            <a:spLocks noGrp="1"/>
          </p:cNvSpPr>
          <p:nvPr>
            <p:ph idx="1"/>
          </p:nvPr>
        </p:nvSpPr>
        <p:spPr>
          <a:xfrm>
            <a:off x="354013" y="1089025"/>
            <a:ext cx="8235950" cy="5768975"/>
          </a:xfrm>
        </p:spPr>
        <p:txBody>
          <a:bodyPr/>
          <a:lstStyle/>
          <a:p>
            <a:endParaRPr lang="en-US" dirty="0"/>
          </a:p>
          <a:p>
            <a:r>
              <a:rPr lang="en-US" dirty="0"/>
              <a:t>Berkshire Hathaway (BRK) is a </a:t>
            </a:r>
            <a:br>
              <a:rPr lang="en-US" dirty="0"/>
            </a:br>
            <a:r>
              <a:rPr lang="en-US" dirty="0"/>
              <a:t>multinational conglomerate </a:t>
            </a:r>
            <a:br>
              <a:rPr lang="en-US" dirty="0"/>
            </a:br>
            <a:r>
              <a:rPr lang="en-US" dirty="0"/>
              <a:t>holding company based in </a:t>
            </a:r>
            <a:br>
              <a:rPr lang="en-US" dirty="0"/>
            </a:br>
            <a:r>
              <a:rPr lang="en-US" dirty="0"/>
              <a:t>Omaha, Nebraska, led by </a:t>
            </a:r>
            <a:br>
              <a:rPr lang="en-US" dirty="0"/>
            </a:br>
            <a:r>
              <a:rPr lang="en-US" dirty="0"/>
              <a:t>Warren Buffett</a:t>
            </a:r>
          </a:p>
          <a:p>
            <a:endParaRPr lang="en-US" dirty="0"/>
          </a:p>
          <a:p>
            <a:r>
              <a:rPr lang="en-US" dirty="0"/>
              <a:t>BRK offers two classes of shares, A and B. Class A shares have superior voting rights. Class B shares are more affordable</a:t>
            </a:r>
          </a:p>
          <a:p>
            <a:endParaRPr lang="en-US" dirty="0"/>
          </a:p>
          <a:p>
            <a:r>
              <a:rPr lang="en-US" dirty="0"/>
              <a:t>What’s the expected annualized daily return of BRK-A?</a:t>
            </a:r>
          </a:p>
          <a:p>
            <a:endParaRPr lang="en-US" dirty="0"/>
          </a:p>
          <a:p>
            <a:r>
              <a:rPr lang="en-US" dirty="0"/>
              <a:t>How does that compare to the expected annualized daily return of the S&amp;P500?</a:t>
            </a:r>
          </a:p>
        </p:txBody>
      </p:sp>
      <p:sp>
        <p:nvSpPr>
          <p:cNvPr id="4" name="Slide Number Placeholder 3">
            <a:extLst>
              <a:ext uri="{FF2B5EF4-FFF2-40B4-BE49-F238E27FC236}">
                <a16:creationId xmlns:a16="http://schemas.microsoft.com/office/drawing/2014/main" id="{9CC37513-1512-45E7-BB6D-2B12F5E7B404}"/>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101</a:t>
            </a:fld>
            <a:endParaRPr lang="en-GB" dirty="0"/>
          </a:p>
        </p:txBody>
      </p:sp>
      <p:pic>
        <p:nvPicPr>
          <p:cNvPr id="3078" name="Picture 6" descr="What I Learned from Warren Buffett">
            <a:extLst>
              <a:ext uri="{FF2B5EF4-FFF2-40B4-BE49-F238E27FC236}">
                <a16:creationId xmlns:a16="http://schemas.microsoft.com/office/drawing/2014/main" id="{441EA080-630F-46EF-B100-AB8572329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26"/>
          <a:stretch/>
        </p:blipFill>
        <p:spPr bwMode="auto">
          <a:xfrm>
            <a:off x="5668434" y="1469573"/>
            <a:ext cx="1837265" cy="1834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2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47002B-65F4-4F60-B08E-9AA30A8D66FB}"/>
              </a:ext>
            </a:extLst>
          </p:cNvPr>
          <p:cNvPicPr>
            <a:picLocks noChangeAspect="1"/>
          </p:cNvPicPr>
          <p:nvPr/>
        </p:nvPicPr>
        <p:blipFill>
          <a:blip r:embed="rId2"/>
          <a:stretch>
            <a:fillRect/>
          </a:stretch>
        </p:blipFill>
        <p:spPr>
          <a:xfrm>
            <a:off x="1364742" y="1469016"/>
            <a:ext cx="6397752" cy="4578858"/>
          </a:xfrm>
          <a:prstGeom prst="rect">
            <a:avLst/>
          </a:prstGeom>
        </p:spPr>
      </p:pic>
      <p:sp>
        <p:nvSpPr>
          <p:cNvPr id="2" name="Title 1">
            <a:extLst>
              <a:ext uri="{FF2B5EF4-FFF2-40B4-BE49-F238E27FC236}">
                <a16:creationId xmlns:a16="http://schemas.microsoft.com/office/drawing/2014/main" id="{7F6B7BD3-4C8F-4A78-A1B3-3A2D212E1524}"/>
              </a:ext>
            </a:extLst>
          </p:cNvPr>
          <p:cNvSpPr>
            <a:spLocks noGrp="1"/>
          </p:cNvSpPr>
          <p:nvPr>
            <p:ph type="title"/>
          </p:nvPr>
        </p:nvSpPr>
        <p:spPr/>
        <p:txBody>
          <a:bodyPr/>
          <a:lstStyle/>
          <a:p>
            <a:r>
              <a:rPr lang="en-US" dirty="0"/>
              <a:t>BRK-A vs SP500</a:t>
            </a:r>
            <a:br>
              <a:rPr lang="en-US" dirty="0"/>
            </a:br>
            <a:r>
              <a:rPr lang="en-US" sz="1400" dirty="0">
                <a:latin typeface="Courier New" panose="02070309020205020404" pitchFamily="49" charset="0"/>
                <a:cs typeface="Courier New" panose="02070309020205020404" pitchFamily="49" charset="0"/>
              </a:rPr>
              <a:t>data_Berkshire_raw.csv</a:t>
            </a:r>
            <a:br>
              <a:rPr lang="en-US" sz="1400" dirty="0"/>
            </a:br>
            <a:endParaRPr lang="en-US" sz="1400" dirty="0"/>
          </a:p>
        </p:txBody>
      </p:sp>
      <p:sp>
        <p:nvSpPr>
          <p:cNvPr id="3" name="Slide Number Placeholder 2">
            <a:extLst>
              <a:ext uri="{FF2B5EF4-FFF2-40B4-BE49-F238E27FC236}">
                <a16:creationId xmlns:a16="http://schemas.microsoft.com/office/drawing/2014/main" id="{8E25B719-BD67-431C-A0C9-8CBE58F374D1}"/>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102</a:t>
            </a:fld>
            <a:endParaRPr lang="en-GB" dirty="0"/>
          </a:p>
        </p:txBody>
      </p:sp>
      <p:sp>
        <p:nvSpPr>
          <p:cNvPr id="6" name="TextBox 5">
            <a:extLst>
              <a:ext uri="{FF2B5EF4-FFF2-40B4-BE49-F238E27FC236}">
                <a16:creationId xmlns:a16="http://schemas.microsoft.com/office/drawing/2014/main" id="{6AA0F848-B2DD-4CFD-94BF-077DE484EAE5}"/>
              </a:ext>
            </a:extLst>
          </p:cNvPr>
          <p:cNvSpPr txBox="1"/>
          <p:nvPr/>
        </p:nvSpPr>
        <p:spPr>
          <a:xfrm>
            <a:off x="1589750" y="5995214"/>
            <a:ext cx="1773498" cy="276999"/>
          </a:xfrm>
          <a:prstGeom prst="rect">
            <a:avLst/>
          </a:prstGeom>
          <a:noFill/>
        </p:spPr>
        <p:txBody>
          <a:bodyPr wrap="none" rtlCol="0">
            <a:spAutoFit/>
          </a:bodyPr>
          <a:lstStyle/>
          <a:p>
            <a:pPr algn="ctr"/>
            <a:r>
              <a:rPr lang="en-US" sz="1200" b="0" u="none" dirty="0">
                <a:latin typeface="Arial" pitchFamily="34" charset="0"/>
                <a:cs typeface="Arial" pitchFamily="34" charset="0"/>
              </a:rPr>
              <a:t>Source: Yahoo Finance</a:t>
            </a:r>
          </a:p>
        </p:txBody>
      </p:sp>
      <p:sp>
        <p:nvSpPr>
          <p:cNvPr id="4" name="TextBox 3">
            <a:extLst>
              <a:ext uri="{FF2B5EF4-FFF2-40B4-BE49-F238E27FC236}">
                <a16:creationId xmlns:a16="http://schemas.microsoft.com/office/drawing/2014/main" id="{63E0D869-2C8F-0448-D6AD-F054C16FC902}"/>
              </a:ext>
            </a:extLst>
          </p:cNvPr>
          <p:cNvSpPr txBox="1"/>
          <p:nvPr/>
        </p:nvSpPr>
        <p:spPr>
          <a:xfrm>
            <a:off x="3520998" y="2751234"/>
            <a:ext cx="2102003" cy="307777"/>
          </a:xfrm>
          <a:prstGeom prst="rect">
            <a:avLst/>
          </a:prstGeom>
          <a:solidFill>
            <a:schemeClr val="accent3">
              <a:lumMod val="95000"/>
            </a:schemeClr>
          </a:solidFill>
        </p:spPr>
        <p:txBody>
          <a:bodyPr wrap="square" rtlCol="0">
            <a:spAutoFit/>
          </a:bodyPr>
          <a:lstStyle/>
          <a:p>
            <a:pPr algn="ctr"/>
            <a:r>
              <a:rPr lang="en-US" sz="1400" b="0" u="none" dirty="0">
                <a:solidFill>
                  <a:srgbClr val="FF0000"/>
                </a:solidFill>
              </a:rPr>
              <a:t>What do you see?</a:t>
            </a:r>
          </a:p>
        </p:txBody>
      </p:sp>
    </p:spTree>
    <p:extLst>
      <p:ext uri="{BB962C8B-B14F-4D97-AF65-F5344CB8AC3E}">
        <p14:creationId xmlns:p14="http://schemas.microsoft.com/office/powerpoint/2010/main" val="389975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91D4-8B80-4523-B1DA-521674D87C9A}"/>
              </a:ext>
            </a:extLst>
          </p:cNvPr>
          <p:cNvSpPr>
            <a:spLocks noGrp="1"/>
          </p:cNvSpPr>
          <p:nvPr>
            <p:ph type="title"/>
          </p:nvPr>
        </p:nvSpPr>
        <p:spPr/>
        <p:txBody>
          <a:bodyPr/>
          <a:lstStyle/>
          <a:p>
            <a:r>
              <a:rPr lang="en-US" dirty="0"/>
              <a:t>Summary of BRK-A Data</a:t>
            </a:r>
            <a:br>
              <a:rPr lang="en-US" dirty="0"/>
            </a:br>
            <a:r>
              <a:rPr lang="en-US" sz="1400" dirty="0">
                <a:latin typeface="Courier New" panose="02070309020205020404" pitchFamily="49" charset="0"/>
                <a:cs typeface="Courier New" panose="02070309020205020404" pitchFamily="49" charset="0"/>
              </a:rPr>
              <a:t>data_berkshire_raw.csv</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D0CD8862-A479-45DA-A8F6-DB2792B1C3A4}"/>
              </a:ext>
            </a:extLst>
          </p:cNvPr>
          <p:cNvSpPr>
            <a:spLocks noGrp="1"/>
          </p:cNvSpPr>
          <p:nvPr>
            <p:ph idx="1"/>
          </p:nvPr>
        </p:nvSpPr>
        <p:spPr>
          <a:xfrm>
            <a:off x="354013" y="1089025"/>
            <a:ext cx="3005875" cy="5768975"/>
          </a:xfrm>
        </p:spPr>
        <p:txBody>
          <a:bodyPr/>
          <a:lstStyle/>
          <a:p>
            <a:endParaRPr lang="en-US" dirty="0"/>
          </a:p>
          <a:p>
            <a:r>
              <a:rPr lang="en-US" dirty="0"/>
              <a:t>Random Variable </a:t>
            </a:r>
            <a:r>
              <a:rPr lang="en-US" dirty="0">
                <a:solidFill>
                  <a:schemeClr val="bg1"/>
                </a:solidFill>
              </a:rPr>
              <a:t>             </a:t>
            </a:r>
            <a:br>
              <a:rPr lang="en-US" dirty="0">
                <a:solidFill>
                  <a:schemeClr val="bg1"/>
                </a:solidFill>
              </a:rPr>
            </a:br>
            <a:endParaRPr lang="en-US" dirty="0"/>
          </a:p>
          <a:p>
            <a:pPr marL="0" indent="0">
              <a:buNone/>
              <a:tabLst>
                <a:tab pos="287338" algn="l"/>
              </a:tabLst>
            </a:pPr>
            <a:r>
              <a:rPr lang="en-US" dirty="0"/>
              <a:t>	</a:t>
            </a:r>
            <a:endParaRPr lang="en-US" dirty="0">
              <a:solidFill>
                <a:schemeClr val="bg1">
                  <a:lumMod val="50000"/>
                </a:schemeClr>
              </a:solidFill>
            </a:endParaRPr>
          </a:p>
          <a:p>
            <a:pPr>
              <a:tabLst>
                <a:tab pos="287338" algn="l"/>
              </a:tabLst>
            </a:pPr>
            <a:r>
              <a:rPr lang="en-US" dirty="0">
                <a:solidFill>
                  <a:schemeClr val="accent6"/>
                </a:solidFill>
              </a:rPr>
              <a:t>Distribution</a:t>
            </a:r>
          </a:p>
          <a:p>
            <a:pPr>
              <a:tabLst>
                <a:tab pos="287338" algn="l"/>
              </a:tabLst>
            </a:pPr>
            <a:endParaRPr lang="en-US" dirty="0">
              <a:solidFill>
                <a:schemeClr val="accent6"/>
              </a:solidFill>
            </a:endParaRPr>
          </a:p>
          <a:p>
            <a:pPr>
              <a:tabLst>
                <a:tab pos="287338" algn="l"/>
              </a:tabLst>
            </a:pPr>
            <a:r>
              <a:rPr lang="en-US" dirty="0">
                <a:solidFill>
                  <a:schemeClr val="accent6"/>
                </a:solidFill>
              </a:rPr>
              <a:t>Population</a:t>
            </a:r>
          </a:p>
          <a:p>
            <a:pPr>
              <a:tabLst>
                <a:tab pos="287338" algn="l"/>
              </a:tabLst>
            </a:pPr>
            <a:endParaRPr lang="en-US" dirty="0">
              <a:solidFill>
                <a:schemeClr val="accent6"/>
              </a:solidFill>
            </a:endParaRPr>
          </a:p>
          <a:p>
            <a:pPr>
              <a:tabLst>
                <a:tab pos="287338" algn="l"/>
              </a:tabLst>
            </a:pPr>
            <a:r>
              <a:rPr lang="en-US" dirty="0">
                <a:solidFill>
                  <a:schemeClr val="accent6"/>
                </a:solidFill>
              </a:rPr>
              <a:t>Sample</a:t>
            </a:r>
            <a:br>
              <a:rPr lang="en-US" dirty="0">
                <a:solidFill>
                  <a:schemeClr val="accent6"/>
                </a:solidFill>
              </a:rPr>
            </a:br>
            <a:br>
              <a:rPr lang="en-US" dirty="0">
                <a:solidFill>
                  <a:schemeClr val="accent6"/>
                </a:solidFill>
              </a:rPr>
            </a:br>
            <a:endParaRPr lang="en-US" dirty="0">
              <a:solidFill>
                <a:schemeClr val="accent6"/>
              </a:solidFill>
            </a:endParaRPr>
          </a:p>
          <a:p>
            <a:pPr>
              <a:spcBef>
                <a:spcPts val="0"/>
              </a:spcBef>
              <a:tabLst>
                <a:tab pos="287338" algn="l"/>
              </a:tabLst>
            </a:pPr>
            <a:r>
              <a:rPr lang="en-US" dirty="0">
                <a:solidFill>
                  <a:schemeClr val="accent6"/>
                </a:solidFill>
              </a:rPr>
              <a:t>Sample estimates</a:t>
            </a:r>
          </a:p>
        </p:txBody>
      </p:sp>
      <p:sp>
        <p:nvSpPr>
          <p:cNvPr id="4" name="Slide Number Placeholder 3">
            <a:extLst>
              <a:ext uri="{FF2B5EF4-FFF2-40B4-BE49-F238E27FC236}">
                <a16:creationId xmlns:a16="http://schemas.microsoft.com/office/drawing/2014/main" id="{0D66C76D-3002-40FC-A6C0-21B8EF5BFCA1}"/>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103</a:t>
            </a:fld>
            <a:endParaRPr lang="en-GB" dirty="0"/>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D3CA7D2-1776-4F35-9E1D-4BE96EA6737A}"/>
                  </a:ext>
                </a:extLst>
              </p:cNvPr>
              <p:cNvSpPr txBox="1">
                <a:spLocks/>
              </p:cNvSpPr>
              <p:nvPr/>
            </p:nvSpPr>
            <p:spPr bwMode="auto">
              <a:xfrm>
                <a:off x="3569290" y="1089025"/>
                <a:ext cx="5284517" cy="5678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000">
                    <a:solidFill>
                      <a:schemeClr val="accent2"/>
                    </a:solidFill>
                    <a:latin typeface="Arial" pitchFamily="34" charset="0"/>
                    <a:ea typeface="+mn-ea"/>
                    <a:cs typeface="Arial" pitchFamily="34" charset="0"/>
                  </a:defRPr>
                </a:lvl1pPr>
                <a:lvl2pPr marL="742950" indent="-28575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2pPr>
                <a:lvl3pPr marL="11430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3pPr>
                <a:lvl4pPr marL="16002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4pPr>
                <a:lvl5pPr marL="20574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5pPr>
                <a:lvl6pPr marL="2514600" indent="-228600" algn="l" rtl="0" eaLnBrk="1" fontAlgn="base" hangingPunct="1">
                  <a:spcBef>
                    <a:spcPct val="20000"/>
                  </a:spcBef>
                  <a:spcAft>
                    <a:spcPct val="0"/>
                  </a:spcAft>
                  <a:buChar char="»"/>
                  <a:defRPr sz="2000">
                    <a:solidFill>
                      <a:schemeClr val="accent2"/>
                    </a:solidFill>
                    <a:latin typeface="+mn-lt"/>
                    <a:cs typeface="+mn-cs"/>
                  </a:defRPr>
                </a:lvl6pPr>
                <a:lvl7pPr marL="2971800" indent="-228600" algn="l" rtl="0" eaLnBrk="1" fontAlgn="base" hangingPunct="1">
                  <a:spcBef>
                    <a:spcPct val="20000"/>
                  </a:spcBef>
                  <a:spcAft>
                    <a:spcPct val="0"/>
                  </a:spcAft>
                  <a:buChar char="»"/>
                  <a:defRPr sz="2000">
                    <a:solidFill>
                      <a:schemeClr val="accent2"/>
                    </a:solidFill>
                    <a:latin typeface="+mn-lt"/>
                    <a:cs typeface="+mn-cs"/>
                  </a:defRPr>
                </a:lvl7pPr>
                <a:lvl8pPr marL="3429000" indent="-228600" algn="l" rtl="0" eaLnBrk="1" fontAlgn="base" hangingPunct="1">
                  <a:spcBef>
                    <a:spcPct val="20000"/>
                  </a:spcBef>
                  <a:spcAft>
                    <a:spcPct val="0"/>
                  </a:spcAft>
                  <a:buChar char="»"/>
                  <a:defRPr sz="2000">
                    <a:solidFill>
                      <a:schemeClr val="accent2"/>
                    </a:solidFill>
                    <a:latin typeface="+mn-lt"/>
                    <a:cs typeface="+mn-cs"/>
                  </a:defRPr>
                </a:lvl8pPr>
                <a:lvl9pPr marL="3886200" indent="-228600" algn="l" rtl="0" eaLnBrk="1" fontAlgn="base" hangingPunct="1">
                  <a:spcBef>
                    <a:spcPct val="20000"/>
                  </a:spcBef>
                  <a:spcAft>
                    <a:spcPct val="0"/>
                  </a:spcAft>
                  <a:buChar char="»"/>
                  <a:defRPr sz="2000">
                    <a:solidFill>
                      <a:schemeClr val="accent2"/>
                    </a:solidFill>
                    <a:latin typeface="+mn-lt"/>
                    <a:cs typeface="+mn-cs"/>
                  </a:defRPr>
                </a:lvl9pPr>
              </a:lstStyle>
              <a:p>
                <a:endParaRPr lang="en-US" b="0" u="none" kern="0" dirty="0">
                  <a:solidFill>
                    <a:schemeClr val="tx1"/>
                  </a:solidFill>
                </a:endParaRPr>
              </a:p>
              <a:p>
                <a:pPr marL="0" indent="0">
                  <a:buNone/>
                </a:pPr>
                <a14:m>
                  <m:oMath xmlns:m="http://schemas.openxmlformats.org/officeDocument/2006/math">
                    <m:sSub>
                      <m:sSubPr>
                        <m:ctrlPr>
                          <a:rPr lang="en-US" b="0" i="1" u="none" kern="0" dirty="0" smtClean="0">
                            <a:solidFill>
                              <a:srgbClr val="00B0F0"/>
                            </a:solidFill>
                            <a:latin typeface="Cambria Math" panose="02040503050406030204" pitchFamily="18" charset="0"/>
                          </a:rPr>
                        </m:ctrlPr>
                      </m:sSubPr>
                      <m:e>
                        <m:r>
                          <a:rPr lang="en-US" b="0" i="1" u="none" kern="0" dirty="0" smtClean="0">
                            <a:solidFill>
                              <a:srgbClr val="00B0F0"/>
                            </a:solidFill>
                            <a:latin typeface="Cambria Math" panose="02040503050406030204" pitchFamily="18" charset="0"/>
                          </a:rPr>
                          <m:t>𝑥</m:t>
                        </m:r>
                      </m:e>
                      <m:sub>
                        <m:r>
                          <a:rPr lang="en-US" b="0" i="1" u="none" kern="0" dirty="0" smtClean="0">
                            <a:solidFill>
                              <a:srgbClr val="00B0F0"/>
                            </a:solidFill>
                            <a:latin typeface="Cambria Math" panose="02040503050406030204" pitchFamily="18" charset="0"/>
                          </a:rPr>
                          <m:t>𝑖</m:t>
                        </m:r>
                      </m:sub>
                    </m:sSub>
                  </m:oMath>
                </a14:m>
                <a:r>
                  <a:rPr lang="en-US" b="0" u="none" kern="0" dirty="0">
                    <a:solidFill>
                      <a:schemeClr val="tx1"/>
                    </a:solidFill>
                  </a:rPr>
                  <a:t>, the annualized daily return of BRK-A on day </a:t>
                </a:r>
                <a:r>
                  <a:rPr lang="en-US" b="0" i="1" u="none" kern="0" dirty="0" err="1">
                    <a:solidFill>
                      <a:schemeClr val="tx1"/>
                    </a:solidFill>
                  </a:rPr>
                  <a:t>i</a:t>
                </a:r>
                <a:endParaRPr lang="en-US" b="0" i="1" u="none" kern="0" dirty="0">
                  <a:solidFill>
                    <a:schemeClr val="tx1"/>
                  </a:solidFill>
                </a:endParaRPr>
              </a:p>
              <a:p>
                <a:pPr marL="0" indent="0">
                  <a:buNone/>
                </a:pPr>
                <a:endParaRPr lang="en-US" b="0" u="none" kern="0" dirty="0">
                  <a:solidFill>
                    <a:schemeClr val="tx1"/>
                  </a:solidFill>
                </a:endParaRPr>
              </a:p>
              <a:p>
                <a:pPr marL="0" indent="0">
                  <a:buNone/>
                </a:pPr>
                <a:r>
                  <a:rPr lang="en-US" b="0" u="none" kern="0" dirty="0">
                    <a:solidFill>
                      <a:schemeClr val="tx1"/>
                    </a:solidFill>
                  </a:rPr>
                  <a:t>Continuous</a:t>
                </a:r>
              </a:p>
              <a:p>
                <a:pPr marL="0" indent="0">
                  <a:buNone/>
                </a:pPr>
                <a:endParaRPr lang="en-US" b="0" u="none" kern="0" dirty="0">
                  <a:solidFill>
                    <a:schemeClr val="tx1"/>
                  </a:solidFill>
                </a:endParaRPr>
              </a:p>
              <a:p>
                <a:pPr marL="0" indent="0">
                  <a:buNone/>
                </a:pPr>
                <a:r>
                  <a:rPr lang="en-US" b="0" u="none" kern="0" dirty="0">
                    <a:solidFill>
                      <a:schemeClr val="tx1"/>
                    </a:solidFill>
                  </a:rPr>
                  <a:t>All BRK-A returns, past and present</a:t>
                </a:r>
              </a:p>
              <a:p>
                <a:pPr marL="0" indent="0">
                  <a:buNone/>
                </a:pPr>
                <a:endParaRPr lang="en-US" b="0" u="none" kern="0" dirty="0">
                  <a:solidFill>
                    <a:schemeClr val="tx1"/>
                  </a:solidFill>
                </a:endParaRPr>
              </a:p>
              <a:p>
                <a:pPr marL="0" indent="0">
                  <a:buNone/>
                </a:pPr>
                <a:r>
                  <a:rPr lang="en-US" b="0" u="none" kern="0" dirty="0">
                    <a:solidFill>
                      <a:schemeClr val="tx1"/>
                    </a:solidFill>
                    <a:ea typeface="Cambria Math" panose="02040503050406030204" pitchFamily="18" charset="0"/>
                  </a:rPr>
                  <a:t>Prices for 6421 trading days 1/1/00-7/15/25</a:t>
                </a:r>
                <a:endParaRPr lang="en-US" b="0" u="none" kern="0" dirty="0">
                  <a:solidFill>
                    <a:schemeClr val="tx1"/>
                  </a:solidFill>
                </a:endParaRPr>
              </a:p>
              <a:p>
                <a:pPr marL="0" indent="0">
                  <a:buNone/>
                </a:pPr>
                <a:endParaRPr lang="en-US" b="0" u="none" kern="0" dirty="0">
                  <a:solidFill>
                    <a:schemeClr val="tx1"/>
                  </a:solidFill>
                </a:endParaRPr>
              </a:p>
              <a:p>
                <a:pPr marL="0" indent="0">
                  <a:buNone/>
                </a:pPr>
                <a:r>
                  <a:rPr lang="en-US" sz="2000" b="0" u="none" dirty="0">
                    <a:solidFill>
                      <a:schemeClr val="tx1"/>
                    </a:solidFill>
                  </a:rPr>
                  <a:t>Sample Mean		</a:t>
                </a:r>
                <a14:m>
                  <m:oMath xmlns:m="http://schemas.openxmlformats.org/officeDocument/2006/math">
                    <m:bar>
                      <m:barPr>
                        <m:pos m:val="top"/>
                        <m:ctrlPr>
                          <a:rPr lang="en-US" sz="2000" b="0" i="1" u="none" smtClean="0">
                            <a:solidFill>
                              <a:srgbClr val="00B0F0"/>
                            </a:solidFill>
                            <a:latin typeface="Cambria Math" panose="02040503050406030204" pitchFamily="18" charset="0"/>
                          </a:rPr>
                        </m:ctrlPr>
                      </m:barPr>
                      <m:e>
                        <m:r>
                          <a:rPr lang="en-US" sz="2000" b="0" i="1" u="none">
                            <a:solidFill>
                              <a:srgbClr val="00B0F0"/>
                            </a:solidFill>
                            <a:latin typeface="Cambria Math" panose="02040503050406030204" pitchFamily="18" charset="0"/>
                          </a:rPr>
                          <m:t>𝑥</m:t>
                        </m:r>
                      </m:e>
                    </m:bar>
                    <m:r>
                      <a:rPr lang="en-US" sz="2000" b="0" i="1" u="none">
                        <a:solidFill>
                          <a:schemeClr val="tx1"/>
                        </a:solidFill>
                        <a:latin typeface="Cambria Math" panose="02040503050406030204" pitchFamily="18" charset="0"/>
                      </a:rPr>
                      <m:t>=</m:t>
                    </m:r>
                    <m:f>
                      <m:fPr>
                        <m:ctrlPr>
                          <a:rPr lang="en-US" sz="2000" b="0" i="1" u="none" smtClean="0">
                            <a:solidFill>
                              <a:schemeClr val="tx1"/>
                            </a:solidFill>
                            <a:latin typeface="Cambria Math" panose="02040503050406030204" pitchFamily="18" charset="0"/>
                          </a:rPr>
                        </m:ctrlPr>
                      </m:fPr>
                      <m:num>
                        <m:nary>
                          <m:naryPr>
                            <m:chr m:val="∑"/>
                            <m:limLoc m:val="subSup"/>
                            <m:ctrlPr>
                              <a:rPr lang="en-US" b="0" i="1" u="none">
                                <a:solidFill>
                                  <a:schemeClr val="tx1"/>
                                </a:solidFill>
                                <a:latin typeface="Cambria Math" panose="02040503050406030204" pitchFamily="18" charset="0"/>
                              </a:rPr>
                            </m:ctrlPr>
                          </m:naryPr>
                          <m:sub>
                            <m:r>
                              <m:rPr>
                                <m:brk m:alnAt="25"/>
                              </m:rPr>
                              <a:rPr lang="en-US" b="0" i="1" u="none">
                                <a:solidFill>
                                  <a:schemeClr val="tx1"/>
                                </a:solidFill>
                                <a:latin typeface="Cambria Math" panose="02040503050406030204" pitchFamily="18" charset="0"/>
                              </a:rPr>
                              <m:t>𝑖</m:t>
                            </m:r>
                            <m:r>
                              <a:rPr lang="en-US" b="0" i="1" u="none">
                                <a:solidFill>
                                  <a:schemeClr val="tx1"/>
                                </a:solidFill>
                                <a:latin typeface="Cambria Math" panose="02040503050406030204" pitchFamily="18" charset="0"/>
                              </a:rPr>
                              <m:t>=</m:t>
                            </m:r>
                            <m:r>
                              <a:rPr lang="en-US" b="0" i="1" u="none">
                                <a:solidFill>
                                  <a:schemeClr val="tx1"/>
                                </a:solidFill>
                                <a:latin typeface="Cambria Math" panose="02040503050406030204" pitchFamily="18" charset="0"/>
                              </a:rPr>
                              <m:t>1</m:t>
                            </m:r>
                          </m:sub>
                          <m:sup>
                            <m:r>
                              <a:rPr lang="en-US" b="0" i="1" u="none">
                                <a:solidFill>
                                  <a:schemeClr val="tx1"/>
                                </a:solidFill>
                                <a:latin typeface="Cambria Math" panose="02040503050406030204" pitchFamily="18" charset="0"/>
                              </a:rPr>
                              <m:t>𝑁</m:t>
                            </m:r>
                          </m:sup>
                          <m:e>
                            <m:sSub>
                              <m:sSubPr>
                                <m:ctrlPr>
                                  <a:rPr lang="en-US" b="0" i="1" u="none" smtClean="0">
                                    <a:solidFill>
                                      <a:srgbClr val="00B0F0"/>
                                    </a:solidFill>
                                    <a:latin typeface="Cambria Math" panose="02040503050406030204" pitchFamily="18" charset="0"/>
                                  </a:rPr>
                                </m:ctrlPr>
                              </m:sSubPr>
                              <m:e>
                                <m:r>
                                  <a:rPr lang="en-US" b="0" i="1" u="none">
                                    <a:solidFill>
                                      <a:srgbClr val="00B0F0"/>
                                    </a:solidFill>
                                    <a:latin typeface="Cambria Math" panose="02040503050406030204" pitchFamily="18" charset="0"/>
                                  </a:rPr>
                                  <m:t>𝑥</m:t>
                                </m:r>
                              </m:e>
                              <m:sub>
                                <m:r>
                                  <a:rPr lang="en-US" b="0" i="1" u="none">
                                    <a:solidFill>
                                      <a:srgbClr val="00B0F0"/>
                                    </a:solidFill>
                                    <a:latin typeface="Cambria Math" panose="02040503050406030204" pitchFamily="18" charset="0"/>
                                  </a:rPr>
                                  <m:t>𝑖</m:t>
                                </m:r>
                              </m:sub>
                            </m:sSub>
                          </m:e>
                        </m:nary>
                      </m:num>
                      <m:den>
                        <m:r>
                          <a:rPr lang="en-US" sz="2000" b="0" i="1" u="none" smtClean="0">
                            <a:solidFill>
                              <a:schemeClr val="tx1"/>
                            </a:solidFill>
                            <a:latin typeface="Cambria Math" panose="02040503050406030204" pitchFamily="18" charset="0"/>
                          </a:rPr>
                          <m:t>𝑁</m:t>
                        </m:r>
                      </m:den>
                    </m:f>
                  </m:oMath>
                </a14:m>
                <a:endParaRPr lang="en-US" b="0" u="none" kern="0" dirty="0">
                  <a:solidFill>
                    <a:schemeClr val="tx1"/>
                  </a:solidFill>
                  <a:ea typeface="Cambria Math" panose="02040503050406030204" pitchFamily="18" charset="0"/>
                </a:endParaRPr>
              </a:p>
              <a:p>
                <a:pPr marL="0" indent="0">
                  <a:buFontTx/>
                  <a:buNone/>
                  <a:tabLst>
                    <a:tab pos="287338" algn="l"/>
                  </a:tabLst>
                </a:pPr>
                <a:r>
                  <a:rPr lang="en-US" b="0" u="none" kern="0" dirty="0">
                    <a:solidFill>
                      <a:schemeClr val="tx1"/>
                    </a:solidFill>
                    <a:ea typeface="Cambria Math" panose="02040503050406030204" pitchFamily="18" charset="0"/>
                  </a:rPr>
                  <a:t>Sample Variance	</a:t>
                </a:r>
                <a14:m>
                  <m:oMath xmlns:m="http://schemas.openxmlformats.org/officeDocument/2006/math">
                    <m:sSup>
                      <m:sSupPr>
                        <m:ctrlPr>
                          <a:rPr lang="en-US" i="1" u="none">
                            <a:solidFill>
                              <a:srgbClr val="000000"/>
                            </a:solidFill>
                            <a:latin typeface="Cambria Math" panose="02040503050406030204" pitchFamily="18" charset="0"/>
                          </a:rPr>
                        </m:ctrlPr>
                      </m:sSupPr>
                      <m:e>
                        <m:acc>
                          <m:accPr>
                            <m:chr m:val="̂"/>
                            <m:ctrlPr>
                              <a:rPr lang="en-US" i="1" u="none" smtClean="0">
                                <a:solidFill>
                                  <a:srgbClr val="00B0F0"/>
                                </a:solidFill>
                                <a:latin typeface="Cambria Math" panose="02040503050406030204" pitchFamily="18" charset="0"/>
                              </a:rPr>
                            </m:ctrlPr>
                          </m:accPr>
                          <m:e>
                            <m:r>
                              <a:rPr lang="en-US" b="0" i="1" u="none">
                                <a:solidFill>
                                  <a:srgbClr val="00B0F0"/>
                                </a:solidFill>
                                <a:latin typeface="Cambria Math" panose="02040503050406030204" pitchFamily="18" charset="0"/>
                              </a:rPr>
                              <m:t>𝜎</m:t>
                            </m:r>
                          </m:e>
                        </m:acc>
                      </m:e>
                      <m:sup>
                        <m:r>
                          <a:rPr lang="en-US" i="1" u="none">
                            <a:solidFill>
                              <a:srgbClr val="000000"/>
                            </a:solidFill>
                            <a:latin typeface="Cambria Math" panose="02040503050406030204" pitchFamily="18" charset="0"/>
                          </a:rPr>
                          <m:t>2</m:t>
                        </m:r>
                      </m:sup>
                    </m:sSup>
                    <m:r>
                      <a:rPr lang="en-US" i="1" u="none">
                        <a:solidFill>
                          <a:srgbClr val="000000"/>
                        </a:solidFill>
                        <a:latin typeface="Cambria Math" panose="02040503050406030204" pitchFamily="18" charset="0"/>
                      </a:rPr>
                      <m:t>=</m:t>
                    </m:r>
                    <m:f>
                      <m:fPr>
                        <m:ctrlPr>
                          <a:rPr lang="en-US" i="1" u="none">
                            <a:solidFill>
                              <a:srgbClr val="000000"/>
                            </a:solidFill>
                            <a:latin typeface="Cambria Math" panose="02040503050406030204" pitchFamily="18" charset="0"/>
                          </a:rPr>
                        </m:ctrlPr>
                      </m:fPr>
                      <m:num>
                        <m:nary>
                          <m:naryPr>
                            <m:chr m:val="∑"/>
                            <m:ctrlPr>
                              <a:rPr lang="en-US" i="1" u="none">
                                <a:solidFill>
                                  <a:srgbClr val="000000"/>
                                </a:solidFill>
                                <a:latin typeface="Cambria Math" panose="02040503050406030204" pitchFamily="18" charset="0"/>
                              </a:rPr>
                            </m:ctrlPr>
                          </m:naryPr>
                          <m:sub>
                            <m:r>
                              <a:rPr lang="en-US" i="1" u="none">
                                <a:solidFill>
                                  <a:srgbClr val="000000"/>
                                </a:solidFill>
                                <a:latin typeface="Cambria Math" panose="02040503050406030204" pitchFamily="18" charset="0"/>
                              </a:rPr>
                              <m:t>𝑖</m:t>
                            </m:r>
                            <m:r>
                              <a:rPr lang="en-US" i="1" u="none">
                                <a:solidFill>
                                  <a:srgbClr val="000000"/>
                                </a:solidFill>
                                <a:latin typeface="Cambria Math" panose="02040503050406030204" pitchFamily="18" charset="0"/>
                              </a:rPr>
                              <m:t>=</m:t>
                            </m:r>
                            <m:r>
                              <a:rPr lang="en-US" i="1" u="none">
                                <a:solidFill>
                                  <a:srgbClr val="000000"/>
                                </a:solidFill>
                                <a:latin typeface="Cambria Math" panose="02040503050406030204" pitchFamily="18" charset="0"/>
                              </a:rPr>
                              <m:t>1</m:t>
                            </m:r>
                          </m:sub>
                          <m:sup>
                            <m:r>
                              <a:rPr lang="en-US" i="1" u="none">
                                <a:solidFill>
                                  <a:srgbClr val="000000"/>
                                </a:solidFill>
                                <a:latin typeface="Cambria Math" panose="02040503050406030204" pitchFamily="18" charset="0"/>
                              </a:rPr>
                              <m:t>𝑁</m:t>
                            </m:r>
                          </m:sup>
                          <m:e>
                            <m:r>
                              <a:rPr lang="en-US" i="1" u="none">
                                <a:solidFill>
                                  <a:srgbClr val="000000"/>
                                </a:solidFill>
                                <a:latin typeface="Cambria Math" panose="02040503050406030204" pitchFamily="18" charset="0"/>
                              </a:rPr>
                              <m:t>(</m:t>
                            </m:r>
                            <m:sSub>
                              <m:sSubPr>
                                <m:ctrlPr>
                                  <a:rPr lang="en-US" b="0" i="1" u="none">
                                    <a:solidFill>
                                      <a:srgbClr val="000000"/>
                                    </a:solidFill>
                                    <a:latin typeface="Cambria Math" panose="02040503050406030204" pitchFamily="18" charset="0"/>
                                  </a:rPr>
                                </m:ctrlPr>
                              </m:sSubPr>
                              <m:e>
                                <m:r>
                                  <a:rPr lang="en-US" b="0" i="1" u="none">
                                    <a:solidFill>
                                      <a:srgbClr val="000000"/>
                                    </a:solidFill>
                                    <a:latin typeface="Cambria Math" panose="02040503050406030204" pitchFamily="18" charset="0"/>
                                  </a:rPr>
                                  <m:t>𝑥</m:t>
                                </m:r>
                              </m:e>
                              <m:sub>
                                <m:r>
                                  <a:rPr lang="en-US" b="0" i="1" u="none">
                                    <a:solidFill>
                                      <a:srgbClr val="000000"/>
                                    </a:solidFill>
                                    <a:latin typeface="Cambria Math" panose="02040503050406030204" pitchFamily="18" charset="0"/>
                                  </a:rPr>
                                  <m:t>𝑖</m:t>
                                </m:r>
                              </m:sub>
                            </m:sSub>
                            <m:r>
                              <a:rPr lang="en-US" i="1" u="none">
                                <a:solidFill>
                                  <a:srgbClr val="000000"/>
                                </a:solidFill>
                                <a:latin typeface="Cambria Math" panose="02040503050406030204" pitchFamily="18" charset="0"/>
                              </a:rPr>
                              <m:t>−</m:t>
                            </m:r>
                            <m:bar>
                              <m:barPr>
                                <m:pos m:val="top"/>
                                <m:ctrlPr>
                                  <a:rPr lang="en-US" i="1" u="none" smtClean="0">
                                    <a:solidFill>
                                      <a:srgbClr val="00B0F0"/>
                                    </a:solidFill>
                                    <a:latin typeface="Cambria Math" panose="02040503050406030204" pitchFamily="18" charset="0"/>
                                  </a:rPr>
                                </m:ctrlPr>
                              </m:barPr>
                              <m:e>
                                <m:r>
                                  <a:rPr lang="en-US" b="0" i="1" u="none">
                                    <a:solidFill>
                                      <a:srgbClr val="00B0F0"/>
                                    </a:solidFill>
                                    <a:latin typeface="Cambria Math" panose="02040503050406030204" pitchFamily="18" charset="0"/>
                                  </a:rPr>
                                  <m:t>𝑥</m:t>
                                </m:r>
                              </m:e>
                            </m:bar>
                            <m:sSup>
                              <m:sSupPr>
                                <m:ctrlPr>
                                  <a:rPr lang="en-US" i="1" u="none">
                                    <a:solidFill>
                                      <a:srgbClr val="000000"/>
                                    </a:solidFill>
                                    <a:latin typeface="Cambria Math" panose="02040503050406030204" pitchFamily="18" charset="0"/>
                                  </a:rPr>
                                </m:ctrlPr>
                              </m:sSupPr>
                              <m:e>
                                <m:r>
                                  <a:rPr lang="en-US" i="1" u="none">
                                    <a:solidFill>
                                      <a:srgbClr val="000000"/>
                                    </a:solidFill>
                                    <a:latin typeface="Cambria Math" panose="02040503050406030204" pitchFamily="18" charset="0"/>
                                  </a:rPr>
                                  <m:t>)</m:t>
                                </m:r>
                              </m:e>
                              <m:sup>
                                <m:r>
                                  <a:rPr lang="en-US" i="1" u="none">
                                    <a:solidFill>
                                      <a:srgbClr val="000000"/>
                                    </a:solidFill>
                                    <a:latin typeface="Cambria Math" panose="02040503050406030204" pitchFamily="18" charset="0"/>
                                  </a:rPr>
                                  <m:t>2</m:t>
                                </m:r>
                              </m:sup>
                            </m:sSup>
                          </m:e>
                        </m:nary>
                      </m:num>
                      <m:den>
                        <m:r>
                          <a:rPr lang="en-US" i="1" u="none">
                            <a:solidFill>
                              <a:srgbClr val="000000"/>
                            </a:solidFill>
                            <a:latin typeface="Cambria Math" panose="02040503050406030204" pitchFamily="18" charset="0"/>
                          </a:rPr>
                          <m:t>𝑁</m:t>
                        </m:r>
                        <m:r>
                          <a:rPr lang="en-US" i="1" u="none">
                            <a:solidFill>
                              <a:srgbClr val="000000"/>
                            </a:solidFill>
                            <a:latin typeface="Cambria Math" panose="02040503050406030204" pitchFamily="18" charset="0"/>
                          </a:rPr>
                          <m:t>−</m:t>
                        </m:r>
                        <m:r>
                          <a:rPr lang="en-US" i="1" u="none">
                            <a:solidFill>
                              <a:srgbClr val="000000"/>
                            </a:solidFill>
                            <a:latin typeface="Cambria Math" panose="02040503050406030204" pitchFamily="18" charset="0"/>
                          </a:rPr>
                          <m:t>1</m:t>
                        </m:r>
                      </m:den>
                    </m:f>
                  </m:oMath>
                </a14:m>
                <a:endParaRPr lang="en-US" b="0" i="1" u="none" kern="0" dirty="0">
                  <a:solidFill>
                    <a:schemeClr val="tx1"/>
                  </a:solidFill>
                  <a:ea typeface="Cambria Math" panose="02040503050406030204" pitchFamily="18" charset="0"/>
                </a:endParaRPr>
              </a:p>
            </p:txBody>
          </p:sp>
        </mc:Choice>
        <mc:Fallback xmlns="">
          <p:sp>
            <p:nvSpPr>
              <p:cNvPr id="13" name="Content Placeholder 2">
                <a:extLst>
                  <a:ext uri="{FF2B5EF4-FFF2-40B4-BE49-F238E27FC236}">
                    <a16:creationId xmlns:a16="http://schemas.microsoft.com/office/drawing/2014/main" id="{7D3CA7D2-1776-4F35-9E1D-4BE96EA6737A}"/>
                  </a:ext>
                </a:extLst>
              </p:cNvPr>
              <p:cNvSpPr txBox="1">
                <a:spLocks noRot="1" noChangeAspect="1" noMove="1" noResize="1" noEditPoints="1" noAdjustHandles="1" noChangeArrowheads="1" noChangeShapeType="1" noTextEdit="1"/>
              </p:cNvSpPr>
              <p:nvPr/>
            </p:nvSpPr>
            <p:spPr bwMode="auto">
              <a:xfrm>
                <a:off x="3569290" y="1089025"/>
                <a:ext cx="5284517" cy="5678488"/>
              </a:xfrm>
              <a:prstGeom prst="rect">
                <a:avLst/>
              </a:prstGeom>
              <a:blipFill>
                <a:blip r:embed="rId2"/>
                <a:stretch>
                  <a:fillRect l="-127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22686762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E041142-6AEE-47DC-A7C2-25141D7E4AB8}"/>
                  </a:ext>
                </a:extLst>
              </p:cNvPr>
              <p:cNvSpPr>
                <a:spLocks noGrp="1"/>
              </p:cNvSpPr>
              <p:nvPr>
                <p:ph type="title"/>
              </p:nvPr>
            </p:nvSpPr>
            <p:spPr/>
            <p:txBody>
              <a:bodyPr/>
              <a:lstStyle/>
              <a:p>
                <a:r>
                  <a:rPr lang="en-US" dirty="0"/>
                  <a:t>BRK-A Daily Return </a:t>
                </a:r>
                <a14:m>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95</m:t>
                        </m:r>
                      </m:sup>
                    </m:sSup>
                  </m:oMath>
                </a14:m>
                <a:br>
                  <a:rPr lang="en-US" dirty="0"/>
                </a:br>
                <a:r>
                  <a:rPr lang="en-US" sz="1400" dirty="0">
                    <a:latin typeface="Courier New" panose="02070309020205020404" pitchFamily="49" charset="0"/>
                    <a:cs typeface="Courier New" panose="02070309020205020404" pitchFamily="49" charset="0"/>
                  </a:rPr>
                  <a:t>data_Berkshire_raw.csv</a:t>
                </a:r>
                <a:endParaRPr lang="en-US" dirty="0">
                  <a:solidFill>
                    <a:srgbClr val="FF0000"/>
                  </a:solidFill>
                </a:endParaRPr>
              </a:p>
            </p:txBody>
          </p:sp>
        </mc:Choice>
        <mc:Fallback xmlns="">
          <p:sp>
            <p:nvSpPr>
              <p:cNvPr id="2" name="Title 1">
                <a:extLst>
                  <a:ext uri="{FF2B5EF4-FFF2-40B4-BE49-F238E27FC236}">
                    <a16:creationId xmlns:a16="http://schemas.microsoft.com/office/drawing/2014/main" id="{0E041142-6AEE-47DC-A7C2-25141D7E4AB8}"/>
                  </a:ext>
                </a:extLst>
              </p:cNvPr>
              <p:cNvSpPr>
                <a:spLocks noGrp="1" noRot="1" noChangeAspect="1" noMove="1" noResize="1" noEditPoints="1" noAdjustHandles="1" noChangeArrowheads="1" noChangeShapeType="1" noTextEdit="1"/>
              </p:cNvSpPr>
              <p:nvPr>
                <p:ph type="title"/>
              </p:nvPr>
            </p:nvSpPr>
            <p:spPr>
              <a:blipFill>
                <a:blip r:embed="rId2"/>
                <a:stretch>
                  <a:fillRect t="-2521" b="-67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63AA94-FE16-46E0-822D-2401775838C2}"/>
                  </a:ext>
                </a:extLst>
              </p:cNvPr>
              <p:cNvSpPr>
                <a:spLocks noGrp="1"/>
              </p:cNvSpPr>
              <p:nvPr>
                <p:ph idx="1"/>
              </p:nvPr>
            </p:nvSpPr>
            <p:spPr>
              <a:xfrm>
                <a:off x="354013" y="1089026"/>
                <a:ext cx="8437562" cy="1528752"/>
              </a:xfrm>
            </p:spPr>
            <p:txBody>
              <a:bodyPr/>
              <a:lstStyle/>
              <a:p>
                <a:endParaRPr lang="en-US" sz="1800" dirty="0"/>
              </a:p>
              <a:p>
                <a:r>
                  <a:rPr lang="en-US" sz="1800" dirty="0"/>
                  <a:t>Open the dataset noted above and compute the following</a:t>
                </a:r>
              </a:p>
              <a:p>
                <a:endParaRPr lang="en-US" sz="1800" dirty="0"/>
              </a:p>
              <a:p>
                <a:endParaRPr lang="en-US" sz="1800" dirty="0"/>
              </a:p>
              <a:p>
                <a:endParaRPr lang="en-US" sz="1800" dirty="0"/>
              </a:p>
              <a:p>
                <a:endParaRPr lang="en-US" sz="1800" dirty="0"/>
              </a:p>
              <a:p>
                <a:pPr marL="0" indent="0">
                  <a:buNone/>
                </a:pPr>
                <a:endParaRPr lang="en-US" sz="1800" dirty="0"/>
              </a:p>
              <a:p>
                <a:r>
                  <a:rPr lang="en-US" sz="1800" dirty="0"/>
                  <a:t>Construct the </a:t>
                </a:r>
                <a14:m>
                  <m:oMath xmlns:m="http://schemas.openxmlformats.org/officeDocument/2006/math">
                    <m:r>
                      <a:rPr lang="en-US" sz="1800" b="0" i="1" smtClean="0">
                        <a:latin typeface="Cambria Math" panose="02040503050406030204" pitchFamily="18" charset="0"/>
                      </a:rPr>
                      <m:t>𝐶</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𝐼</m:t>
                        </m:r>
                      </m:e>
                      <m:sup>
                        <m:r>
                          <a:rPr lang="en-US" sz="1800" b="0" i="1" smtClean="0">
                            <a:latin typeface="Cambria Math" panose="02040503050406030204" pitchFamily="18" charset="0"/>
                          </a:rPr>
                          <m:t>95</m:t>
                        </m:r>
                      </m:sup>
                    </m:sSup>
                  </m:oMath>
                </a14:m>
                <a:r>
                  <a:rPr lang="en-US" sz="1800" dirty="0"/>
                  <a:t> for BRK-A</a:t>
                </a:r>
              </a:p>
              <a:p>
                <a:pPr lvl="1"/>
                <a14:m>
                  <m:oMath xmlns:m="http://schemas.openxmlformats.org/officeDocument/2006/math">
                    <m:acc>
                      <m:accPr>
                        <m:chr m:val="̅"/>
                        <m:ctrlPr>
                          <a:rPr lang="en-US" sz="1800" i="1" smtClean="0">
                            <a:latin typeface="Cambria Math" panose="02040503050406030204" pitchFamily="18" charset="0"/>
                          </a:rPr>
                        </m:ctrlPr>
                      </m:accPr>
                      <m:e>
                        <m:r>
                          <a:rPr lang="en-US" sz="1800" i="1">
                            <a:latin typeface="Cambria Math" panose="02040503050406030204" pitchFamily="18" charset="0"/>
                          </a:rPr>
                          <m:t>𝑥</m:t>
                        </m:r>
                      </m:e>
                    </m:acc>
                  </m:oMath>
                </a14:m>
                <a:r>
                  <a:rPr lang="en-US" sz="1800" dirty="0"/>
                  <a:t> = .0004, </a:t>
                </a:r>
                <a14:m>
                  <m:oMath xmlns:m="http://schemas.openxmlformats.org/officeDocument/2006/math">
                    <m:acc>
                      <m:accPr>
                        <m:chr m:val="̂"/>
                        <m:ctrlPr>
                          <a:rPr lang="en-US" sz="1800" i="1" dirty="0">
                            <a:latin typeface="Cambria Math" panose="02040503050406030204" pitchFamily="18" charset="0"/>
                          </a:rPr>
                        </m:ctrlPr>
                      </m:accPr>
                      <m:e>
                        <m:r>
                          <a:rPr lang="en-US" sz="1800" i="1" dirty="0">
                            <a:latin typeface="Cambria Math" panose="02040503050406030204" pitchFamily="18" charset="0"/>
                          </a:rPr>
                          <m:t>𝜎</m:t>
                        </m:r>
                      </m:e>
                    </m:acc>
                  </m:oMath>
                </a14:m>
                <a:r>
                  <a:rPr lang="en-US" sz="1800" dirty="0"/>
                  <a:t> = .0138, </a:t>
                </a:r>
                <a14:m>
                  <m:oMath xmlns:m="http://schemas.openxmlformats.org/officeDocument/2006/math">
                    <m:r>
                      <a:rPr lang="en-US" sz="1800" i="1" dirty="0" smtClean="0">
                        <a:latin typeface="Cambria Math" panose="02040503050406030204" pitchFamily="18" charset="0"/>
                      </a:rPr>
                      <m:t>𝑁</m:t>
                    </m:r>
                  </m:oMath>
                </a14:m>
                <a:r>
                  <a:rPr lang="en-US" sz="1800" dirty="0"/>
                  <a:t>=6420, </a:t>
                </a:r>
                <a14:m>
                  <m:oMath xmlns:m="http://schemas.openxmlformats.org/officeDocument/2006/math">
                    <m:r>
                      <a:rPr lang="en-US" sz="1800" i="1">
                        <a:latin typeface="Cambria Math" panose="02040503050406030204" pitchFamily="18" charset="0"/>
                      </a:rPr>
                      <m:t>𝑆</m:t>
                    </m:r>
                    <m:r>
                      <a:rPr lang="en-US" sz="1800" b="0" i="1" smtClean="0">
                        <a:latin typeface="Cambria Math" panose="02040503050406030204" pitchFamily="18" charset="0"/>
                      </a:rPr>
                      <m:t>𝑡𝑑𝐸𝑟𝑟𝑜𝑟</m:t>
                    </m:r>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b="0" i="1" smtClean="0">
                            <a:latin typeface="Cambria Math" panose="02040503050406030204" pitchFamily="18" charset="0"/>
                          </a:rPr>
                          <m:t>.0138</m:t>
                        </m:r>
                      </m:num>
                      <m:den>
                        <m:rad>
                          <m:radPr>
                            <m:degHide m:val="on"/>
                            <m:ctrlPr>
                              <a:rPr lang="en-US" sz="1800" i="1">
                                <a:latin typeface="Cambria Math" panose="02040503050406030204" pitchFamily="18" charset="0"/>
                              </a:rPr>
                            </m:ctrlPr>
                          </m:radPr>
                          <m:deg/>
                          <m:e>
                            <m:r>
                              <a:rPr lang="en-US" sz="1800" b="0" i="1" smtClean="0">
                                <a:latin typeface="Cambria Math" panose="02040503050406030204" pitchFamily="18" charset="0"/>
                              </a:rPr>
                              <m:t>6420</m:t>
                            </m:r>
                          </m:e>
                        </m:rad>
                      </m:den>
                    </m:f>
                    <m:r>
                      <a:rPr lang="en-US" sz="1800" i="1">
                        <a:latin typeface="Cambria Math" panose="02040503050406030204" pitchFamily="18" charset="0"/>
                      </a:rPr>
                      <m:t>=</m:t>
                    </m:r>
                    <m:r>
                      <a:rPr lang="en-US" sz="1800" b="0" i="1" smtClean="0">
                        <a:latin typeface="Cambria Math" panose="02040503050406030204" pitchFamily="18" charset="0"/>
                      </a:rPr>
                      <m:t>.00017</m:t>
                    </m:r>
                  </m:oMath>
                </a14:m>
                <a:endParaRPr lang="en-US" sz="1800" i="1" dirty="0">
                  <a:ea typeface="Cambria" panose="02040503050406030204" pitchFamily="18" charset="0"/>
                </a:endParaRPr>
              </a:p>
              <a:p>
                <a:pPr lvl="1"/>
                <a14:m>
                  <m:oMath xmlns:m="http://schemas.openxmlformats.org/officeDocument/2006/math">
                    <m:r>
                      <a:rPr lang="en-US" sz="1800" b="0" i="1" smtClean="0">
                        <a:latin typeface="Cambria Math" panose="02040503050406030204" pitchFamily="18" charset="0"/>
                      </a:rPr>
                      <m:t>𝐶</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𝐼</m:t>
                        </m:r>
                      </m:e>
                      <m:sub>
                        <m:r>
                          <a:rPr lang="en-US" sz="1800" b="0" i="1" smtClean="0">
                            <a:latin typeface="Cambria Math" panose="02040503050406030204" pitchFamily="18" charset="0"/>
                          </a:rPr>
                          <m:t>𝐵𝑅𝐾</m:t>
                        </m:r>
                        <m:r>
                          <a:rPr lang="en-US" sz="1800" b="0" i="1" smtClean="0">
                            <a:latin typeface="Cambria Math" panose="02040503050406030204" pitchFamily="18" charset="0"/>
                          </a:rPr>
                          <m:t>−</m:t>
                        </m:r>
                        <m:r>
                          <a:rPr lang="en-US" sz="1800" b="0" i="1" smtClean="0">
                            <a:latin typeface="Cambria Math" panose="02040503050406030204" pitchFamily="18" charset="0"/>
                          </a:rPr>
                          <m:t>𝐴</m:t>
                        </m:r>
                      </m:sub>
                      <m:sup>
                        <m:r>
                          <a:rPr lang="en-US" sz="1800" b="0" i="1" smtClean="0">
                            <a:latin typeface="Cambria Math" panose="02040503050406030204" pitchFamily="18" charset="0"/>
                          </a:rPr>
                          <m:t>95</m:t>
                        </m:r>
                      </m:sup>
                    </m:sSubSup>
                    <m:r>
                      <a:rPr lang="en-US" sz="1800" b="0" i="1" smtClean="0">
                        <a:latin typeface="Cambria Math" panose="02040503050406030204" pitchFamily="18" charset="0"/>
                      </a:rPr>
                      <m:t> =</m:t>
                    </m:r>
                    <m:r>
                      <a:rPr lang="en-US" sz="1800" i="1" dirty="0">
                        <a:latin typeface="Cambria Math" panose="02040503050406030204" pitchFamily="18" charset="0"/>
                      </a:rPr>
                      <m:t> (.000061</m:t>
                    </m:r>
                    <m:r>
                      <a:rPr lang="en-US" sz="1800" b="0" i="1" dirty="0" smtClean="0">
                        <a:latin typeface="Cambria Math" panose="02040503050406030204" pitchFamily="18" charset="0"/>
                      </a:rPr>
                      <m:t>,</m:t>
                    </m:r>
                    <m:r>
                      <a:rPr lang="en-US" sz="1800" i="1" dirty="0" smtClean="0">
                        <a:latin typeface="Cambria Math" panose="02040503050406030204" pitchFamily="18" charset="0"/>
                      </a:rPr>
                      <m:t>.00073)</m:t>
                    </m:r>
                  </m:oMath>
                </a14:m>
                <a:endParaRPr lang="en-US" sz="1800" dirty="0"/>
              </a:p>
              <a:p>
                <a:pPr lvl="1"/>
                <a:r>
                  <a:rPr lang="en-US" sz="1800" dirty="0"/>
                  <a:t> </a:t>
                </a:r>
                <a:r>
                  <a:rPr lang="en-US" sz="1800" dirty="0">
                    <a:solidFill>
                      <a:schemeClr val="accent6"/>
                    </a:solidFill>
                  </a:rPr>
                  <a:t>Interpretation?</a:t>
                </a:r>
              </a:p>
              <a:p>
                <a:pPr lvl="1"/>
                <a:endParaRPr lang="en-US" sz="1800" dirty="0">
                  <a:solidFill>
                    <a:srgbClr val="FF0000"/>
                  </a:solidFill>
                </a:endParaRPr>
              </a:p>
              <a:p>
                <a:pPr marL="857250" lvl="2" indent="0">
                  <a:buNone/>
                </a:pPr>
                <a:r>
                  <a:rPr lang="en-US" sz="1800" dirty="0">
                    <a:solidFill>
                      <a:schemeClr val="accent6"/>
                    </a:solidFill>
                  </a:rPr>
                  <a:t>If we had 100 samples of 6420 daily returns, the confidence intervals of 95 of them would contain the true BRK-A return. So, given the </a:t>
                </a:r>
                <a14:m>
                  <m:oMath xmlns:m="http://schemas.openxmlformats.org/officeDocument/2006/math">
                    <m:r>
                      <a:rPr lang="en-US" sz="1800" b="0" i="1" smtClean="0">
                        <a:solidFill>
                          <a:schemeClr val="accent6"/>
                        </a:solidFill>
                        <a:latin typeface="Cambria Math" panose="02040503050406030204" pitchFamily="18" charset="0"/>
                      </a:rPr>
                      <m:t>𝐶</m:t>
                    </m:r>
                    <m:sSup>
                      <m:sSupPr>
                        <m:ctrlPr>
                          <a:rPr lang="en-US" sz="1800" b="0" i="1" smtClean="0">
                            <a:solidFill>
                              <a:schemeClr val="accent6"/>
                            </a:solidFill>
                            <a:latin typeface="Cambria Math" panose="02040503050406030204" pitchFamily="18" charset="0"/>
                          </a:rPr>
                        </m:ctrlPr>
                      </m:sSupPr>
                      <m:e>
                        <m:r>
                          <a:rPr lang="en-US" sz="1800" b="0" i="1" smtClean="0">
                            <a:solidFill>
                              <a:schemeClr val="accent6"/>
                            </a:solidFill>
                            <a:latin typeface="Cambria Math" panose="02040503050406030204" pitchFamily="18" charset="0"/>
                          </a:rPr>
                          <m:t>𝐼</m:t>
                        </m:r>
                      </m:e>
                      <m:sup>
                        <m:r>
                          <a:rPr lang="en-US" sz="1800" b="0" i="1" smtClean="0">
                            <a:solidFill>
                              <a:schemeClr val="accent6"/>
                            </a:solidFill>
                            <a:latin typeface="Cambria Math" panose="02040503050406030204" pitchFamily="18" charset="0"/>
                          </a:rPr>
                          <m:t>95</m:t>
                        </m:r>
                      </m:sup>
                    </m:sSup>
                  </m:oMath>
                </a14:m>
                <a:r>
                  <a:rPr lang="en-US" sz="1800" dirty="0">
                    <a:solidFill>
                      <a:schemeClr val="accent6"/>
                    </a:solidFill>
                  </a:rPr>
                  <a:t> above, we are 95% confident that BRK-A’s daily return is greater than 0! That is, we expect Buffet to have a positive return on any given day</a:t>
                </a:r>
              </a:p>
              <a:p>
                <a:endParaRPr lang="en-US" sz="1800" dirty="0"/>
              </a:p>
              <a:p>
                <a:pPr lvl="1"/>
                <a:endParaRPr lang="en-US" sz="1800" dirty="0"/>
              </a:p>
            </p:txBody>
          </p:sp>
        </mc:Choice>
        <mc:Fallback xmlns="">
          <p:sp>
            <p:nvSpPr>
              <p:cNvPr id="3" name="Content Placeholder 2">
                <a:extLst>
                  <a:ext uri="{FF2B5EF4-FFF2-40B4-BE49-F238E27FC236}">
                    <a16:creationId xmlns:a16="http://schemas.microsoft.com/office/drawing/2014/main" id="{4863AA94-FE16-46E0-822D-2401775838C2}"/>
                  </a:ext>
                </a:extLst>
              </p:cNvPr>
              <p:cNvSpPr>
                <a:spLocks noGrp="1" noRot="1" noChangeAspect="1" noMove="1" noResize="1" noEditPoints="1" noAdjustHandles="1" noChangeArrowheads="1" noChangeShapeType="1" noTextEdit="1"/>
              </p:cNvSpPr>
              <p:nvPr>
                <p:ph idx="1"/>
              </p:nvPr>
            </p:nvSpPr>
            <p:spPr>
              <a:xfrm>
                <a:off x="354013" y="1089026"/>
                <a:ext cx="8437562" cy="1528752"/>
              </a:xfrm>
              <a:blipFill>
                <a:blip r:embed="rId3"/>
                <a:stretch>
                  <a:fillRect l="-434" r="-145" b="-2556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05D547D-CCD0-423A-B657-F44F6215BB8D}"/>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104</a:t>
            </a:fld>
            <a:endParaRPr lang="en-GB" dirty="0"/>
          </a:p>
        </p:txBody>
      </p:sp>
      <p:pic>
        <p:nvPicPr>
          <p:cNvPr id="6" name="Picture 5">
            <a:extLst>
              <a:ext uri="{FF2B5EF4-FFF2-40B4-BE49-F238E27FC236}">
                <a16:creationId xmlns:a16="http://schemas.microsoft.com/office/drawing/2014/main" id="{0A094F77-9C34-478F-B4D8-48BADCED9708}"/>
              </a:ext>
            </a:extLst>
          </p:cNvPr>
          <p:cNvPicPr>
            <a:picLocks noChangeAspect="1"/>
          </p:cNvPicPr>
          <p:nvPr/>
        </p:nvPicPr>
        <p:blipFill rotWithShape="1">
          <a:blip r:embed="rId4"/>
          <a:srcRect l="9834" t="55579" r="12601" b="31369"/>
          <a:stretch/>
        </p:blipFill>
        <p:spPr>
          <a:xfrm>
            <a:off x="1122456" y="1887900"/>
            <a:ext cx="6899087" cy="1116824"/>
          </a:xfrm>
          <a:prstGeom prst="rect">
            <a:avLst/>
          </a:prstGeom>
        </p:spPr>
      </p:pic>
    </p:spTree>
    <p:extLst>
      <p:ext uri="{BB962C8B-B14F-4D97-AF65-F5344CB8AC3E}">
        <p14:creationId xmlns:p14="http://schemas.microsoft.com/office/powerpoint/2010/main" val="71039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471E0-4FBA-A759-70CA-A85BB81C20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3B5B71F-1D34-C43C-13F7-455C1EB079EC}"/>
                  </a:ext>
                </a:extLst>
              </p:cNvPr>
              <p:cNvSpPr>
                <a:spLocks noGrp="1"/>
              </p:cNvSpPr>
              <p:nvPr>
                <p:ph type="title"/>
              </p:nvPr>
            </p:nvSpPr>
            <p:spPr/>
            <p:txBody>
              <a:bodyPr/>
              <a:lstStyle/>
              <a:p>
                <a:r>
                  <a:rPr lang="en-US" dirty="0"/>
                  <a:t>BRK-A Daily Return </a:t>
                </a:r>
                <a14:m>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95</m:t>
                        </m:r>
                      </m:sup>
                    </m:sSup>
                  </m:oMath>
                </a14:m>
                <a:br>
                  <a:rPr lang="en-US" dirty="0"/>
                </a:br>
                <a:r>
                  <a:rPr lang="en-US" sz="1400" dirty="0">
                    <a:latin typeface="Courier New" panose="02070309020205020404" pitchFamily="49" charset="0"/>
                    <a:cs typeface="Courier New" panose="02070309020205020404" pitchFamily="49" charset="0"/>
                  </a:rPr>
                  <a:t>data_Berkshire_raw.csv</a:t>
                </a:r>
                <a:endParaRPr lang="en-US" dirty="0">
                  <a:solidFill>
                    <a:srgbClr val="FF0000"/>
                  </a:solidFill>
                </a:endParaRPr>
              </a:p>
            </p:txBody>
          </p:sp>
        </mc:Choice>
        <mc:Fallback xmlns="">
          <p:sp>
            <p:nvSpPr>
              <p:cNvPr id="2" name="Title 1">
                <a:extLst>
                  <a:ext uri="{FF2B5EF4-FFF2-40B4-BE49-F238E27FC236}">
                    <a16:creationId xmlns:a16="http://schemas.microsoft.com/office/drawing/2014/main" id="{33B5B71F-1D34-C43C-13F7-455C1EB079EC}"/>
                  </a:ext>
                </a:extLst>
              </p:cNvPr>
              <p:cNvSpPr>
                <a:spLocks noGrp="1" noRot="1" noChangeAspect="1" noMove="1" noResize="1" noEditPoints="1" noAdjustHandles="1" noChangeArrowheads="1" noChangeShapeType="1" noTextEdit="1"/>
              </p:cNvSpPr>
              <p:nvPr>
                <p:ph type="title"/>
              </p:nvPr>
            </p:nvSpPr>
            <p:spPr>
              <a:blipFill>
                <a:blip r:embed="rId2"/>
                <a:stretch>
                  <a:fillRect t="-2521" b="-67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74BE22-754F-A8F0-B53F-2E8978EC3418}"/>
                  </a:ext>
                </a:extLst>
              </p:cNvPr>
              <p:cNvSpPr>
                <a:spLocks noGrp="1"/>
              </p:cNvSpPr>
              <p:nvPr>
                <p:ph idx="1"/>
              </p:nvPr>
            </p:nvSpPr>
            <p:spPr>
              <a:xfrm>
                <a:off x="354013" y="1089026"/>
                <a:ext cx="8437562" cy="1528752"/>
              </a:xfrm>
            </p:spPr>
            <p:txBody>
              <a:bodyPr/>
              <a:lstStyle/>
              <a:p>
                <a:endParaRPr lang="en-US" sz="1800" dirty="0">
                  <a:solidFill>
                    <a:schemeClr val="bg1">
                      <a:lumMod val="50000"/>
                    </a:schemeClr>
                  </a:solidFill>
                </a:endParaRPr>
              </a:p>
              <a:p>
                <a:r>
                  <a:rPr lang="en-US" sz="1800" dirty="0">
                    <a:solidFill>
                      <a:schemeClr val="bg1">
                        <a:lumMod val="50000"/>
                      </a:schemeClr>
                    </a:solidFill>
                  </a:rPr>
                  <a:t>Open the dataset noted above and compute the following</a:t>
                </a:r>
              </a:p>
              <a:p>
                <a:endParaRPr lang="en-US" sz="1800" dirty="0">
                  <a:solidFill>
                    <a:schemeClr val="bg1">
                      <a:lumMod val="50000"/>
                    </a:schemeClr>
                  </a:solidFill>
                </a:endParaRPr>
              </a:p>
              <a:p>
                <a:endParaRPr lang="en-US" sz="1800" dirty="0">
                  <a:solidFill>
                    <a:schemeClr val="bg1">
                      <a:lumMod val="50000"/>
                    </a:schemeClr>
                  </a:solidFill>
                </a:endParaRPr>
              </a:p>
              <a:p>
                <a:endParaRPr lang="en-US" sz="1800" dirty="0">
                  <a:solidFill>
                    <a:schemeClr val="bg1">
                      <a:lumMod val="50000"/>
                    </a:schemeClr>
                  </a:solidFill>
                </a:endParaRPr>
              </a:p>
              <a:p>
                <a:endParaRPr lang="en-US" sz="1800" dirty="0">
                  <a:solidFill>
                    <a:schemeClr val="bg1">
                      <a:lumMod val="50000"/>
                    </a:schemeClr>
                  </a:solidFill>
                </a:endParaRPr>
              </a:p>
              <a:p>
                <a:pPr marL="0" indent="0">
                  <a:buNone/>
                </a:pPr>
                <a:endParaRPr lang="en-US" sz="1800" dirty="0">
                  <a:solidFill>
                    <a:schemeClr val="bg1">
                      <a:lumMod val="50000"/>
                    </a:schemeClr>
                  </a:solidFill>
                </a:endParaRPr>
              </a:p>
              <a:p>
                <a:r>
                  <a:rPr lang="en-US" sz="1800" dirty="0">
                    <a:solidFill>
                      <a:schemeClr val="bg1">
                        <a:lumMod val="50000"/>
                      </a:schemeClr>
                    </a:solidFill>
                  </a:rPr>
                  <a:t>Construct the </a:t>
                </a:r>
                <a14:m>
                  <m:oMath xmlns:m="http://schemas.openxmlformats.org/officeDocument/2006/math">
                    <m:r>
                      <a:rPr lang="en-US" sz="1800" b="0" i="1" smtClean="0">
                        <a:solidFill>
                          <a:schemeClr val="bg1">
                            <a:lumMod val="50000"/>
                          </a:schemeClr>
                        </a:solidFill>
                        <a:latin typeface="Cambria Math" panose="02040503050406030204" pitchFamily="18" charset="0"/>
                      </a:rPr>
                      <m:t>𝐶</m:t>
                    </m:r>
                    <m:sSup>
                      <m:sSupPr>
                        <m:ctrlPr>
                          <a:rPr lang="en-US" sz="1800" b="0" i="1" smtClean="0">
                            <a:solidFill>
                              <a:schemeClr val="bg1">
                                <a:lumMod val="50000"/>
                              </a:schemeClr>
                            </a:solidFill>
                            <a:latin typeface="Cambria Math" panose="02040503050406030204" pitchFamily="18" charset="0"/>
                          </a:rPr>
                        </m:ctrlPr>
                      </m:sSupPr>
                      <m:e>
                        <m:r>
                          <a:rPr lang="en-US" sz="1800" b="0" i="1" smtClean="0">
                            <a:solidFill>
                              <a:schemeClr val="bg1">
                                <a:lumMod val="50000"/>
                              </a:schemeClr>
                            </a:solidFill>
                            <a:latin typeface="Cambria Math" panose="02040503050406030204" pitchFamily="18" charset="0"/>
                          </a:rPr>
                          <m:t>𝐼</m:t>
                        </m:r>
                      </m:e>
                      <m:sup>
                        <m:r>
                          <a:rPr lang="en-US" sz="1800" b="0" i="1" smtClean="0">
                            <a:solidFill>
                              <a:schemeClr val="bg1">
                                <a:lumMod val="50000"/>
                              </a:schemeClr>
                            </a:solidFill>
                            <a:latin typeface="Cambria Math" panose="02040503050406030204" pitchFamily="18" charset="0"/>
                          </a:rPr>
                          <m:t>95</m:t>
                        </m:r>
                      </m:sup>
                    </m:sSup>
                  </m:oMath>
                </a14:m>
                <a:r>
                  <a:rPr lang="en-US" sz="1800" dirty="0">
                    <a:solidFill>
                      <a:schemeClr val="bg1">
                        <a:lumMod val="50000"/>
                      </a:schemeClr>
                    </a:solidFill>
                  </a:rPr>
                  <a:t> for BRK-A</a:t>
                </a:r>
              </a:p>
              <a:p>
                <a:pPr lvl="1"/>
                <a14:m>
                  <m:oMath xmlns:m="http://schemas.openxmlformats.org/officeDocument/2006/math">
                    <m:acc>
                      <m:accPr>
                        <m:chr m:val="̅"/>
                        <m:ctrlPr>
                          <a:rPr lang="en-US" sz="1800" i="1" smtClean="0">
                            <a:solidFill>
                              <a:schemeClr val="bg1">
                                <a:lumMod val="50000"/>
                              </a:schemeClr>
                            </a:solidFill>
                            <a:latin typeface="Cambria Math" panose="02040503050406030204" pitchFamily="18" charset="0"/>
                          </a:rPr>
                        </m:ctrlPr>
                      </m:accPr>
                      <m:e>
                        <m:r>
                          <a:rPr lang="en-US" sz="1800" i="1">
                            <a:solidFill>
                              <a:schemeClr val="bg1">
                                <a:lumMod val="50000"/>
                              </a:schemeClr>
                            </a:solidFill>
                            <a:latin typeface="Cambria Math" panose="02040503050406030204" pitchFamily="18" charset="0"/>
                          </a:rPr>
                          <m:t>𝑥</m:t>
                        </m:r>
                      </m:e>
                    </m:acc>
                  </m:oMath>
                </a14:m>
                <a:r>
                  <a:rPr lang="en-US" sz="1800" dirty="0">
                    <a:solidFill>
                      <a:schemeClr val="bg1">
                        <a:lumMod val="50000"/>
                      </a:schemeClr>
                    </a:solidFill>
                  </a:rPr>
                  <a:t> = .0004, </a:t>
                </a:r>
                <a14:m>
                  <m:oMath xmlns:m="http://schemas.openxmlformats.org/officeDocument/2006/math">
                    <m:acc>
                      <m:accPr>
                        <m:chr m:val="̂"/>
                        <m:ctrlPr>
                          <a:rPr lang="en-US" sz="1800" i="1" dirty="0">
                            <a:solidFill>
                              <a:schemeClr val="bg1">
                                <a:lumMod val="50000"/>
                              </a:schemeClr>
                            </a:solidFill>
                            <a:latin typeface="Cambria Math" panose="02040503050406030204" pitchFamily="18" charset="0"/>
                          </a:rPr>
                        </m:ctrlPr>
                      </m:accPr>
                      <m:e>
                        <m:r>
                          <a:rPr lang="en-US" sz="1800" i="1" dirty="0">
                            <a:solidFill>
                              <a:schemeClr val="bg1">
                                <a:lumMod val="50000"/>
                              </a:schemeClr>
                            </a:solidFill>
                            <a:latin typeface="Cambria Math" panose="02040503050406030204" pitchFamily="18" charset="0"/>
                          </a:rPr>
                          <m:t>𝜎</m:t>
                        </m:r>
                      </m:e>
                    </m:acc>
                  </m:oMath>
                </a14:m>
                <a:r>
                  <a:rPr lang="en-US" sz="1800" dirty="0">
                    <a:solidFill>
                      <a:schemeClr val="bg1">
                        <a:lumMod val="50000"/>
                      </a:schemeClr>
                    </a:solidFill>
                  </a:rPr>
                  <a:t> = .0138, </a:t>
                </a:r>
                <a14:m>
                  <m:oMath xmlns:m="http://schemas.openxmlformats.org/officeDocument/2006/math">
                    <m:r>
                      <a:rPr lang="en-US" sz="1800" i="1" dirty="0" smtClean="0">
                        <a:solidFill>
                          <a:schemeClr val="bg1">
                            <a:lumMod val="50000"/>
                          </a:schemeClr>
                        </a:solidFill>
                        <a:latin typeface="Cambria Math" panose="02040503050406030204" pitchFamily="18" charset="0"/>
                      </a:rPr>
                      <m:t>𝑁</m:t>
                    </m:r>
                  </m:oMath>
                </a14:m>
                <a:r>
                  <a:rPr lang="en-US" sz="1800" dirty="0">
                    <a:solidFill>
                      <a:schemeClr val="bg1">
                        <a:lumMod val="50000"/>
                      </a:schemeClr>
                    </a:solidFill>
                  </a:rPr>
                  <a:t>=6420, </a:t>
                </a:r>
                <a14:m>
                  <m:oMath xmlns:m="http://schemas.openxmlformats.org/officeDocument/2006/math">
                    <m:r>
                      <a:rPr lang="en-US" sz="1800" i="1">
                        <a:solidFill>
                          <a:schemeClr val="bg1">
                            <a:lumMod val="50000"/>
                          </a:schemeClr>
                        </a:solidFill>
                        <a:latin typeface="Cambria Math" panose="02040503050406030204" pitchFamily="18" charset="0"/>
                      </a:rPr>
                      <m:t>𝑆</m:t>
                    </m:r>
                    <m:r>
                      <a:rPr lang="en-US" sz="1800" b="0" i="1" smtClean="0">
                        <a:solidFill>
                          <a:schemeClr val="bg1">
                            <a:lumMod val="50000"/>
                          </a:schemeClr>
                        </a:solidFill>
                        <a:latin typeface="Cambria Math" panose="02040503050406030204" pitchFamily="18" charset="0"/>
                      </a:rPr>
                      <m:t>𝑡𝑑𝐸𝑟𝑟𝑜𝑟</m:t>
                    </m:r>
                    <m:r>
                      <a:rPr lang="en-US" sz="1800" i="1">
                        <a:solidFill>
                          <a:schemeClr val="bg1">
                            <a:lumMod val="50000"/>
                          </a:schemeClr>
                        </a:solidFill>
                        <a:latin typeface="Cambria Math" panose="02040503050406030204" pitchFamily="18" charset="0"/>
                      </a:rPr>
                      <m:t>=</m:t>
                    </m:r>
                    <m:f>
                      <m:fPr>
                        <m:ctrlPr>
                          <a:rPr lang="en-US" sz="1800" i="1">
                            <a:solidFill>
                              <a:schemeClr val="bg1">
                                <a:lumMod val="50000"/>
                              </a:schemeClr>
                            </a:solidFill>
                            <a:latin typeface="Cambria Math" panose="02040503050406030204" pitchFamily="18" charset="0"/>
                          </a:rPr>
                        </m:ctrlPr>
                      </m:fPr>
                      <m:num>
                        <m:r>
                          <a:rPr lang="en-US" sz="1800" b="0" i="1" smtClean="0">
                            <a:solidFill>
                              <a:schemeClr val="bg1">
                                <a:lumMod val="50000"/>
                              </a:schemeClr>
                            </a:solidFill>
                            <a:latin typeface="Cambria Math" panose="02040503050406030204" pitchFamily="18" charset="0"/>
                          </a:rPr>
                          <m:t>.0138</m:t>
                        </m:r>
                      </m:num>
                      <m:den>
                        <m:rad>
                          <m:radPr>
                            <m:degHide m:val="on"/>
                            <m:ctrlPr>
                              <a:rPr lang="en-US" sz="1800" i="1">
                                <a:solidFill>
                                  <a:schemeClr val="bg1">
                                    <a:lumMod val="50000"/>
                                  </a:schemeClr>
                                </a:solidFill>
                                <a:latin typeface="Cambria Math" panose="02040503050406030204" pitchFamily="18" charset="0"/>
                              </a:rPr>
                            </m:ctrlPr>
                          </m:radPr>
                          <m:deg/>
                          <m:e>
                            <m:r>
                              <a:rPr lang="en-US" sz="1800" b="0" i="1" smtClean="0">
                                <a:solidFill>
                                  <a:schemeClr val="bg1">
                                    <a:lumMod val="50000"/>
                                  </a:schemeClr>
                                </a:solidFill>
                                <a:latin typeface="Cambria Math" panose="02040503050406030204" pitchFamily="18" charset="0"/>
                              </a:rPr>
                              <m:t>6420</m:t>
                            </m:r>
                          </m:e>
                        </m:rad>
                      </m:den>
                    </m:f>
                    <m:r>
                      <a:rPr lang="en-US" sz="1800" i="1">
                        <a:solidFill>
                          <a:schemeClr val="bg1">
                            <a:lumMod val="50000"/>
                          </a:schemeClr>
                        </a:solidFill>
                        <a:latin typeface="Cambria Math" panose="02040503050406030204" pitchFamily="18" charset="0"/>
                      </a:rPr>
                      <m:t>=</m:t>
                    </m:r>
                    <m:r>
                      <a:rPr lang="en-US" sz="1800" b="0" i="1" smtClean="0">
                        <a:solidFill>
                          <a:schemeClr val="bg1">
                            <a:lumMod val="50000"/>
                          </a:schemeClr>
                        </a:solidFill>
                        <a:latin typeface="Cambria Math" panose="02040503050406030204" pitchFamily="18" charset="0"/>
                      </a:rPr>
                      <m:t>.00017</m:t>
                    </m:r>
                  </m:oMath>
                </a14:m>
                <a:endParaRPr lang="en-US" sz="1800" i="1" dirty="0">
                  <a:solidFill>
                    <a:schemeClr val="bg1">
                      <a:lumMod val="50000"/>
                    </a:schemeClr>
                  </a:solidFill>
                  <a:ea typeface="Cambria" panose="02040503050406030204" pitchFamily="18" charset="0"/>
                </a:endParaRPr>
              </a:p>
              <a:p>
                <a:pPr lvl="1"/>
                <a14:m>
                  <m:oMath xmlns:m="http://schemas.openxmlformats.org/officeDocument/2006/math">
                    <m:r>
                      <a:rPr lang="en-US" sz="1800" b="0" i="1" smtClean="0">
                        <a:solidFill>
                          <a:schemeClr val="bg1">
                            <a:lumMod val="50000"/>
                          </a:schemeClr>
                        </a:solidFill>
                        <a:latin typeface="Cambria Math" panose="02040503050406030204" pitchFamily="18" charset="0"/>
                      </a:rPr>
                      <m:t>𝐶</m:t>
                    </m:r>
                    <m:sSubSup>
                      <m:sSubSupPr>
                        <m:ctrlPr>
                          <a:rPr lang="en-US" sz="1800" b="0" i="1" smtClean="0">
                            <a:solidFill>
                              <a:schemeClr val="bg1">
                                <a:lumMod val="50000"/>
                              </a:schemeClr>
                            </a:solidFill>
                            <a:latin typeface="Cambria Math" panose="02040503050406030204" pitchFamily="18" charset="0"/>
                          </a:rPr>
                        </m:ctrlPr>
                      </m:sSubSupPr>
                      <m:e>
                        <m:r>
                          <a:rPr lang="en-US" sz="1800" b="0" i="1" smtClean="0">
                            <a:solidFill>
                              <a:schemeClr val="bg1">
                                <a:lumMod val="50000"/>
                              </a:schemeClr>
                            </a:solidFill>
                            <a:latin typeface="Cambria Math" panose="02040503050406030204" pitchFamily="18" charset="0"/>
                          </a:rPr>
                          <m:t>𝐼</m:t>
                        </m:r>
                      </m:e>
                      <m:sub>
                        <m:r>
                          <a:rPr lang="en-US" sz="1800" b="0" i="1" smtClean="0">
                            <a:solidFill>
                              <a:schemeClr val="bg1">
                                <a:lumMod val="50000"/>
                              </a:schemeClr>
                            </a:solidFill>
                            <a:latin typeface="Cambria Math" panose="02040503050406030204" pitchFamily="18" charset="0"/>
                          </a:rPr>
                          <m:t>𝐵𝑅𝐾</m:t>
                        </m:r>
                        <m:r>
                          <a:rPr lang="en-US" sz="1800" b="0" i="1" smtClean="0">
                            <a:solidFill>
                              <a:schemeClr val="bg1">
                                <a:lumMod val="50000"/>
                              </a:schemeClr>
                            </a:solidFill>
                            <a:latin typeface="Cambria Math" panose="02040503050406030204" pitchFamily="18" charset="0"/>
                          </a:rPr>
                          <m:t>−</m:t>
                        </m:r>
                        <m:r>
                          <a:rPr lang="en-US" sz="1800" b="0" i="1" smtClean="0">
                            <a:solidFill>
                              <a:schemeClr val="bg1">
                                <a:lumMod val="50000"/>
                              </a:schemeClr>
                            </a:solidFill>
                            <a:latin typeface="Cambria Math" panose="02040503050406030204" pitchFamily="18" charset="0"/>
                          </a:rPr>
                          <m:t>𝐴</m:t>
                        </m:r>
                      </m:sub>
                      <m:sup>
                        <m:r>
                          <a:rPr lang="en-US" sz="1800" b="0" i="1" smtClean="0">
                            <a:solidFill>
                              <a:schemeClr val="bg1">
                                <a:lumMod val="50000"/>
                              </a:schemeClr>
                            </a:solidFill>
                            <a:latin typeface="Cambria Math" panose="02040503050406030204" pitchFamily="18" charset="0"/>
                          </a:rPr>
                          <m:t>95</m:t>
                        </m:r>
                      </m:sup>
                    </m:sSubSup>
                    <m:r>
                      <a:rPr lang="en-US" sz="1800" b="0" i="1" smtClean="0">
                        <a:solidFill>
                          <a:schemeClr val="bg1">
                            <a:lumMod val="50000"/>
                          </a:schemeClr>
                        </a:solidFill>
                        <a:latin typeface="Cambria Math" panose="02040503050406030204" pitchFamily="18" charset="0"/>
                      </a:rPr>
                      <m:t> =</m:t>
                    </m:r>
                    <m:r>
                      <a:rPr lang="en-US" sz="1800" i="1" dirty="0">
                        <a:solidFill>
                          <a:schemeClr val="bg1">
                            <a:lumMod val="50000"/>
                          </a:schemeClr>
                        </a:solidFill>
                        <a:latin typeface="Cambria Math" panose="02040503050406030204" pitchFamily="18" charset="0"/>
                      </a:rPr>
                      <m:t> (.000061</m:t>
                    </m:r>
                    <m:r>
                      <a:rPr lang="en-US" sz="1800" b="0" i="1" dirty="0" smtClean="0">
                        <a:solidFill>
                          <a:schemeClr val="bg1">
                            <a:lumMod val="50000"/>
                          </a:schemeClr>
                        </a:solidFill>
                        <a:latin typeface="Cambria Math" panose="02040503050406030204" pitchFamily="18" charset="0"/>
                      </a:rPr>
                      <m:t>,</m:t>
                    </m:r>
                    <m:r>
                      <a:rPr lang="en-US" sz="1800" i="1" dirty="0" smtClean="0">
                        <a:solidFill>
                          <a:schemeClr val="bg1">
                            <a:lumMod val="50000"/>
                          </a:schemeClr>
                        </a:solidFill>
                        <a:latin typeface="Cambria Math" panose="02040503050406030204" pitchFamily="18" charset="0"/>
                      </a:rPr>
                      <m:t>.00073)</m:t>
                    </m:r>
                  </m:oMath>
                </a14:m>
                <a:endParaRPr lang="en-US" sz="1800" dirty="0">
                  <a:solidFill>
                    <a:schemeClr val="bg1">
                      <a:lumMod val="50000"/>
                    </a:schemeClr>
                  </a:solidFill>
                </a:endParaRPr>
              </a:p>
              <a:p>
                <a:pPr lvl="1"/>
                <a:r>
                  <a:rPr lang="en-US" sz="1800" dirty="0">
                    <a:solidFill>
                      <a:schemeClr val="bg1">
                        <a:lumMod val="50000"/>
                      </a:schemeClr>
                    </a:solidFill>
                  </a:rPr>
                  <a:t> Interpretation?</a:t>
                </a:r>
              </a:p>
              <a:p>
                <a:endParaRPr lang="en-US" sz="1800" dirty="0"/>
              </a:p>
              <a:p>
                <a:r>
                  <a:rPr lang="en-US" sz="1800" dirty="0"/>
                  <a:t>Now for S&amp;P500</a:t>
                </a:r>
              </a:p>
              <a:p>
                <a:pPr lvl="1"/>
                <a14:m>
                  <m:oMath xmlns:m="http://schemas.openxmlformats.org/officeDocument/2006/math">
                    <m:acc>
                      <m:accPr>
                        <m:chr m:val="̅"/>
                        <m:ctrlPr>
                          <a:rPr lang="en-US" sz="1800" i="1">
                            <a:latin typeface="Cambria Math" panose="02040503050406030204" pitchFamily="18" charset="0"/>
                          </a:rPr>
                        </m:ctrlPr>
                      </m:accPr>
                      <m:e>
                        <m:r>
                          <a:rPr lang="en-US" sz="1800" i="1">
                            <a:latin typeface="Cambria Math" panose="02040503050406030204" pitchFamily="18" charset="0"/>
                          </a:rPr>
                          <m:t>𝑥</m:t>
                        </m:r>
                      </m:e>
                    </m:acc>
                  </m:oMath>
                </a14:m>
                <a:r>
                  <a:rPr lang="en-US" sz="1800" dirty="0"/>
                  <a:t> = .0002, </a:t>
                </a:r>
                <a14:m>
                  <m:oMath xmlns:m="http://schemas.openxmlformats.org/officeDocument/2006/math">
                    <m:acc>
                      <m:accPr>
                        <m:chr m:val="̂"/>
                        <m:ctrlPr>
                          <a:rPr lang="en-US" sz="1800" i="1" dirty="0">
                            <a:latin typeface="Cambria Math" panose="02040503050406030204" pitchFamily="18" charset="0"/>
                          </a:rPr>
                        </m:ctrlPr>
                      </m:accPr>
                      <m:e>
                        <m:r>
                          <a:rPr lang="en-US" sz="1800" i="1" dirty="0">
                            <a:latin typeface="Cambria Math" panose="02040503050406030204" pitchFamily="18" charset="0"/>
                          </a:rPr>
                          <m:t>𝜎</m:t>
                        </m:r>
                      </m:e>
                    </m:acc>
                  </m:oMath>
                </a14:m>
                <a:r>
                  <a:rPr lang="en-US" sz="1800" dirty="0"/>
                  <a:t> = .0123, </a:t>
                </a:r>
                <a14:m>
                  <m:oMath xmlns:m="http://schemas.openxmlformats.org/officeDocument/2006/math">
                    <m:r>
                      <a:rPr lang="en-US" sz="1800" i="1" dirty="0">
                        <a:latin typeface="Cambria Math" panose="02040503050406030204" pitchFamily="18" charset="0"/>
                      </a:rPr>
                      <m:t>𝑁</m:t>
                    </m:r>
                  </m:oMath>
                </a14:m>
                <a:r>
                  <a:rPr lang="en-US" sz="1800" dirty="0"/>
                  <a:t>=6420, </a:t>
                </a:r>
                <a14:m>
                  <m:oMath xmlns:m="http://schemas.openxmlformats.org/officeDocument/2006/math">
                    <m:r>
                      <a:rPr lang="en-US" sz="1800" i="1">
                        <a:latin typeface="Cambria Math" panose="02040503050406030204" pitchFamily="18" charset="0"/>
                      </a:rPr>
                      <m:t>𝑆𝑡𝑑𝐸𝑟𝑟𝑜𝑟</m:t>
                    </m:r>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.0123</m:t>
                        </m:r>
                      </m:num>
                      <m:den>
                        <m:rad>
                          <m:radPr>
                            <m:degHide m:val="on"/>
                            <m:ctrlPr>
                              <a:rPr lang="en-US" sz="1800" i="1">
                                <a:latin typeface="Cambria Math" panose="02040503050406030204" pitchFamily="18" charset="0"/>
                              </a:rPr>
                            </m:ctrlPr>
                          </m:radPr>
                          <m:deg/>
                          <m:e>
                            <m:r>
                              <a:rPr lang="en-US" sz="1800" i="1">
                                <a:latin typeface="Cambria Math" panose="02040503050406030204" pitchFamily="18" charset="0"/>
                              </a:rPr>
                              <m:t>6420</m:t>
                            </m:r>
                          </m:e>
                        </m:rad>
                      </m:den>
                    </m:f>
                    <m:r>
                      <a:rPr lang="en-US" sz="1800" i="1">
                        <a:latin typeface="Cambria Math" panose="02040503050406030204" pitchFamily="18" charset="0"/>
                      </a:rPr>
                      <m:t>=.00015</m:t>
                    </m:r>
                  </m:oMath>
                </a14:m>
                <a:endParaRPr lang="en-US" sz="1800" i="1" dirty="0">
                  <a:ea typeface="Cambria" panose="02040503050406030204" pitchFamily="18" charset="0"/>
                </a:endParaRPr>
              </a:p>
              <a:p>
                <a:pPr lvl="1"/>
                <a14:m>
                  <m:oMath xmlns:m="http://schemas.openxmlformats.org/officeDocument/2006/math">
                    <m:r>
                      <a:rPr lang="en-US" sz="1800" b="0" i="1" smtClean="0">
                        <a:latin typeface="Cambria Math" panose="02040503050406030204" pitchFamily="18" charset="0"/>
                      </a:rPr>
                      <m:t>𝐶</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𝐼</m:t>
                        </m:r>
                      </m:e>
                      <m:sub>
                        <m:r>
                          <a:rPr lang="en-US" sz="1800" b="0" i="1" smtClean="0">
                            <a:latin typeface="Cambria Math" panose="02040503050406030204" pitchFamily="18" charset="0"/>
                          </a:rPr>
                          <m:t>𝑆𝑃</m:t>
                        </m:r>
                        <m:r>
                          <a:rPr lang="en-US" sz="1800" b="0" i="1" smtClean="0">
                            <a:latin typeface="Cambria Math" panose="02040503050406030204" pitchFamily="18" charset="0"/>
                          </a:rPr>
                          <m:t>500</m:t>
                        </m:r>
                      </m:sub>
                      <m:sup>
                        <m:r>
                          <a:rPr lang="en-US" sz="1800" b="0" i="1" smtClean="0">
                            <a:latin typeface="Cambria Math" panose="02040503050406030204" pitchFamily="18" charset="0"/>
                          </a:rPr>
                          <m:t>95</m:t>
                        </m:r>
                      </m:sup>
                    </m:sSubSup>
                    <m:r>
                      <a:rPr lang="en-US" sz="1800" b="0" i="1" smtClean="0">
                        <a:latin typeface="Cambria Math" panose="02040503050406030204" pitchFamily="18" charset="0"/>
                      </a:rPr>
                      <m:t>=</m:t>
                    </m:r>
                    <m:r>
                      <a:rPr lang="en-US" sz="1800" i="1" dirty="0">
                        <a:latin typeface="Cambria Math" panose="02040503050406030204" pitchFamily="18" charset="0"/>
                      </a:rPr>
                      <m:t> (</m:t>
                    </m:r>
                    <m:r>
                      <a:rPr lang="en-US" sz="1800" b="0" i="1" dirty="0" smtClean="0">
                        <a:latin typeface="Cambria Math" panose="02040503050406030204" pitchFamily="18" charset="0"/>
                      </a:rPr>
                      <m:t>−</m:t>
                    </m:r>
                    <m:r>
                      <a:rPr lang="en-US" sz="1800" i="1" dirty="0">
                        <a:latin typeface="Cambria Math" panose="02040503050406030204" pitchFamily="18" charset="0"/>
                      </a:rPr>
                      <m:t>.000074</m:t>
                    </m:r>
                    <m:r>
                      <a:rPr lang="en-US" sz="1800" b="0" i="1" dirty="0" smtClean="0">
                        <a:latin typeface="Cambria Math" panose="02040503050406030204" pitchFamily="18" charset="0"/>
                      </a:rPr>
                      <m:t>,.</m:t>
                    </m:r>
                    <m:r>
                      <a:rPr lang="en-US" sz="1800" i="1" dirty="0" smtClean="0">
                        <a:latin typeface="Cambria Math" panose="02040503050406030204" pitchFamily="18" charset="0"/>
                      </a:rPr>
                      <m:t>00053)</m:t>
                    </m:r>
                  </m:oMath>
                </a14:m>
                <a:endParaRPr lang="en-US" sz="1800" dirty="0"/>
              </a:p>
              <a:p>
                <a:pPr lvl="1"/>
                <a:endParaRPr lang="en-US" sz="1800" dirty="0"/>
              </a:p>
            </p:txBody>
          </p:sp>
        </mc:Choice>
        <mc:Fallback xmlns="">
          <p:sp>
            <p:nvSpPr>
              <p:cNvPr id="3" name="Content Placeholder 2">
                <a:extLst>
                  <a:ext uri="{FF2B5EF4-FFF2-40B4-BE49-F238E27FC236}">
                    <a16:creationId xmlns:a16="http://schemas.microsoft.com/office/drawing/2014/main" id="{1174BE22-754F-A8F0-B53F-2E8978EC3418}"/>
                  </a:ext>
                </a:extLst>
              </p:cNvPr>
              <p:cNvSpPr>
                <a:spLocks noGrp="1" noRot="1" noChangeAspect="1" noMove="1" noResize="1" noEditPoints="1" noAdjustHandles="1" noChangeArrowheads="1" noChangeShapeType="1" noTextEdit="1"/>
              </p:cNvSpPr>
              <p:nvPr>
                <p:ph idx="1"/>
              </p:nvPr>
            </p:nvSpPr>
            <p:spPr>
              <a:xfrm>
                <a:off x="354013" y="1089026"/>
                <a:ext cx="8437562" cy="1528752"/>
              </a:xfrm>
              <a:blipFill>
                <a:blip r:embed="rId3"/>
                <a:stretch>
                  <a:fillRect l="-434" b="-2548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F861CC4-8D6A-4C93-EB92-A4EC0B909A79}"/>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105</a:t>
            </a:fld>
            <a:endParaRPr lang="en-GB" dirty="0"/>
          </a:p>
        </p:txBody>
      </p:sp>
      <p:pic>
        <p:nvPicPr>
          <p:cNvPr id="6" name="Picture 5">
            <a:extLst>
              <a:ext uri="{FF2B5EF4-FFF2-40B4-BE49-F238E27FC236}">
                <a16:creationId xmlns:a16="http://schemas.microsoft.com/office/drawing/2014/main" id="{3B177570-E80E-9D5E-9017-AD19D5358070}"/>
              </a:ext>
            </a:extLst>
          </p:cNvPr>
          <p:cNvPicPr>
            <a:picLocks noChangeAspect="1"/>
          </p:cNvPicPr>
          <p:nvPr/>
        </p:nvPicPr>
        <p:blipFill rotWithShape="1">
          <a:blip r:embed="rId4"/>
          <a:srcRect l="9834" t="55579" r="12601" b="31369"/>
          <a:stretch/>
        </p:blipFill>
        <p:spPr>
          <a:xfrm>
            <a:off x="1122456" y="1887900"/>
            <a:ext cx="6899087" cy="1116824"/>
          </a:xfrm>
          <a:prstGeom prst="rect">
            <a:avLst/>
          </a:prstGeom>
        </p:spPr>
      </p:pic>
      <p:sp>
        <p:nvSpPr>
          <p:cNvPr id="5" name="TextBox 4">
            <a:extLst>
              <a:ext uri="{FF2B5EF4-FFF2-40B4-BE49-F238E27FC236}">
                <a16:creationId xmlns:a16="http://schemas.microsoft.com/office/drawing/2014/main" id="{5646CC94-A15C-639C-0C83-36914EB4FF26}"/>
              </a:ext>
            </a:extLst>
          </p:cNvPr>
          <p:cNvSpPr txBox="1"/>
          <p:nvPr/>
        </p:nvSpPr>
        <p:spPr>
          <a:xfrm>
            <a:off x="6983260" y="4419396"/>
            <a:ext cx="2102003" cy="738664"/>
          </a:xfrm>
          <a:prstGeom prst="rect">
            <a:avLst/>
          </a:prstGeom>
          <a:solidFill>
            <a:schemeClr val="accent3">
              <a:lumMod val="95000"/>
            </a:schemeClr>
          </a:solidFill>
        </p:spPr>
        <p:txBody>
          <a:bodyPr wrap="square" rtlCol="0">
            <a:spAutoFit/>
          </a:bodyPr>
          <a:lstStyle/>
          <a:p>
            <a:r>
              <a:rPr lang="en-US" sz="1400" b="0" u="none" dirty="0">
                <a:solidFill>
                  <a:srgbClr val="FF0000"/>
                </a:solidFill>
              </a:rPr>
              <a:t>Does this result make sense? Let’s go back and look at the data</a:t>
            </a:r>
          </a:p>
        </p:txBody>
      </p:sp>
    </p:spTree>
    <p:extLst>
      <p:ext uri="{BB962C8B-B14F-4D97-AF65-F5344CB8AC3E}">
        <p14:creationId xmlns:p14="http://schemas.microsoft.com/office/powerpoint/2010/main" val="294988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F2760-711E-AFF5-4BCB-AF2964888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42C46-D222-2319-666B-56B8E35858B2}"/>
              </a:ext>
            </a:extLst>
          </p:cNvPr>
          <p:cNvSpPr>
            <a:spLocks noGrp="1"/>
          </p:cNvSpPr>
          <p:nvPr>
            <p:ph type="title"/>
          </p:nvPr>
        </p:nvSpPr>
        <p:spPr/>
        <p:txBody>
          <a:bodyPr/>
          <a:lstStyle/>
          <a:p>
            <a:r>
              <a:rPr lang="en-US" dirty="0"/>
              <a:t>BRK-A vs SP500</a:t>
            </a:r>
            <a:br>
              <a:rPr lang="en-US" dirty="0"/>
            </a:br>
            <a:r>
              <a:rPr lang="en-US" sz="1400" dirty="0">
                <a:latin typeface="Courier New" panose="02070309020205020404" pitchFamily="49" charset="0"/>
                <a:cs typeface="Courier New" panose="02070309020205020404" pitchFamily="49" charset="0"/>
              </a:rPr>
              <a:t>data_Berkshire_raw.csv</a:t>
            </a:r>
            <a:br>
              <a:rPr lang="en-US" sz="1400" dirty="0"/>
            </a:br>
            <a:endParaRPr lang="en-US" sz="1400" dirty="0"/>
          </a:p>
        </p:txBody>
      </p:sp>
      <p:sp>
        <p:nvSpPr>
          <p:cNvPr id="3" name="Slide Number Placeholder 2">
            <a:extLst>
              <a:ext uri="{FF2B5EF4-FFF2-40B4-BE49-F238E27FC236}">
                <a16:creationId xmlns:a16="http://schemas.microsoft.com/office/drawing/2014/main" id="{625FC7B4-90B5-DBC3-5CA9-7C9FECE59A43}"/>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106</a:t>
            </a:fld>
            <a:endParaRPr lang="en-GB" dirty="0"/>
          </a:p>
        </p:txBody>
      </p:sp>
      <p:sp>
        <p:nvSpPr>
          <p:cNvPr id="6" name="TextBox 5">
            <a:extLst>
              <a:ext uri="{FF2B5EF4-FFF2-40B4-BE49-F238E27FC236}">
                <a16:creationId xmlns:a16="http://schemas.microsoft.com/office/drawing/2014/main" id="{B0D673DC-DB36-7B31-BCA7-A28344D410B6}"/>
              </a:ext>
            </a:extLst>
          </p:cNvPr>
          <p:cNvSpPr txBox="1"/>
          <p:nvPr/>
        </p:nvSpPr>
        <p:spPr>
          <a:xfrm>
            <a:off x="1589750" y="5995214"/>
            <a:ext cx="1773498" cy="276999"/>
          </a:xfrm>
          <a:prstGeom prst="rect">
            <a:avLst/>
          </a:prstGeom>
          <a:noFill/>
        </p:spPr>
        <p:txBody>
          <a:bodyPr wrap="none" rtlCol="0">
            <a:spAutoFit/>
          </a:bodyPr>
          <a:lstStyle/>
          <a:p>
            <a:pPr algn="ctr"/>
            <a:r>
              <a:rPr lang="en-US" sz="1200" b="0" u="none" dirty="0">
                <a:latin typeface="Arial" pitchFamily="34" charset="0"/>
                <a:cs typeface="Arial" pitchFamily="34" charset="0"/>
              </a:rPr>
              <a:t>Source: Yahoo Finance</a:t>
            </a:r>
          </a:p>
        </p:txBody>
      </p:sp>
      <p:pic>
        <p:nvPicPr>
          <p:cNvPr id="7" name="Picture 6">
            <a:extLst>
              <a:ext uri="{FF2B5EF4-FFF2-40B4-BE49-F238E27FC236}">
                <a16:creationId xmlns:a16="http://schemas.microsoft.com/office/drawing/2014/main" id="{77EE0A58-72AB-4888-AC71-B136E07EBD75}"/>
              </a:ext>
            </a:extLst>
          </p:cNvPr>
          <p:cNvPicPr>
            <a:picLocks noChangeAspect="1"/>
          </p:cNvPicPr>
          <p:nvPr/>
        </p:nvPicPr>
        <p:blipFill>
          <a:blip r:embed="rId2"/>
          <a:stretch>
            <a:fillRect/>
          </a:stretch>
        </p:blipFill>
        <p:spPr>
          <a:xfrm>
            <a:off x="1364742" y="1469016"/>
            <a:ext cx="6397752" cy="4578858"/>
          </a:xfrm>
          <a:prstGeom prst="rect">
            <a:avLst/>
          </a:prstGeom>
        </p:spPr>
      </p:pic>
      <p:sp>
        <p:nvSpPr>
          <p:cNvPr id="4" name="Oval 3">
            <a:extLst>
              <a:ext uri="{FF2B5EF4-FFF2-40B4-BE49-F238E27FC236}">
                <a16:creationId xmlns:a16="http://schemas.microsoft.com/office/drawing/2014/main" id="{94EDEA08-48FB-A59F-9E9B-6D84A947B7AE}"/>
              </a:ext>
            </a:extLst>
          </p:cNvPr>
          <p:cNvSpPr/>
          <p:nvPr/>
        </p:nvSpPr>
        <p:spPr bwMode="auto">
          <a:xfrm>
            <a:off x="3429000" y="4629150"/>
            <a:ext cx="882650" cy="1054100"/>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
        <p:nvSpPr>
          <p:cNvPr id="5" name="Oval 4">
            <a:extLst>
              <a:ext uri="{FF2B5EF4-FFF2-40B4-BE49-F238E27FC236}">
                <a16:creationId xmlns:a16="http://schemas.microsoft.com/office/drawing/2014/main" id="{39F334E2-5A9D-8659-570E-6C66B922639A}"/>
              </a:ext>
            </a:extLst>
          </p:cNvPr>
          <p:cNvSpPr/>
          <p:nvPr/>
        </p:nvSpPr>
        <p:spPr bwMode="auto">
          <a:xfrm>
            <a:off x="1980946" y="4629150"/>
            <a:ext cx="882650" cy="1054100"/>
          </a:xfrm>
          <a:prstGeom prst="ellipse">
            <a:avLst/>
          </a:prstGeom>
          <a:noFill/>
          <a:ln w="3175" cap="flat" cmpd="sng" algn="ctr">
            <a:solidFill>
              <a:srgbClr val="FF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42267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2EC-2F21-4AE6-A692-18295772A6BC}"/>
              </a:ext>
            </a:extLst>
          </p:cNvPr>
          <p:cNvSpPr>
            <a:spLocks noGrp="1"/>
          </p:cNvSpPr>
          <p:nvPr>
            <p:ph type="title"/>
          </p:nvPr>
        </p:nvSpPr>
        <p:spPr/>
        <p:txBody>
          <a:bodyPr/>
          <a:lstStyle/>
          <a:p>
            <a:r>
              <a:rPr lang="en-US" dirty="0"/>
              <a:t>Practice Exercise</a:t>
            </a:r>
          </a:p>
        </p:txBody>
      </p:sp>
      <p:sp>
        <p:nvSpPr>
          <p:cNvPr id="3" name="Slide Number Placeholder 2">
            <a:extLst>
              <a:ext uri="{FF2B5EF4-FFF2-40B4-BE49-F238E27FC236}">
                <a16:creationId xmlns:a16="http://schemas.microsoft.com/office/drawing/2014/main" id="{1B8625B4-BAD5-4D61-B1E4-23BB71E0EFC2}"/>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107</a:t>
            </a:fld>
            <a:endParaRPr lang="en-GB" dirty="0"/>
          </a:p>
        </p:txBody>
      </p:sp>
    </p:spTree>
    <p:extLst>
      <p:ext uri="{BB962C8B-B14F-4D97-AF65-F5344CB8AC3E}">
        <p14:creationId xmlns:p14="http://schemas.microsoft.com/office/powerpoint/2010/main" val="428179792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2F1C-EC49-4737-B1D3-97C620DD0B6A}"/>
              </a:ext>
            </a:extLst>
          </p:cNvPr>
          <p:cNvSpPr>
            <a:spLocks noGrp="1"/>
          </p:cNvSpPr>
          <p:nvPr>
            <p:ph type="title"/>
          </p:nvPr>
        </p:nvSpPr>
        <p:spPr>
          <a:solidFill>
            <a:srgbClr val="FFFF99"/>
          </a:solidFill>
        </p:spPr>
        <p:txBody>
          <a:bodyPr/>
          <a:lstStyle/>
          <a:p>
            <a:r>
              <a:rPr lang="en-US" dirty="0"/>
              <a:t>Practice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1A0258-8A44-4FE1-8C5A-BEDE99018ACE}"/>
                  </a:ext>
                </a:extLst>
              </p:cNvPr>
              <p:cNvSpPr>
                <a:spLocks noGrp="1"/>
              </p:cNvSpPr>
              <p:nvPr>
                <p:ph idx="1"/>
              </p:nvPr>
            </p:nvSpPr>
            <p:spPr>
              <a:solidFill>
                <a:srgbClr val="FFFF99"/>
              </a:solidFill>
            </p:spPr>
            <p:txBody>
              <a:bodyPr/>
              <a:lstStyle/>
              <a:p>
                <a:r>
                  <a:rPr lang="en-US" dirty="0"/>
                  <a:t>Suppose a poll finds that candidate X will receive </a:t>
                </a:r>
                <a14:m>
                  <m:oMath xmlns:m="http://schemas.openxmlformats.org/officeDocument/2006/math">
                    <m:r>
                      <a:rPr lang="en-US" b="0" i="1" dirty="0" smtClean="0">
                        <a:latin typeface="Cambria Math" panose="02040503050406030204" pitchFamily="18" charset="0"/>
                      </a:rPr>
                      <m:t>𝑦</m:t>
                    </m:r>
                  </m:oMath>
                </a14:m>
                <a:r>
                  <a:rPr lang="en-US" dirty="0"/>
                  <a:t> percent of the vote. What are the 95 percent confidence intervals for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=.45</m:t>
                    </m:r>
                  </m:oMath>
                </a14:m>
                <a:r>
                  <a:rPr lang="en-US" dirty="0"/>
                  <a:t> for samples sizes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=100</m:t>
                    </m:r>
                  </m:oMath>
                </a14:m>
                <a:r>
                  <a:rPr lang="en-US" dirty="0"/>
                  <a:t> and </a:t>
                </a:r>
                <a14:m>
                  <m:oMath xmlns:m="http://schemas.openxmlformats.org/officeDocument/2006/math">
                    <m:r>
                      <a:rPr lang="en-US" i="1" dirty="0">
                        <a:latin typeface="Cambria Math" panose="02040503050406030204" pitchFamily="18" charset="0"/>
                      </a:rPr>
                      <m:t>𝑁</m:t>
                    </m:r>
                    <m:r>
                      <a:rPr lang="en-US" i="1" dirty="0">
                        <a:latin typeface="Cambria Math" panose="02040503050406030204" pitchFamily="18" charset="0"/>
                      </a:rPr>
                      <m:t>=1000?</m:t>
                    </m:r>
                  </m:oMath>
                </a14:m>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741A0258-8A44-4FE1-8C5A-BEDE99018ACE}"/>
                  </a:ext>
                </a:extLst>
              </p:cNvPr>
              <p:cNvSpPr>
                <a:spLocks noGrp="1" noRot="1" noChangeAspect="1" noMove="1" noResize="1" noEditPoints="1" noAdjustHandles="1" noChangeArrowheads="1" noChangeShapeType="1" noTextEdit="1"/>
              </p:cNvSpPr>
              <p:nvPr>
                <p:ph idx="1"/>
              </p:nvPr>
            </p:nvSpPr>
            <p:spPr>
              <a:blipFill>
                <a:blip r:embed="rId2"/>
                <a:stretch>
                  <a:fillRect l="-650"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0E460BE-33D0-4B3A-845F-0958667D3207}"/>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108</a:t>
            </a:fld>
            <a:endParaRPr lang="en-GB" dirty="0"/>
          </a:p>
        </p:txBody>
      </p:sp>
    </p:spTree>
    <p:extLst>
      <p:ext uri="{BB962C8B-B14F-4D97-AF65-F5344CB8AC3E}">
        <p14:creationId xmlns:p14="http://schemas.microsoft.com/office/powerpoint/2010/main" val="514967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2F1C-EC49-4737-B1D3-97C620DD0B6A}"/>
              </a:ext>
            </a:extLst>
          </p:cNvPr>
          <p:cNvSpPr>
            <a:spLocks noGrp="1"/>
          </p:cNvSpPr>
          <p:nvPr>
            <p:ph type="title"/>
          </p:nvPr>
        </p:nvSpPr>
        <p:spPr>
          <a:solidFill>
            <a:srgbClr val="FFFF99"/>
          </a:solidFill>
        </p:spPr>
        <p:txBody>
          <a:bodyPr/>
          <a:lstStyle/>
          <a:p>
            <a:r>
              <a:rPr lang="en-US" dirty="0"/>
              <a:t>Practice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1A0258-8A44-4FE1-8C5A-BEDE99018ACE}"/>
                  </a:ext>
                </a:extLst>
              </p:cNvPr>
              <p:cNvSpPr>
                <a:spLocks noGrp="1"/>
              </p:cNvSpPr>
              <p:nvPr>
                <p:ph idx="1"/>
              </p:nvPr>
            </p:nvSpPr>
            <p:spPr>
              <a:solidFill>
                <a:srgbClr val="FFFF99"/>
              </a:solidFill>
            </p:spPr>
            <p:txBody>
              <a:bodyPr/>
              <a:lstStyle/>
              <a:p>
                <a:r>
                  <a:rPr lang="en-US" dirty="0"/>
                  <a:t>Suppose a poll finds that candidate X will receive </a:t>
                </a:r>
                <a14:m>
                  <m:oMath xmlns:m="http://schemas.openxmlformats.org/officeDocument/2006/math">
                    <m:r>
                      <a:rPr lang="en-US" b="0" i="1" dirty="0" smtClean="0">
                        <a:latin typeface="Cambria Math" panose="02040503050406030204" pitchFamily="18" charset="0"/>
                      </a:rPr>
                      <m:t>𝑦</m:t>
                    </m:r>
                  </m:oMath>
                </a14:m>
                <a:r>
                  <a:rPr lang="en-US" dirty="0"/>
                  <a:t> percent of the vote. What are the 99 percent confidence intervals for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45</m:t>
                    </m:r>
                  </m:oMath>
                </a14:m>
                <a:r>
                  <a:rPr lang="en-US" dirty="0"/>
                  <a:t> for samples sizes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m:t>
                    </m:r>
                    <m:r>
                      <a:rPr lang="en-US" i="1" dirty="0" smtClean="0">
                        <a:latin typeface="Cambria Math" panose="02040503050406030204" pitchFamily="18" charset="0"/>
                      </a:rPr>
                      <m:t>100</m:t>
                    </m:r>
                  </m:oMath>
                </a14:m>
                <a:r>
                  <a:rPr lang="en-US" dirty="0"/>
                  <a:t> and </a:t>
                </a:r>
                <a14:m>
                  <m:oMath xmlns:m="http://schemas.openxmlformats.org/officeDocument/2006/math">
                    <m:r>
                      <a:rPr lang="en-US" i="1" dirty="0">
                        <a:latin typeface="Cambria Math" panose="02040503050406030204" pitchFamily="18" charset="0"/>
                      </a:rPr>
                      <m:t>𝑁</m:t>
                    </m:r>
                    <m:r>
                      <a:rPr lang="en-US" i="1" dirty="0">
                        <a:latin typeface="Cambria Math" panose="02040503050406030204" pitchFamily="18" charset="0"/>
                      </a:rPr>
                      <m:t>=</m:t>
                    </m:r>
                    <m:r>
                      <a:rPr lang="en-US" i="1" dirty="0">
                        <a:latin typeface="Cambria Math" panose="02040503050406030204" pitchFamily="18" charset="0"/>
                      </a:rPr>
                      <m:t>1000</m:t>
                    </m:r>
                    <m:r>
                      <a:rPr lang="en-US" i="1" dirty="0">
                        <a:latin typeface="Cambria Math" panose="02040503050406030204" pitchFamily="18" charset="0"/>
                      </a:rPr>
                      <m:t>?</m:t>
                    </m:r>
                  </m:oMath>
                </a14:m>
                <a:endParaRPr lang="en-US" dirty="0"/>
              </a:p>
              <a:p>
                <a:endParaRPr lang="en-US" dirty="0"/>
              </a:p>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100</m:t>
                    </m:r>
                  </m:oMath>
                </a14:m>
                <a:endParaRPr lang="en-US" b="0"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99</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58</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e>
                          </m:rad>
                          <m:r>
                            <a:rPr lang="en-US" b="0" i="1" smtClean="0">
                              <a:latin typeface="Cambria Math" panose="02040503050406030204" pitchFamily="18" charset="0"/>
                            </a:rPr>
                            <m:t> </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𝑁</m:t>
                              </m:r>
                            </m:e>
                          </m:rad>
                        </m:den>
                      </m:f>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99</m:t>
                          </m:r>
                        </m:sup>
                      </m:sSup>
                      <m:r>
                        <a:rPr lang="en-US" b="0" i="1" smtClean="0">
                          <a:latin typeface="Cambria Math" panose="02040503050406030204" pitchFamily="18" charset="0"/>
                        </a:rPr>
                        <m:t>=.</m:t>
                      </m:r>
                      <m:r>
                        <a:rPr lang="en-US" b="0" i="1" smtClean="0">
                          <a:latin typeface="Cambria Math" panose="02040503050406030204" pitchFamily="18" charset="0"/>
                        </a:rPr>
                        <m:t>45</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58</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5</m:t>
                          </m:r>
                        </m:num>
                        <m:den>
                          <m:rad>
                            <m:radPr>
                              <m:degHide m:val="on"/>
                              <m:ctrlPr>
                                <a:rPr lang="en-US" i="1">
                                  <a:latin typeface="Cambria Math" panose="02040503050406030204" pitchFamily="18" charset="0"/>
                                </a:rPr>
                              </m:ctrlPr>
                            </m:radPr>
                            <m:deg/>
                            <m:e>
                              <m:r>
                                <a:rPr lang="en-US" b="0" i="1" smtClean="0">
                                  <a:latin typeface="Cambria Math" panose="02040503050406030204" pitchFamily="18" charset="0"/>
                                </a:rPr>
                                <m:t>100</m:t>
                              </m:r>
                            </m:e>
                          </m:rad>
                        </m:den>
                      </m:f>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99</m:t>
                          </m:r>
                        </m:sup>
                      </m:sSup>
                      <m:r>
                        <a:rPr lang="en-US" i="1">
                          <a:latin typeface="Cambria Math" panose="02040503050406030204" pitchFamily="18" charset="0"/>
                        </a:rPr>
                        <m:t>=.</m:t>
                      </m:r>
                      <m:r>
                        <a:rPr lang="en-US" i="1">
                          <a:latin typeface="Cambria Math" panose="02040503050406030204" pitchFamily="18" charset="0"/>
                        </a:rPr>
                        <m:t>45</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58</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5</m:t>
                          </m:r>
                        </m:num>
                        <m:den>
                          <m:r>
                            <a:rPr lang="en-US" i="1">
                              <a:latin typeface="Cambria Math" panose="02040503050406030204" pitchFamily="18" charset="0"/>
                            </a:rPr>
                            <m:t>10</m:t>
                          </m:r>
                        </m:den>
                      </m:f>
                    </m:oMath>
                  </m:oMathPara>
                </a14:m>
                <a:endParaRPr lang="en-US" dirty="0"/>
              </a:p>
              <a:p>
                <a:pPr marL="0" indent="0" algn="ctr">
                  <a:buNone/>
                </a:pPr>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99</m:t>
                          </m:r>
                        </m:sup>
                      </m:sSup>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321</m:t>
                      </m:r>
                      <m:r>
                        <a:rPr lang="en-US" b="0" i="1" smtClean="0">
                          <a:latin typeface="Cambria Math" panose="02040503050406030204" pitchFamily="18" charset="0"/>
                        </a:rPr>
                        <m:t>,.</m:t>
                      </m:r>
                      <m:r>
                        <a:rPr lang="en-US" b="0" i="1" smtClean="0">
                          <a:latin typeface="Cambria Math" panose="02040503050406030204" pitchFamily="18" charset="0"/>
                        </a:rPr>
                        <m:t>579</m:t>
                      </m: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741A0258-8A44-4FE1-8C5A-BEDE99018ACE}"/>
                  </a:ext>
                </a:extLst>
              </p:cNvPr>
              <p:cNvSpPr>
                <a:spLocks noGrp="1" noRot="1" noChangeAspect="1" noMove="1" noResize="1" noEditPoints="1" noAdjustHandles="1" noChangeArrowheads="1" noChangeShapeType="1" noTextEdit="1"/>
              </p:cNvSpPr>
              <p:nvPr>
                <p:ph idx="1"/>
              </p:nvPr>
            </p:nvSpPr>
            <p:spPr>
              <a:blipFill>
                <a:blip r:embed="rId2"/>
                <a:stretch>
                  <a:fillRect l="-723"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0E460BE-33D0-4B3A-845F-0958667D3207}"/>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109</a:t>
            </a:fld>
            <a:endParaRPr lang="en-GB" dirty="0"/>
          </a:p>
        </p:txBody>
      </p:sp>
    </p:spTree>
    <p:extLst>
      <p:ext uri="{BB962C8B-B14F-4D97-AF65-F5344CB8AC3E}">
        <p14:creationId xmlns:p14="http://schemas.microsoft.com/office/powerpoint/2010/main" val="38250301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2F1C-EC49-4737-B1D3-97C620DD0B6A}"/>
              </a:ext>
            </a:extLst>
          </p:cNvPr>
          <p:cNvSpPr>
            <a:spLocks noGrp="1"/>
          </p:cNvSpPr>
          <p:nvPr>
            <p:ph type="title"/>
          </p:nvPr>
        </p:nvSpPr>
        <p:spPr>
          <a:solidFill>
            <a:srgbClr val="FFFF99"/>
          </a:solidFill>
        </p:spPr>
        <p:txBody>
          <a:bodyPr/>
          <a:lstStyle/>
          <a:p>
            <a:r>
              <a:rPr lang="en-US" dirty="0"/>
              <a:t>Practice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1A0258-8A44-4FE1-8C5A-BEDE99018ACE}"/>
                  </a:ext>
                </a:extLst>
              </p:cNvPr>
              <p:cNvSpPr>
                <a:spLocks noGrp="1"/>
              </p:cNvSpPr>
              <p:nvPr>
                <p:ph idx="1"/>
              </p:nvPr>
            </p:nvSpPr>
            <p:spPr>
              <a:solidFill>
                <a:srgbClr val="FFFF99"/>
              </a:solidFill>
            </p:spPr>
            <p:txBody>
              <a:bodyPr/>
              <a:lstStyle/>
              <a:p>
                <a:r>
                  <a:rPr lang="en-US" dirty="0"/>
                  <a:t>Suppose a poll finds that candidate X will receive </a:t>
                </a:r>
                <a14:m>
                  <m:oMath xmlns:m="http://schemas.openxmlformats.org/officeDocument/2006/math">
                    <m:r>
                      <a:rPr lang="en-US" b="0" i="1" dirty="0" smtClean="0">
                        <a:latin typeface="Cambria Math" panose="02040503050406030204" pitchFamily="18" charset="0"/>
                      </a:rPr>
                      <m:t>𝑦</m:t>
                    </m:r>
                  </m:oMath>
                </a14:m>
                <a:r>
                  <a:rPr lang="en-US" dirty="0"/>
                  <a:t> percent of the vote. What are the 99 percent confidence intervals for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45</m:t>
                    </m:r>
                  </m:oMath>
                </a14:m>
                <a:r>
                  <a:rPr lang="en-US" dirty="0"/>
                  <a:t> for samples sizes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m:t>
                    </m:r>
                    <m:r>
                      <a:rPr lang="en-US" i="1" dirty="0" smtClean="0">
                        <a:latin typeface="Cambria Math" panose="02040503050406030204" pitchFamily="18" charset="0"/>
                      </a:rPr>
                      <m:t>100</m:t>
                    </m:r>
                  </m:oMath>
                </a14:m>
                <a:r>
                  <a:rPr lang="en-US" dirty="0"/>
                  <a:t> and </a:t>
                </a:r>
                <a14:m>
                  <m:oMath xmlns:m="http://schemas.openxmlformats.org/officeDocument/2006/math">
                    <m:r>
                      <a:rPr lang="en-US" i="1" dirty="0">
                        <a:latin typeface="Cambria Math" panose="02040503050406030204" pitchFamily="18" charset="0"/>
                      </a:rPr>
                      <m:t>𝑁</m:t>
                    </m:r>
                    <m:r>
                      <a:rPr lang="en-US" i="1" dirty="0">
                        <a:latin typeface="Cambria Math" panose="02040503050406030204" pitchFamily="18" charset="0"/>
                      </a:rPr>
                      <m:t>=</m:t>
                    </m:r>
                    <m:r>
                      <a:rPr lang="en-US" i="1" dirty="0">
                        <a:latin typeface="Cambria Math" panose="02040503050406030204" pitchFamily="18" charset="0"/>
                      </a:rPr>
                      <m:t>1000</m:t>
                    </m:r>
                    <m:r>
                      <a:rPr lang="en-US" i="1" dirty="0">
                        <a:latin typeface="Cambria Math" panose="02040503050406030204" pitchFamily="18" charset="0"/>
                      </a:rPr>
                      <m:t>?</m:t>
                    </m:r>
                  </m:oMath>
                </a14:m>
                <a:endParaRPr lang="en-US" dirty="0"/>
              </a:p>
              <a:p>
                <a:endParaRPr lang="en-US" dirty="0"/>
              </a:p>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100</m:t>
                    </m:r>
                  </m:oMath>
                </a14:m>
                <a:endParaRPr lang="en-US" b="0"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99</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58</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e>
                          </m:rad>
                          <m:r>
                            <a:rPr lang="en-US" b="0" i="1" smtClean="0">
                              <a:latin typeface="Cambria Math" panose="02040503050406030204" pitchFamily="18" charset="0"/>
                            </a:rPr>
                            <m:t> </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𝑁</m:t>
                              </m:r>
                            </m:e>
                          </m:rad>
                        </m:den>
                      </m:f>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99</m:t>
                          </m:r>
                        </m:sup>
                      </m:sSup>
                      <m:r>
                        <a:rPr lang="en-US" b="0" i="1" smtClean="0">
                          <a:latin typeface="Cambria Math" panose="02040503050406030204" pitchFamily="18" charset="0"/>
                        </a:rPr>
                        <m:t>=.</m:t>
                      </m:r>
                      <m:r>
                        <a:rPr lang="en-US" b="0" i="1" smtClean="0">
                          <a:latin typeface="Cambria Math" panose="02040503050406030204" pitchFamily="18" charset="0"/>
                        </a:rPr>
                        <m:t>45</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58</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5</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1000</m:t>
                              </m:r>
                            </m:e>
                          </m:rad>
                        </m:den>
                      </m:f>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99</m:t>
                          </m:r>
                        </m:sup>
                      </m:sSup>
                      <m:r>
                        <a:rPr lang="en-US" i="1">
                          <a:latin typeface="Cambria Math" panose="02040503050406030204" pitchFamily="18" charset="0"/>
                        </a:rPr>
                        <m:t>=.</m:t>
                      </m:r>
                      <m:r>
                        <a:rPr lang="en-US" i="1">
                          <a:latin typeface="Cambria Math" panose="02040503050406030204" pitchFamily="18" charset="0"/>
                        </a:rPr>
                        <m:t>45</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58</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5</m:t>
                          </m:r>
                        </m:num>
                        <m:den>
                          <m:r>
                            <a:rPr lang="en-US" b="0" i="1" smtClean="0">
                              <a:latin typeface="Cambria Math" panose="02040503050406030204" pitchFamily="18" charset="0"/>
                            </a:rPr>
                            <m:t>31</m:t>
                          </m:r>
                          <m:r>
                            <a:rPr lang="en-US" b="0" i="1" smtClean="0">
                              <a:latin typeface="Cambria Math" panose="02040503050406030204" pitchFamily="18" charset="0"/>
                            </a:rPr>
                            <m:t>.</m:t>
                          </m:r>
                          <m:r>
                            <a:rPr lang="en-US" b="0" i="1" smtClean="0">
                              <a:latin typeface="Cambria Math" panose="02040503050406030204" pitchFamily="18" charset="0"/>
                            </a:rPr>
                            <m:t>62</m:t>
                          </m:r>
                        </m:den>
                      </m:f>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99</m:t>
                          </m:r>
                        </m:sup>
                      </m:sSup>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409</m:t>
                      </m:r>
                      <m:r>
                        <a:rPr lang="en-US" b="0" i="1" smtClean="0">
                          <a:latin typeface="Cambria Math" panose="02040503050406030204" pitchFamily="18" charset="0"/>
                        </a:rPr>
                        <m:t>,.</m:t>
                      </m:r>
                      <m:r>
                        <a:rPr lang="en-US" b="0" i="1" smtClean="0">
                          <a:latin typeface="Cambria Math" panose="02040503050406030204" pitchFamily="18" charset="0"/>
                        </a:rPr>
                        <m:t>491</m:t>
                      </m: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741A0258-8A44-4FE1-8C5A-BEDE99018ACE}"/>
                  </a:ext>
                </a:extLst>
              </p:cNvPr>
              <p:cNvSpPr>
                <a:spLocks noGrp="1" noRot="1" noChangeAspect="1" noMove="1" noResize="1" noEditPoints="1" noAdjustHandles="1" noChangeArrowheads="1" noChangeShapeType="1" noTextEdit="1"/>
              </p:cNvSpPr>
              <p:nvPr>
                <p:ph idx="1"/>
              </p:nvPr>
            </p:nvSpPr>
            <p:spPr>
              <a:blipFill>
                <a:blip r:embed="rId2"/>
                <a:stretch>
                  <a:fillRect l="-723" t="-5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0E460BE-33D0-4B3A-845F-0958667D3207}"/>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110</a:t>
            </a:fld>
            <a:endParaRPr lang="en-GB" dirty="0"/>
          </a:p>
        </p:txBody>
      </p:sp>
    </p:spTree>
    <p:extLst>
      <p:ext uri="{BB962C8B-B14F-4D97-AF65-F5344CB8AC3E}">
        <p14:creationId xmlns:p14="http://schemas.microsoft.com/office/powerpoint/2010/main" val="6577510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3BDA-9FFF-450C-A0BD-BB124358D134}"/>
              </a:ext>
            </a:extLst>
          </p:cNvPr>
          <p:cNvSpPr>
            <a:spLocks noGrp="1"/>
          </p:cNvSpPr>
          <p:nvPr>
            <p:ph type="title"/>
          </p:nvPr>
        </p:nvSpPr>
        <p:spPr/>
        <p:txBody>
          <a:bodyPr/>
          <a:lstStyle/>
          <a:p>
            <a:r>
              <a:rPr lang="en-US" dirty="0"/>
              <a:t>Additional Example</a:t>
            </a:r>
          </a:p>
        </p:txBody>
      </p:sp>
      <p:sp>
        <p:nvSpPr>
          <p:cNvPr id="3" name="Slide Number Placeholder 2">
            <a:extLst>
              <a:ext uri="{FF2B5EF4-FFF2-40B4-BE49-F238E27FC236}">
                <a16:creationId xmlns:a16="http://schemas.microsoft.com/office/drawing/2014/main" id="{95137934-7F0D-4FAF-B504-7EFD27892F1F}"/>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111</a:t>
            </a:fld>
            <a:endParaRPr lang="en-GB" dirty="0"/>
          </a:p>
        </p:txBody>
      </p:sp>
    </p:spTree>
    <p:extLst>
      <p:ext uri="{BB962C8B-B14F-4D97-AF65-F5344CB8AC3E}">
        <p14:creationId xmlns:p14="http://schemas.microsoft.com/office/powerpoint/2010/main" val="121786206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C7EE-8207-4E78-AC87-CEA73A17D9E9}"/>
              </a:ext>
            </a:extLst>
          </p:cNvPr>
          <p:cNvSpPr>
            <a:spLocks noGrp="1"/>
          </p:cNvSpPr>
          <p:nvPr>
            <p:ph type="title"/>
          </p:nvPr>
        </p:nvSpPr>
        <p:spPr/>
        <p:txBody>
          <a:bodyPr/>
          <a:lstStyle/>
          <a:p>
            <a:r>
              <a:rPr lang="en-US" dirty="0"/>
              <a:t>Example 4: Campaign Contributions </a:t>
            </a:r>
            <a:endParaRPr lang="en-US" dirty="0">
              <a:solidFill>
                <a:schemeClr val="bg1">
                  <a:lumMod val="50000"/>
                </a:schemeClr>
              </a:solidFill>
            </a:endParaRPr>
          </a:p>
        </p:txBody>
      </p:sp>
      <p:sp>
        <p:nvSpPr>
          <p:cNvPr id="3" name="Slide Number Placeholder 2">
            <a:extLst>
              <a:ext uri="{FF2B5EF4-FFF2-40B4-BE49-F238E27FC236}">
                <a16:creationId xmlns:a16="http://schemas.microsoft.com/office/drawing/2014/main" id="{2D4E6BB1-B92A-4AA3-B081-F131193ADD1A}"/>
              </a:ext>
            </a:extLst>
          </p:cNvPr>
          <p:cNvSpPr>
            <a:spLocks noGrp="1"/>
          </p:cNvSpPr>
          <p:nvPr>
            <p:ph type="sldNum" sz="quarter" idx="11"/>
          </p:nvPr>
        </p:nvSpPr>
        <p:spPr/>
        <p:txBody>
          <a:bodyPr/>
          <a:lstStyle/>
          <a:p>
            <a:pPr>
              <a:defRPr/>
            </a:pPr>
            <a:endParaRPr lang="en-GB"/>
          </a:p>
          <a:p>
            <a:pPr>
              <a:defRPr/>
            </a:pPr>
            <a:fld id="{B18DCB8B-D2FE-45D5-9D77-2EAE87C4CC26}" type="slidenum">
              <a:rPr lang="en-GB" smtClean="0"/>
              <a:pPr>
                <a:defRPr/>
              </a:pPr>
              <a:t>112</a:t>
            </a:fld>
            <a:endParaRPr lang="en-GB" dirty="0"/>
          </a:p>
        </p:txBody>
      </p:sp>
    </p:spTree>
    <p:extLst>
      <p:ext uri="{BB962C8B-B14F-4D97-AF65-F5344CB8AC3E}">
        <p14:creationId xmlns:p14="http://schemas.microsoft.com/office/powerpoint/2010/main" val="31931297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16B8A-73DA-43CB-B2D3-3BB800EC92C8}"/>
              </a:ext>
            </a:extLst>
          </p:cNvPr>
          <p:cNvSpPr>
            <a:spLocks noGrp="1"/>
          </p:cNvSpPr>
          <p:nvPr>
            <p:ph type="title"/>
          </p:nvPr>
        </p:nvSpPr>
        <p:spPr/>
        <p:txBody>
          <a:bodyPr/>
          <a:lstStyle/>
          <a:p>
            <a:r>
              <a:rPr lang="en-US" dirty="0"/>
              <a:t>Campaign Contributions in Connecticut</a:t>
            </a:r>
          </a:p>
        </p:txBody>
      </p:sp>
      <p:sp>
        <p:nvSpPr>
          <p:cNvPr id="3" name="Content Placeholder 2">
            <a:extLst>
              <a:ext uri="{FF2B5EF4-FFF2-40B4-BE49-F238E27FC236}">
                <a16:creationId xmlns:a16="http://schemas.microsoft.com/office/drawing/2014/main" id="{E4384BCD-A331-4557-9F7C-207A73257410}"/>
              </a:ext>
            </a:extLst>
          </p:cNvPr>
          <p:cNvSpPr>
            <a:spLocks noGrp="1"/>
          </p:cNvSpPr>
          <p:nvPr>
            <p:ph idx="1"/>
          </p:nvPr>
        </p:nvSpPr>
        <p:spPr>
          <a:xfrm>
            <a:off x="354013" y="1089026"/>
            <a:ext cx="5115454" cy="3897842"/>
          </a:xfrm>
        </p:spPr>
        <p:txBody>
          <a:bodyPr/>
          <a:lstStyle/>
          <a:p>
            <a:endParaRPr lang="en-US" dirty="0"/>
          </a:p>
          <a:p>
            <a:r>
              <a:rPr lang="en-US" dirty="0"/>
              <a:t>Question: how do CT residents’ presidential campaign contributions compare across candidates?</a:t>
            </a:r>
          </a:p>
          <a:p>
            <a:endParaRPr lang="en-US" dirty="0"/>
          </a:p>
          <a:p>
            <a:r>
              <a:rPr lang="en-US" dirty="0"/>
              <a:t>Data: Random sample of 5,449  individual campaign contribution records for election year 2020. Note that these records exist only for “large” donors who contribute ≥ $200 over an election cycle, so heavily skewed</a:t>
            </a:r>
          </a:p>
        </p:txBody>
      </p:sp>
      <p:sp>
        <p:nvSpPr>
          <p:cNvPr id="4" name="Slide Number Placeholder 3">
            <a:extLst>
              <a:ext uri="{FF2B5EF4-FFF2-40B4-BE49-F238E27FC236}">
                <a16:creationId xmlns:a16="http://schemas.microsoft.com/office/drawing/2014/main" id="{3745CD48-3F00-493B-8B7E-A1D0485EF022}"/>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113</a:t>
            </a:fld>
            <a:endParaRPr lang="en-GB" dirty="0"/>
          </a:p>
        </p:txBody>
      </p:sp>
      <p:grpSp>
        <p:nvGrpSpPr>
          <p:cNvPr id="5" name="Group 4">
            <a:extLst>
              <a:ext uri="{FF2B5EF4-FFF2-40B4-BE49-F238E27FC236}">
                <a16:creationId xmlns:a16="http://schemas.microsoft.com/office/drawing/2014/main" id="{46EE04DB-56C9-40BB-9147-9BB125D5B555}"/>
              </a:ext>
            </a:extLst>
          </p:cNvPr>
          <p:cNvGrpSpPr/>
          <p:nvPr/>
        </p:nvGrpSpPr>
        <p:grpSpPr>
          <a:xfrm>
            <a:off x="5247055" y="1253066"/>
            <a:ext cx="3342908" cy="2993279"/>
            <a:chOff x="322343" y="768525"/>
            <a:chExt cx="4980027" cy="4527963"/>
          </a:xfrm>
        </p:grpSpPr>
        <p:pic>
          <p:nvPicPr>
            <p:cNvPr id="6" name="Picture 5">
              <a:extLst>
                <a:ext uri="{FF2B5EF4-FFF2-40B4-BE49-F238E27FC236}">
                  <a16:creationId xmlns:a16="http://schemas.microsoft.com/office/drawing/2014/main" id="{5D3C464A-4951-4D67-AF3E-A9DCC1331876}"/>
                </a:ext>
              </a:extLst>
            </p:cNvPr>
            <p:cNvPicPr>
              <a:picLocks noChangeAspect="1"/>
            </p:cNvPicPr>
            <p:nvPr/>
          </p:nvPicPr>
          <p:blipFill>
            <a:blip r:embed="rId2"/>
            <a:stretch>
              <a:fillRect/>
            </a:stretch>
          </p:blipFill>
          <p:spPr>
            <a:xfrm>
              <a:off x="761367" y="1561515"/>
              <a:ext cx="4541003" cy="3734973"/>
            </a:xfrm>
            <a:prstGeom prst="rect">
              <a:avLst/>
            </a:prstGeom>
          </p:spPr>
        </p:pic>
        <p:pic>
          <p:nvPicPr>
            <p:cNvPr id="7" name="Picture 2" descr="Federal Election Commission - Wikipedia">
              <a:extLst>
                <a:ext uri="{FF2B5EF4-FFF2-40B4-BE49-F238E27FC236}">
                  <a16:creationId xmlns:a16="http://schemas.microsoft.com/office/drawing/2014/main" id="{8F9DA0BA-A5C0-495E-81D1-F2246926D4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343" y="768525"/>
              <a:ext cx="2255604" cy="226662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034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91D4-8B80-4523-B1DA-521674D87C9A}"/>
              </a:ext>
            </a:extLst>
          </p:cNvPr>
          <p:cNvSpPr>
            <a:spLocks noGrp="1"/>
          </p:cNvSpPr>
          <p:nvPr>
            <p:ph type="title"/>
          </p:nvPr>
        </p:nvSpPr>
        <p:spPr/>
        <p:txBody>
          <a:bodyPr/>
          <a:lstStyle/>
          <a:p>
            <a:r>
              <a:rPr lang="en-US" dirty="0"/>
              <a:t>Summary of Campaign Contribution Sample</a:t>
            </a:r>
          </a:p>
        </p:txBody>
      </p:sp>
      <p:sp>
        <p:nvSpPr>
          <p:cNvPr id="3" name="Content Placeholder 2">
            <a:extLst>
              <a:ext uri="{FF2B5EF4-FFF2-40B4-BE49-F238E27FC236}">
                <a16:creationId xmlns:a16="http://schemas.microsoft.com/office/drawing/2014/main" id="{D0CD8862-A479-45DA-A8F6-DB2792B1C3A4}"/>
              </a:ext>
            </a:extLst>
          </p:cNvPr>
          <p:cNvSpPr>
            <a:spLocks noGrp="1"/>
          </p:cNvSpPr>
          <p:nvPr>
            <p:ph idx="1"/>
          </p:nvPr>
        </p:nvSpPr>
        <p:spPr>
          <a:xfrm>
            <a:off x="354013" y="1089025"/>
            <a:ext cx="3005875" cy="5768975"/>
          </a:xfrm>
        </p:spPr>
        <p:txBody>
          <a:bodyPr/>
          <a:lstStyle/>
          <a:p>
            <a:endParaRPr lang="en-US" dirty="0"/>
          </a:p>
          <a:p>
            <a:r>
              <a:rPr lang="en-US" dirty="0"/>
              <a:t>Random Variable</a:t>
            </a:r>
          </a:p>
          <a:p>
            <a:pPr marL="0" indent="0">
              <a:buNone/>
              <a:tabLst>
                <a:tab pos="287338" algn="l"/>
              </a:tabLst>
            </a:pPr>
            <a:r>
              <a:rPr lang="en-US" dirty="0"/>
              <a:t>	</a:t>
            </a:r>
            <a:endParaRPr lang="en-US" dirty="0">
              <a:solidFill>
                <a:schemeClr val="bg1">
                  <a:lumMod val="50000"/>
                </a:schemeClr>
              </a:solidFill>
            </a:endParaRPr>
          </a:p>
          <a:p>
            <a:pPr>
              <a:tabLst>
                <a:tab pos="287338" algn="l"/>
              </a:tabLst>
            </a:pPr>
            <a:r>
              <a:rPr lang="en-US" dirty="0">
                <a:solidFill>
                  <a:schemeClr val="accent6"/>
                </a:solidFill>
              </a:rPr>
              <a:t>Distribution</a:t>
            </a:r>
          </a:p>
          <a:p>
            <a:pPr>
              <a:tabLst>
                <a:tab pos="287338" algn="l"/>
              </a:tabLst>
            </a:pPr>
            <a:endParaRPr lang="en-US" dirty="0">
              <a:solidFill>
                <a:schemeClr val="accent6"/>
              </a:solidFill>
            </a:endParaRPr>
          </a:p>
          <a:p>
            <a:pPr>
              <a:tabLst>
                <a:tab pos="287338" algn="l"/>
              </a:tabLst>
            </a:pPr>
            <a:r>
              <a:rPr lang="en-US" dirty="0">
                <a:solidFill>
                  <a:schemeClr val="accent6"/>
                </a:solidFill>
              </a:rPr>
              <a:t>Population</a:t>
            </a:r>
          </a:p>
          <a:p>
            <a:pPr>
              <a:tabLst>
                <a:tab pos="287338" algn="l"/>
              </a:tabLst>
            </a:pPr>
            <a:endParaRPr lang="en-US" dirty="0">
              <a:solidFill>
                <a:schemeClr val="accent6"/>
              </a:solidFill>
            </a:endParaRPr>
          </a:p>
          <a:p>
            <a:pPr>
              <a:spcAft>
                <a:spcPts val="1000"/>
              </a:spcAft>
              <a:tabLst>
                <a:tab pos="287338" algn="l"/>
              </a:tabLst>
            </a:pPr>
            <a:r>
              <a:rPr lang="en-US" dirty="0">
                <a:solidFill>
                  <a:schemeClr val="accent6"/>
                </a:solidFill>
              </a:rPr>
              <a:t>Sample</a:t>
            </a:r>
          </a:p>
          <a:p>
            <a:pPr>
              <a:tabLst>
                <a:tab pos="287338" algn="l"/>
              </a:tabLst>
            </a:pPr>
            <a:r>
              <a:rPr lang="en-US" dirty="0" err="1">
                <a:solidFill>
                  <a:schemeClr val="bg1"/>
                </a:solidFill>
              </a:rPr>
              <a:t>xxxxxxxx</a:t>
            </a:r>
            <a:endParaRPr lang="en-US" dirty="0">
              <a:solidFill>
                <a:schemeClr val="accent6"/>
              </a:solidFill>
            </a:endParaRPr>
          </a:p>
          <a:p>
            <a:pPr>
              <a:tabLst>
                <a:tab pos="287338" algn="l"/>
              </a:tabLst>
            </a:pPr>
            <a:r>
              <a:rPr lang="en-US" dirty="0">
                <a:solidFill>
                  <a:schemeClr val="accent6"/>
                </a:solidFill>
              </a:rPr>
              <a:t>Sample estimates </a:t>
            </a:r>
          </a:p>
        </p:txBody>
      </p:sp>
      <p:sp>
        <p:nvSpPr>
          <p:cNvPr id="4" name="Slide Number Placeholder 3">
            <a:extLst>
              <a:ext uri="{FF2B5EF4-FFF2-40B4-BE49-F238E27FC236}">
                <a16:creationId xmlns:a16="http://schemas.microsoft.com/office/drawing/2014/main" id="{0D66C76D-3002-40FC-A6C0-21B8EF5BFCA1}"/>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114</a:t>
            </a:fld>
            <a:endParaRPr lang="en-GB" dirty="0"/>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D3CA7D2-1776-4F35-9E1D-4BE96EA6737A}"/>
                  </a:ext>
                </a:extLst>
              </p:cNvPr>
              <p:cNvSpPr txBox="1">
                <a:spLocks/>
              </p:cNvSpPr>
              <p:nvPr/>
            </p:nvSpPr>
            <p:spPr bwMode="auto">
              <a:xfrm>
                <a:off x="3556591" y="1089025"/>
                <a:ext cx="5587409" cy="5678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000">
                    <a:solidFill>
                      <a:schemeClr val="accent2"/>
                    </a:solidFill>
                    <a:latin typeface="Arial" pitchFamily="34" charset="0"/>
                    <a:ea typeface="+mn-ea"/>
                    <a:cs typeface="Arial" pitchFamily="34" charset="0"/>
                  </a:defRPr>
                </a:lvl1pPr>
                <a:lvl2pPr marL="742950" indent="-28575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2pPr>
                <a:lvl3pPr marL="11430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3pPr>
                <a:lvl4pPr marL="16002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4pPr>
                <a:lvl5pPr marL="2057400" indent="-228600" algn="l" rtl="0" eaLnBrk="1" fontAlgn="base" hangingPunct="1">
                  <a:spcBef>
                    <a:spcPct val="20000"/>
                  </a:spcBef>
                  <a:spcAft>
                    <a:spcPct val="0"/>
                  </a:spcAft>
                  <a:buChar char="»"/>
                  <a:defRPr sz="2000">
                    <a:solidFill>
                      <a:schemeClr val="accent2"/>
                    </a:solidFill>
                    <a:latin typeface="Arial" pitchFamily="34" charset="0"/>
                    <a:cs typeface="Arial" pitchFamily="34" charset="0"/>
                  </a:defRPr>
                </a:lvl5pPr>
                <a:lvl6pPr marL="2514600" indent="-228600" algn="l" rtl="0" eaLnBrk="1" fontAlgn="base" hangingPunct="1">
                  <a:spcBef>
                    <a:spcPct val="20000"/>
                  </a:spcBef>
                  <a:spcAft>
                    <a:spcPct val="0"/>
                  </a:spcAft>
                  <a:buChar char="»"/>
                  <a:defRPr sz="2000">
                    <a:solidFill>
                      <a:schemeClr val="accent2"/>
                    </a:solidFill>
                    <a:latin typeface="+mn-lt"/>
                    <a:cs typeface="+mn-cs"/>
                  </a:defRPr>
                </a:lvl6pPr>
                <a:lvl7pPr marL="2971800" indent="-228600" algn="l" rtl="0" eaLnBrk="1" fontAlgn="base" hangingPunct="1">
                  <a:spcBef>
                    <a:spcPct val="20000"/>
                  </a:spcBef>
                  <a:spcAft>
                    <a:spcPct val="0"/>
                  </a:spcAft>
                  <a:buChar char="»"/>
                  <a:defRPr sz="2000">
                    <a:solidFill>
                      <a:schemeClr val="accent2"/>
                    </a:solidFill>
                    <a:latin typeface="+mn-lt"/>
                    <a:cs typeface="+mn-cs"/>
                  </a:defRPr>
                </a:lvl7pPr>
                <a:lvl8pPr marL="3429000" indent="-228600" algn="l" rtl="0" eaLnBrk="1" fontAlgn="base" hangingPunct="1">
                  <a:spcBef>
                    <a:spcPct val="20000"/>
                  </a:spcBef>
                  <a:spcAft>
                    <a:spcPct val="0"/>
                  </a:spcAft>
                  <a:buChar char="»"/>
                  <a:defRPr sz="2000">
                    <a:solidFill>
                      <a:schemeClr val="accent2"/>
                    </a:solidFill>
                    <a:latin typeface="+mn-lt"/>
                    <a:cs typeface="+mn-cs"/>
                  </a:defRPr>
                </a:lvl8pPr>
                <a:lvl9pPr marL="3886200" indent="-228600" algn="l" rtl="0" eaLnBrk="1" fontAlgn="base" hangingPunct="1">
                  <a:spcBef>
                    <a:spcPct val="20000"/>
                  </a:spcBef>
                  <a:spcAft>
                    <a:spcPct val="0"/>
                  </a:spcAft>
                  <a:buChar char="»"/>
                  <a:defRPr sz="2000">
                    <a:solidFill>
                      <a:schemeClr val="accent2"/>
                    </a:solidFill>
                    <a:latin typeface="+mn-lt"/>
                    <a:cs typeface="+mn-cs"/>
                  </a:defRPr>
                </a:lvl9pPr>
              </a:lstStyle>
              <a:p>
                <a:endParaRPr lang="en-US" b="0" u="none" kern="0" dirty="0">
                  <a:solidFill>
                    <a:schemeClr val="tx1"/>
                  </a:solidFill>
                </a:endParaRPr>
              </a:p>
              <a:p>
                <a:pPr marL="0" indent="0">
                  <a:buNone/>
                </a:pPr>
                <a14:m>
                  <m:oMath xmlns:m="http://schemas.openxmlformats.org/officeDocument/2006/math">
                    <m:sSub>
                      <m:sSubPr>
                        <m:ctrlPr>
                          <a:rPr lang="en-US" b="0" i="1" u="none" kern="0" dirty="0" smtClean="0">
                            <a:solidFill>
                              <a:srgbClr val="00B0F0"/>
                            </a:solidFill>
                            <a:latin typeface="Cambria Math" panose="02040503050406030204" pitchFamily="18" charset="0"/>
                          </a:rPr>
                        </m:ctrlPr>
                      </m:sSubPr>
                      <m:e>
                        <m:r>
                          <a:rPr lang="en-US" b="0" i="1" u="none" kern="0" dirty="0" smtClean="0">
                            <a:solidFill>
                              <a:srgbClr val="00B0F0"/>
                            </a:solidFill>
                            <a:latin typeface="Cambria Math" panose="02040503050406030204" pitchFamily="18" charset="0"/>
                          </a:rPr>
                          <m:t>𝑥</m:t>
                        </m:r>
                      </m:e>
                      <m:sub>
                        <m:r>
                          <a:rPr lang="en-US" b="0" i="1" u="none" kern="0" dirty="0" smtClean="0">
                            <a:solidFill>
                              <a:srgbClr val="00B0F0"/>
                            </a:solidFill>
                            <a:latin typeface="Cambria Math" panose="02040503050406030204" pitchFamily="18" charset="0"/>
                          </a:rPr>
                          <m:t>𝑖</m:t>
                        </m:r>
                      </m:sub>
                    </m:sSub>
                  </m:oMath>
                </a14:m>
                <a:r>
                  <a:rPr lang="en-US" b="0" u="none" kern="0" dirty="0">
                    <a:solidFill>
                      <a:schemeClr val="tx1"/>
                    </a:solidFill>
                  </a:rPr>
                  <a:t>, the contribution of individual </a:t>
                </a:r>
                <a:r>
                  <a:rPr lang="en-US" b="0" i="1" u="none" kern="0" dirty="0" err="1">
                    <a:solidFill>
                      <a:schemeClr val="tx1"/>
                    </a:solidFill>
                  </a:rPr>
                  <a:t>i</a:t>
                </a:r>
                <a:r>
                  <a:rPr lang="en-US" b="0" u="none" kern="0" dirty="0">
                    <a:solidFill>
                      <a:schemeClr val="tx1"/>
                    </a:solidFill>
                  </a:rPr>
                  <a:t> </a:t>
                </a:r>
              </a:p>
              <a:p>
                <a:pPr marL="0" indent="0">
                  <a:buNone/>
                </a:pPr>
                <a:endParaRPr lang="en-US" b="0" u="none" kern="0" dirty="0">
                  <a:solidFill>
                    <a:schemeClr val="tx1"/>
                  </a:solidFill>
                </a:endParaRPr>
              </a:p>
              <a:p>
                <a:pPr marL="0" indent="0">
                  <a:buNone/>
                </a:pPr>
                <a:r>
                  <a:rPr lang="en-US" b="0" u="none" kern="0" dirty="0">
                    <a:solidFill>
                      <a:schemeClr val="tx1"/>
                    </a:solidFill>
                  </a:rPr>
                  <a:t>Continuous</a:t>
                </a:r>
              </a:p>
              <a:p>
                <a:pPr marL="0" indent="0">
                  <a:buNone/>
                </a:pPr>
                <a:endParaRPr lang="en-US" b="0" u="none" kern="0" dirty="0">
                  <a:solidFill>
                    <a:schemeClr val="tx1"/>
                  </a:solidFill>
                </a:endParaRPr>
              </a:p>
              <a:p>
                <a:pPr marL="0" indent="0">
                  <a:buNone/>
                </a:pPr>
                <a:r>
                  <a:rPr lang="en-US" b="0" u="none" kern="0" dirty="0">
                    <a:solidFill>
                      <a:schemeClr val="tx1"/>
                    </a:solidFill>
                  </a:rPr>
                  <a:t>All registered voters</a:t>
                </a:r>
              </a:p>
              <a:p>
                <a:pPr marL="0" indent="0">
                  <a:buNone/>
                </a:pPr>
                <a:endParaRPr lang="en-US" b="0" u="none" kern="0" dirty="0">
                  <a:solidFill>
                    <a:schemeClr val="tx1"/>
                  </a:solidFill>
                </a:endParaRPr>
              </a:p>
              <a:p>
                <a:pPr marL="0" indent="0">
                  <a:buNone/>
                </a:pPr>
                <a:r>
                  <a:rPr lang="en-US" b="0" u="none" kern="0" dirty="0">
                    <a:solidFill>
                      <a:schemeClr val="tx1"/>
                    </a:solidFill>
                    <a:ea typeface="Cambria Math" panose="02040503050406030204" pitchFamily="18" charset="0"/>
                  </a:rPr>
                  <a:t>A random sample of </a:t>
                </a:r>
                <a14:m>
                  <m:oMath xmlns:m="http://schemas.openxmlformats.org/officeDocument/2006/math">
                    <m:r>
                      <a:rPr lang="en-US" b="0" i="1" u="none" kern="0" dirty="0" smtClean="0">
                        <a:solidFill>
                          <a:srgbClr val="00B0F0"/>
                        </a:solidFill>
                        <a:latin typeface="Cambria Math" panose="02040503050406030204" pitchFamily="18" charset="0"/>
                        <a:ea typeface="Cambria Math" panose="02040503050406030204" pitchFamily="18" charset="0"/>
                      </a:rPr>
                      <m:t>𝑁</m:t>
                    </m:r>
                    <m:r>
                      <a:rPr lang="en-US" b="0" i="1" u="none" kern="0" dirty="0" smtClean="0">
                        <a:solidFill>
                          <a:srgbClr val="00B0F0"/>
                        </a:solidFill>
                        <a:latin typeface="Cambria Math" panose="02040503050406030204" pitchFamily="18" charset="0"/>
                        <a:ea typeface="Cambria Math" panose="02040503050406030204" pitchFamily="18" charset="0"/>
                      </a:rPr>
                      <m:t>=</m:t>
                    </m:r>
                    <m:r>
                      <a:rPr lang="en-US" b="0" i="1" u="none" kern="0" dirty="0" smtClean="0">
                        <a:solidFill>
                          <a:srgbClr val="00B0F0"/>
                        </a:solidFill>
                        <a:latin typeface="Cambria Math" panose="02040503050406030204" pitchFamily="18" charset="0"/>
                        <a:ea typeface="Cambria Math" panose="02040503050406030204" pitchFamily="18" charset="0"/>
                      </a:rPr>
                      <m:t>1</m:t>
                    </m:r>
                    <m:r>
                      <a:rPr lang="en-US" b="0" i="1" u="none" kern="0" dirty="0" smtClean="0">
                        <a:solidFill>
                          <a:srgbClr val="00B0F0"/>
                        </a:solidFill>
                        <a:latin typeface="Cambria Math" panose="02040503050406030204" pitchFamily="18" charset="0"/>
                        <a:ea typeface="Cambria Math" panose="02040503050406030204" pitchFamily="18" charset="0"/>
                      </a:rPr>
                      <m:t>,</m:t>
                    </m:r>
                    <m:r>
                      <a:rPr lang="en-US" b="0" i="1" u="none" kern="0" dirty="0" smtClean="0">
                        <a:solidFill>
                          <a:srgbClr val="00B0F0"/>
                        </a:solidFill>
                        <a:latin typeface="Cambria Math" panose="02040503050406030204" pitchFamily="18" charset="0"/>
                        <a:ea typeface="Cambria Math" panose="02040503050406030204" pitchFamily="18" charset="0"/>
                      </a:rPr>
                      <m:t>100</m:t>
                    </m:r>
                  </m:oMath>
                </a14:m>
                <a:r>
                  <a:rPr lang="en-US" b="0" u="none" kern="0" dirty="0">
                    <a:solidFill>
                      <a:schemeClr val="tx1"/>
                    </a:solidFill>
                    <a:ea typeface="Cambria Math" panose="02040503050406030204" pitchFamily="18" charset="0"/>
                  </a:rPr>
                  <a:t> likely voters</a:t>
                </a:r>
                <a:endParaRPr lang="en-US" b="0" u="none" kern="0" dirty="0">
                  <a:solidFill>
                    <a:schemeClr val="bg1">
                      <a:lumMod val="50000"/>
                    </a:schemeClr>
                  </a:solidFill>
                </a:endParaRPr>
              </a:p>
              <a:p>
                <a:pPr marL="0" indent="0">
                  <a:buFontTx/>
                  <a:buNone/>
                  <a:tabLst>
                    <a:tab pos="287338" algn="l"/>
                  </a:tabLst>
                </a:pPr>
                <a:endParaRPr lang="en-US" b="0" u="none" kern="0" dirty="0">
                  <a:solidFill>
                    <a:schemeClr val="tx1"/>
                  </a:solidFill>
                </a:endParaRPr>
              </a:p>
              <a:p>
                <a:pPr marL="0" indent="0">
                  <a:buFontTx/>
                  <a:buNone/>
                  <a:tabLst>
                    <a:tab pos="287338" algn="l"/>
                  </a:tabLst>
                </a:pPr>
                <a:r>
                  <a:rPr lang="en-US" sz="2000" b="0" u="none" dirty="0">
                    <a:solidFill>
                      <a:schemeClr val="tx1"/>
                    </a:solidFill>
                  </a:rPr>
                  <a:t>Sample Mean		</a:t>
                </a:r>
                <a14:m>
                  <m:oMath xmlns:m="http://schemas.openxmlformats.org/officeDocument/2006/math">
                    <m:bar>
                      <m:barPr>
                        <m:pos m:val="top"/>
                        <m:ctrlPr>
                          <a:rPr lang="en-US" sz="2000" b="0" i="1" u="none" smtClean="0">
                            <a:solidFill>
                              <a:srgbClr val="00B0F0"/>
                            </a:solidFill>
                            <a:latin typeface="Cambria Math" panose="02040503050406030204" pitchFamily="18" charset="0"/>
                          </a:rPr>
                        </m:ctrlPr>
                      </m:barPr>
                      <m:e>
                        <m:r>
                          <a:rPr lang="en-US" sz="2000" b="0" i="1" u="none">
                            <a:solidFill>
                              <a:srgbClr val="00B0F0"/>
                            </a:solidFill>
                            <a:latin typeface="Cambria Math" panose="02040503050406030204" pitchFamily="18" charset="0"/>
                          </a:rPr>
                          <m:t>𝑥</m:t>
                        </m:r>
                      </m:e>
                    </m:bar>
                    <m:r>
                      <a:rPr lang="en-US" sz="2000" b="0" i="1" u="none">
                        <a:solidFill>
                          <a:schemeClr val="tx1"/>
                        </a:solidFill>
                        <a:latin typeface="Cambria Math" panose="02040503050406030204" pitchFamily="18" charset="0"/>
                      </a:rPr>
                      <m:t>=</m:t>
                    </m:r>
                    <m:f>
                      <m:fPr>
                        <m:ctrlPr>
                          <a:rPr lang="en-US" sz="2000" b="0" i="1" u="none" smtClean="0">
                            <a:solidFill>
                              <a:schemeClr val="tx1"/>
                            </a:solidFill>
                            <a:latin typeface="Cambria Math" panose="02040503050406030204" pitchFamily="18" charset="0"/>
                          </a:rPr>
                        </m:ctrlPr>
                      </m:fPr>
                      <m:num>
                        <m:nary>
                          <m:naryPr>
                            <m:chr m:val="∑"/>
                            <m:limLoc m:val="subSup"/>
                            <m:ctrlPr>
                              <a:rPr lang="en-US" b="0" i="1" u="none">
                                <a:solidFill>
                                  <a:schemeClr val="tx1"/>
                                </a:solidFill>
                                <a:latin typeface="Cambria Math" panose="02040503050406030204" pitchFamily="18" charset="0"/>
                              </a:rPr>
                            </m:ctrlPr>
                          </m:naryPr>
                          <m:sub>
                            <m:r>
                              <m:rPr>
                                <m:brk m:alnAt="25"/>
                              </m:rPr>
                              <a:rPr lang="en-US" b="0" i="1" u="none">
                                <a:solidFill>
                                  <a:schemeClr val="tx1"/>
                                </a:solidFill>
                                <a:latin typeface="Cambria Math" panose="02040503050406030204" pitchFamily="18" charset="0"/>
                              </a:rPr>
                              <m:t>𝑖</m:t>
                            </m:r>
                            <m:r>
                              <a:rPr lang="en-US" b="0" i="1" u="none">
                                <a:solidFill>
                                  <a:schemeClr val="tx1"/>
                                </a:solidFill>
                                <a:latin typeface="Cambria Math" panose="02040503050406030204" pitchFamily="18" charset="0"/>
                              </a:rPr>
                              <m:t>=</m:t>
                            </m:r>
                            <m:r>
                              <a:rPr lang="en-US" b="0" i="1" u="none">
                                <a:solidFill>
                                  <a:schemeClr val="tx1"/>
                                </a:solidFill>
                                <a:latin typeface="Cambria Math" panose="02040503050406030204" pitchFamily="18" charset="0"/>
                              </a:rPr>
                              <m:t>1</m:t>
                            </m:r>
                          </m:sub>
                          <m:sup>
                            <m:r>
                              <a:rPr lang="en-US" b="0" i="1" u="none">
                                <a:solidFill>
                                  <a:schemeClr val="tx1"/>
                                </a:solidFill>
                                <a:latin typeface="Cambria Math" panose="02040503050406030204" pitchFamily="18" charset="0"/>
                              </a:rPr>
                              <m:t>𝑁</m:t>
                            </m:r>
                          </m:sup>
                          <m:e>
                            <m:sSub>
                              <m:sSubPr>
                                <m:ctrlPr>
                                  <a:rPr lang="en-US" b="0" i="1" u="none" smtClean="0">
                                    <a:solidFill>
                                      <a:srgbClr val="00B0F0"/>
                                    </a:solidFill>
                                    <a:latin typeface="Cambria Math" panose="02040503050406030204" pitchFamily="18" charset="0"/>
                                  </a:rPr>
                                </m:ctrlPr>
                              </m:sSubPr>
                              <m:e>
                                <m:r>
                                  <a:rPr lang="en-US" b="0" i="1" u="none">
                                    <a:solidFill>
                                      <a:srgbClr val="00B0F0"/>
                                    </a:solidFill>
                                    <a:latin typeface="Cambria Math" panose="02040503050406030204" pitchFamily="18" charset="0"/>
                                  </a:rPr>
                                  <m:t>𝑥</m:t>
                                </m:r>
                              </m:e>
                              <m:sub>
                                <m:r>
                                  <a:rPr lang="en-US" b="0" i="1" u="none">
                                    <a:solidFill>
                                      <a:srgbClr val="00B0F0"/>
                                    </a:solidFill>
                                    <a:latin typeface="Cambria Math" panose="02040503050406030204" pitchFamily="18" charset="0"/>
                                  </a:rPr>
                                  <m:t>𝑖</m:t>
                                </m:r>
                              </m:sub>
                            </m:sSub>
                          </m:e>
                        </m:nary>
                      </m:num>
                      <m:den>
                        <m:r>
                          <a:rPr lang="en-US" sz="2000" b="0" i="1" u="none" smtClean="0">
                            <a:solidFill>
                              <a:srgbClr val="00B0F0"/>
                            </a:solidFill>
                            <a:latin typeface="Cambria Math" panose="02040503050406030204" pitchFamily="18" charset="0"/>
                          </a:rPr>
                          <m:t>𝑁</m:t>
                        </m:r>
                      </m:den>
                    </m:f>
                  </m:oMath>
                </a14:m>
                <a:endParaRPr lang="en-US" b="0" u="none" kern="0" dirty="0">
                  <a:solidFill>
                    <a:schemeClr val="tx1"/>
                  </a:solidFill>
                  <a:ea typeface="Cambria Math" panose="02040503050406030204" pitchFamily="18" charset="0"/>
                </a:endParaRPr>
              </a:p>
              <a:p>
                <a:pPr marL="0" indent="0">
                  <a:buFontTx/>
                  <a:buNone/>
                  <a:tabLst>
                    <a:tab pos="287338" algn="l"/>
                  </a:tabLst>
                </a:pPr>
                <a:r>
                  <a:rPr lang="en-US" b="0" u="none" kern="0" dirty="0">
                    <a:solidFill>
                      <a:schemeClr val="tx1"/>
                    </a:solidFill>
                    <a:ea typeface="Cambria Math" panose="02040503050406030204" pitchFamily="18" charset="0"/>
                  </a:rPr>
                  <a:t>Sample Variance	</a:t>
                </a:r>
                <a14:m>
                  <m:oMath xmlns:m="http://schemas.openxmlformats.org/officeDocument/2006/math">
                    <m:sSup>
                      <m:sSupPr>
                        <m:ctrlPr>
                          <a:rPr lang="en-US" i="1" u="none" smtClean="0">
                            <a:solidFill>
                              <a:srgbClr val="00B0F0"/>
                            </a:solidFill>
                            <a:latin typeface="Cambria Math" panose="02040503050406030204" pitchFamily="18" charset="0"/>
                          </a:rPr>
                        </m:ctrlPr>
                      </m:sSupPr>
                      <m:e>
                        <m:acc>
                          <m:accPr>
                            <m:chr m:val="̂"/>
                            <m:ctrlPr>
                              <a:rPr lang="en-US" i="1" u="none">
                                <a:solidFill>
                                  <a:srgbClr val="00B0F0"/>
                                </a:solidFill>
                                <a:latin typeface="Cambria Math" panose="02040503050406030204" pitchFamily="18" charset="0"/>
                              </a:rPr>
                            </m:ctrlPr>
                          </m:accPr>
                          <m:e>
                            <m:r>
                              <a:rPr lang="en-US" b="0" i="1" u="none">
                                <a:solidFill>
                                  <a:srgbClr val="00B0F0"/>
                                </a:solidFill>
                                <a:latin typeface="Cambria Math" panose="02040503050406030204" pitchFamily="18" charset="0"/>
                              </a:rPr>
                              <m:t>𝜎</m:t>
                            </m:r>
                          </m:e>
                        </m:acc>
                      </m:e>
                      <m:sup>
                        <m:r>
                          <a:rPr lang="en-US" i="1" u="none">
                            <a:solidFill>
                              <a:srgbClr val="00B0F0"/>
                            </a:solidFill>
                            <a:latin typeface="Cambria Math" panose="02040503050406030204" pitchFamily="18" charset="0"/>
                          </a:rPr>
                          <m:t>2</m:t>
                        </m:r>
                      </m:sup>
                    </m:sSup>
                    <m:r>
                      <a:rPr lang="en-US" i="1" u="none">
                        <a:solidFill>
                          <a:srgbClr val="000000"/>
                        </a:solidFill>
                        <a:latin typeface="Cambria Math" panose="02040503050406030204" pitchFamily="18" charset="0"/>
                      </a:rPr>
                      <m:t>=</m:t>
                    </m:r>
                    <m:f>
                      <m:fPr>
                        <m:ctrlPr>
                          <a:rPr lang="en-US" i="1" u="none">
                            <a:solidFill>
                              <a:srgbClr val="000000"/>
                            </a:solidFill>
                            <a:latin typeface="Cambria Math" panose="02040503050406030204" pitchFamily="18" charset="0"/>
                          </a:rPr>
                        </m:ctrlPr>
                      </m:fPr>
                      <m:num>
                        <m:nary>
                          <m:naryPr>
                            <m:chr m:val="∑"/>
                            <m:ctrlPr>
                              <a:rPr lang="en-US" i="1" u="none">
                                <a:solidFill>
                                  <a:srgbClr val="000000"/>
                                </a:solidFill>
                                <a:latin typeface="Cambria Math" panose="02040503050406030204" pitchFamily="18" charset="0"/>
                              </a:rPr>
                            </m:ctrlPr>
                          </m:naryPr>
                          <m:sub>
                            <m:r>
                              <a:rPr lang="en-US" i="1" u="none">
                                <a:solidFill>
                                  <a:srgbClr val="000000"/>
                                </a:solidFill>
                                <a:latin typeface="Cambria Math" panose="02040503050406030204" pitchFamily="18" charset="0"/>
                              </a:rPr>
                              <m:t>𝑖</m:t>
                            </m:r>
                            <m:r>
                              <a:rPr lang="en-US" i="1" u="none">
                                <a:solidFill>
                                  <a:srgbClr val="000000"/>
                                </a:solidFill>
                                <a:latin typeface="Cambria Math" panose="02040503050406030204" pitchFamily="18" charset="0"/>
                              </a:rPr>
                              <m:t>=</m:t>
                            </m:r>
                            <m:r>
                              <a:rPr lang="en-US" i="1" u="none">
                                <a:solidFill>
                                  <a:srgbClr val="000000"/>
                                </a:solidFill>
                                <a:latin typeface="Cambria Math" panose="02040503050406030204" pitchFamily="18" charset="0"/>
                              </a:rPr>
                              <m:t>1</m:t>
                            </m:r>
                          </m:sub>
                          <m:sup>
                            <m:r>
                              <a:rPr lang="en-US" i="1" u="none">
                                <a:solidFill>
                                  <a:srgbClr val="000000"/>
                                </a:solidFill>
                                <a:latin typeface="Cambria Math" panose="02040503050406030204" pitchFamily="18" charset="0"/>
                              </a:rPr>
                              <m:t>𝑁</m:t>
                            </m:r>
                          </m:sup>
                          <m:e>
                            <m:r>
                              <a:rPr lang="en-US" i="1" u="none">
                                <a:solidFill>
                                  <a:srgbClr val="000000"/>
                                </a:solidFill>
                                <a:latin typeface="Cambria Math" panose="02040503050406030204" pitchFamily="18" charset="0"/>
                              </a:rPr>
                              <m:t>(</m:t>
                            </m:r>
                            <m:sSub>
                              <m:sSubPr>
                                <m:ctrlPr>
                                  <a:rPr lang="en-US" b="0" i="1" u="none">
                                    <a:solidFill>
                                      <a:srgbClr val="000000"/>
                                    </a:solidFill>
                                    <a:latin typeface="Cambria Math" panose="02040503050406030204" pitchFamily="18" charset="0"/>
                                  </a:rPr>
                                </m:ctrlPr>
                              </m:sSubPr>
                              <m:e>
                                <m:r>
                                  <a:rPr lang="en-US" b="0" i="1" u="none">
                                    <a:solidFill>
                                      <a:srgbClr val="000000"/>
                                    </a:solidFill>
                                    <a:latin typeface="Cambria Math" panose="02040503050406030204" pitchFamily="18" charset="0"/>
                                  </a:rPr>
                                  <m:t>𝑥</m:t>
                                </m:r>
                              </m:e>
                              <m:sub>
                                <m:r>
                                  <a:rPr lang="en-US" b="0" i="1" u="none">
                                    <a:solidFill>
                                      <a:srgbClr val="000000"/>
                                    </a:solidFill>
                                    <a:latin typeface="Cambria Math" panose="02040503050406030204" pitchFamily="18" charset="0"/>
                                  </a:rPr>
                                  <m:t>𝑖</m:t>
                                </m:r>
                              </m:sub>
                            </m:sSub>
                            <m:r>
                              <a:rPr lang="en-US" i="1" u="none">
                                <a:solidFill>
                                  <a:srgbClr val="000000"/>
                                </a:solidFill>
                                <a:latin typeface="Cambria Math" panose="02040503050406030204" pitchFamily="18" charset="0"/>
                              </a:rPr>
                              <m:t>−</m:t>
                            </m:r>
                            <m:bar>
                              <m:barPr>
                                <m:pos m:val="top"/>
                                <m:ctrlPr>
                                  <a:rPr lang="en-US" i="1" u="none" smtClean="0">
                                    <a:solidFill>
                                      <a:srgbClr val="00B0F0"/>
                                    </a:solidFill>
                                    <a:latin typeface="Cambria Math" panose="02040503050406030204" pitchFamily="18" charset="0"/>
                                  </a:rPr>
                                </m:ctrlPr>
                              </m:barPr>
                              <m:e>
                                <m:r>
                                  <a:rPr lang="en-US" b="0" i="1" u="none">
                                    <a:solidFill>
                                      <a:srgbClr val="00B0F0"/>
                                    </a:solidFill>
                                    <a:latin typeface="Cambria Math" panose="02040503050406030204" pitchFamily="18" charset="0"/>
                                  </a:rPr>
                                  <m:t>𝑥</m:t>
                                </m:r>
                              </m:e>
                            </m:bar>
                            <m:sSup>
                              <m:sSupPr>
                                <m:ctrlPr>
                                  <a:rPr lang="en-US" i="1" u="none">
                                    <a:solidFill>
                                      <a:srgbClr val="000000"/>
                                    </a:solidFill>
                                    <a:latin typeface="Cambria Math" panose="02040503050406030204" pitchFamily="18" charset="0"/>
                                  </a:rPr>
                                </m:ctrlPr>
                              </m:sSupPr>
                              <m:e>
                                <m:r>
                                  <a:rPr lang="en-US" i="1" u="none">
                                    <a:solidFill>
                                      <a:srgbClr val="000000"/>
                                    </a:solidFill>
                                    <a:latin typeface="Cambria Math" panose="02040503050406030204" pitchFamily="18" charset="0"/>
                                  </a:rPr>
                                  <m:t>)</m:t>
                                </m:r>
                              </m:e>
                              <m:sup>
                                <m:r>
                                  <a:rPr lang="en-US" i="1" u="none">
                                    <a:solidFill>
                                      <a:srgbClr val="000000"/>
                                    </a:solidFill>
                                    <a:latin typeface="Cambria Math" panose="02040503050406030204" pitchFamily="18" charset="0"/>
                                  </a:rPr>
                                  <m:t>2</m:t>
                                </m:r>
                              </m:sup>
                            </m:sSup>
                          </m:e>
                        </m:nary>
                      </m:num>
                      <m:den>
                        <m:r>
                          <a:rPr lang="en-US" i="1" u="none" smtClean="0">
                            <a:solidFill>
                              <a:srgbClr val="00B0F0"/>
                            </a:solidFill>
                            <a:latin typeface="Cambria Math" panose="02040503050406030204" pitchFamily="18" charset="0"/>
                          </a:rPr>
                          <m:t>𝑁</m:t>
                        </m:r>
                        <m:r>
                          <a:rPr lang="en-US" i="1" u="none">
                            <a:solidFill>
                              <a:srgbClr val="000000"/>
                            </a:solidFill>
                            <a:latin typeface="Cambria Math" panose="02040503050406030204" pitchFamily="18" charset="0"/>
                          </a:rPr>
                          <m:t>−</m:t>
                        </m:r>
                        <m:r>
                          <a:rPr lang="en-US" i="1" u="none">
                            <a:solidFill>
                              <a:srgbClr val="000000"/>
                            </a:solidFill>
                            <a:latin typeface="Cambria Math" panose="02040503050406030204" pitchFamily="18" charset="0"/>
                          </a:rPr>
                          <m:t>1</m:t>
                        </m:r>
                      </m:den>
                    </m:f>
                  </m:oMath>
                </a14:m>
                <a:endParaRPr lang="en-US" b="0" i="1" u="none" kern="0" dirty="0">
                  <a:solidFill>
                    <a:schemeClr val="tx1"/>
                  </a:solidFill>
                  <a:ea typeface="Cambria Math" panose="02040503050406030204" pitchFamily="18" charset="0"/>
                </a:endParaRPr>
              </a:p>
            </p:txBody>
          </p:sp>
        </mc:Choice>
        <mc:Fallback xmlns="">
          <p:sp>
            <p:nvSpPr>
              <p:cNvPr id="13" name="Content Placeholder 2">
                <a:extLst>
                  <a:ext uri="{FF2B5EF4-FFF2-40B4-BE49-F238E27FC236}">
                    <a16:creationId xmlns:a16="http://schemas.microsoft.com/office/drawing/2014/main" id="{7D3CA7D2-1776-4F35-9E1D-4BE96EA6737A}"/>
                  </a:ext>
                </a:extLst>
              </p:cNvPr>
              <p:cNvSpPr txBox="1">
                <a:spLocks noRot="1" noChangeAspect="1" noMove="1" noResize="1" noEditPoints="1" noAdjustHandles="1" noChangeArrowheads="1" noChangeShapeType="1" noTextEdit="1"/>
              </p:cNvSpPr>
              <p:nvPr/>
            </p:nvSpPr>
            <p:spPr bwMode="auto">
              <a:xfrm>
                <a:off x="3556591" y="1089025"/>
                <a:ext cx="5587409" cy="5678488"/>
              </a:xfrm>
              <a:prstGeom prst="rect">
                <a:avLst/>
              </a:prstGeom>
              <a:blipFill>
                <a:blip r:embed="rId2"/>
                <a:stretch>
                  <a:fillRect l="-1091"/>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14452315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1142-6AEE-47DC-A7C2-25141D7E4AB8}"/>
              </a:ext>
            </a:extLst>
          </p:cNvPr>
          <p:cNvSpPr>
            <a:spLocks noGrp="1"/>
          </p:cNvSpPr>
          <p:nvPr>
            <p:ph type="title"/>
          </p:nvPr>
        </p:nvSpPr>
        <p:spPr/>
        <p:txBody>
          <a:bodyPr/>
          <a:lstStyle/>
          <a:p>
            <a:r>
              <a:rPr lang="en-US" dirty="0"/>
              <a:t>Campaign Contribution 95 Percent Confidence Intervals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63AA94-FE16-46E0-822D-2401775838C2}"/>
                  </a:ext>
                </a:extLst>
              </p:cNvPr>
              <p:cNvSpPr>
                <a:spLocks noGrp="1"/>
              </p:cNvSpPr>
              <p:nvPr>
                <p:ph idx="1"/>
              </p:nvPr>
            </p:nvSpPr>
            <p:spPr>
              <a:xfrm>
                <a:off x="354013" y="1089026"/>
                <a:ext cx="8437562" cy="1528752"/>
              </a:xfrm>
            </p:spPr>
            <p:txBody>
              <a:bodyPr/>
              <a:lstStyle/>
              <a:p>
                <a:endParaRPr lang="en-US" dirty="0"/>
              </a:p>
              <a:p>
                <a:r>
                  <a:rPr lang="en-US" dirty="0"/>
                  <a:t>Open the dataset noted above </a:t>
                </a:r>
                <a:r>
                  <a:rPr lang="en-US" sz="2000" dirty="0"/>
                  <a:t>and compute the following. The excel commands are in the table. Alternately, drop the file in Chat GPT and ask for these statistics</a:t>
                </a:r>
              </a:p>
              <a:p>
                <a:endParaRPr lang="en-US" dirty="0"/>
              </a:p>
              <a:p>
                <a:endParaRPr lang="en-US" dirty="0"/>
              </a:p>
              <a:p>
                <a:endParaRPr lang="en-US" dirty="0"/>
              </a:p>
              <a:p>
                <a:endParaRPr lang="en-US" dirty="0"/>
              </a:p>
              <a:p>
                <a:endParaRPr lang="en-US" dirty="0"/>
              </a:p>
              <a:p>
                <a:endParaRPr lang="en-US" dirty="0"/>
              </a:p>
              <a:p>
                <a:endParaRPr lang="en-US" dirty="0"/>
              </a:p>
              <a:p>
                <a:r>
                  <a:rPr lang="en-US" dirty="0"/>
                  <a:t>Construct the confidence interval</a:t>
                </a:r>
              </a:p>
              <a:p>
                <a:pPr lvl="1"/>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𝑥</m:t>
                        </m:r>
                      </m:e>
                    </m:acc>
                  </m:oMath>
                </a14:m>
                <a:r>
                  <a:rPr lang="en-US" dirty="0"/>
                  <a:t> = $96.37, </a:t>
                </a:r>
                <a14:m>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𝜎</m:t>
                        </m:r>
                      </m:e>
                    </m:acc>
                  </m:oMath>
                </a14:m>
                <a:r>
                  <a:rPr lang="en-US" dirty="0"/>
                  <a:t> = $295.75, N=5449, </a:t>
                </a:r>
                <a14:m>
                  <m:oMath xmlns:m="http://schemas.openxmlformats.org/officeDocument/2006/math">
                    <m:r>
                      <a:rPr lang="en-US" i="1">
                        <a:latin typeface="Cambria Math" panose="02040503050406030204" pitchFamily="18" charset="0"/>
                      </a:rPr>
                      <m:t>𝑆</m:t>
                    </m:r>
                    <m:r>
                      <a:rPr lang="en-US" b="0" i="1" smtClean="0">
                        <a:latin typeface="Cambria Math" panose="02040503050406030204" pitchFamily="18" charset="0"/>
                      </a:rPr>
                      <m:t>𝑡𝑑𝐸𝑟𝑟𝑜𝑟</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295</m:t>
                        </m:r>
                        <m:r>
                          <a:rPr lang="en-US" i="1">
                            <a:latin typeface="Cambria Math" panose="02040503050406030204" pitchFamily="18" charset="0"/>
                          </a:rPr>
                          <m:t>.</m:t>
                        </m:r>
                        <m:r>
                          <a:rPr lang="en-US" i="1">
                            <a:latin typeface="Cambria Math" panose="02040503050406030204" pitchFamily="18" charset="0"/>
                          </a:rPr>
                          <m:t>75</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5449</m:t>
                            </m:r>
                          </m:e>
                        </m:rad>
                      </m:den>
                    </m:f>
                    <m:r>
                      <a:rPr lang="en-US" i="1">
                        <a:latin typeface="Cambria Math" panose="02040503050406030204" pitchFamily="18" charset="0"/>
                      </a:rPr>
                      <m:t>=</m:t>
                    </m:r>
                    <m:r>
                      <a:rPr lang="en-US" i="1">
                        <a:latin typeface="Cambria Math" panose="02040503050406030204" pitchFamily="18" charset="0"/>
                      </a:rPr>
                      <m:t>4</m:t>
                    </m:r>
                    <m:r>
                      <a:rPr lang="en-US" i="1">
                        <a:latin typeface="Cambria Math" panose="02040503050406030204" pitchFamily="18" charset="0"/>
                      </a:rPr>
                      <m:t>.</m:t>
                    </m:r>
                    <m:r>
                      <a:rPr lang="en-US" i="1">
                        <a:latin typeface="Cambria Math" panose="02040503050406030204" pitchFamily="18" charset="0"/>
                      </a:rPr>
                      <m:t>0065</m:t>
                    </m:r>
                  </m:oMath>
                </a14:m>
                <a:endParaRPr lang="en-US" i="1" dirty="0">
                  <a:ea typeface="Cambria" panose="02040503050406030204" pitchFamily="18" charset="0"/>
                </a:endParaRPr>
              </a:p>
              <a:p>
                <a:pPr lvl="1"/>
                <a:r>
                  <a:rPr lang="en-US" dirty="0"/>
                  <a:t>90% confidence interval = </a:t>
                </a:r>
                <a14:m>
                  <m:oMath xmlns:m="http://schemas.openxmlformats.org/officeDocument/2006/math">
                    <m:r>
                      <a:rPr lang="en-US" b="0" i="1">
                        <a:latin typeface="Cambria Math" panose="02040503050406030204" pitchFamily="18" charset="0"/>
                      </a:rPr>
                      <m:t>96</m:t>
                    </m:r>
                    <m:r>
                      <a:rPr lang="en-US" b="0" i="1">
                        <a:latin typeface="Cambria Math" panose="02040503050406030204" pitchFamily="18" charset="0"/>
                      </a:rPr>
                      <m:t>.</m:t>
                    </m:r>
                    <m:r>
                      <a:rPr lang="en-US" b="0" i="1">
                        <a:latin typeface="Cambria Math" panose="02040503050406030204" pitchFamily="18" charset="0"/>
                      </a:rPr>
                      <m:t>37</m:t>
                    </m:r>
                    <m:r>
                      <a:rPr lang="en-US" b="0" i="1" dirty="0">
                        <a:latin typeface="Cambria Math" panose="02040503050406030204" pitchFamily="18" charset="0"/>
                        <a:ea typeface="Cambria Math" panose="02040503050406030204" pitchFamily="18" charset="0"/>
                      </a:rPr>
                      <m:t>±</m:t>
                    </m:r>
                    <m:r>
                      <a:rPr lang="en-US" b="0" i="1" dirty="0">
                        <a:latin typeface="Cambria Math" panose="02040503050406030204" pitchFamily="18" charset="0"/>
                        <a:ea typeface="Cambria Math" panose="02040503050406030204" pitchFamily="18" charset="0"/>
                      </a:rPr>
                      <m:t>1</m:t>
                    </m:r>
                    <m:r>
                      <a:rPr lang="en-US" b="0" i="1" dirty="0">
                        <a:latin typeface="Cambria Math" panose="02040503050406030204" pitchFamily="18" charset="0"/>
                        <a:ea typeface="Cambria Math" panose="02040503050406030204" pitchFamily="18" charset="0"/>
                      </a:rPr>
                      <m:t>.</m:t>
                    </m:r>
                    <m:r>
                      <a:rPr lang="en-US" b="0" i="1" dirty="0">
                        <a:latin typeface="Cambria Math" panose="02040503050406030204" pitchFamily="18" charset="0"/>
                        <a:ea typeface="Cambria Math" panose="02040503050406030204" pitchFamily="18" charset="0"/>
                      </a:rPr>
                      <m:t>65</m:t>
                    </m:r>
                    <m:r>
                      <a:rPr lang="en-US" b="0" i="1" dirty="0" smtClean="0">
                        <a:latin typeface="Cambria Math" panose="02040503050406030204" pitchFamily="18" charset="0"/>
                        <a:ea typeface="Cambria Math" panose="02040503050406030204" pitchFamily="18" charset="0"/>
                      </a:rPr>
                      <m:t>(</m:t>
                    </m:r>
                    <m:r>
                      <a:rPr lang="en-US" b="0" i="1" dirty="0">
                        <a:latin typeface="Cambria Math" panose="02040503050406030204" pitchFamily="18" charset="0"/>
                      </a:rPr>
                      <m:t>4</m:t>
                    </m:r>
                    <m:r>
                      <a:rPr lang="en-US" b="0" i="1" dirty="0">
                        <a:latin typeface="Cambria Math" panose="02040503050406030204" pitchFamily="18" charset="0"/>
                      </a:rPr>
                      <m:t>.</m:t>
                    </m:r>
                    <m:r>
                      <a:rPr lang="en-US" b="0" i="1" dirty="0">
                        <a:latin typeface="Cambria Math" panose="02040503050406030204" pitchFamily="18" charset="0"/>
                      </a:rPr>
                      <m:t>0065</m:t>
                    </m:r>
                    <m:r>
                      <a:rPr lang="en-US" b="0" i="1" dirty="0" smtClean="0">
                        <a:latin typeface="Cambria Math" panose="02040503050406030204" pitchFamily="18" charset="0"/>
                      </a:rPr>
                      <m:t>)</m:t>
                    </m:r>
                    <m:r>
                      <a:rPr lang="en-US" b="0" i="1"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m:t>
                        </m:r>
                        <m:r>
                          <a:rPr lang="en-US" b="0" i="1" dirty="0">
                            <a:latin typeface="Cambria Math" panose="02040503050406030204" pitchFamily="18" charset="0"/>
                          </a:rPr>
                          <m:t>89</m:t>
                        </m:r>
                        <m:r>
                          <a:rPr lang="en-US" b="0" i="1" dirty="0">
                            <a:latin typeface="Cambria Math" panose="02040503050406030204" pitchFamily="18" charset="0"/>
                          </a:rPr>
                          <m:t>,$</m:t>
                        </m:r>
                        <m:r>
                          <a:rPr lang="en-US" b="0" i="1" dirty="0">
                            <a:latin typeface="Cambria Math" panose="02040503050406030204" pitchFamily="18" charset="0"/>
                          </a:rPr>
                          <m:t>103</m:t>
                        </m:r>
                      </m:e>
                    </m:d>
                  </m:oMath>
                </a14:m>
                <a:endParaRPr lang="en-US" dirty="0"/>
              </a:p>
            </p:txBody>
          </p:sp>
        </mc:Choice>
        <mc:Fallback xmlns="">
          <p:sp>
            <p:nvSpPr>
              <p:cNvPr id="3" name="Content Placeholder 2">
                <a:extLst>
                  <a:ext uri="{FF2B5EF4-FFF2-40B4-BE49-F238E27FC236}">
                    <a16:creationId xmlns:a16="http://schemas.microsoft.com/office/drawing/2014/main" id="{4863AA94-FE16-46E0-822D-2401775838C2}"/>
                  </a:ext>
                </a:extLst>
              </p:cNvPr>
              <p:cNvSpPr>
                <a:spLocks noGrp="1" noRot="1" noChangeAspect="1" noMove="1" noResize="1" noEditPoints="1" noAdjustHandles="1" noChangeArrowheads="1" noChangeShapeType="1" noTextEdit="1"/>
              </p:cNvSpPr>
              <p:nvPr>
                <p:ph idx="1"/>
              </p:nvPr>
            </p:nvSpPr>
            <p:spPr>
              <a:xfrm>
                <a:off x="354013" y="1089026"/>
                <a:ext cx="8437562" cy="1528752"/>
              </a:xfrm>
              <a:blipFill>
                <a:blip r:embed="rId2"/>
                <a:stretch>
                  <a:fillRect l="-650" b="-2492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05D547D-CCD0-423A-B657-F44F6215BB8D}"/>
              </a:ext>
            </a:extLst>
          </p:cNvPr>
          <p:cNvSpPr>
            <a:spLocks noGrp="1"/>
          </p:cNvSpPr>
          <p:nvPr>
            <p:ph type="sldNum" sz="quarter" idx="11"/>
          </p:nvPr>
        </p:nvSpPr>
        <p:spPr/>
        <p:txBody>
          <a:bodyPr/>
          <a:lstStyle/>
          <a:p>
            <a:pPr>
              <a:defRPr/>
            </a:pPr>
            <a:endParaRPr lang="en-GB"/>
          </a:p>
          <a:p>
            <a:pPr>
              <a:defRPr/>
            </a:pPr>
            <a:fld id="{FC96386F-C149-48D8-92C5-2CFDBA85534B}" type="slidenum">
              <a:rPr lang="en-GB" smtClean="0"/>
              <a:pPr>
                <a:defRPr/>
              </a:pPr>
              <a:t>115</a:t>
            </a:fld>
            <a:endParaRPr lang="en-GB" dirty="0"/>
          </a:p>
        </p:txBody>
      </p:sp>
      <p:pic>
        <p:nvPicPr>
          <p:cNvPr id="5" name="Picture 4">
            <a:extLst>
              <a:ext uri="{FF2B5EF4-FFF2-40B4-BE49-F238E27FC236}">
                <a16:creationId xmlns:a16="http://schemas.microsoft.com/office/drawing/2014/main" id="{4E22FE86-3928-4AD4-815A-F80D1CB74C78}"/>
              </a:ext>
            </a:extLst>
          </p:cNvPr>
          <p:cNvPicPr>
            <a:picLocks noChangeAspect="1"/>
          </p:cNvPicPr>
          <p:nvPr/>
        </p:nvPicPr>
        <p:blipFill>
          <a:blip r:embed="rId3"/>
          <a:stretch>
            <a:fillRect/>
          </a:stretch>
        </p:blipFill>
        <p:spPr>
          <a:xfrm>
            <a:off x="2371455" y="2644781"/>
            <a:ext cx="4209008" cy="2025637"/>
          </a:xfrm>
          <a:prstGeom prst="rect">
            <a:avLst/>
          </a:prstGeom>
        </p:spPr>
      </p:pic>
    </p:spTree>
    <p:extLst>
      <p:ext uri="{BB962C8B-B14F-4D97-AF65-F5344CB8AC3E}">
        <p14:creationId xmlns:p14="http://schemas.microsoft.com/office/powerpoint/2010/main" val="4216981138"/>
      </p:ext>
    </p:extLst>
  </p:cSld>
  <p:clrMapOvr>
    <a:masterClrMapping/>
  </p:clrMapOvr>
</p:sld>
</file>

<file path=ppt/theme/theme1.xml><?xml version="1.0" encoding="utf-8"?>
<a:theme xmlns:a="http://schemas.openxmlformats.org/drawingml/2006/main" name="presentatio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rgbClr val="FF0000"/>
          </a:solidFill>
          <a:prstDash val="solid"/>
          <a:round/>
          <a:headEnd type="none" w="med" len="med"/>
          <a:tailEnd type="triangle" w="med" len="med"/>
        </a:ln>
        <a:effectLst/>
      </a:spPr>
      <a:bodyPr rtlCol="0" anchor="ctr"/>
      <a:lstStyle>
        <a:defPPr algn="ctr">
          <a:defRPr/>
        </a:defPPr>
      </a:lstStyle>
    </a:spDef>
    <a:lnDef>
      <a:spPr bwMode="auto">
        <a:solidFill>
          <a:schemeClr val="accent1"/>
        </a:solidFill>
        <a:ln w="9525" cap="flat" cmpd="sng" algn="ctr">
          <a:solidFill>
            <a:srgbClr val="00B0F0"/>
          </a:solidFill>
          <a:prstDash val="solid"/>
          <a:round/>
          <a:headEnd type="none" w="med" len="med"/>
          <a:tailEnd type="triangle" w="med" len="med"/>
        </a:ln>
        <a:effectLst/>
      </a:spPr>
      <a:bodyPr/>
      <a:lstStyle/>
    </a:lnDef>
    <a:txDef>
      <a:spPr>
        <a:noFill/>
      </a:spPr>
      <a:bodyPr wrap="none" rtlCol="0">
        <a:spAutoFit/>
      </a:bodyPr>
      <a:lstStyle>
        <a:defPPr algn="ctr">
          <a:defRPr sz="1800" b="0" u="none" dirty="0" smtClean="0">
            <a:latin typeface="Arial" pitchFamily="34" charset="0"/>
            <a:cs typeface="Arial" pitchFamily="34" charset="0"/>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63347</TotalTime>
  <Words>7215</Words>
  <Application>Microsoft Office PowerPoint</Application>
  <PresentationFormat>On-screen Show (4:3)</PresentationFormat>
  <Paragraphs>1405</Paragraphs>
  <Slides>115</Slides>
  <Notes>3</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115</vt:i4>
      </vt:variant>
    </vt:vector>
  </HeadingPairs>
  <TitlesOfParts>
    <vt:vector size="121" baseType="lpstr">
      <vt:lpstr>Cambria</vt:lpstr>
      <vt:lpstr>Courier New</vt:lpstr>
      <vt:lpstr>Cambria Math</vt:lpstr>
      <vt:lpstr>Arial</vt:lpstr>
      <vt:lpstr>Wingdings 3</vt:lpstr>
      <vt:lpstr>presentation</vt:lpstr>
      <vt:lpstr>1. Course Motivation / Confidence Intervals </vt:lpstr>
      <vt:lpstr>Motivation</vt:lpstr>
      <vt:lpstr>Achieving Our Goal</vt:lpstr>
      <vt:lpstr>Logistics</vt:lpstr>
      <vt:lpstr>Software</vt:lpstr>
      <vt:lpstr>Problem Sets</vt:lpstr>
      <vt:lpstr>PowerPoint Presentation</vt:lpstr>
      <vt:lpstr>Problem Sets</vt:lpstr>
      <vt:lpstr>Your TA</vt:lpstr>
      <vt:lpstr>OK, let’s get started!</vt:lpstr>
      <vt:lpstr>Today</vt:lpstr>
      <vt:lpstr>Today’s Concepts</vt:lpstr>
      <vt:lpstr>Background: Population versus Sample</vt:lpstr>
      <vt:lpstr>Population versus Sample</vt:lpstr>
      <vt:lpstr>Population versus Sample</vt:lpstr>
      <vt:lpstr>What is the Average Price of Dinner in Vienna?</vt:lpstr>
      <vt:lpstr>What is the Average Price of Dinner in Vienna?</vt:lpstr>
      <vt:lpstr>Is the New Cancer Drug Effective?</vt:lpstr>
      <vt:lpstr>What is the Average Price of a House?</vt:lpstr>
      <vt:lpstr>Will the Republicans Keep the House?</vt:lpstr>
      <vt:lpstr>Will the Republicans Keep the House?</vt:lpstr>
      <vt:lpstr>Will the Republicans Keep the House?</vt:lpstr>
      <vt:lpstr>PowerPoint Presentation</vt:lpstr>
      <vt:lpstr>What is Statistics?</vt:lpstr>
      <vt:lpstr>Some Vocabulary</vt:lpstr>
      <vt:lpstr>Some Vocabulary</vt:lpstr>
      <vt:lpstr>Some Vocabulary</vt:lpstr>
      <vt:lpstr>Sample vs Population Examples</vt:lpstr>
      <vt:lpstr>Sample vs Population Examples</vt:lpstr>
      <vt:lpstr>Example 1: Election Polling</vt:lpstr>
      <vt:lpstr>Election Polling</vt:lpstr>
      <vt:lpstr>Polling Confidence Interval</vt:lpstr>
      <vt:lpstr>Technical Summary of Fox Poll</vt:lpstr>
      <vt:lpstr>Confidence Interval</vt:lpstr>
      <vt:lpstr>Confidence Interval</vt:lpstr>
      <vt:lpstr>Polling Confidence Interval</vt:lpstr>
      <vt:lpstr>Standard “Deviation” vs Standard “Error” (Optional Slide)</vt:lpstr>
      <vt:lpstr>Polling Confidence Interval</vt:lpstr>
      <vt:lpstr>Polling Confidence Interval</vt:lpstr>
      <vt:lpstr>Polling Confidence Interval</vt:lpstr>
      <vt:lpstr>Polling Confidence Interval</vt:lpstr>
      <vt:lpstr>Polling Confidence Interval</vt:lpstr>
      <vt:lpstr>Polling Confidence Interval</vt:lpstr>
      <vt:lpstr>Polling Confidence Interval</vt:lpstr>
      <vt:lpstr>Key Stats</vt:lpstr>
      <vt:lpstr>Central Limit Theorem g Data</vt:lpstr>
      <vt:lpstr>Central Limit Theorem g Data</vt:lpstr>
      <vt:lpstr>Central Limit Theorem g Data</vt:lpstr>
      <vt:lpstr>Central Limit Theorem g Data</vt:lpstr>
      <vt:lpstr>What if You Have Only 1 Poll?</vt:lpstr>
      <vt:lpstr>The “Standard” Normal Distribution N(μ,σ)</vt:lpstr>
      <vt:lpstr>Distribution of Draws from a Standard Normal, N(0,1)</vt:lpstr>
      <vt:lpstr>Distribution of Draws from a Standard Normal, N(0,1)</vt:lpstr>
      <vt:lpstr>Distribution of Draws from a Standard Normal, N(0,1)</vt:lpstr>
      <vt:lpstr>Distribution of Draws from a Standard Normal, N(0,1)</vt:lpstr>
      <vt:lpstr>Distribution of Draws from a Standard Normal, N(0,1)</vt:lpstr>
      <vt:lpstr>Distribution of Draws from a Standard Normal, N(0,1)</vt:lpstr>
      <vt:lpstr>Distribution of Draws from a Standard Normal, N(0,1)</vt:lpstr>
      <vt:lpstr>Distribution of Draws from a Standard Normal, N(0,1)</vt:lpstr>
      <vt:lpstr>Distribution of Draws from a Standard Normal, N(0,1)</vt:lpstr>
      <vt:lpstr>Critical Values for 90%, 95%, and 99% of Area Under N(0,1)</vt:lpstr>
      <vt:lpstr>Constructing CI^90 Around Draw From N(0,1)</vt:lpstr>
      <vt:lpstr>Apply CI Intuition to the Fox Poll</vt:lpstr>
      <vt:lpstr>Fox Poll 95% Confidence Interval (CI^95)</vt:lpstr>
      <vt:lpstr>Fox Poll 95% Confidence Interval (CI^95)</vt:lpstr>
      <vt:lpstr>Fox Poll 95% Confidence Interval (CI^95)</vt:lpstr>
      <vt:lpstr>Degrees of Freedom</vt:lpstr>
      <vt:lpstr>Population Variance vs Sample Variance</vt:lpstr>
      <vt:lpstr>Fox Poll 95% Confidence Interval (CI^95)</vt:lpstr>
      <vt:lpstr>Recipe for Finding a Confidence Interval</vt:lpstr>
      <vt:lpstr>Recipe for Finding a Confidence Interval</vt:lpstr>
      <vt:lpstr>Computing the CI^95 of the Fox Poll</vt:lpstr>
      <vt:lpstr>Computing the CI^95 of the Fox Poll</vt:lpstr>
      <vt:lpstr>CI^95 Interpretation</vt:lpstr>
      <vt:lpstr>CI^95 Plain English</vt:lpstr>
      <vt:lpstr>Computing the 95% CI of the Fox Poll</vt:lpstr>
      <vt:lpstr>Standard Deviation of Binomial Distribution For values of p=(0,1) </vt:lpstr>
      <vt:lpstr>Zogby’s Definition of “Margin of Error”</vt:lpstr>
      <vt:lpstr>Computing the 95% CI of the Fox Poll</vt:lpstr>
      <vt:lpstr>Be Careful!!!</vt:lpstr>
      <vt:lpstr>Be Careful!!!</vt:lpstr>
      <vt:lpstr>PowerPoint Presentation</vt:lpstr>
      <vt:lpstr>End</vt:lpstr>
      <vt:lpstr>Broader Goals</vt:lpstr>
      <vt:lpstr>Higher-Order Goals</vt:lpstr>
      <vt:lpstr>Effective Data Analysis Stands on Three Legs</vt:lpstr>
      <vt:lpstr>Tell Your Story in Three Languages</vt:lpstr>
      <vt:lpstr>Yale SOM Mission Statement</vt:lpstr>
      <vt:lpstr>Yale Mission</vt:lpstr>
      <vt:lpstr>Yale Mission</vt:lpstr>
      <vt:lpstr>Bootstrapping a Means Test (if Time)</vt:lpstr>
      <vt:lpstr>Bootstrapping!</vt:lpstr>
      <vt:lpstr>History of Bootstrapping</vt:lpstr>
      <vt:lpstr>Poll Reliability with Bootstrapping</vt:lpstr>
      <vt:lpstr>Recipe for Finding a Bootstrap Confidence Interval</vt:lpstr>
      <vt:lpstr>Poll Reliability with Bootstrapping</vt:lpstr>
      <vt:lpstr>How to Actually Run a Bootstrap?</vt:lpstr>
      <vt:lpstr>When to Bootstrap?</vt:lpstr>
      <vt:lpstr>Three Approaches to CI^95</vt:lpstr>
      <vt:lpstr>Extra Example if Time: How Good is Warren Buffett?</vt:lpstr>
      <vt:lpstr>Expected Return of Berkshire Hathaway Class A</vt:lpstr>
      <vt:lpstr>BRK-A vs SP500 data_Berkshire_raw.csv </vt:lpstr>
      <vt:lpstr>Summary of BRK-A Data data_berkshire_raw.csv</vt:lpstr>
      <vt:lpstr>BRK-A Daily Return CI^95 data_Berkshire_raw.csv</vt:lpstr>
      <vt:lpstr>BRK-A Daily Return CI^95 data_Berkshire_raw.csv</vt:lpstr>
      <vt:lpstr>BRK-A vs SP500 data_Berkshire_raw.csv </vt:lpstr>
      <vt:lpstr>Practice Exercise</vt:lpstr>
      <vt:lpstr>Practice Exercise!</vt:lpstr>
      <vt:lpstr>Practice Exercise!</vt:lpstr>
      <vt:lpstr>Practice Exercise!</vt:lpstr>
      <vt:lpstr>Additional Example</vt:lpstr>
      <vt:lpstr>Example 4: Campaign Contributions </vt:lpstr>
      <vt:lpstr>Campaign Contributions in Connecticut</vt:lpstr>
      <vt:lpstr>Summary of Campaign Contribution Sample</vt:lpstr>
      <vt:lpstr>Campaign Contribution 95 Percent Confidence Intervals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Surprisingly Swift Decline of U.S.  Manufacturing Employment   May 2011       Justin R. Pierce, U.S. Census Bureau Peter K. Schott, Yale School of Management &amp; NBER</dc:title>
  <dc:creator>pks4</dc:creator>
  <cp:lastModifiedBy>Schott, Peter</cp:lastModifiedBy>
  <cp:revision>3063</cp:revision>
  <cp:lastPrinted>2014-02-20T16:21:36Z</cp:lastPrinted>
  <dcterms:created xsi:type="dcterms:W3CDTF">2012-10-07T19:45:42Z</dcterms:created>
  <dcterms:modified xsi:type="dcterms:W3CDTF">2026-08-25T00:00:24Z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PageLayout">
    <vt:lpwstr>Message</vt:lpwstr>
  </property>
</Properties>
</file>
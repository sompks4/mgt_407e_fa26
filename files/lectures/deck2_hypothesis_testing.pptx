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2"/>
  </p:notesMasterIdLst>
  <p:handoutMasterIdLst>
    <p:handoutMasterId r:id="rId123"/>
  </p:handoutMasterIdLst>
  <p:sldIdLst>
    <p:sldId id="1342" r:id="rId2"/>
    <p:sldId id="2579" r:id="rId3"/>
    <p:sldId id="2654" r:id="rId4"/>
    <p:sldId id="2655" r:id="rId5"/>
    <p:sldId id="2449" r:id="rId6"/>
    <p:sldId id="2537" r:id="rId7"/>
    <p:sldId id="2838" r:id="rId8"/>
    <p:sldId id="2834" r:id="rId9"/>
    <p:sldId id="2763" r:id="rId10"/>
    <p:sldId id="2792" r:id="rId11"/>
    <p:sldId id="2452" r:id="rId12"/>
    <p:sldId id="2501" r:id="rId13"/>
    <p:sldId id="2502" r:id="rId14"/>
    <p:sldId id="2806" r:id="rId15"/>
    <p:sldId id="2562" r:id="rId16"/>
    <p:sldId id="2827" r:id="rId17"/>
    <p:sldId id="2779" r:id="rId18"/>
    <p:sldId id="2803" r:id="rId19"/>
    <p:sldId id="2804" r:id="rId20"/>
    <p:sldId id="2805" r:id="rId21"/>
    <p:sldId id="2807" r:id="rId22"/>
    <p:sldId id="2773" r:id="rId23"/>
    <p:sldId id="2774" r:id="rId24"/>
    <p:sldId id="2828" r:id="rId25"/>
    <p:sldId id="2810" r:id="rId26"/>
    <p:sldId id="2759" r:id="rId27"/>
    <p:sldId id="2784" r:id="rId28"/>
    <p:sldId id="2835" r:id="rId29"/>
    <p:sldId id="2789" r:id="rId30"/>
    <p:sldId id="2567" r:id="rId31"/>
    <p:sldId id="2568" r:id="rId32"/>
    <p:sldId id="2569" r:id="rId33"/>
    <p:sldId id="2811" r:id="rId34"/>
    <p:sldId id="2812" r:id="rId35"/>
    <p:sldId id="2817" r:id="rId36"/>
    <p:sldId id="2839" r:id="rId37"/>
    <p:sldId id="2813" r:id="rId38"/>
    <p:sldId id="2788" r:id="rId39"/>
    <p:sldId id="2787" r:id="rId40"/>
    <p:sldId id="2819" r:id="rId41"/>
    <p:sldId id="2836" r:id="rId42"/>
    <p:sldId id="2824" r:id="rId43"/>
    <p:sldId id="2825" r:id="rId44"/>
    <p:sldId id="2816" r:id="rId45"/>
    <p:sldId id="2820" r:id="rId46"/>
    <p:sldId id="2571" r:id="rId47"/>
    <p:sldId id="2572" r:id="rId48"/>
    <p:sldId id="2560" r:id="rId49"/>
    <p:sldId id="2558" r:id="rId50"/>
    <p:sldId id="2559" r:id="rId51"/>
    <p:sldId id="2643" r:id="rId52"/>
    <p:sldId id="2762" r:id="rId53"/>
    <p:sldId id="2561" r:id="rId54"/>
    <p:sldId id="2097" r:id="rId55"/>
    <p:sldId id="2821" r:id="rId56"/>
    <p:sldId id="2491" r:id="rId57"/>
    <p:sldId id="2064" r:id="rId58"/>
    <p:sldId id="2499" r:id="rId59"/>
    <p:sldId id="2062" r:id="rId60"/>
    <p:sldId id="2515" r:id="rId61"/>
    <p:sldId id="2790" r:id="rId62"/>
    <p:sldId id="2791" r:id="rId63"/>
    <p:sldId id="2796" r:id="rId64"/>
    <p:sldId id="2573" r:id="rId65"/>
    <p:sldId id="2797" r:id="rId66"/>
    <p:sldId id="2534" r:id="rId67"/>
    <p:sldId id="2082" r:id="rId68"/>
    <p:sldId id="2830" r:id="rId69"/>
    <p:sldId id="2831" r:id="rId70"/>
    <p:sldId id="2832" r:id="rId71"/>
    <p:sldId id="2833" r:id="rId72"/>
    <p:sldId id="2837" r:id="rId73"/>
    <p:sldId id="2553" r:id="rId74"/>
    <p:sldId id="1857" r:id="rId75"/>
    <p:sldId id="1935" r:id="rId76"/>
    <p:sldId id="2641" r:id="rId77"/>
    <p:sldId id="2509" r:id="rId78"/>
    <p:sldId id="2510" r:id="rId79"/>
    <p:sldId id="2490" r:id="rId80"/>
    <p:sldId id="2649" r:id="rId81"/>
    <p:sldId id="2538" r:id="rId82"/>
    <p:sldId id="2539" r:id="rId83"/>
    <p:sldId id="2540" r:id="rId84"/>
    <p:sldId id="2541" r:id="rId85"/>
    <p:sldId id="2543" r:id="rId86"/>
    <p:sldId id="2549" r:id="rId87"/>
    <p:sldId id="2544" r:id="rId88"/>
    <p:sldId id="2551" r:id="rId89"/>
    <p:sldId id="2642" r:id="rId90"/>
    <p:sldId id="2550" r:id="rId91"/>
    <p:sldId id="2548" r:id="rId92"/>
    <p:sldId id="2545" r:id="rId93"/>
    <p:sldId id="2546" r:id="rId94"/>
    <p:sldId id="2547" r:id="rId95"/>
    <p:sldId id="2554" r:id="rId96"/>
    <p:sldId id="2555" r:id="rId97"/>
    <p:sldId id="2556" r:id="rId98"/>
    <p:sldId id="2557" r:id="rId99"/>
    <p:sldId id="2564" r:id="rId100"/>
    <p:sldId id="2565" r:id="rId101"/>
    <p:sldId id="2566" r:id="rId102"/>
    <p:sldId id="2523" r:id="rId103"/>
    <p:sldId id="2525" r:id="rId104"/>
    <p:sldId id="2526" r:id="rId105"/>
    <p:sldId id="2527" r:id="rId106"/>
    <p:sldId id="2528" r:id="rId107"/>
    <p:sldId id="2529" r:id="rId108"/>
    <p:sldId id="2498" r:id="rId109"/>
    <p:sldId id="2530" r:id="rId110"/>
    <p:sldId id="2533" r:id="rId111"/>
    <p:sldId id="2640" r:id="rId112"/>
    <p:sldId id="2451" r:id="rId113"/>
    <p:sldId id="2453" r:id="rId114"/>
    <p:sldId id="2518" r:id="rId115"/>
    <p:sldId id="2519" r:id="rId116"/>
    <p:sldId id="2769" r:id="rId117"/>
    <p:sldId id="2770" r:id="rId118"/>
    <p:sldId id="2768" r:id="rId119"/>
    <p:sldId id="2818" r:id="rId120"/>
    <p:sldId id="2823" r:id="rId121"/>
  </p:sldIdLst>
  <p:sldSz cx="9144000" cy="6858000" type="screen4x3"/>
  <p:notesSz cx="7010400" cy="9296400"/>
  <p:embeddedFontLst>
    <p:embeddedFont>
      <p:font typeface="Cambria Math" panose="02040503050406030204" pitchFamily="18" charset="0"/>
      <p:regular r:id="rId124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000" b="1" u="sng" kern="1200">
        <a:solidFill>
          <a:schemeClr val="tx1"/>
        </a:solidFill>
        <a:latin typeface="Arial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000" b="1" u="sng" kern="1200">
        <a:solidFill>
          <a:schemeClr val="tx1"/>
        </a:solidFill>
        <a:latin typeface="Arial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000" b="1" u="sng" kern="1200">
        <a:solidFill>
          <a:schemeClr val="tx1"/>
        </a:solidFill>
        <a:latin typeface="Arial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000" b="1" u="sng" kern="1200">
        <a:solidFill>
          <a:schemeClr val="tx1"/>
        </a:solidFill>
        <a:latin typeface="Arial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000" b="1" u="sng" kern="1200">
        <a:solidFill>
          <a:schemeClr val="tx1"/>
        </a:solidFill>
        <a:latin typeface="Arial" pitchFamily="34" charset="0"/>
        <a:ea typeface="+mn-ea"/>
        <a:cs typeface="Arial" charset="0"/>
      </a:defRPr>
    </a:lvl5pPr>
    <a:lvl6pPr marL="2286000" algn="l" defTabSz="914400" rtl="0" eaLnBrk="1" latinLnBrk="0" hangingPunct="1">
      <a:defRPr sz="2000" b="1" u="sng" kern="1200">
        <a:solidFill>
          <a:schemeClr val="tx1"/>
        </a:solidFill>
        <a:latin typeface="Arial" pitchFamily="34" charset="0"/>
        <a:ea typeface="+mn-ea"/>
        <a:cs typeface="Arial" charset="0"/>
      </a:defRPr>
    </a:lvl6pPr>
    <a:lvl7pPr marL="2743200" algn="l" defTabSz="914400" rtl="0" eaLnBrk="1" latinLnBrk="0" hangingPunct="1">
      <a:defRPr sz="2000" b="1" u="sng" kern="1200">
        <a:solidFill>
          <a:schemeClr val="tx1"/>
        </a:solidFill>
        <a:latin typeface="Arial" pitchFamily="34" charset="0"/>
        <a:ea typeface="+mn-ea"/>
        <a:cs typeface="Arial" charset="0"/>
      </a:defRPr>
    </a:lvl7pPr>
    <a:lvl8pPr marL="3200400" algn="l" defTabSz="914400" rtl="0" eaLnBrk="1" latinLnBrk="0" hangingPunct="1">
      <a:defRPr sz="2000" b="1" u="sng" kern="1200">
        <a:solidFill>
          <a:schemeClr val="tx1"/>
        </a:solidFill>
        <a:latin typeface="Arial" pitchFamily="34" charset="0"/>
        <a:ea typeface="+mn-ea"/>
        <a:cs typeface="Arial" charset="0"/>
      </a:defRPr>
    </a:lvl8pPr>
    <a:lvl9pPr marL="3657600" algn="l" defTabSz="914400" rtl="0" eaLnBrk="1" latinLnBrk="0" hangingPunct="1">
      <a:defRPr sz="2000" b="1" u="sng" kern="1200">
        <a:solidFill>
          <a:schemeClr val="tx1"/>
        </a:solidFill>
        <a:latin typeface="Arial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0" orient="horz" pos="1848" userDrawn="1">
          <p15:clr>
            <a:srgbClr val="A4A3A4"/>
          </p15:clr>
        </p15:guide>
        <p15:guide id="11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mit Khandelwal" initials="ak" lastIdx="1" clrIdx="0"/>
  <p:cmAuthor id="1" name="Justin R. Pierce" initials="JRP" lastIdx="10" clrIdx="1"/>
  <p:cmAuthor id="2" name="Schott, Peter" initials="SP" lastIdx="1" clrIdx="2"/>
  <p:cmAuthor id="3" name="Justin Pierce" initials="JP" lastIdx="7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4C9"/>
    <a:srgbClr val="FFCC99"/>
    <a:srgbClr val="0000FF"/>
    <a:srgbClr val="EB971B"/>
    <a:srgbClr val="FFFF99"/>
    <a:srgbClr val="008000"/>
    <a:srgbClr val="FF0000"/>
    <a:srgbClr val="EAF2F3"/>
    <a:srgbClr val="0070C0"/>
    <a:srgbClr val="FC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2" autoAdjust="0"/>
    <p:restoredTop sz="96813" autoAdjust="0"/>
  </p:normalViewPr>
  <p:slideViewPr>
    <p:cSldViewPr snapToGrid="0" showGuides="1">
      <p:cViewPr varScale="1">
        <p:scale>
          <a:sx n="140" d="100"/>
          <a:sy n="140" d="100"/>
        </p:scale>
        <p:origin x="2622" y="120"/>
      </p:cViewPr>
      <p:guideLst>
        <p:guide orient="horz" pos="184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handoutMaster" Target="handoutMasters/handoutMaster1.xml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font" Target="fonts/font1.fntdata"/><Relationship Id="rId12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811" tIns="44906" rIns="89811" bIns="44906" numCol="1" anchor="t" anchorCtr="0" compatLnSpc="1">
            <a:prstTxWarp prst="textNoShape">
              <a:avLst/>
            </a:prstTxWarp>
          </a:bodyPr>
          <a:lstStyle>
            <a:lvl1pPr defTabSz="897999">
              <a:defRPr sz="1200" b="0" u="none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734" y="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811" tIns="44906" rIns="89811" bIns="44906" numCol="1" anchor="t" anchorCtr="0" compatLnSpc="1">
            <a:prstTxWarp prst="textNoShape">
              <a:avLst/>
            </a:prstTxWarp>
          </a:bodyPr>
          <a:lstStyle>
            <a:lvl1pPr algn="r" defTabSz="897999">
              <a:defRPr sz="1200" b="0" u="none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3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123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811" tIns="44906" rIns="89811" bIns="44906" numCol="1" anchor="b" anchorCtr="0" compatLnSpc="1">
            <a:prstTxWarp prst="textNoShape">
              <a:avLst/>
            </a:prstTxWarp>
          </a:bodyPr>
          <a:lstStyle>
            <a:lvl1pPr defTabSz="897999">
              <a:defRPr sz="1200" b="0" u="none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3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734" y="8829123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811" tIns="44906" rIns="89811" bIns="44906" numCol="1" anchor="b" anchorCtr="0" compatLnSpc="1">
            <a:prstTxWarp prst="textNoShape">
              <a:avLst/>
            </a:prstTxWarp>
          </a:bodyPr>
          <a:lstStyle>
            <a:lvl1pPr algn="r" defTabSz="897999">
              <a:defRPr sz="1200" b="0" u="none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3C153773-BBBC-4D70-9901-00E50FC8BC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792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3009239" cy="49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782" tIns="44891" rIns="89782" bIns="44891" numCol="1" anchor="t" anchorCtr="0" compatLnSpc="1">
            <a:prstTxWarp prst="textNoShape">
              <a:avLst/>
            </a:prstTxWarp>
          </a:bodyPr>
          <a:lstStyle>
            <a:lvl1pPr defTabSz="897999">
              <a:defRPr sz="1200" b="0" u="none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5746" y="2"/>
            <a:ext cx="3086827" cy="49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782" tIns="44891" rIns="89782" bIns="44891" numCol="1" anchor="t" anchorCtr="0" compatLnSpc="1">
            <a:prstTxWarp prst="textNoShape">
              <a:avLst/>
            </a:prstTxWarp>
          </a:bodyPr>
          <a:lstStyle>
            <a:lvl1pPr algn="r" defTabSz="897999">
              <a:defRPr sz="1200" b="0" u="none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06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1575" y="701675"/>
            <a:ext cx="4683125" cy="3513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6506" y="4425323"/>
            <a:ext cx="5169561" cy="4145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782" tIns="44891" rIns="89782" bIns="448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50640"/>
            <a:ext cx="3009239" cy="422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782" tIns="44891" rIns="89782" bIns="44891" numCol="1" anchor="b" anchorCtr="0" compatLnSpc="1">
            <a:prstTxWarp prst="textNoShape">
              <a:avLst/>
            </a:prstTxWarp>
          </a:bodyPr>
          <a:lstStyle>
            <a:lvl1pPr defTabSz="897999">
              <a:defRPr sz="1200" b="0" u="none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5746" y="8850640"/>
            <a:ext cx="3086827" cy="422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782" tIns="44891" rIns="89782" bIns="44891" numCol="1" anchor="b" anchorCtr="0" compatLnSpc="1">
            <a:prstTxWarp prst="textNoShape">
              <a:avLst/>
            </a:prstTxWarp>
          </a:bodyPr>
          <a:lstStyle>
            <a:lvl1pPr algn="r" defTabSz="897999">
              <a:defRPr sz="1200" b="0" u="none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EE586428-1CEA-4E8A-8AB0-84B90B2FB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5035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586428-1CEA-4E8A-8AB0-84B90B2FB260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36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586428-1CEA-4E8A-8AB0-84B90B2FB260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53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586428-1CEA-4E8A-8AB0-84B90B2FB260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78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586428-1CEA-4E8A-8AB0-84B90B2FB260}" type="slidenum">
              <a:rPr lang="en-US" smtClean="0"/>
              <a:pPr>
                <a:defRPr/>
              </a:pPr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901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586428-1CEA-4E8A-8AB0-84B90B2FB260}" type="slidenum">
              <a:rPr lang="en-US" smtClean="0"/>
              <a:pPr>
                <a:defRPr/>
              </a:pPr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322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586428-1CEA-4E8A-8AB0-84B90B2FB260}" type="slidenum">
              <a:rPr lang="en-US" smtClean="0"/>
              <a:pPr>
                <a:defRPr/>
              </a:pPr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190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586428-1CEA-4E8A-8AB0-84B90B2FB260}" type="slidenum">
              <a:rPr lang="en-US" smtClean="0"/>
              <a:pPr>
                <a:defRPr/>
              </a:pPr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128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586428-1CEA-4E8A-8AB0-84B90B2FB260}" type="slidenum">
              <a:rPr lang="en-US" smtClean="0"/>
              <a:pPr>
                <a:defRPr/>
              </a:pPr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237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586428-1CEA-4E8A-8AB0-84B90B2FB260}" type="slidenum">
              <a:rPr lang="en-US" smtClean="0"/>
              <a:pPr>
                <a:defRPr/>
              </a:pPr>
              <a:t>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866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586428-1CEA-4E8A-8AB0-84B90B2FB260}" type="slidenum">
              <a:rPr lang="en-US" smtClean="0"/>
              <a:pPr>
                <a:defRPr/>
              </a:pPr>
              <a:t>106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123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586428-1CEA-4E8A-8AB0-84B90B2FB260}" type="slidenum">
              <a:rPr lang="en-US" smtClean="0"/>
              <a:pPr>
                <a:defRPr/>
              </a:pPr>
              <a:t>115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000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100" y="874832"/>
            <a:ext cx="7772400" cy="1235322"/>
          </a:xfrm>
        </p:spPr>
        <p:txBody>
          <a:bodyPr/>
          <a:lstStyle>
            <a:lvl1pPr algn="l">
              <a:defRPr sz="20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6099" y="3934047"/>
            <a:ext cx="8045007" cy="2456766"/>
          </a:xfrm>
        </p:spPr>
        <p:txBody>
          <a:bodyPr/>
          <a:lstStyle>
            <a:lvl1pPr marL="0" indent="0" algn="l">
              <a:buNone/>
              <a:defRPr sz="1800"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4013" y="1089025"/>
            <a:ext cx="4141787" cy="576897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89025"/>
            <a:ext cx="4143375" cy="576897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  <a:p>
            <a:pPr>
              <a:defRPr/>
            </a:pPr>
            <a:fld id="{930D94F4-7A06-4EF1-81B9-BE8C8288FE0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013" y="2865438"/>
            <a:ext cx="8437562" cy="7239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4013" y="274638"/>
            <a:ext cx="8437562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4013" y="1089025"/>
            <a:ext cx="8437562" cy="576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 u="none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89963" y="6272213"/>
            <a:ext cx="4953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u="none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  <a:p>
            <a:pPr>
              <a:defRPr/>
            </a:pPr>
            <a:fld id="{6C53B026-E3BC-40EA-A94F-CF3D3D4CBAA7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2871758"/>
            <a:ext cx="1847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dirty="0">
              <a:latin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accent2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Arial" pitchFamily="34" charset="0"/>
          <a:cs typeface="Arial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accent2"/>
          </a:solidFill>
          <a:latin typeface="Arial" pitchFamily="34" charset="0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Arial" pitchFamily="34" charset="0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Arial" pitchFamily="34" charset="0"/>
          <a:cs typeface="Arial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4.emf"/><Relationship Id="rId7" Type="http://schemas.openxmlformats.org/officeDocument/2006/relationships/image" Target="../media/image20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5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7" Type="http://schemas.openxmlformats.org/officeDocument/2006/relationships/image" Target="../media/image29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4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image" Target="../media/image140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image" Target="../media/image29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1.png"/><Relationship Id="rId5" Type="http://schemas.openxmlformats.org/officeDocument/2006/relationships/image" Target="../media/image14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4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png"/><Relationship Id="rId13" Type="http://schemas.openxmlformats.org/officeDocument/2006/relationships/image" Target="../media/image402.png"/><Relationship Id="rId3" Type="http://schemas.openxmlformats.org/officeDocument/2006/relationships/image" Target="../media/image15.emf"/><Relationship Id="rId7" Type="http://schemas.openxmlformats.org/officeDocument/2006/relationships/image" Target="../media/image37.png"/><Relationship Id="rId12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emf"/><Relationship Id="rId11" Type="http://schemas.openxmlformats.org/officeDocument/2006/relationships/image" Target="../media/image350.png"/><Relationship Id="rId5" Type="http://schemas.openxmlformats.org/officeDocument/2006/relationships/image" Target="../media/image330.png"/><Relationship Id="rId10" Type="http://schemas.openxmlformats.org/officeDocument/2006/relationships/image" Target="../media/image20.png"/><Relationship Id="rId4" Type="http://schemas.openxmlformats.org/officeDocument/2006/relationships/image" Target="../media/image29.png"/><Relationship Id="rId9" Type="http://schemas.openxmlformats.org/officeDocument/2006/relationships/image" Target="../media/image39.png"/><Relationship Id="rId1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png"/><Relationship Id="rId13" Type="http://schemas.openxmlformats.org/officeDocument/2006/relationships/image" Target="../media/image43.png"/><Relationship Id="rId3" Type="http://schemas.openxmlformats.org/officeDocument/2006/relationships/image" Target="../media/image15.emf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emf"/><Relationship Id="rId11" Type="http://schemas.openxmlformats.org/officeDocument/2006/relationships/image" Target="../media/image350.png"/><Relationship Id="rId5" Type="http://schemas.openxmlformats.org/officeDocument/2006/relationships/image" Target="../media/image330.png"/><Relationship Id="rId15" Type="http://schemas.openxmlformats.org/officeDocument/2006/relationships/image" Target="../media/image45.png"/><Relationship Id="rId10" Type="http://schemas.openxmlformats.org/officeDocument/2006/relationships/image" Target="../media/image36.png"/><Relationship Id="rId4" Type="http://schemas.openxmlformats.org/officeDocument/2006/relationships/image" Target="../media/image29.png"/><Relationship Id="rId9" Type="http://schemas.openxmlformats.org/officeDocument/2006/relationships/image" Target="../media/image35.png"/><Relationship Id="rId1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image" Target="../media/image5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18.emf"/><Relationship Id="rId4" Type="http://schemas.openxmlformats.org/officeDocument/2006/relationships/image" Target="../media/image49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1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orldmanagementsurvey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0.png"/><Relationship Id="rId4" Type="http://schemas.openxmlformats.org/officeDocument/2006/relationships/image" Target="../media/image54.e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hyperlink" Target="https://en.wikipedia.org/wiki/Whitus_v._Georgia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0.png"/><Relationship Id="rId4" Type="http://schemas.openxmlformats.org/officeDocument/2006/relationships/image" Target="../media/image700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ropbox.com/scl/fi/jgthldsknrqasoqdd1n4i/2025_02a_chatGPT_beer.mp4?rlkey=id3bb63owyclff5dd6lz1pxnq&amp;dl=0" TargetMode="Externa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ysoc.org/magazine-articles/the-strange-origins-of-the-students-t-test/" TargetMode="External"/><Relationship Id="rId2" Type="http://schemas.openxmlformats.org/officeDocument/2006/relationships/hyperlink" Target="https://en.wikipedia.org/wiki/Student%27s_t-tes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jpe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7" Type="http://schemas.openxmlformats.org/officeDocument/2006/relationships/image" Target="../media/image911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840.png"/><Relationship Id="rId4" Type="http://schemas.openxmlformats.org/officeDocument/2006/relationships/image" Target="../media/image83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7" Type="http://schemas.openxmlformats.org/officeDocument/2006/relationships/image" Target="../media/image930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840.png"/><Relationship Id="rId4" Type="http://schemas.openxmlformats.org/officeDocument/2006/relationships/image" Target="../media/image83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7" Type="http://schemas.openxmlformats.org/officeDocument/2006/relationships/image" Target="../media/image940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840.png"/><Relationship Id="rId4" Type="http://schemas.openxmlformats.org/officeDocument/2006/relationships/image" Target="../media/image83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100" y="1680064"/>
            <a:ext cx="7772400" cy="1235322"/>
          </a:xfrm>
        </p:spPr>
        <p:txBody>
          <a:bodyPr/>
          <a:lstStyle/>
          <a:p>
            <a:r>
              <a:rPr lang="en-US" dirty="0"/>
              <a:t>2. Hypothesis Testing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  <a:p>
            <a:pPr>
              <a:spcBef>
                <a:spcPts val="300"/>
              </a:spcBef>
            </a:pPr>
            <a:r>
              <a:rPr lang="en-US" sz="1400" dirty="0"/>
              <a:t>Peter K. Schott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Yale School of Management &amp; NBER &amp; CEPR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099" y="3055384"/>
            <a:ext cx="2850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MGT 407e Probability &amp; Statistics</a:t>
            </a:r>
          </a:p>
          <a:p>
            <a:r>
              <a:rPr lang="en-US" sz="14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1789431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4B74-C7CB-47BE-8639-FE562AAA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and Formulas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513F46-2823-48D5-809C-9CCAB548B1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89025"/>
                <a:ext cx="8843150" cy="5768975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Population</a:t>
                </a:r>
                <a:r>
                  <a:rPr lang="en-US" dirty="0"/>
                  <a:t> mean		</a:t>
                </a: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u="non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Population</a:t>
                </a:r>
                <a:r>
                  <a:rPr lang="en-US" dirty="0"/>
                  <a:t> variance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Population</a:t>
                </a:r>
                <a:r>
                  <a:rPr lang="en-US" dirty="0"/>
                  <a:t> standard deviation	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rad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:r>
                  <a:rPr lang="en-US" dirty="0">
                    <a:solidFill>
                      <a:srgbClr val="00B0F0"/>
                    </a:solidFill>
                  </a:rPr>
                  <a:t>Sample</a:t>
                </a:r>
                <a:r>
                  <a:rPr lang="en-US" dirty="0">
                    <a:solidFill>
                      <a:schemeClr val="accent6"/>
                    </a:solidFill>
                  </a:rPr>
                  <a:t> mean			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b="0" i="1" u="none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en-US" sz="20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b="0" i="1" u="none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u="none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u="none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u="none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u="none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u="none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u="none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sz="2000" b="0" i="1" u="none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:r>
                  <a:rPr lang="en-US" dirty="0">
                    <a:solidFill>
                      <a:srgbClr val="00B0F0"/>
                    </a:solidFill>
                  </a:rPr>
                  <a:t>Sample</a:t>
                </a:r>
                <a:r>
                  <a:rPr lang="en-US" dirty="0">
                    <a:solidFill>
                      <a:schemeClr val="accent6"/>
                    </a:solidFill>
                  </a:rPr>
                  <a:t> variance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en-US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			</a:t>
                </a: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:r>
                  <a:rPr lang="en-US" dirty="0">
                    <a:solidFill>
                      <a:srgbClr val="00B0F0"/>
                    </a:solidFill>
                  </a:rPr>
                  <a:t>Sample</a:t>
                </a:r>
                <a:r>
                  <a:rPr lang="en-US" dirty="0">
                    <a:solidFill>
                      <a:schemeClr val="accent6"/>
                    </a:solidFill>
                  </a:rPr>
                  <a:t> standard deviation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bar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 Standard error of (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		 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𝑆𝐸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𝑆𝑡𝑑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  <m:r>
                      <a:rPr lang="en-US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rad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 Critical values (CV) 			1.65 (90%), 1.96 (95%), 2.58 (99%) </a:t>
                </a: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 Margin of error of (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		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𝐶𝑉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𝑆𝑡𝑑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 Confidence interval for (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		CI: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b="0" i="1" u="none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en-US" sz="20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20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𝑀𝑎𝑟𝑔𝑖𝑛</m:t>
                    </m:r>
                    <m:r>
                      <a:rPr lang="en-US" sz="20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𝑜𝑓</m:t>
                    </m:r>
                    <m:r>
                      <a:rPr lang="en-US" sz="20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𝐸𝑟𝑟𝑜𝑟</m:t>
                    </m:r>
                    <m:r>
                      <a:rPr lang="en-US" sz="20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en-US" sz="20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513F46-2823-48D5-809C-9CCAB548B1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89025"/>
                <a:ext cx="8843150" cy="5768975"/>
              </a:xfrm>
              <a:blipFill>
                <a:blip r:embed="rId2"/>
                <a:stretch>
                  <a:fillRect l="-620" r="-482" b="-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FD882-6343-49D6-99AE-20E70C907E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3667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4B74-C7CB-47BE-8639-FE562AAA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and Formulas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513F46-2823-48D5-809C-9CCAB548B1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89025"/>
                <a:ext cx="8843150" cy="5768975"/>
              </a:xfrm>
            </p:spPr>
            <p:txBody>
              <a:bodyPr/>
              <a:lstStyle/>
              <a:p>
                <a:r>
                  <a:rPr lang="en-US" dirty="0"/>
                  <a:t>t-stat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(for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r>
                  <a:rPr lang="en-US" dirty="0"/>
                  <a:t> 	</a:t>
                </a:r>
                <a:r>
                  <a:rPr lang="en-US" dirty="0">
                    <a:solidFill>
                      <a:schemeClr val="tx1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t-stat	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(for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r>
                  <a:rPr lang="en-US" dirty="0"/>
                  <a:t>				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i="1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i="1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Choosing N for a given margin of error 	</a:t>
                </a:r>
                <a14:m>
                  <m:oMath xmlns:m="http://schemas.openxmlformats.org/officeDocument/2006/math">
                    <m:r>
                      <a:rPr lang="en-US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f>
                              <m:f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𝑀𝐸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dirty="0">
                    <a:solidFill>
                      <a:schemeClr val="accent6"/>
                    </a:solidFill>
                  </a:rPr>
                </a:b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(assuming some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 from pilot study)</a:t>
                </a:r>
                <a:endParaRPr lang="en-US" dirty="0">
                  <a:solidFill>
                    <a:schemeClr val="accent6"/>
                  </a:solidFill>
                </a:endParaRPr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Covariance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(sample)		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en-US" dirty="0"/>
              </a:p>
              <a:p>
                <a:pPr fontAlgn="ctr"/>
                <a:r>
                  <a:rPr lang="en-US" dirty="0"/>
                  <a:t>Correlation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endParaRPr lang="es-ES" b="0" i="0" dirty="0">
                  <a:solidFill>
                    <a:srgbClr val="0B57D0"/>
                  </a:solidFill>
                  <a:effectLst/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OLS slope estimate		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OLS intercept estimate			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513F46-2823-48D5-809C-9CCAB548B1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89025"/>
                <a:ext cx="8843150" cy="5768975"/>
              </a:xfrm>
              <a:blipFill>
                <a:blip r:embed="rId2"/>
                <a:stretch>
                  <a:fillRect l="-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FD882-6343-49D6-99AE-20E70C907E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2187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4B74-C7CB-47BE-8639-FE562AAA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and Formulas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513F46-2823-48D5-809C-9CCAB548B1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89025"/>
                <a:ext cx="8843150" cy="5768975"/>
              </a:xfrm>
            </p:spPr>
            <p:txBody>
              <a:bodyPr/>
              <a:lstStyle/>
              <a:p>
                <a:r>
                  <a:rPr lang="en-US" dirty="0"/>
                  <a:t>Mean squared error (MSE) 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Standard error of regression			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𝑆𝑡𝑑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𝐸𝑟𝑟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𝑅𝑒𝑔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9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den>
                        </m:f>
                      </m:e>
                    </m:rad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/>
                  <a:t>Standard error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 	</a:t>
                </a:r>
                <a:r>
                  <a:rPr lang="en-US" dirty="0">
                    <a:solidFill>
                      <a:schemeClr val="tx1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𝑆𝑡𝑑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𝑀𝑆𝐸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9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i="1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t-stat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				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𝐸𝑟𝑟</m:t>
                        </m:r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Margin of error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)				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𝑆𝑡𝑑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Confidence interval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) </a:t>
                </a:r>
                <a:r>
                  <a:rPr lang="en-US" dirty="0">
                    <a:solidFill>
                      <a:schemeClr val="accent6"/>
                    </a:solidFill>
                  </a:rPr>
                  <a:t>	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𝑀𝑎𝑟𝑔𝑖𝑛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𝐸𝑟𝑟𝑜𝑟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Regression goodness of fit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𝑉𝑎𝑟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𝑉𝑎𝑟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Predicting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		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+</a:t>
                </a:r>
                <a:r>
                  <a:rPr lang="en-US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sSup>
                      <m:sSup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/>
                  <a:t>Confidence interval for predicted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	</a:t>
                </a:r>
                <a:r>
                  <a:rPr lang="en-US" dirty="0">
                    <a:solidFill>
                      <a:schemeClr val="accent6"/>
                    </a:solidFill>
                  </a:rPr>
                  <a:t>	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𝐶𝐼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sz="14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1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40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14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𝐶𝑉</m:t>
                    </m:r>
                    <m:rad>
                      <m:radPr>
                        <m:degHide m:val="on"/>
                        <m:ctrlPr>
                          <a:rPr lang="en-US" sz="1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𝑀𝑆𝐸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4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4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sz="1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400" i="1">
                                                <a:solidFill>
                                                  <a:schemeClr val="accent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chemeClr val="accent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solidFill>
                                                  <a:schemeClr val="accent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</m:sup>
                                        </m:sSup>
                                        <m:r>
                                          <a:rPr lang="en-US" sz="14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1400" i="1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1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en-US" sz="1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sz="14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sz="14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1400" i="1">
                                                <a:solidFill>
                                                  <a:schemeClr val="accent6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i="1">
                                                    <a:solidFill>
                                                      <a:schemeClr val="accent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i="1">
                                                    <a:solidFill>
                                                      <a:schemeClr val="accent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i="1">
                                                    <a:solidFill>
                                                      <a:schemeClr val="accent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i="1">
                                                <a:solidFill>
                                                  <a:schemeClr val="accent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1400" i="1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4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den>
                            </m:f>
                          </m:e>
                        </m:d>
                      </m:e>
                    </m:rad>
                  </m:oMath>
                </a14:m>
                <a:r>
                  <a:rPr lang="en-US" sz="1400" dirty="0">
                    <a:solidFill>
                      <a:schemeClr val="accent6"/>
                    </a:solidFill>
                  </a:rPr>
                  <a:t> </a:t>
                </a:r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Prediction interval for new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 (optional)	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𝑃𝐼</m:t>
                    </m:r>
                    <m:d>
                      <m:dPr>
                        <m:ctrlPr>
                          <a:rPr lang="en-US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sz="1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4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14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𝐶𝑉</m:t>
                    </m:r>
                    <m:rad>
                      <m:radPr>
                        <m:degHide m:val="on"/>
                        <m:ctrlPr>
                          <a:rPr lang="en-US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𝑀𝑆𝐸</m:t>
                        </m:r>
                        <m:d>
                          <m:dPr>
                            <m:ctrlPr>
                              <a:rPr lang="en-US" sz="140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sz="14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4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4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400" b="0" i="1" smtClean="0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400" i="1">
                                                <a:solidFill>
                                                  <a:schemeClr val="bg1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chemeClr val="bg1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solidFill>
                                                  <a:schemeClr val="bg1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</m:sup>
                                        </m:sSup>
                                        <m:r>
                                          <a:rPr lang="en-US" sz="1400" b="0" i="1" smtClean="0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1400" b="0" i="1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400" b="0" i="1" smtClean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en-US" sz="14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sz="14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sz="1400" i="1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1400" i="1">
                                                <a:solidFill>
                                                  <a:schemeClr val="bg1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b="0" i="1" smtClean="0">
                                                    <a:solidFill>
                                                      <a:schemeClr val="bg1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i="1">
                                                    <a:solidFill>
                                                      <a:schemeClr val="bg1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i="1" smtClean="0">
                                                    <a:solidFill>
                                                      <a:schemeClr val="bg1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i="1">
                                                <a:solidFill>
                                                  <a:schemeClr val="bg1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1400" i="1" smtClean="0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400" i="1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den>
                            </m:f>
                          </m:e>
                        </m:d>
                      </m:e>
                    </m:rad>
                  </m:oMath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513F46-2823-48D5-809C-9CCAB548B1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89025"/>
                <a:ext cx="8843150" cy="5768975"/>
              </a:xfrm>
              <a:blipFill>
                <a:blip r:embed="rId2"/>
                <a:stretch>
                  <a:fillRect l="-620" b="-4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574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D582-3D6C-4719-A2BA-3A8AEDD1C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AFAE8-2735-4354-BD16-959EC96EAF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AFFBF8-8E93-4732-8616-CDD3973A1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858127"/>
              </p:ext>
            </p:extLst>
          </p:nvPr>
        </p:nvGraphicFramePr>
        <p:xfrm>
          <a:off x="1350339" y="1295400"/>
          <a:ext cx="646991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763">
                  <a:extLst>
                    <a:ext uri="{9D8B030D-6E8A-4147-A177-3AD203B41FA5}">
                      <a16:colId xmlns:a16="http://schemas.microsoft.com/office/drawing/2014/main" val="3308855989"/>
                    </a:ext>
                  </a:extLst>
                </a:gridCol>
                <a:gridCol w="1646784">
                  <a:extLst>
                    <a:ext uri="{9D8B030D-6E8A-4147-A177-3AD203B41FA5}">
                      <a16:colId xmlns:a16="http://schemas.microsoft.com/office/drawing/2014/main" val="1583128806"/>
                    </a:ext>
                  </a:extLst>
                </a:gridCol>
                <a:gridCol w="2776364">
                  <a:extLst>
                    <a:ext uri="{9D8B030D-6E8A-4147-A177-3AD203B41FA5}">
                      <a16:colId xmlns:a16="http://schemas.microsoft.com/office/drawing/2014/main" val="3341339015"/>
                    </a:ext>
                  </a:extLst>
                </a:gridCol>
              </a:tblGrid>
              <a:tr h="27523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Meeting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045094"/>
                  </a:ext>
                </a:extLst>
              </a:tr>
              <a:tr h="27523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8/14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Confidence Interval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74289"/>
                  </a:ext>
                </a:extLst>
              </a:tr>
              <a:tr h="27523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8/28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Hypothesis Testing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503073"/>
                  </a:ext>
                </a:extLst>
              </a:tr>
              <a:tr h="27523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9/11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Bivariate OLS Regression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112944"/>
                  </a:ext>
                </a:extLst>
              </a:tr>
              <a:tr h="27523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9/25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Multivariate OLS Regression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165537"/>
                  </a:ext>
                </a:extLst>
              </a:tr>
              <a:tr h="27523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10/9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OLS Extensions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910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286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0616-9A87-46E6-BC7F-4CCDFE1D0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 / This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34B0B-E100-49E6-9FC6-CB78F7B0A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time	</a:t>
            </a:r>
          </a:p>
          <a:p>
            <a:pPr lvl="1"/>
            <a:r>
              <a:rPr lang="en-US" dirty="0"/>
              <a:t>Course motivation</a:t>
            </a:r>
          </a:p>
          <a:p>
            <a:pPr lvl="1"/>
            <a:r>
              <a:rPr lang="en-US" dirty="0"/>
              <a:t>Population vs mean</a:t>
            </a:r>
          </a:p>
          <a:p>
            <a:pPr lvl="1"/>
            <a:r>
              <a:rPr lang="en-US" dirty="0"/>
              <a:t>Standard deviation vs standard error</a:t>
            </a:r>
          </a:p>
          <a:p>
            <a:pPr lvl="1"/>
            <a:r>
              <a:rPr lang="en-US" dirty="0"/>
              <a:t>90, 95 and 99 percent confidence intervals</a:t>
            </a:r>
          </a:p>
          <a:p>
            <a:pPr lvl="1"/>
            <a:endParaRPr lang="en-US" dirty="0"/>
          </a:p>
          <a:p>
            <a:r>
              <a:rPr lang="en-US" dirty="0"/>
              <a:t>This time</a:t>
            </a:r>
          </a:p>
          <a:p>
            <a:pPr lvl="1"/>
            <a:r>
              <a:rPr lang="en-US" dirty="0"/>
              <a:t>Hypothesis testing</a:t>
            </a:r>
          </a:p>
          <a:p>
            <a:pPr lvl="1"/>
            <a:r>
              <a:rPr lang="en-US" dirty="0"/>
              <a:t>What is a t-statistic?</a:t>
            </a:r>
          </a:p>
          <a:p>
            <a:pPr lvl="1"/>
            <a:r>
              <a:rPr lang="en-US" dirty="0"/>
              <a:t>What is a p-value?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B7738-1F58-4D25-8348-AFDA0B4A14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751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9D24A-2A67-BE80-D599-3C0333ED0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D681A-B925-D833-19E8-CEDEB6F83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My impression: AI is an amplifier of engagement, not an equalizer</a:t>
            </a:r>
          </a:p>
          <a:p>
            <a:endParaRPr lang="en-US" dirty="0"/>
          </a:p>
          <a:p>
            <a:r>
              <a:rPr lang="en-US" dirty="0"/>
              <a:t>Your reactions?</a:t>
            </a:r>
          </a:p>
          <a:p>
            <a:endParaRPr lang="en-US" dirty="0"/>
          </a:p>
          <a:p>
            <a:r>
              <a:rPr lang="en-US" dirty="0"/>
              <a:t>I am revising PS2 a bit given what </a:t>
            </a:r>
            <a:r>
              <a:rPr lang="en-US"/>
              <a:t>I learned on PS 1.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8B478-E12D-0A6F-8742-86558A28C0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340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C9321-1940-9D7D-B7DD-0F0EDFBEF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18A5F-67A7-AF78-8DB8-0ABDEFA49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What does the Central Limit Theorem say?</a:t>
            </a:r>
          </a:p>
          <a:p>
            <a:endParaRPr lang="en-US" dirty="0"/>
          </a:p>
          <a:p>
            <a:r>
              <a:rPr lang="en-US" dirty="0"/>
              <a:t>Why is it so powerful?</a:t>
            </a:r>
          </a:p>
          <a:p>
            <a:endParaRPr lang="en-US" dirty="0"/>
          </a:p>
          <a:p>
            <a:r>
              <a:rPr lang="en-US" dirty="0"/>
              <a:t>What does </a:t>
            </a:r>
            <a:r>
              <a:rPr lang="en-US"/>
              <a:t>it allow us to do?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BE378-2427-0BD2-E99A-443F4EFDF6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9400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04F0A-9D4B-C0BA-9797-E6016039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3E08A-FEF3-A19E-2B95-BADE98CCB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42704B-424D-6473-970E-B8811C3358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89026"/>
                <a:ext cx="8437562" cy="1200264"/>
              </a:xfrm>
            </p:spPr>
            <p:txBody>
              <a:bodyPr/>
              <a:lstStyle/>
              <a:p>
                <a:r>
                  <a:rPr lang="en-US" dirty="0"/>
                  <a:t>In slide deck 1 we learned how to define </a:t>
                </a:r>
                <a:r>
                  <a:rPr lang="en-US" dirty="0">
                    <a:solidFill>
                      <a:srgbClr val="00B0F0"/>
                    </a:solidFill>
                  </a:rPr>
                  <a:t>confidence intervals </a:t>
                </a:r>
                <a:r>
                  <a:rPr lang="en-US" dirty="0">
                    <a:solidFill>
                      <a:schemeClr val="accent6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</a:t>
                </a:r>
              </a:p>
              <a:p>
                <a:pPr lvl="1"/>
                <a:r>
                  <a:rPr lang="en-US" dirty="0"/>
                  <a:t>“A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will contain the true sample mean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in 9/10 samples”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90</m:t>
                        </m:r>
                      </m:sup>
                    </m:sSup>
                  </m:oMath>
                </a14:m>
                <a:r>
                  <a:rPr lang="en-US" dirty="0"/>
                  <a:t>: “We are 90 percent confident that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90</m:t>
                        </m:r>
                      </m:sup>
                    </m:sSup>
                  </m:oMath>
                </a14:m>
                <a:r>
                  <a:rPr lang="en-US" dirty="0"/>
                  <a:t> contains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”</a:t>
                </a:r>
              </a:p>
              <a:p>
                <a:endParaRPr lang="en-US" dirty="0"/>
              </a:p>
              <a:p>
                <a:endParaRPr 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42704B-424D-6473-970E-B8811C335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89026"/>
                <a:ext cx="8437562" cy="1200264"/>
              </a:xfrm>
              <a:blipFill>
                <a:blip r:embed="rId2"/>
                <a:stretch>
                  <a:fillRect l="-650" t="-2030" b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B56A9-3A2C-7380-B75A-A353EB764F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44BD86A-483D-4519-AE03-FBA1BC7DB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402" y="3234465"/>
            <a:ext cx="4810887" cy="342785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73F57D24-0720-4CB2-B924-BC3DF9550473}"/>
              </a:ext>
            </a:extLst>
          </p:cNvPr>
          <p:cNvGrpSpPr/>
          <p:nvPr/>
        </p:nvGrpSpPr>
        <p:grpSpPr>
          <a:xfrm>
            <a:off x="4262593" y="4753549"/>
            <a:ext cx="1560576" cy="258386"/>
            <a:chOff x="2352928" y="3467789"/>
            <a:chExt cx="1560576" cy="258386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FA5D4EA-FA03-478F-8A8C-67FDE10E4B35}"/>
                </a:ext>
              </a:extLst>
            </p:cNvPr>
            <p:cNvCxnSpPr/>
            <p:nvPr/>
          </p:nvCxnSpPr>
          <p:spPr bwMode="auto">
            <a:xfrm>
              <a:off x="2352928" y="3504619"/>
              <a:ext cx="156057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EB44236-4C71-435D-85D5-2959056BD47D}"/>
                </a:ext>
              </a:extLst>
            </p:cNvPr>
            <p:cNvSpPr txBox="1"/>
            <p:nvPr/>
          </p:nvSpPr>
          <p:spPr>
            <a:xfrm>
              <a:off x="3021810" y="3526438"/>
              <a:ext cx="207825" cy="19973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54864" rtlCol="0" anchor="ctr" anchorCtr="0">
              <a:noAutofit/>
            </a:bodyPr>
            <a:lstStyle/>
            <a:p>
              <a:pPr algn="ctr"/>
              <a:r>
                <a:rPr lang="en-US" sz="1400" b="0" i="1" u="none" dirty="0">
                  <a:solidFill>
                    <a:srgbClr val="00B0F0"/>
                  </a:solidFill>
                  <a:cs typeface="Arial" pitchFamily="34" charset="0"/>
                </a:rPr>
                <a:t>z</a:t>
              </a:r>
              <a:r>
                <a:rPr lang="en-US" sz="1400" b="0" u="none" baseline="-25000" dirty="0">
                  <a:solidFill>
                    <a:srgbClr val="00B0F0"/>
                  </a:solidFill>
                  <a:cs typeface="Arial" pitchFamily="34" charset="0"/>
                </a:rPr>
                <a:t>1</a:t>
              </a:r>
              <a:endParaRPr lang="en-US" sz="1400" b="0" u="none" dirty="0">
                <a:solidFill>
                  <a:srgbClr val="00B0F0"/>
                </a:solidFill>
                <a:cs typeface="Arial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C2B4F6E-54F6-4B6D-9243-20ABEA8081A7}"/>
                </a:ext>
              </a:extLst>
            </p:cNvPr>
            <p:cNvSpPr/>
            <p:nvPr/>
          </p:nvSpPr>
          <p:spPr bwMode="auto">
            <a:xfrm>
              <a:off x="3090162" y="3467789"/>
              <a:ext cx="71120" cy="73660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D35E20F-9452-4C1A-B600-D44C5DD9F2E4}"/>
              </a:ext>
            </a:extLst>
          </p:cNvPr>
          <p:cNvGrpSpPr/>
          <p:nvPr/>
        </p:nvGrpSpPr>
        <p:grpSpPr>
          <a:xfrm>
            <a:off x="3809512" y="3404603"/>
            <a:ext cx="1560576" cy="258386"/>
            <a:chOff x="2352928" y="3467789"/>
            <a:chExt cx="1560576" cy="258386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6A17167-0A12-4707-8B2C-3A79878DFD58}"/>
                </a:ext>
              </a:extLst>
            </p:cNvPr>
            <p:cNvCxnSpPr/>
            <p:nvPr/>
          </p:nvCxnSpPr>
          <p:spPr bwMode="auto">
            <a:xfrm>
              <a:off x="2352928" y="3504619"/>
              <a:ext cx="156057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7DB2A3-DC4B-4E0E-88F1-07CD57B905E4}"/>
                </a:ext>
              </a:extLst>
            </p:cNvPr>
            <p:cNvSpPr txBox="1"/>
            <p:nvPr/>
          </p:nvSpPr>
          <p:spPr>
            <a:xfrm>
              <a:off x="3021810" y="3526438"/>
              <a:ext cx="207825" cy="19973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54864" rtlCol="0" anchor="ctr" anchorCtr="0">
              <a:noAutofit/>
            </a:bodyPr>
            <a:lstStyle/>
            <a:p>
              <a:pPr algn="ctr"/>
              <a:r>
                <a:rPr lang="en-US" sz="1400" b="0" i="1" u="none" dirty="0">
                  <a:solidFill>
                    <a:srgbClr val="00B0F0"/>
                  </a:solidFill>
                  <a:cs typeface="Arial" pitchFamily="34" charset="0"/>
                </a:rPr>
                <a:t>z</a:t>
              </a:r>
              <a:r>
                <a:rPr lang="en-US" sz="1400" b="0" u="none" baseline="-25000" dirty="0">
                  <a:solidFill>
                    <a:srgbClr val="00B0F0"/>
                  </a:solidFill>
                  <a:cs typeface="Arial" pitchFamily="34" charset="0"/>
                </a:rPr>
                <a:t>2</a:t>
              </a:r>
              <a:endParaRPr lang="en-US" sz="1400" b="0" u="none" dirty="0">
                <a:solidFill>
                  <a:srgbClr val="00B0F0"/>
                </a:solidFill>
                <a:cs typeface="Arial" pitchFamily="34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4C25C02-90C0-489D-8882-86083A2ED190}"/>
                </a:ext>
              </a:extLst>
            </p:cNvPr>
            <p:cNvSpPr/>
            <p:nvPr/>
          </p:nvSpPr>
          <p:spPr bwMode="auto">
            <a:xfrm>
              <a:off x="3090162" y="3467789"/>
              <a:ext cx="71120" cy="73660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>
                <a:solidFill>
                  <a:srgbClr val="00B0F0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B6E15A6-C0C5-41A8-A2A1-1D14A882D194}"/>
              </a:ext>
            </a:extLst>
          </p:cNvPr>
          <p:cNvGrpSpPr/>
          <p:nvPr/>
        </p:nvGrpSpPr>
        <p:grpSpPr>
          <a:xfrm>
            <a:off x="3177258" y="5416694"/>
            <a:ext cx="1560576" cy="258386"/>
            <a:chOff x="2352928" y="3467789"/>
            <a:chExt cx="1560576" cy="258386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4D0DDD2-1110-4ED4-B1E3-F6258C1D158E}"/>
                </a:ext>
              </a:extLst>
            </p:cNvPr>
            <p:cNvCxnSpPr/>
            <p:nvPr/>
          </p:nvCxnSpPr>
          <p:spPr bwMode="auto">
            <a:xfrm>
              <a:off x="2352928" y="3504619"/>
              <a:ext cx="156057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22041DE-56E5-4D3D-B0E5-F74F3EF7172C}"/>
                </a:ext>
              </a:extLst>
            </p:cNvPr>
            <p:cNvSpPr txBox="1"/>
            <p:nvPr/>
          </p:nvSpPr>
          <p:spPr>
            <a:xfrm>
              <a:off x="3021810" y="3526438"/>
              <a:ext cx="207825" cy="19973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54864" rtlCol="0" anchor="ctr" anchorCtr="0">
              <a:noAutofit/>
            </a:bodyPr>
            <a:lstStyle/>
            <a:p>
              <a:pPr algn="ctr"/>
              <a:r>
                <a:rPr lang="en-US" sz="1400" b="0" i="1" u="none" dirty="0">
                  <a:solidFill>
                    <a:srgbClr val="00B0F0"/>
                  </a:solidFill>
                  <a:cs typeface="Arial" pitchFamily="34" charset="0"/>
                </a:rPr>
                <a:t>z</a:t>
              </a:r>
              <a:r>
                <a:rPr lang="en-US" sz="1400" b="0" u="none" baseline="-25000" dirty="0">
                  <a:solidFill>
                    <a:srgbClr val="00B0F0"/>
                  </a:solidFill>
                  <a:cs typeface="Arial" pitchFamily="34" charset="0"/>
                </a:rPr>
                <a:t>3</a:t>
              </a:r>
              <a:endParaRPr lang="en-US" sz="1400" b="0" u="none" dirty="0">
                <a:solidFill>
                  <a:srgbClr val="00B0F0"/>
                </a:solidFill>
                <a:cs typeface="Arial" pitchFamily="34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B34909C-5325-4F0A-A471-A6FA81521C9D}"/>
                </a:ext>
              </a:extLst>
            </p:cNvPr>
            <p:cNvSpPr/>
            <p:nvPr/>
          </p:nvSpPr>
          <p:spPr bwMode="auto">
            <a:xfrm>
              <a:off x="3090162" y="3467789"/>
              <a:ext cx="71120" cy="73660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>
                <a:solidFill>
                  <a:srgbClr val="00B0F0"/>
                </a:solidFill>
              </a:endParaRPr>
            </a:p>
          </p:txBody>
        </p: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0988248-0EC1-4CA9-A2FB-D6D8D8C4BB85}"/>
              </a:ext>
            </a:extLst>
          </p:cNvPr>
          <p:cNvCxnSpPr/>
          <p:nvPr/>
        </p:nvCxnSpPr>
        <p:spPr bwMode="auto">
          <a:xfrm>
            <a:off x="4582306" y="3159278"/>
            <a:ext cx="0" cy="313861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64A5410-2639-45C9-9FA3-5BAB37A7A51B}"/>
              </a:ext>
            </a:extLst>
          </p:cNvPr>
          <p:cNvGrpSpPr/>
          <p:nvPr/>
        </p:nvGrpSpPr>
        <p:grpSpPr>
          <a:xfrm>
            <a:off x="4563772" y="5740547"/>
            <a:ext cx="1560576" cy="258386"/>
            <a:chOff x="2352928" y="3467789"/>
            <a:chExt cx="1560576" cy="258386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18659EE-B83B-4FBB-8CDF-B202D36CA107}"/>
                </a:ext>
              </a:extLst>
            </p:cNvPr>
            <p:cNvCxnSpPr/>
            <p:nvPr/>
          </p:nvCxnSpPr>
          <p:spPr bwMode="auto">
            <a:xfrm>
              <a:off x="2352928" y="3504619"/>
              <a:ext cx="156057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739583C-ED6B-4A65-840E-80E7AC796199}"/>
                </a:ext>
              </a:extLst>
            </p:cNvPr>
            <p:cNvSpPr txBox="1"/>
            <p:nvPr/>
          </p:nvSpPr>
          <p:spPr>
            <a:xfrm>
              <a:off x="3021810" y="3526438"/>
              <a:ext cx="207825" cy="19973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54864" rtlCol="0" anchor="ctr" anchorCtr="0">
              <a:noAutofit/>
            </a:bodyPr>
            <a:lstStyle/>
            <a:p>
              <a:pPr algn="ctr"/>
              <a:r>
                <a:rPr lang="en-US" sz="1400" b="0" i="1" u="none" dirty="0">
                  <a:solidFill>
                    <a:srgbClr val="00B0F0"/>
                  </a:solidFill>
                  <a:cs typeface="Arial" pitchFamily="34" charset="0"/>
                </a:rPr>
                <a:t>z</a:t>
              </a:r>
              <a:r>
                <a:rPr lang="en-US" sz="1400" b="0" u="none" baseline="-25000" dirty="0">
                  <a:solidFill>
                    <a:srgbClr val="00B0F0"/>
                  </a:solidFill>
                  <a:cs typeface="Arial" pitchFamily="34" charset="0"/>
                </a:rPr>
                <a:t>4</a:t>
              </a:r>
              <a:endParaRPr lang="en-US" sz="1400" b="0" u="none" dirty="0">
                <a:solidFill>
                  <a:srgbClr val="00B0F0"/>
                </a:solidFill>
                <a:cs typeface="Arial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6CE593F-F70A-49B1-A864-1DF7092E98DE}"/>
                </a:ext>
              </a:extLst>
            </p:cNvPr>
            <p:cNvSpPr/>
            <p:nvPr/>
          </p:nvSpPr>
          <p:spPr bwMode="auto">
            <a:xfrm>
              <a:off x="3090162" y="3467789"/>
              <a:ext cx="71120" cy="73660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>
                <a:solidFill>
                  <a:srgbClr val="00B0F0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6CF9D9E-9B29-4B9E-898F-56EDF494E494}"/>
              </a:ext>
            </a:extLst>
          </p:cNvPr>
          <p:cNvGrpSpPr/>
          <p:nvPr/>
        </p:nvGrpSpPr>
        <p:grpSpPr>
          <a:xfrm>
            <a:off x="2813269" y="6039508"/>
            <a:ext cx="1560576" cy="232706"/>
            <a:chOff x="2352928" y="3467789"/>
            <a:chExt cx="1560576" cy="232706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049C481-7AC4-427F-A901-9EFF13C63DAC}"/>
                </a:ext>
              </a:extLst>
            </p:cNvPr>
            <p:cNvCxnSpPr/>
            <p:nvPr/>
          </p:nvCxnSpPr>
          <p:spPr bwMode="auto">
            <a:xfrm>
              <a:off x="2352928" y="3504619"/>
              <a:ext cx="156057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56F0751-18D7-499C-A651-0F0CA3C6D44A}"/>
                </a:ext>
              </a:extLst>
            </p:cNvPr>
            <p:cNvSpPr txBox="1"/>
            <p:nvPr/>
          </p:nvSpPr>
          <p:spPr>
            <a:xfrm>
              <a:off x="3021810" y="3526439"/>
              <a:ext cx="234653" cy="17405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54864" rtlCol="0" anchor="ctr" anchorCtr="0">
              <a:noAutofit/>
            </a:bodyPr>
            <a:lstStyle/>
            <a:p>
              <a:pPr algn="ctr"/>
              <a:r>
                <a:rPr lang="en-US" sz="1400" b="0" i="1" u="none" dirty="0">
                  <a:cs typeface="Arial" pitchFamily="34" charset="0"/>
                </a:rPr>
                <a:t>z</a:t>
              </a:r>
              <a:r>
                <a:rPr lang="en-US" sz="1400" b="0" i="1" u="none" baseline="-25000" dirty="0">
                  <a:cs typeface="Arial" pitchFamily="34" charset="0"/>
                </a:rPr>
                <a:t>10</a:t>
              </a:r>
              <a:endParaRPr lang="en-US" sz="1400" b="0" u="none" dirty="0">
                <a:cs typeface="Arial" pitchFamily="34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415F154-B194-4E6C-972F-27D550381CCA}"/>
                </a:ext>
              </a:extLst>
            </p:cNvPr>
            <p:cNvSpPr/>
            <p:nvPr/>
          </p:nvSpPr>
          <p:spPr bwMode="auto">
            <a:xfrm>
              <a:off x="3090162" y="3467789"/>
              <a:ext cx="71120" cy="73660"/>
            </a:xfrm>
            <a:prstGeom prst="ellipse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>
                <a:solidFill>
                  <a:srgbClr val="00B0F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3644AED-4F47-4EB6-847C-7BEB3AEC49AE}"/>
                  </a:ext>
                </a:extLst>
              </p:cNvPr>
              <p:cNvSpPr txBox="1"/>
              <p:nvPr/>
            </p:nvSpPr>
            <p:spPr>
              <a:xfrm>
                <a:off x="3074037" y="2760991"/>
                <a:ext cx="3016537" cy="3101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u="none" dirty="0">
                    <a:cs typeface="Arial" panose="020B0604020202020204" pitchFamily="34" charset="0"/>
                  </a:rPr>
                  <a:t>Sample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  <m:sSup>
                      <m:sSupPr>
                        <m:ctrlPr>
                          <a:rPr lang="en-US" sz="1400" b="0" i="1" u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400" b="0" i="1" u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p>
                        <m:r>
                          <a:rPr lang="en-US" sz="1400" b="0" i="1" u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90</m:t>
                        </m:r>
                      </m:sup>
                    </m:sSup>
                  </m:oMath>
                </a14:m>
                <a:r>
                  <a:rPr lang="en-US" sz="1400" b="0" u="none" dirty="0">
                    <a:cs typeface="Arial" panose="020B0604020202020204" pitchFamily="34" charset="0"/>
                  </a:rPr>
                  <a:t> vs </a:t>
                </a:r>
                <a14:m>
                  <m:oMath xmlns:m="http://schemas.openxmlformats.org/officeDocument/2006/math">
                    <m:r>
                      <a:rPr lang="en-US" sz="1400" b="0" i="1" u="none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sz="1400" b="0" i="1" u="none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(0,1) </m:t>
                    </m:r>
                  </m:oMath>
                </a14:m>
                <a:r>
                  <a:rPr lang="en-US" sz="1400" b="0" u="none" dirty="0">
                    <a:cs typeface="Arial" panose="020B0604020202020204" pitchFamily="34" charset="0"/>
                  </a:rPr>
                  <a:t>Population</a:t>
                </a:r>
                <a:endParaRPr lang="en-US" sz="1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3644AED-4F47-4EB6-847C-7BEB3AEC4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037" y="2760991"/>
                <a:ext cx="3016537" cy="310150"/>
              </a:xfrm>
              <a:prstGeom prst="rect">
                <a:avLst/>
              </a:prstGeom>
              <a:blipFill>
                <a:blip r:embed="rId4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38E8F45E-C190-D287-2356-5F66BE55F964}"/>
              </a:ext>
            </a:extLst>
          </p:cNvPr>
          <p:cNvGrpSpPr/>
          <p:nvPr/>
        </p:nvGrpSpPr>
        <p:grpSpPr>
          <a:xfrm>
            <a:off x="4151187" y="4278465"/>
            <a:ext cx="1560576" cy="258386"/>
            <a:chOff x="2352928" y="3467789"/>
            <a:chExt cx="1560576" cy="25838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479A46F-0E3E-10FF-1F98-957CBEA44F22}"/>
                </a:ext>
              </a:extLst>
            </p:cNvPr>
            <p:cNvCxnSpPr/>
            <p:nvPr/>
          </p:nvCxnSpPr>
          <p:spPr bwMode="auto">
            <a:xfrm>
              <a:off x="2352928" y="3504619"/>
              <a:ext cx="156057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0FC2F9-852F-D2D6-B836-7B621B8D5254}"/>
                </a:ext>
              </a:extLst>
            </p:cNvPr>
            <p:cNvSpPr txBox="1"/>
            <p:nvPr/>
          </p:nvSpPr>
          <p:spPr>
            <a:xfrm>
              <a:off x="3021810" y="3526438"/>
              <a:ext cx="207825" cy="19973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54864" rtlCol="0" anchor="ctr" anchorCtr="0">
              <a:noAutofit/>
            </a:bodyPr>
            <a:lstStyle/>
            <a:p>
              <a:pPr algn="ctr"/>
              <a:r>
                <a:rPr lang="en-US" sz="1400" b="0" i="1" u="none" dirty="0">
                  <a:solidFill>
                    <a:srgbClr val="00B0F0"/>
                  </a:solidFill>
                  <a:cs typeface="Arial" pitchFamily="34" charset="0"/>
                </a:rPr>
                <a:t>z</a:t>
              </a:r>
              <a:r>
                <a:rPr lang="en-US" sz="1400" b="0" u="none" baseline="-25000" dirty="0">
                  <a:solidFill>
                    <a:srgbClr val="00B0F0"/>
                  </a:solidFill>
                  <a:cs typeface="Arial" pitchFamily="34" charset="0"/>
                </a:rPr>
                <a:t>5</a:t>
              </a:r>
              <a:endParaRPr lang="en-US" sz="1400" b="0" u="none" dirty="0">
                <a:solidFill>
                  <a:srgbClr val="00B0F0"/>
                </a:solidFill>
                <a:cs typeface="Arial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9867B0A-60A7-9335-CC3E-F1BA86259DEA}"/>
                </a:ext>
              </a:extLst>
            </p:cNvPr>
            <p:cNvSpPr/>
            <p:nvPr/>
          </p:nvSpPr>
          <p:spPr bwMode="auto">
            <a:xfrm>
              <a:off x="3090162" y="3467789"/>
              <a:ext cx="71120" cy="73660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CA85A4D-441C-11F2-A99E-04867ED7C07E}"/>
              </a:ext>
            </a:extLst>
          </p:cNvPr>
          <p:cNvGrpSpPr/>
          <p:nvPr/>
        </p:nvGrpSpPr>
        <p:grpSpPr>
          <a:xfrm>
            <a:off x="3550503" y="3930213"/>
            <a:ext cx="1560576" cy="258386"/>
            <a:chOff x="2352928" y="3467789"/>
            <a:chExt cx="1560576" cy="25838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113F38-7CFE-D71C-E1DB-8E4EA30790BD}"/>
                </a:ext>
              </a:extLst>
            </p:cNvPr>
            <p:cNvCxnSpPr/>
            <p:nvPr/>
          </p:nvCxnSpPr>
          <p:spPr bwMode="auto">
            <a:xfrm>
              <a:off x="2352928" y="3504619"/>
              <a:ext cx="156057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6B2E877-A7E9-D6C4-EEDF-CC134DB4D54A}"/>
                </a:ext>
              </a:extLst>
            </p:cNvPr>
            <p:cNvSpPr txBox="1"/>
            <p:nvPr/>
          </p:nvSpPr>
          <p:spPr>
            <a:xfrm>
              <a:off x="3021810" y="3526438"/>
              <a:ext cx="207825" cy="19973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54864" rtlCol="0" anchor="ctr" anchorCtr="0">
              <a:noAutofit/>
            </a:bodyPr>
            <a:lstStyle/>
            <a:p>
              <a:pPr algn="ctr"/>
              <a:r>
                <a:rPr lang="en-US" sz="1400" b="0" i="1" u="none" dirty="0">
                  <a:solidFill>
                    <a:srgbClr val="00B0F0"/>
                  </a:solidFill>
                  <a:cs typeface="Arial" pitchFamily="34" charset="0"/>
                </a:rPr>
                <a:t>z</a:t>
              </a:r>
              <a:r>
                <a:rPr lang="en-US" sz="1400" b="0" u="none" baseline="-25000" dirty="0">
                  <a:solidFill>
                    <a:srgbClr val="00B0F0"/>
                  </a:solidFill>
                  <a:cs typeface="Arial" pitchFamily="34" charset="0"/>
                </a:rPr>
                <a:t>6</a:t>
              </a:r>
              <a:endParaRPr lang="en-US" sz="1400" b="0" u="none" dirty="0">
                <a:solidFill>
                  <a:srgbClr val="00B0F0"/>
                </a:solidFill>
                <a:cs typeface="Arial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F6A9D09-2C85-9262-0382-D5F01438ABB3}"/>
                </a:ext>
              </a:extLst>
            </p:cNvPr>
            <p:cNvSpPr/>
            <p:nvPr/>
          </p:nvSpPr>
          <p:spPr bwMode="auto">
            <a:xfrm>
              <a:off x="3090162" y="3467789"/>
              <a:ext cx="71120" cy="73660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299B88B-7197-F25D-C1C7-A8B6A6743C44}"/>
              </a:ext>
            </a:extLst>
          </p:cNvPr>
          <p:cNvGrpSpPr/>
          <p:nvPr/>
        </p:nvGrpSpPr>
        <p:grpSpPr>
          <a:xfrm>
            <a:off x="3273677" y="5070802"/>
            <a:ext cx="1560576" cy="258386"/>
            <a:chOff x="2352928" y="3467789"/>
            <a:chExt cx="1560576" cy="25838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9AA933-799D-588A-F0C6-98E63A0D7B58}"/>
                </a:ext>
              </a:extLst>
            </p:cNvPr>
            <p:cNvCxnSpPr/>
            <p:nvPr/>
          </p:nvCxnSpPr>
          <p:spPr bwMode="auto">
            <a:xfrm>
              <a:off x="2352928" y="3504619"/>
              <a:ext cx="156057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F121A69-2C89-C9B9-83DC-FAE7552D2294}"/>
                </a:ext>
              </a:extLst>
            </p:cNvPr>
            <p:cNvSpPr txBox="1"/>
            <p:nvPr/>
          </p:nvSpPr>
          <p:spPr>
            <a:xfrm>
              <a:off x="3021810" y="3526438"/>
              <a:ext cx="207825" cy="19973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54864" rtlCol="0" anchor="ctr" anchorCtr="0">
              <a:noAutofit/>
            </a:bodyPr>
            <a:lstStyle/>
            <a:p>
              <a:pPr algn="ctr"/>
              <a:r>
                <a:rPr lang="en-US" sz="1400" b="0" i="1" u="none" dirty="0">
                  <a:solidFill>
                    <a:srgbClr val="00B0F0"/>
                  </a:solidFill>
                  <a:cs typeface="Arial" pitchFamily="34" charset="0"/>
                </a:rPr>
                <a:t>z</a:t>
              </a:r>
              <a:r>
                <a:rPr lang="en-US" sz="1400" b="0" u="none" baseline="-25000" dirty="0">
                  <a:solidFill>
                    <a:srgbClr val="00B0F0"/>
                  </a:solidFill>
                  <a:cs typeface="Arial" pitchFamily="34" charset="0"/>
                </a:rPr>
                <a:t>7</a:t>
              </a:r>
              <a:endParaRPr lang="en-US" sz="1400" b="0" u="none" dirty="0">
                <a:solidFill>
                  <a:srgbClr val="00B0F0"/>
                </a:solidFill>
                <a:cs typeface="Arial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33EF47C-8D16-DD3C-427F-E051867FC940}"/>
                </a:ext>
              </a:extLst>
            </p:cNvPr>
            <p:cNvSpPr/>
            <p:nvPr/>
          </p:nvSpPr>
          <p:spPr bwMode="auto">
            <a:xfrm>
              <a:off x="3090162" y="3467789"/>
              <a:ext cx="71120" cy="73660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109B823-27B6-1CF9-2D19-F0700103270A}"/>
              </a:ext>
            </a:extLst>
          </p:cNvPr>
          <p:cNvGrpSpPr/>
          <p:nvPr/>
        </p:nvGrpSpPr>
        <p:grpSpPr>
          <a:xfrm>
            <a:off x="4386114" y="5210255"/>
            <a:ext cx="1560576" cy="258386"/>
            <a:chOff x="2352928" y="3467789"/>
            <a:chExt cx="1560576" cy="258386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66B0E14-9F0E-A85F-E4C8-4ACFEE0D2047}"/>
                </a:ext>
              </a:extLst>
            </p:cNvPr>
            <p:cNvCxnSpPr/>
            <p:nvPr/>
          </p:nvCxnSpPr>
          <p:spPr bwMode="auto">
            <a:xfrm>
              <a:off x="2352928" y="3504619"/>
              <a:ext cx="156057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41E1103-FD78-1343-586D-6FCEB5C3A1F1}"/>
                </a:ext>
              </a:extLst>
            </p:cNvPr>
            <p:cNvSpPr txBox="1"/>
            <p:nvPr/>
          </p:nvSpPr>
          <p:spPr>
            <a:xfrm>
              <a:off x="3021810" y="3526438"/>
              <a:ext cx="207825" cy="19973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54864" rtlCol="0" anchor="ctr" anchorCtr="0">
              <a:noAutofit/>
            </a:bodyPr>
            <a:lstStyle/>
            <a:p>
              <a:pPr algn="ctr"/>
              <a:r>
                <a:rPr lang="en-US" sz="1400" b="0" i="1" u="none" dirty="0">
                  <a:solidFill>
                    <a:srgbClr val="00B0F0"/>
                  </a:solidFill>
                  <a:cs typeface="Arial" pitchFamily="34" charset="0"/>
                </a:rPr>
                <a:t>z</a:t>
              </a:r>
              <a:r>
                <a:rPr lang="en-US" sz="1400" b="0" u="none" baseline="-25000" dirty="0">
                  <a:solidFill>
                    <a:srgbClr val="00B0F0"/>
                  </a:solidFill>
                  <a:cs typeface="Arial" pitchFamily="34" charset="0"/>
                </a:rPr>
                <a:t>8</a:t>
              </a:r>
              <a:endParaRPr lang="en-US" sz="1400" b="0" u="none" dirty="0">
                <a:solidFill>
                  <a:srgbClr val="00B0F0"/>
                </a:solidFill>
                <a:cs typeface="Arial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43E07F6-AF23-61CA-0A56-CDF41302CEB4}"/>
                </a:ext>
              </a:extLst>
            </p:cNvPr>
            <p:cNvSpPr/>
            <p:nvPr/>
          </p:nvSpPr>
          <p:spPr bwMode="auto">
            <a:xfrm>
              <a:off x="3090162" y="3467789"/>
              <a:ext cx="71120" cy="73660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102EAF-5662-C68D-2ED4-3DC6F4A497C2}"/>
              </a:ext>
            </a:extLst>
          </p:cNvPr>
          <p:cNvGrpSpPr/>
          <p:nvPr/>
        </p:nvGrpSpPr>
        <p:grpSpPr>
          <a:xfrm>
            <a:off x="3398965" y="4504330"/>
            <a:ext cx="1560576" cy="258386"/>
            <a:chOff x="2352928" y="3467789"/>
            <a:chExt cx="1560576" cy="25838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40DFF27-9F69-0CC4-9362-84705B17DA83}"/>
                </a:ext>
              </a:extLst>
            </p:cNvPr>
            <p:cNvCxnSpPr/>
            <p:nvPr/>
          </p:nvCxnSpPr>
          <p:spPr bwMode="auto">
            <a:xfrm>
              <a:off x="2352928" y="3504619"/>
              <a:ext cx="156057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9EA1435-C5F9-3DAE-72E5-6763BAE98956}"/>
                </a:ext>
              </a:extLst>
            </p:cNvPr>
            <p:cNvSpPr txBox="1"/>
            <p:nvPr/>
          </p:nvSpPr>
          <p:spPr>
            <a:xfrm>
              <a:off x="3021810" y="3526438"/>
              <a:ext cx="207825" cy="19973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54864" rtlCol="0" anchor="ctr" anchorCtr="0">
              <a:noAutofit/>
            </a:bodyPr>
            <a:lstStyle/>
            <a:p>
              <a:pPr algn="ctr"/>
              <a:r>
                <a:rPr lang="en-US" sz="1400" b="0" i="1" u="none" dirty="0">
                  <a:solidFill>
                    <a:srgbClr val="00B0F0"/>
                  </a:solidFill>
                  <a:cs typeface="Arial" pitchFamily="34" charset="0"/>
                </a:rPr>
                <a:t>z</a:t>
              </a:r>
              <a:r>
                <a:rPr lang="en-US" sz="1400" b="0" i="1" u="none" baseline="-25000" dirty="0">
                  <a:solidFill>
                    <a:srgbClr val="00B0F0"/>
                  </a:solidFill>
                  <a:cs typeface="Arial" pitchFamily="34" charset="0"/>
                </a:rPr>
                <a:t>9</a:t>
              </a:r>
              <a:endParaRPr lang="en-US" sz="1400" b="0" u="none" dirty="0">
                <a:solidFill>
                  <a:srgbClr val="00B0F0"/>
                </a:solidFill>
                <a:cs typeface="Arial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D64048A-DEB3-D1CB-9FB4-3D453A2F6533}"/>
                </a:ext>
              </a:extLst>
            </p:cNvPr>
            <p:cNvSpPr/>
            <p:nvPr/>
          </p:nvSpPr>
          <p:spPr bwMode="auto">
            <a:xfrm>
              <a:off x="3090162" y="3467789"/>
              <a:ext cx="71120" cy="73660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B0F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B2FB10-D247-52C7-F8E9-F25C89EFB22A}"/>
                  </a:ext>
                </a:extLst>
              </p:cNvPr>
              <p:cNvSpPr txBox="1"/>
              <p:nvPr/>
            </p:nvSpPr>
            <p:spPr>
              <a:xfrm>
                <a:off x="6446184" y="3452216"/>
                <a:ext cx="1763825" cy="648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200" b="0" u="none" dirty="0">
                    <a:solidFill>
                      <a:srgbClr val="00B0F0"/>
                    </a:solidFill>
                    <a:cs typeface="Arial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1200" b="0" i="1" u="none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𝐶</m:t>
                    </m:r>
                    <m:sSup>
                      <m:sSupPr>
                        <m:ctrlPr>
                          <a:rPr lang="en-US" sz="1200" b="0" i="1" u="none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sz="1200" b="0" i="1" u="none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𝐼</m:t>
                        </m:r>
                      </m:e>
                      <m:sup>
                        <m:r>
                          <a:rPr lang="en-US" sz="1200" b="0" i="1" u="none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90</m:t>
                        </m:r>
                      </m:sup>
                    </m:sSup>
                  </m:oMath>
                </a14:m>
                <a:r>
                  <a:rPr lang="en-US" sz="1200" b="0" u="none" dirty="0">
                    <a:solidFill>
                      <a:srgbClr val="00B0F0"/>
                    </a:solidFill>
                    <a:cs typeface="Arial" pitchFamily="34" charset="0"/>
                  </a:rPr>
                  <a:t> will contain the true mean </a:t>
                </a:r>
                <a14:m>
                  <m:oMath xmlns:m="http://schemas.openxmlformats.org/officeDocument/2006/math">
                    <m:r>
                      <a:rPr lang="en-US" sz="1200" b="0" i="1" u="none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𝜇</m:t>
                    </m:r>
                  </m:oMath>
                </a14:m>
                <a:r>
                  <a:rPr lang="en-US" sz="1200" b="0" u="none" dirty="0">
                    <a:solidFill>
                      <a:srgbClr val="00B0F0"/>
                    </a:solidFill>
                    <a:cs typeface="Arial" pitchFamily="34" charset="0"/>
                  </a:rPr>
                  <a:t> in 9 out of 10 samples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B2FB10-D247-52C7-F8E9-F25C89EFB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184" y="3452216"/>
                <a:ext cx="1763825" cy="648447"/>
              </a:xfrm>
              <a:prstGeom prst="rect">
                <a:avLst/>
              </a:prstGeom>
              <a:blipFill>
                <a:blip r:embed="rId5"/>
                <a:stretch>
                  <a:fillRect t="-935" b="-4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B350953-AB5A-B6E6-1B1C-053AA118BC6D}"/>
              </a:ext>
            </a:extLst>
          </p:cNvPr>
          <p:cNvSpPr/>
          <p:nvPr/>
        </p:nvSpPr>
        <p:spPr bwMode="auto">
          <a:xfrm>
            <a:off x="5624945" y="3581400"/>
            <a:ext cx="886691" cy="588818"/>
          </a:xfrm>
          <a:custGeom>
            <a:avLst/>
            <a:gdLst>
              <a:gd name="connsiteX0" fmla="*/ 0 w 886691"/>
              <a:gd name="connsiteY0" fmla="*/ 588818 h 588818"/>
              <a:gd name="connsiteX1" fmla="*/ 464128 w 886691"/>
              <a:gd name="connsiteY1" fmla="*/ 145473 h 588818"/>
              <a:gd name="connsiteX2" fmla="*/ 886691 w 886691"/>
              <a:gd name="connsiteY2" fmla="*/ 0 h 58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6691" h="588818">
                <a:moveTo>
                  <a:pt x="0" y="588818"/>
                </a:moveTo>
                <a:cubicBezTo>
                  <a:pt x="158173" y="416213"/>
                  <a:pt x="316346" y="243609"/>
                  <a:pt x="464128" y="145473"/>
                </a:cubicBezTo>
                <a:cubicBezTo>
                  <a:pt x="611910" y="47337"/>
                  <a:pt x="749300" y="23668"/>
                  <a:pt x="886691" y="0"/>
                </a:cubicBezTo>
              </a:path>
            </a:pathLst>
          </a:custGeom>
          <a:noFill/>
          <a:ln w="317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E54DE22-4EA2-7F64-190C-2609888028BA}"/>
                  </a:ext>
                </a:extLst>
              </p:cNvPr>
              <p:cNvSpPr txBox="1"/>
              <p:nvPr/>
            </p:nvSpPr>
            <p:spPr>
              <a:xfrm>
                <a:off x="-79853" y="5000137"/>
                <a:ext cx="1763825" cy="833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b="0" u="none" dirty="0">
                    <a:solidFill>
                      <a:schemeClr val="tx1"/>
                    </a:solidFill>
                    <a:cs typeface="Arial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1200" b="0" i="1" u="none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𝐶</m:t>
                    </m:r>
                    <m:sSup>
                      <m:sSupPr>
                        <m:ctrlPr>
                          <a:rPr lang="en-US" sz="1200" b="0" i="1" u="none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sz="1200" b="0" i="1" u="none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𝐼</m:t>
                        </m:r>
                      </m:e>
                      <m:sup>
                        <m:r>
                          <a:rPr lang="en-US" sz="1200" b="0" i="1" u="none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90</m:t>
                        </m:r>
                      </m:sup>
                    </m:sSup>
                  </m:oMath>
                </a14:m>
                <a:r>
                  <a:rPr lang="en-US" sz="1200" b="0" u="none" dirty="0">
                    <a:solidFill>
                      <a:schemeClr val="tx1"/>
                    </a:solidFill>
                    <a:cs typeface="Arial" pitchFamily="34" charset="0"/>
                  </a:rPr>
                  <a:t> will NOT contain the true mean </a:t>
                </a:r>
                <a14:m>
                  <m:oMath xmlns:m="http://schemas.openxmlformats.org/officeDocument/2006/math">
                    <m:r>
                      <a:rPr lang="en-US" sz="12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𝜇</m:t>
                    </m:r>
                  </m:oMath>
                </a14:m>
                <a:r>
                  <a:rPr lang="en-US" sz="1200" b="0" u="none" dirty="0">
                    <a:solidFill>
                      <a:schemeClr val="tx1"/>
                    </a:solidFill>
                    <a:cs typeface="Arial" pitchFamily="34" charset="0"/>
                  </a:rPr>
                  <a:t> in 1 out of 10 samples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E54DE22-4EA2-7F64-190C-260988802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853" y="5000137"/>
                <a:ext cx="1763825" cy="833113"/>
              </a:xfrm>
              <a:prstGeom prst="rect">
                <a:avLst/>
              </a:prstGeom>
              <a:blipFill>
                <a:blip r:embed="rId6"/>
                <a:stretch>
                  <a:fillRect t="-730" r="-3114" b="-3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0274A2E5-00E5-49A7-3C22-529C928B7185}"/>
              </a:ext>
            </a:extLst>
          </p:cNvPr>
          <p:cNvSpPr/>
          <p:nvPr/>
        </p:nvSpPr>
        <p:spPr bwMode="auto">
          <a:xfrm>
            <a:off x="1655618" y="5145278"/>
            <a:ext cx="1336964" cy="805249"/>
          </a:xfrm>
          <a:custGeom>
            <a:avLst/>
            <a:gdLst>
              <a:gd name="connsiteX0" fmla="*/ 1336964 w 1336964"/>
              <a:gd name="connsiteY0" fmla="*/ 805249 h 805249"/>
              <a:gd name="connsiteX1" fmla="*/ 491837 w 1336964"/>
              <a:gd name="connsiteY1" fmla="*/ 126377 h 805249"/>
              <a:gd name="connsiteX2" fmla="*/ 0 w 1336964"/>
              <a:gd name="connsiteY2" fmla="*/ 1686 h 805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6964" h="805249">
                <a:moveTo>
                  <a:pt x="1336964" y="805249"/>
                </a:moveTo>
                <a:cubicBezTo>
                  <a:pt x="1025814" y="532776"/>
                  <a:pt x="714664" y="260304"/>
                  <a:pt x="491837" y="126377"/>
                </a:cubicBezTo>
                <a:cubicBezTo>
                  <a:pt x="269010" y="-7550"/>
                  <a:pt x="134505" y="-2932"/>
                  <a:pt x="0" y="1686"/>
                </a:cubicBezTo>
              </a:path>
            </a:pathLst>
          </a:cu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AD4F94-03DF-AFA6-41D5-17F533973BD0}"/>
              </a:ext>
            </a:extLst>
          </p:cNvPr>
          <p:cNvSpPr txBox="1"/>
          <p:nvPr/>
        </p:nvSpPr>
        <p:spPr>
          <a:xfrm>
            <a:off x="5089108" y="3637667"/>
            <a:ext cx="495140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050" b="0" u="none" dirty="0">
                <a:latin typeface="Arial" pitchFamily="34" charset="0"/>
                <a:cs typeface="Arial" pitchFamily="34" charset="0"/>
              </a:rPr>
              <a:t>1.65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D3B46C-9DBA-32BC-595E-F14A7017907B}"/>
              </a:ext>
            </a:extLst>
          </p:cNvPr>
          <p:cNvSpPr txBox="1"/>
          <p:nvPr/>
        </p:nvSpPr>
        <p:spPr>
          <a:xfrm>
            <a:off x="3550504" y="3637936"/>
            <a:ext cx="495140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050" b="0" u="none" dirty="0">
                <a:latin typeface="Arial" pitchFamily="34" charset="0"/>
                <a:cs typeface="Arial" pitchFamily="34" charset="0"/>
              </a:rPr>
              <a:t>-1.65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A8E83DF-3395-D43D-BCF3-2D5ECF8C762E}"/>
                  </a:ext>
                </a:extLst>
              </p:cNvPr>
              <p:cNvSpPr txBox="1"/>
              <p:nvPr/>
            </p:nvSpPr>
            <p:spPr>
              <a:xfrm>
                <a:off x="6511637" y="4492743"/>
                <a:ext cx="1698216" cy="830997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  <a:ln w="31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200" b="0" u="none" dirty="0">
                    <a:solidFill>
                      <a:schemeClr val="accent6"/>
                    </a:solidFill>
                    <a:cs typeface="Arial" pitchFamily="34" charset="0"/>
                  </a:rPr>
                  <a:t>So, with a </a:t>
                </a:r>
                <a14:m>
                  <m:oMath xmlns:m="http://schemas.openxmlformats.org/officeDocument/2006/math">
                    <m:r>
                      <a:rPr lang="en-US" sz="12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𝐶</m:t>
                    </m:r>
                    <m:sSup>
                      <m:sSupPr>
                        <m:ctrlPr>
                          <a:rPr lang="en-US" sz="12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sz="12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𝐼</m:t>
                        </m:r>
                      </m:e>
                      <m:sup>
                        <m:r>
                          <a:rPr lang="en-US" sz="12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90</m:t>
                        </m:r>
                      </m:sup>
                    </m:sSup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  <a:cs typeface="Arial" pitchFamily="34" charset="0"/>
                  </a:rPr>
                  <a:t> we will be wrong about the location of </a:t>
                </a:r>
                <a14:m>
                  <m:oMath xmlns:m="http://schemas.openxmlformats.org/officeDocument/2006/math">
                    <m:r>
                      <a:rPr lang="en-US" sz="1200" b="0" i="1" u="non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𝜇</m:t>
                    </m:r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  <a:cs typeface="Arial" pitchFamily="34" charset="0"/>
                  </a:rPr>
                  <a:t> 10% of the time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A8E83DF-3395-D43D-BCF3-2D5ECF8C7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637" y="4492743"/>
                <a:ext cx="1698216" cy="830997"/>
              </a:xfrm>
              <a:prstGeom prst="rect">
                <a:avLst/>
              </a:prstGeom>
              <a:blipFill>
                <a:blip r:embed="rId7"/>
                <a:stretch>
                  <a:fillRect t="-1460" r="-1071" b="-3650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853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1" grpId="0"/>
      <p:bldP spid="25" grpId="0"/>
      <p:bldP spid="26" grpId="0" animBg="1"/>
      <p:bldP spid="27" grpId="0"/>
      <p:bldP spid="52" grpId="0" animBg="1"/>
      <p:bldP spid="28" grpId="0" animBg="1"/>
      <p:bldP spid="53" grpId="0" animBg="1"/>
      <p:bldP spid="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7990D-9EDB-93A7-118C-B2819EDF5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6C78-3D37-2F62-3E97-D68E7FC10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D139ED-4010-682C-1893-D5966B9531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slide deck 1 we learned how to define </a:t>
                </a:r>
                <a:r>
                  <a:rPr lang="en-US" dirty="0">
                    <a:solidFill>
                      <a:srgbClr val="00B0F0"/>
                    </a:solidFill>
                  </a:rPr>
                  <a:t>confidence intervals </a:t>
                </a:r>
                <a:r>
                  <a:rPr lang="en-US" dirty="0">
                    <a:solidFill>
                      <a:schemeClr val="accent6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</a:t>
                </a:r>
              </a:p>
              <a:p>
                <a:pPr lvl="1"/>
                <a:r>
                  <a:rPr lang="en-US" dirty="0"/>
                  <a:t>“A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sup>
                    </m:sSup>
                  </m:oMath>
                </a14:m>
                <a:r>
                  <a:rPr lang="en-US" dirty="0"/>
                  <a:t> will contain the true sample mean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in 9/10 samples”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90</m:t>
                        </m:r>
                      </m:sup>
                    </m:sSup>
                  </m:oMath>
                </a14:m>
                <a:r>
                  <a:rPr lang="en-US" dirty="0"/>
                  <a:t>: “We are 90 percent confident that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90</m:t>
                        </m:r>
                      </m:sup>
                    </m:sSup>
                  </m:oMath>
                </a14:m>
                <a:r>
                  <a:rPr lang="en-US" dirty="0"/>
                  <a:t> contains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”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If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:r>
                  <a:rPr lang="en-US" u="sng" dirty="0">
                    <a:solidFill>
                      <a:schemeClr val="accent6"/>
                    </a:solidFill>
                  </a:rPr>
                  <a:t>in</a:t>
                </a:r>
                <a:r>
                  <a:rPr lang="en-US" dirty="0">
                    <a:solidFill>
                      <a:schemeClr val="accent6"/>
                    </a:solidFill>
                  </a:rPr>
                  <a:t>cludes a certain value, then the sample estimate is not </a:t>
                </a:r>
                <a:r>
                  <a:rPr lang="en-US" dirty="0">
                    <a:solidFill>
                      <a:srgbClr val="00B0F0"/>
                    </a:solidFill>
                  </a:rPr>
                  <a:t>statistically significantly</a:t>
                </a:r>
                <a:r>
                  <a:rPr lang="en-US" dirty="0">
                    <a:solidFill>
                      <a:schemeClr val="accent6"/>
                    </a:solidFill>
                  </a:rPr>
                  <a:t> different from that value at that 95% level </a:t>
                </a:r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In this slide deck, we show how to use a </a:t>
                </a:r>
                <a:r>
                  <a:rPr lang="en-US" dirty="0">
                    <a:solidFill>
                      <a:srgbClr val="00B0F0"/>
                    </a:solidFill>
                  </a:rPr>
                  <a:t>t-test</a:t>
                </a:r>
                <a:r>
                  <a:rPr lang="en-US" dirty="0">
                    <a:solidFill>
                      <a:schemeClr val="accent6"/>
                    </a:solidFill>
                  </a:rPr>
                  <a:t> to estimate the probability (</a:t>
                </a:r>
                <a:r>
                  <a:rPr lang="en-US" dirty="0">
                    <a:solidFill>
                      <a:srgbClr val="00B0F0"/>
                    </a:solidFill>
                  </a:rPr>
                  <a:t>p-value</a:t>
                </a:r>
                <a:r>
                  <a:rPr lang="en-US" dirty="0">
                    <a:solidFill>
                      <a:schemeClr val="accent6"/>
                    </a:solidFill>
                  </a:rPr>
                  <a:t>) of seeing a sample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if the true mean is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Probability what we see is </a:t>
                </a:r>
                <a:r>
                  <a:rPr lang="en-US" u="sng" dirty="0">
                    <a:solidFill>
                      <a:schemeClr val="accent6"/>
                    </a:solidFill>
                  </a:rPr>
                  <a:t>different from</a:t>
                </a:r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(2-sided t-test)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Probability what we see is </a:t>
                </a:r>
                <a:r>
                  <a:rPr lang="en-US" u="sng" dirty="0">
                    <a:solidFill>
                      <a:schemeClr val="accent6"/>
                    </a:solidFill>
                  </a:rPr>
                  <a:t>above</a:t>
                </a:r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(1-sided t-test)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Probability what we see is </a:t>
                </a:r>
                <a:r>
                  <a:rPr lang="en-US" u="sng" dirty="0">
                    <a:solidFill>
                      <a:schemeClr val="accent6"/>
                    </a:solidFill>
                  </a:rPr>
                  <a:t>below</a:t>
                </a:r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(1-sided t-test)</a:t>
                </a:r>
              </a:p>
              <a:p>
                <a:endParaRPr 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D139ED-4010-682C-1893-D5966B9531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0" t="-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EE696-EF03-84DA-0DAD-CB30ABC1BF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173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3B0D-B55D-4E24-A3B0-167BEA28C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3608F-3761-4CF7-86D5-F8A72CDDB4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2" y="1089025"/>
                <a:ext cx="8789987" cy="5768975"/>
              </a:xfrm>
            </p:spPr>
            <p:txBody>
              <a:bodyPr/>
              <a:lstStyle/>
              <a:p>
                <a:r>
                  <a:rPr lang="en-US" dirty="0"/>
                  <a:t>Hypothesis testing sets up a “horse race” between </a:t>
                </a:r>
              </a:p>
              <a:p>
                <a:pPr lvl="1"/>
                <a:r>
                  <a:rPr lang="en-US" dirty="0"/>
                  <a:t>A conservative </a:t>
                </a:r>
                <a:r>
                  <a:rPr lang="en-US" dirty="0">
                    <a:solidFill>
                      <a:srgbClr val="00B0F0"/>
                    </a:solidFill>
                  </a:rPr>
                  <a:t>null hypothesis</a:t>
                </a:r>
                <a:r>
                  <a:rPr lang="en-US" dirty="0"/>
                  <a:t> (</a:t>
                </a:r>
                <a:r>
                  <a:rPr lang="en-US" dirty="0">
                    <a:solidFill>
                      <a:srgbClr val="00B0F0"/>
                    </a:solidFill>
                  </a:rPr>
                  <a:t>H</a:t>
                </a:r>
                <a:r>
                  <a:rPr lang="en-US" baseline="-25000" dirty="0">
                    <a:solidFill>
                      <a:srgbClr val="00B0F0"/>
                    </a:solidFill>
                  </a:rPr>
                  <a:t>0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An interesting </a:t>
                </a:r>
                <a:r>
                  <a:rPr lang="en-US" dirty="0">
                    <a:solidFill>
                      <a:srgbClr val="00B0F0"/>
                    </a:solidFill>
                  </a:rPr>
                  <a:t>alternate hypothesis</a:t>
                </a:r>
                <a:r>
                  <a:rPr lang="en-US" dirty="0"/>
                  <a:t> (</a:t>
                </a:r>
                <a:r>
                  <a:rPr lang="en-US" dirty="0">
                    <a:solidFill>
                      <a:srgbClr val="00B0F0"/>
                    </a:solidFill>
                  </a:rPr>
                  <a:t>H</a:t>
                </a:r>
                <a:r>
                  <a:rPr lang="en-US" baseline="-25000" dirty="0">
                    <a:solidFill>
                      <a:srgbClr val="00B0F0"/>
                    </a:solidFill>
                  </a:rPr>
                  <a:t>A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For example, 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H</a:t>
                </a:r>
                <a:r>
                  <a:rPr lang="en-US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𝑟𝑒𝑡𝑢𝑟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𝐵𝑒𝑟𝑘𝑠h𝑖𝑟𝑒</m:t>
                        </m:r>
                      </m:sup>
                    </m:sSup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H</a:t>
                </a:r>
                <a:r>
                  <a:rPr lang="en-US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𝑟𝑒𝑡𝑢𝑟</m:t>
                    </m:r>
                    <m:sSup>
                      <m:sSupPr>
                        <m:ctrlP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𝐵𝑒𝑟𝑘𝑠h𝑖𝑟𝑒</m:t>
                        </m:r>
                      </m:sup>
                    </m:sSup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pPr lvl="1"/>
                <a:endParaRPr lang="en-US" dirty="0"/>
              </a:p>
              <a:p>
                <a:r>
                  <a:rPr lang="en-US" dirty="0"/>
                  <a:t>Hypothesis testing combines</a:t>
                </a:r>
              </a:p>
              <a:p>
                <a:pPr lvl="1"/>
                <a:r>
                  <a:rPr lang="en-US" dirty="0"/>
                  <a:t>Sample estimates</a:t>
                </a:r>
              </a:p>
              <a:p>
                <a:pPr lvl="1"/>
                <a:r>
                  <a:rPr lang="en-US" dirty="0"/>
                  <a:t>A probability framework for gauging sampling “noise”</a:t>
                </a:r>
              </a:p>
              <a:p>
                <a:pPr lvl="1"/>
                <a:r>
                  <a:rPr lang="en-US" dirty="0"/>
                  <a:t>A rule for deciding if the “noise” is too large to be from chance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Intuition: reject H</a:t>
                </a:r>
                <a:r>
                  <a:rPr lang="en-US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dirty="0">
                    <a:solidFill>
                      <a:schemeClr val="accent6"/>
                    </a:solidFill>
                  </a:rPr>
                  <a:t> when the probability of seeing the sample mean given H</a:t>
                </a:r>
                <a:r>
                  <a:rPr lang="en-US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dirty="0">
                    <a:solidFill>
                      <a:schemeClr val="accent6"/>
                    </a:solidFill>
                  </a:rPr>
                  <a:t> is “rare”, i.e., below some threshold you choose (conventionally 5%)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3608F-3761-4CF7-86D5-F8A72CDDB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2" y="1089025"/>
                <a:ext cx="8789987" cy="5768975"/>
              </a:xfrm>
              <a:blipFill>
                <a:blip r:embed="rId2"/>
                <a:stretch>
                  <a:fillRect l="-624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6A13E-D959-4E21-9917-5F319808F0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75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9733F-28D0-4A81-8159-9C9480CC8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Tax Scoring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(2-sided t-test)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260926-3477-4CA6-B45E-B87BFDA272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2391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7447-93D5-416D-9E01-446E1445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Scoring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F3554-7E07-4940-B683-651410436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116078"/>
                <a:ext cx="8437562" cy="5768975"/>
              </a:xfrm>
            </p:spPr>
            <p:txBody>
              <a:bodyPr/>
              <a:lstStyle/>
              <a:p>
                <a:r>
                  <a:rPr lang="en-US" dirty="0"/>
                  <a:t>The U.S. Senate is considering The Incredibly Beautiful Most Amazing Tax Bill of All Time (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TIBMATBOAT</a:t>
                </a:r>
                <a:r>
                  <a:rPr lang="en-US" dirty="0"/>
                  <a:t>), which Senators hope will be “revenue neutral”, i.e., it will have no impact on tax revenue collected </a:t>
                </a:r>
              </a:p>
              <a:p>
                <a:endParaRPr lang="en-US" dirty="0"/>
              </a:p>
              <a:p>
                <a:r>
                  <a:rPr lang="en-US" dirty="0"/>
                  <a:t>As head of the Treasury Department, the Senate asks you to confirm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TIBMATBOAT’s </a:t>
                </a:r>
                <a:r>
                  <a:rPr lang="en-US" dirty="0"/>
                  <a:t>revenue neutrality</a:t>
                </a:r>
              </a:p>
              <a:p>
                <a:endParaRPr lang="en-US" dirty="0"/>
              </a:p>
              <a:p>
                <a:r>
                  <a:rPr lang="en-US" dirty="0"/>
                  <a:t>You randomly sample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dirty="0"/>
                  <a:t> tax returns from the previous tax year and compute the mean difference in the taxes owed under both the old and new tax code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). You find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=219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=725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Hypothesis test</a:t>
                </a:r>
              </a:p>
              <a:p>
                <a:pPr lvl="1"/>
                <a:r>
                  <a:rPr lang="en-US" dirty="0"/>
                  <a:t>H</a:t>
                </a:r>
                <a:r>
                  <a:rPr lang="en-US" baseline="-25000" dirty="0"/>
                  <a:t>0</a:t>
                </a:r>
                <a:r>
                  <a:rPr lang="en-US" dirty="0"/>
                  <a:t>: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TIBMATBOAT </a:t>
                </a:r>
                <a:r>
                  <a:rPr lang="en-US" dirty="0"/>
                  <a:t>is revenue neutral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H</a:t>
                </a:r>
                <a:r>
                  <a:rPr lang="en-US" baseline="-25000" dirty="0"/>
                  <a:t>A</a:t>
                </a:r>
                <a:r>
                  <a:rPr lang="en-US" dirty="0"/>
                  <a:t>: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TIBMATBOAT</a:t>
                </a:r>
                <a:r>
                  <a:rPr lang="en-US" dirty="0"/>
                  <a:t> is not revenue neutral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F3554-7E07-4940-B683-651410436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116078"/>
                <a:ext cx="8437562" cy="5768975"/>
              </a:xfrm>
              <a:blipFill>
                <a:blip r:embed="rId2"/>
                <a:stretch>
                  <a:fillRect l="-650" t="-423" r="-1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234A8-AB71-4678-B749-C7DF452A57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397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91D4-8B80-4523-B1DA-521674D8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Tax Scoring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AAC705-CF7C-BC40-EA6D-5D3EC9B63974}"/>
              </a:ext>
            </a:extLst>
          </p:cNvPr>
          <p:cNvSpPr/>
          <p:nvPr/>
        </p:nvSpPr>
        <p:spPr bwMode="auto">
          <a:xfrm>
            <a:off x="5410183" y="4774406"/>
            <a:ext cx="123048" cy="223044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D8862-A479-45DA-A8F6-DB2792B1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5"/>
            <a:ext cx="3005875" cy="576897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Random Variable </a:t>
            </a:r>
            <a:r>
              <a:rPr lang="en-US" dirty="0" err="1">
                <a:solidFill>
                  <a:schemeClr val="bg1"/>
                </a:solidFill>
              </a:rPr>
              <a:t>xxxxxx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  <a:tabLst>
                <a:tab pos="287338" algn="l"/>
              </a:tabLst>
            </a:pPr>
            <a:r>
              <a:rPr lang="en-US" dirty="0"/>
              <a:t>	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Distribution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Population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Sample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statistic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spcBef>
                <a:spcPts val="0"/>
              </a:spcBef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spcBef>
                <a:spcPts val="0"/>
              </a:spcBef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6C76D-3002-40FC-A6C0-21B8EF5BFC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56591" y="1089025"/>
                <a:ext cx="5587409" cy="5678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9pPr>
              </a:lstStyle>
              <a:p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</a:rPr>
                  <a:t>, the differences in taxes owed under the new and old laws (new-old) for taxpayer </a:t>
                </a:r>
                <a:r>
                  <a:rPr lang="en-US" b="0" i="1" u="none" kern="0" dirty="0" err="1">
                    <a:solidFill>
                      <a:schemeClr val="tx1"/>
                    </a:solidFill>
                  </a:rPr>
                  <a:t>i</a:t>
                </a:r>
                <a:r>
                  <a:rPr lang="en-US" b="0" u="none" kern="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Continuous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All taxpayers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u="none" kern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u="none" kern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b="0" u="none" kern="0" dirty="0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returns</a:t>
                </a:r>
                <a:endParaRPr lang="en-US" b="0" u="none" kern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b="0" u="none" kern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b="0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0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r>
                          <a:rPr lang="en-US" b="0" i="1" u="none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b="0" i="1" u="none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u="none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b="0" i="1" u="non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b="0" i="1" u="none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b="0" i="1" u="none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den>
                    </m:f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  <a:tabLst>
                    <a:tab pos="287338" algn="l"/>
                  </a:tabLst>
                </a:pPr>
                <a14:m>
                  <m:oMath xmlns:m="http://schemas.openxmlformats.org/officeDocument/2006/math">
                    <m:r>
                      <a:rPr lang="en-US" b="0" i="1" u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u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in large samples</a:t>
                </a:r>
              </a:p>
              <a:p>
                <a:pPr marL="0" indent="0">
                  <a:buNone/>
                  <a:tabLst>
                    <a:tab pos="287338" algn="l"/>
                  </a:tabLst>
                </a:pPr>
                <a:r>
                  <a:rPr lang="en-US" b="0" u="none" dirty="0">
                    <a:solidFill>
                      <a:schemeClr val="bg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u="none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𝑆𝑡𝑢𝑑𝑒𝑛𝑡</m:t>
                    </m:r>
                    <m:r>
                      <a:rPr lang="en-US" b="0" i="1" u="none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u="none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b="0" u="none" kern="0" dirty="0">
                    <a:solidFill>
                      <a:schemeClr val="bg2"/>
                    </a:solidFill>
                    <a:ea typeface="Cambria Math" panose="02040503050406030204" pitchFamily="18" charset="0"/>
                  </a:rPr>
                  <a:t> in small samples)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6591" y="1089025"/>
                <a:ext cx="5587409" cy="5678488"/>
              </a:xfrm>
              <a:prstGeom prst="rect">
                <a:avLst/>
              </a:prstGeom>
              <a:blipFill>
                <a:blip r:embed="rId2"/>
                <a:stretch>
                  <a:fillRect l="-1091" r="-87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3DEB403-FCC3-D01C-2213-22C2F61D4754}"/>
              </a:ext>
            </a:extLst>
          </p:cNvPr>
          <p:cNvSpPr txBox="1"/>
          <p:nvPr/>
        </p:nvSpPr>
        <p:spPr>
          <a:xfrm>
            <a:off x="7121425" y="4649929"/>
            <a:ext cx="1889329" cy="738664"/>
          </a:xfrm>
          <a:prstGeom prst="rect">
            <a:avLst/>
          </a:prstGeom>
          <a:solidFill>
            <a:schemeClr val="accent3">
              <a:lumMod val="95000"/>
            </a:schemeClr>
          </a:solidFill>
          <a:ln w="31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0" u="none" dirty="0">
                <a:solidFill>
                  <a:schemeClr val="accent6"/>
                </a:solidFill>
                <a:cs typeface="Arial" pitchFamily="34" charset="0"/>
              </a:rPr>
              <a:t>We will show where the t-stat comes from in the next few slides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BEFCD5-50B0-5474-3DBA-11D6F309F074}"/>
              </a:ext>
            </a:extLst>
          </p:cNvPr>
          <p:cNvCxnSpPr>
            <a:cxnSpLocks/>
          </p:cNvCxnSpPr>
          <p:nvPr/>
        </p:nvCxnSpPr>
        <p:spPr bwMode="auto">
          <a:xfrm flipV="1">
            <a:off x="6300370" y="5019261"/>
            <a:ext cx="687810" cy="1"/>
          </a:xfrm>
          <a:prstGeom prst="straightConnector1">
            <a:avLst/>
          </a:prstGeom>
          <a:solidFill>
            <a:schemeClr val="accent1"/>
          </a:solidFill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6A77980-E596-7443-EC93-FB1A2B3294A5}"/>
              </a:ext>
            </a:extLst>
          </p:cNvPr>
          <p:cNvSpPr txBox="1"/>
          <p:nvPr/>
        </p:nvSpPr>
        <p:spPr>
          <a:xfrm>
            <a:off x="5930900" y="3860800"/>
            <a:ext cx="1003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0" u="none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Null hypothesis value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3435A2-4541-A968-5CD3-3E0C640DC89D}"/>
              </a:ext>
            </a:extLst>
          </p:cNvPr>
          <p:cNvSpPr/>
          <p:nvPr/>
        </p:nvSpPr>
        <p:spPr bwMode="auto">
          <a:xfrm>
            <a:off x="5571331" y="4483099"/>
            <a:ext cx="645319" cy="415131"/>
          </a:xfrm>
          <a:custGeom>
            <a:avLst/>
            <a:gdLst>
              <a:gd name="connsiteX0" fmla="*/ 0 w 368300"/>
              <a:gd name="connsiteY0" fmla="*/ 330200 h 330200"/>
              <a:gd name="connsiteX1" fmla="*/ 292100 w 368300"/>
              <a:gd name="connsiteY1" fmla="*/ 254000 h 330200"/>
              <a:gd name="connsiteX2" fmla="*/ 368300 w 368300"/>
              <a:gd name="connsiteY2" fmla="*/ 0 h 3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300" h="330200">
                <a:moveTo>
                  <a:pt x="0" y="330200"/>
                </a:moveTo>
                <a:cubicBezTo>
                  <a:pt x="115358" y="319616"/>
                  <a:pt x="230717" y="309033"/>
                  <a:pt x="292100" y="254000"/>
                </a:cubicBezTo>
                <a:cubicBezTo>
                  <a:pt x="353483" y="198967"/>
                  <a:pt x="360891" y="99483"/>
                  <a:pt x="368300" y="0"/>
                </a:cubicBezTo>
              </a:path>
            </a:pathLst>
          </a:custGeom>
          <a:noFill/>
          <a:ln w="317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5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91D4-8B80-4523-B1DA-521674D8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Tax Scoring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D8862-A479-45DA-A8F6-DB2792B1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5"/>
            <a:ext cx="3005875" cy="576897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Random Variable </a:t>
            </a:r>
            <a:r>
              <a:rPr lang="en-US" dirty="0" err="1">
                <a:solidFill>
                  <a:schemeClr val="bg1"/>
                </a:solidFill>
              </a:rPr>
              <a:t>xxxxxx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  <a:tabLst>
                <a:tab pos="287338" algn="l"/>
              </a:tabLst>
            </a:pPr>
            <a:r>
              <a:rPr lang="en-US" dirty="0"/>
              <a:t>	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Distribution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Population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Sample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statistic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spcBef>
                <a:spcPts val="0"/>
              </a:spcBef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spcBef>
                <a:spcPts val="1200"/>
              </a:spcBef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6C76D-3002-40FC-A6C0-21B8EF5BFC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56591" y="1089025"/>
                <a:ext cx="5587409" cy="5678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9pPr>
              </a:lstStyle>
              <a:p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</a:rPr>
                  <a:t>, the differences in taxes owed under the new and old laws (new-old) for taxpayer </a:t>
                </a:r>
                <a:r>
                  <a:rPr lang="en-US" b="0" i="1" u="none" kern="0" dirty="0" err="1">
                    <a:solidFill>
                      <a:schemeClr val="tx1"/>
                    </a:solidFill>
                  </a:rPr>
                  <a:t>i</a:t>
                </a:r>
                <a:r>
                  <a:rPr lang="en-US" b="0" u="none" kern="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Continuous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All taxpayers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u="none" kern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u="none" kern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returns</a:t>
                </a:r>
                <a:endParaRPr lang="en-US" b="0" u="none" kern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b="0" u="none" kern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b="0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0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r>
                          <a:rPr lang="en-US" b="0" i="1" u="none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b="0" i="1" u="none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u="none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b="0" i="1" u="non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b="0" i="1" u="none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b="0" i="1" u="none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den>
                    </m:f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b="0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0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d>
                          <m:dPr>
                            <m:ctrlPr>
                              <a:rPr lang="en-US" b="0" i="1" u="non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u="none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b="0" i="1" u="none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u="none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b="0" i="1" u="none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u="none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den>
                    </m:f>
                    <m:r>
                      <a:rPr lang="en-US" b="0" i="1" u="none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b="0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b="0" i="0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bar>
                        <m:r>
                          <a:rPr lang="en-US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d>
                          <m:dPr>
                            <m:ctrlPr>
                              <a:rPr lang="en-US" b="0" i="1" u="non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u="none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US" b="0" i="1" u="none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b="0" i="1" u="none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b="0" i="1" u="none">
                                                <a:solidFill>
                                                  <a:schemeClr val="accent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a:rPr lang="en-US" b="0" i="1" u="none">
                                                <a:solidFill>
                                                  <a:schemeClr val="accent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b="0" i="1" u="none">
                                                <a:solidFill>
                                                  <a:schemeClr val="accent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u="none">
                                                <a:solidFill>
                                                  <a:schemeClr val="accent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p>
                                          <m:e>
                                            <m:r>
                                              <a:rPr lang="en-US" b="0" i="1" u="none">
                                                <a:solidFill>
                                                  <a:schemeClr val="accent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0" i="1" u="none">
                                                    <a:solidFill>
                                                      <a:schemeClr val="accent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u="none">
                                                    <a:solidFill>
                                                      <a:schemeClr val="accent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u="none">
                                                    <a:solidFill>
                                                      <a:schemeClr val="accent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0" i="1" u="none">
                                                <a:solidFill>
                                                  <a:schemeClr val="accent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bar>
                                              <m:barPr>
                                                <m:pos m:val="top"/>
                                                <m:ctrlPr>
                                                  <a:rPr lang="en-US" b="0" i="1" u="none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barPr>
                                              <m:e>
                                                <m:r>
                                                  <a:rPr lang="en-US" b="0" i="1" u="none">
                                                    <a:solidFill>
                                                      <a:srgbClr val="00B0F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bar>
                                            <m:sSup>
                                              <m:sSupPr>
                                                <m:ctrlPr>
                                                  <a:rPr lang="en-US" b="0" i="1" u="none">
                                                    <a:solidFill>
                                                      <a:schemeClr val="accent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b="0" i="1" u="none">
                                                    <a:solidFill>
                                                      <a:schemeClr val="accent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b="0" i="1" u="none">
                                                    <a:solidFill>
                                                      <a:schemeClr val="accent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nary>
                                      </m:num>
                                      <m:den>
                                        <m:r>
                                          <a:rPr lang="en-US" b="0" i="1" u="none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b="0" i="1" u="none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</m:e>
                                </m:rad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b="0" i="1" u="none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u="none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FontTx/>
                  <a:buNone/>
                  <a:tabLst>
                    <a:tab pos="287338" algn="l"/>
                  </a:tabLst>
                </a:pPr>
                <a14:m>
                  <m:oMath xmlns:m="http://schemas.openxmlformats.org/officeDocument/2006/math">
                    <m:r>
                      <a:rPr lang="en-US" b="0" i="1" u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u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in large samples</a:t>
                </a:r>
              </a:p>
              <a:p>
                <a:pPr marL="0" indent="0">
                  <a:buNone/>
                  <a:tabLst>
                    <a:tab pos="287338" algn="l"/>
                  </a:tabLst>
                </a:pPr>
                <a:r>
                  <a:rPr lang="en-US" b="0" u="none" dirty="0">
                    <a:solidFill>
                      <a:schemeClr val="bg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u="none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𝑆𝑡𝑢𝑑𝑒𝑛𝑡</m:t>
                    </m:r>
                    <m:r>
                      <a:rPr lang="en-US" b="0" i="1" u="none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u="none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b="0" u="none" kern="0" dirty="0">
                    <a:solidFill>
                      <a:schemeClr val="bg2"/>
                    </a:solidFill>
                    <a:ea typeface="Cambria Math" panose="02040503050406030204" pitchFamily="18" charset="0"/>
                  </a:rPr>
                  <a:t> in small samples)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6591" y="1089025"/>
                <a:ext cx="5587409" cy="5678488"/>
              </a:xfrm>
              <a:prstGeom prst="rect">
                <a:avLst/>
              </a:prstGeom>
              <a:blipFill>
                <a:blip r:embed="rId2"/>
                <a:stretch>
                  <a:fillRect l="-1091" r="-87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DEB403-FCC3-D01C-2213-22C2F61D4754}"/>
                  </a:ext>
                </a:extLst>
              </p:cNvPr>
              <p:cNvSpPr txBox="1"/>
              <p:nvPr/>
            </p:nvSpPr>
            <p:spPr>
              <a:xfrm>
                <a:off x="6137664" y="2866343"/>
                <a:ext cx="2947599" cy="1384995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  <a:ln w="31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Note that all else equal, we are more likely to reject </a:t>
                </a:r>
                <a:r>
                  <a:rPr lang="en-US" sz="14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1400" b="0" u="none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 when</a:t>
                </a:r>
              </a:p>
              <a:p>
                <a:pPr marL="341313" lvl="1" indent="-111125">
                  <a:buFont typeface="Arial" panose="020B0604020202020204" pitchFamily="34" charset="0"/>
                  <a:buChar char="•"/>
                </a:pPr>
                <a:r>
                  <a:rPr lang="en-US" sz="1400" b="0" u="none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400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en-US" sz="1400" b="0" i="1" u="none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is larger</a:t>
                </a:r>
              </a:p>
              <a:p>
                <a:pPr marL="341313" lvl="1" indent="-111125">
                  <a:buFont typeface="Arial" panose="020B0604020202020204" pitchFamily="34" charset="0"/>
                  <a:buChar char="•"/>
                </a:pPr>
                <a:r>
                  <a:rPr lang="en-US" sz="1400" b="0" u="none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𝑆𝑡𝑑</m:t>
                    </m:r>
                    <m:r>
                      <a:rPr lang="en-US" sz="140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40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sz="1400" i="1" u="none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400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 is smaller</a:t>
                </a:r>
              </a:p>
              <a:p>
                <a:pPr marL="341313" lvl="1" indent="-111125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 is smaller</a:t>
                </a:r>
              </a:p>
              <a:p>
                <a:pPr marL="341313" lvl="1" indent="-111125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u="none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𝑁</m:t>
                    </m:r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 is larger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DEB403-FCC3-D01C-2213-22C2F61D4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664" y="2866343"/>
                <a:ext cx="2947599" cy="1384995"/>
              </a:xfrm>
              <a:prstGeom prst="rect">
                <a:avLst/>
              </a:prstGeom>
              <a:blipFill>
                <a:blip r:embed="rId3"/>
                <a:stretch>
                  <a:fillRect l="-620" t="-877" b="-3509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BEFCD5-50B0-5474-3DBA-11D6F309F074}"/>
              </a:ext>
            </a:extLst>
          </p:cNvPr>
          <p:cNvCxnSpPr/>
          <p:nvPr/>
        </p:nvCxnSpPr>
        <p:spPr bwMode="auto">
          <a:xfrm flipV="1">
            <a:off x="7549978" y="4251338"/>
            <a:ext cx="0" cy="543084"/>
          </a:xfrm>
          <a:prstGeom prst="straightConnector1">
            <a:avLst/>
          </a:prstGeom>
          <a:solidFill>
            <a:schemeClr val="accent1"/>
          </a:solidFill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0194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1F5E42-A076-2846-F30F-CD5237540E8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/>
                  <a:t> vs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𝑆𝑡𝑢𝑑𝑒𝑛𝑡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Distributions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1F5E42-A076-2846-F30F-CD5237540E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2C250D-5102-D360-5582-61E90D1594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13DF4-2769-58EB-3AC4-744BD8851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89" y="998538"/>
            <a:ext cx="7401221" cy="56522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57896C-59C4-8862-C711-96B31785FFF7}"/>
                  </a:ext>
                </a:extLst>
              </p:cNvPr>
              <p:cNvSpPr txBox="1"/>
              <p:nvPr/>
            </p:nvSpPr>
            <p:spPr>
              <a:xfrm>
                <a:off x="6592486" y="1049364"/>
                <a:ext cx="1997477" cy="2893100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  <a:ln w="31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𝑆𝑡𝑢𝑑𝑒𝑛𝑡</m:t>
                    </m:r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𝑡</m:t>
                    </m:r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 distribution has fatter tails to reflect the greater uncertainty when sample size (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𝑛</m:t>
                    </m:r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) is small</a:t>
                </a:r>
              </a:p>
              <a:p>
                <a:endParaRPr lang="en-US" sz="1400" b="0" u="none" dirty="0">
                  <a:solidFill>
                    <a:schemeClr val="accent6"/>
                  </a:solidFill>
                  <a:cs typeface="Arial" pitchFamily="34" charset="0"/>
                </a:endParaRPr>
              </a:p>
              <a:p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The tails keep getting fatter as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𝑛</m:t>
                    </m:r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 declines</a:t>
                </a:r>
              </a:p>
              <a:p>
                <a:endParaRPr lang="en-US" sz="1400" b="0" u="none" dirty="0">
                  <a:solidFill>
                    <a:schemeClr val="accent6"/>
                  </a:solidFill>
                  <a:cs typeface="Arial" pitchFamily="34" charset="0"/>
                </a:endParaRPr>
              </a:p>
              <a:p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These fatter tails mean larger </a:t>
                </a:r>
                <a14:m>
                  <m:oMath xmlns:m="http://schemas.openxmlformats.org/officeDocument/2006/math">
                    <m:r>
                      <a:rPr lang="en-US" sz="1400" b="0" i="1" u="none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𝐶</m:t>
                    </m:r>
                    <m:sSup>
                      <m:sSupPr>
                        <m:ctrlPr>
                          <a:rPr lang="en-US" sz="1400" b="0" i="1" u="none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sz="1400" b="0" i="1" u="none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𝐼</m:t>
                        </m:r>
                      </m:e>
                      <m:sup>
                        <m:r>
                          <a:rPr lang="en-US" sz="1400" b="0" i="1" u="none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 critical values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57896C-59C4-8862-C711-96B31785F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486" y="1049364"/>
                <a:ext cx="1997477" cy="2893100"/>
              </a:xfrm>
              <a:prstGeom prst="rect">
                <a:avLst/>
              </a:prstGeom>
              <a:blipFill>
                <a:blip r:embed="rId4"/>
                <a:stretch>
                  <a:fillRect l="-912" t="-420" r="-2432" b="-1261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3C512F-8BD7-D24C-ED66-8763ED997CB9}"/>
              </a:ext>
            </a:extLst>
          </p:cNvPr>
          <p:cNvSpPr/>
          <p:nvPr/>
        </p:nvSpPr>
        <p:spPr bwMode="auto">
          <a:xfrm>
            <a:off x="6825343" y="3951514"/>
            <a:ext cx="825822" cy="992777"/>
          </a:xfrm>
          <a:custGeom>
            <a:avLst/>
            <a:gdLst>
              <a:gd name="csX0" fmla="*/ 783771 w 825822"/>
              <a:gd name="csY0" fmla="*/ 0 h 992777"/>
              <a:gd name="csX1" fmla="*/ 738051 w 825822"/>
              <a:gd name="csY1" fmla="*/ 457200 h 992777"/>
              <a:gd name="csX2" fmla="*/ 0 w 825822"/>
              <a:gd name="csY2" fmla="*/ 992777 h 9927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25822" h="992777">
                <a:moveTo>
                  <a:pt x="783771" y="0"/>
                </a:moveTo>
                <a:cubicBezTo>
                  <a:pt x="826225" y="145868"/>
                  <a:pt x="868679" y="291737"/>
                  <a:pt x="738051" y="457200"/>
                </a:cubicBezTo>
                <a:cubicBezTo>
                  <a:pt x="607423" y="622663"/>
                  <a:pt x="303711" y="807720"/>
                  <a:pt x="0" y="992777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133AC1-C658-7E66-C489-EEA8B9FA1F9B}"/>
              </a:ext>
            </a:extLst>
          </p:cNvPr>
          <p:cNvSpPr/>
          <p:nvPr/>
        </p:nvSpPr>
        <p:spPr bwMode="auto">
          <a:xfrm>
            <a:off x="4872039" y="712200"/>
            <a:ext cx="2719470" cy="1073738"/>
          </a:xfrm>
          <a:custGeom>
            <a:avLst/>
            <a:gdLst>
              <a:gd name="csX0" fmla="*/ 2638697 w 2640685"/>
              <a:gd name="csY0" fmla="*/ 313234 h 1064349"/>
              <a:gd name="csX1" fmla="*/ 2214154 w 2640685"/>
              <a:gd name="csY1" fmla="*/ 38914 h 1064349"/>
              <a:gd name="csX2" fmla="*/ 0 w 2640685"/>
              <a:gd name="csY2" fmla="*/ 1064349 h 10643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40685" h="1064349">
                <a:moveTo>
                  <a:pt x="2638697" y="313234"/>
                </a:moveTo>
                <a:cubicBezTo>
                  <a:pt x="2646317" y="113481"/>
                  <a:pt x="2653937" y="-86272"/>
                  <a:pt x="2214154" y="38914"/>
                </a:cubicBezTo>
                <a:cubicBezTo>
                  <a:pt x="1774371" y="164100"/>
                  <a:pt x="887185" y="614224"/>
                  <a:pt x="0" y="1064349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0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6C750-D709-A0DE-3ECC-07F4AFF2F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57E283C-5FB8-207B-DD90-45323BD22C5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u="sng" dirty="0"/>
                  <a:t>Review</a:t>
                </a:r>
                <a:r>
                  <a:rPr lang="en-US" dirty="0"/>
                  <a:t>: the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>
                    <a:solidFill>
                      <a:schemeClr val="accent6"/>
                    </a:solidFill>
                  </a:rPr>
                  <a:t>Approach to Seeing 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57E283C-5FB8-207B-DD90-45323BD22C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5CFF5-4C19-3A9E-63FC-36F8AD4165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Your hypothesis test</a:t>
                </a:r>
              </a:p>
              <a:p>
                <a:pPr lvl="1"/>
                <a:r>
                  <a:rPr lang="en-US" sz="1800" dirty="0"/>
                  <a:t>H</a:t>
                </a:r>
                <a:r>
                  <a:rPr lang="en-US" sz="1800" baseline="-25000" dirty="0"/>
                  <a:t>0</a:t>
                </a:r>
                <a:r>
                  <a:rPr lang="en-US" sz="1800" dirty="0"/>
                  <a:t>: 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R</a:t>
                </a:r>
                <a:r>
                  <a:rPr lang="en-US" sz="1800" dirty="0"/>
                  <a:t>evenue neutral 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lvl="1"/>
                <a:r>
                  <a:rPr lang="en-US" sz="1800" dirty="0"/>
                  <a:t>H</a:t>
                </a:r>
                <a:r>
                  <a:rPr lang="en-US" sz="1800" baseline="-25000" dirty="0"/>
                  <a:t>A</a:t>
                </a:r>
                <a:r>
                  <a:rPr lang="en-US" sz="1800" dirty="0"/>
                  <a:t>: 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N</a:t>
                </a:r>
                <a:r>
                  <a:rPr lang="en-US" sz="1800" dirty="0"/>
                  <a:t>ot revenue neutral 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endParaRPr lang="en-US" sz="1800" dirty="0"/>
              </a:p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80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1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1.96∗</m:t>
                    </m:r>
                    <m:r>
                      <a:rPr lang="en-US" sz="1800" i="1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1800" b="0" i="1" dirty="0" smtClean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𝑡𝑑</m:t>
                    </m:r>
                    <m:r>
                      <a:rPr lang="en-US" sz="1800" b="0" i="1" dirty="0" smtClean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i="1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sz="1800" b="0" i="1" dirty="0" smtClean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𝑟𝑟</m:t>
                    </m:r>
                    <m:d>
                      <m:dPr>
                        <m:ctrlPr>
                          <a:rPr lang="en-US" sz="1800" b="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en-US" sz="1800" dirty="0"/>
              </a:p>
              <a:p>
                <a:endParaRPr lang="en-US" sz="1800" dirty="0"/>
              </a:p>
              <a:p>
                <a:r>
                  <a:rPr lang="en-US" sz="1800" dirty="0"/>
                  <a:t>If </a:t>
                </a:r>
                <a:r>
                  <a:rPr lang="en-US" sz="1800" dirty="0">
                    <a:solidFill>
                      <a:srgbClr val="FF0000"/>
                    </a:solidFill>
                  </a:rPr>
                  <a:t>0</a:t>
                </a:r>
                <a:r>
                  <a:rPr lang="en-US" sz="1800" dirty="0"/>
                  <a:t> is outside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sz="1800" dirty="0"/>
                  <a:t>, reject H</a:t>
                </a:r>
                <a:r>
                  <a:rPr lang="en-US" sz="1800" baseline="-25000" dirty="0"/>
                  <a:t>0</a:t>
                </a:r>
                <a:r>
                  <a:rPr lang="en-US" sz="1800" dirty="0"/>
                  <a:t> at 95% level. If not, cannot reject at that level.</a:t>
                </a:r>
              </a:p>
              <a:p>
                <a:pPr lvl="1"/>
                <a:endParaRPr lang="en-US" sz="1800" dirty="0">
                  <a:solidFill>
                    <a:schemeClr val="accent6"/>
                  </a:solidFill>
                </a:endParaRPr>
              </a:p>
              <a:p>
                <a:r>
                  <a:rPr lang="en-US" sz="1800" dirty="0">
                    <a:solidFill>
                      <a:schemeClr val="accent6"/>
                    </a:solidFill>
                  </a:rPr>
                  <a:t>Data: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80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=100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bar>
                      <m:barPr>
                        <m:pos m:val="top"/>
                        <m:ctrlP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en-US" sz="1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 $219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  </m:t>
                    </m:r>
                    <m:acc>
                      <m:accPr>
                        <m:chr m:val="̂"/>
                        <m:ctrlP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$725</m:t>
                    </m:r>
                  </m:oMath>
                </a14:m>
                <a:endParaRPr lang="en-US" sz="1800" dirty="0"/>
              </a:p>
              <a:p>
                <a:endParaRPr lang="en-US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±1.96∗</m:t>
                    </m:r>
                    <m:r>
                      <a:rPr lang="en-US" sz="1800" i="1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𝑆𝑡𝑑</m:t>
                    </m:r>
                    <m:r>
                      <a:rPr lang="en-US" sz="1800" i="1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i="1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sz="18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800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±1.96∗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1800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219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1.96∗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725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1800" i="1" dirty="0">
                    <a:solidFill>
                      <a:schemeClr val="accent6"/>
                    </a:solidFill>
                  </a:rPr>
                  <a:t> </a:t>
                </a:r>
              </a:p>
              <a:p>
                <a:pPr marL="0" lvl="1" indent="0" algn="ctr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=219</m:t>
                    </m:r>
                    <m:r>
                      <a:rPr lang="en-US" sz="1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±142</m:t>
                    </m:r>
                  </m:oMath>
                </a14:m>
                <a:r>
                  <a:rPr lang="en-US" sz="1800" i="1" dirty="0">
                    <a:solidFill>
                      <a:schemeClr val="accent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0" lvl="1" indent="0" algn="ctr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[77, </m:t>
                    </m:r>
                    <m:r>
                      <a:rPr lang="en-US" sz="1800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361]</m:t>
                    </m:r>
                  </m:oMath>
                </a14:m>
                <a:r>
                  <a:rPr lang="en-US" sz="1800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  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5CFF5-4C19-3A9E-63FC-36F8AD4165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06" t="-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E057D-17F1-A76F-2AE2-6C55492B38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6D802C-0EDF-FD7D-41A9-9E0BEE1EAED8}"/>
                  </a:ext>
                </a:extLst>
              </p:cNvPr>
              <p:cNvSpPr txBox="1"/>
              <p:nvPr/>
            </p:nvSpPr>
            <p:spPr>
              <a:xfrm>
                <a:off x="6025830" y="5855304"/>
                <a:ext cx="2564134" cy="741037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  <a:ln w="31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0" u="none" dirty="0">
                    <a:solidFill>
                      <a:schemeClr val="accent6"/>
                    </a:solidFill>
                  </a:rPr>
                  <a:t>0 is not in </a:t>
                </a:r>
                <a14:m>
                  <m:oMath xmlns:m="http://schemas.openxmlformats.org/officeDocument/2006/math">
                    <m:r>
                      <a:rPr lang="en-US" sz="14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1400" b="0" i="1" u="none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u="none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400" b="0" i="1" u="none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</a:rPr>
                  <a:t>!</a:t>
                </a:r>
              </a:p>
              <a:p>
                <a:pPr algn="ctr"/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We are 95% confident the true mean is </a:t>
                </a:r>
                <a:r>
                  <a:rPr lang="en-US" sz="1400" b="0" dirty="0">
                    <a:solidFill>
                      <a:schemeClr val="accent6"/>
                    </a:solidFill>
                    <a:cs typeface="Arial" pitchFamily="34" charset="0"/>
                  </a:rPr>
                  <a:t>different from</a:t>
                </a:r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6D802C-0EDF-FD7D-41A9-9E0BEE1EA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830" y="5855304"/>
                <a:ext cx="2564134" cy="741037"/>
              </a:xfrm>
              <a:prstGeom prst="rect">
                <a:avLst/>
              </a:prstGeom>
              <a:blipFill>
                <a:blip r:embed="rId4"/>
                <a:stretch>
                  <a:fillRect t="-820" b="-7377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73B42E-75AF-BE1D-B095-6FA9FEB7EEBB}"/>
              </a:ext>
            </a:extLst>
          </p:cNvPr>
          <p:cNvCxnSpPr/>
          <p:nvPr/>
        </p:nvCxnSpPr>
        <p:spPr bwMode="auto">
          <a:xfrm>
            <a:off x="5525871" y="6272213"/>
            <a:ext cx="49995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4107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B21B0B7-DB0A-402C-913E-569EAB6642F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u="sng" dirty="0"/>
                  <a:t>Review</a:t>
                </a:r>
                <a:r>
                  <a:rPr lang="en-US" dirty="0"/>
                  <a:t>: the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>
                    <a:solidFill>
                      <a:schemeClr val="accent6"/>
                    </a:solidFill>
                  </a:rPr>
                  <a:t>Approach to Seeing 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B21B0B7-DB0A-402C-913E-569EAB6642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F1EC27-152B-4731-9121-D3524BB41F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AE6B3B-1B9B-4E8B-B185-976C84828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419" y="1938638"/>
            <a:ext cx="4825015" cy="343792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5DF10A-932A-4036-8346-E6BD22D20259}"/>
              </a:ext>
            </a:extLst>
          </p:cNvPr>
          <p:cNvCxnSpPr/>
          <p:nvPr/>
        </p:nvCxnSpPr>
        <p:spPr bwMode="auto">
          <a:xfrm>
            <a:off x="4558395" y="3799703"/>
            <a:ext cx="5472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F74186-D38E-47A1-B910-3BEC2140AD85}"/>
                  </a:ext>
                </a:extLst>
              </p:cNvPr>
              <p:cNvSpPr txBox="1"/>
              <p:nvPr/>
            </p:nvSpPr>
            <p:spPr>
              <a:xfrm>
                <a:off x="5124153" y="3115980"/>
                <a:ext cx="3501258" cy="422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u="none" dirty="0" smtClean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  <m:r>
                      <a:rPr lang="en-US" sz="1400" b="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𝑡𝑑</m:t>
                    </m:r>
                    <m:r>
                      <a:rPr lang="en-US" sz="1400" b="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400" b="0" i="1" u="none" dirty="0" smtClean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  <m:r>
                      <a:rPr lang="en-US" sz="1400" b="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</m:t>
                    </m:r>
                    <m:r>
                      <a:rPr lang="en-US" sz="1400" b="0" i="1" u="none" dirty="0" smtClean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</m:t>
                    </m:r>
                    <m:d>
                      <m:dPr>
                        <m:ctrlPr>
                          <a:rPr lang="en-US" sz="1400" b="0" i="1" u="none" dirty="0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400" b="0" i="1" u="none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1400" b="0" i="1" u="none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1400" b="0" i="1" u="none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400" b="0" i="1" u="none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sz="1400" b="0" i="1" u="none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1400" b="0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𝜎</m:t>
                            </m:r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b="0" i="1" u="none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b="0" i="1" u="none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400" i="1" u="none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u="none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725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 u="none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i="1" u="none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rad>
                      </m:den>
                    </m:f>
                    <m:r>
                      <a:rPr lang="en-US" sz="1400" b="0" i="0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=72.5</m:t>
                    </m:r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F74186-D38E-47A1-B910-3BEC2140A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153" y="3115980"/>
                <a:ext cx="3501258" cy="422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42E6BD7-96B9-4471-A922-47F0F7F27AED}"/>
              </a:ext>
            </a:extLst>
          </p:cNvPr>
          <p:cNvSpPr/>
          <p:nvPr/>
        </p:nvSpPr>
        <p:spPr bwMode="auto">
          <a:xfrm>
            <a:off x="4697846" y="3311611"/>
            <a:ext cx="426308" cy="420130"/>
          </a:xfrm>
          <a:custGeom>
            <a:avLst/>
            <a:gdLst>
              <a:gd name="connsiteX0" fmla="*/ 0 w 426308"/>
              <a:gd name="connsiteY0" fmla="*/ 420130 h 420130"/>
              <a:gd name="connsiteX1" fmla="*/ 98854 w 426308"/>
              <a:gd name="connsiteY1" fmla="*/ 129746 h 420130"/>
              <a:gd name="connsiteX2" fmla="*/ 426308 w 426308"/>
              <a:gd name="connsiteY2" fmla="*/ 0 h 420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6308" h="420130">
                <a:moveTo>
                  <a:pt x="0" y="420130"/>
                </a:moveTo>
                <a:cubicBezTo>
                  <a:pt x="13901" y="309949"/>
                  <a:pt x="27803" y="199768"/>
                  <a:pt x="98854" y="129746"/>
                </a:cubicBezTo>
                <a:cubicBezTo>
                  <a:pt x="169905" y="59724"/>
                  <a:pt x="298106" y="29862"/>
                  <a:pt x="426308" y="0"/>
                </a:cubicBezTo>
              </a:path>
            </a:pathLst>
          </a:cu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4B375A-4AAB-4D11-99B7-324B8E8D0F51}"/>
                  </a:ext>
                </a:extLst>
              </p:cNvPr>
              <p:cNvSpPr txBox="1"/>
              <p:nvPr/>
            </p:nvSpPr>
            <p:spPr>
              <a:xfrm>
                <a:off x="4478439" y="5037818"/>
                <a:ext cx="19697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u="non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0</m:t>
                      </m:r>
                    </m:oMath>
                  </m:oMathPara>
                </a14:m>
                <a:endParaRPr lang="en-US" sz="1800" b="0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4B375A-4AAB-4D11-99B7-324B8E8D0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439" y="5037818"/>
                <a:ext cx="196977" cy="276999"/>
              </a:xfrm>
              <a:prstGeom prst="rect">
                <a:avLst/>
              </a:prstGeom>
              <a:blipFill>
                <a:blip r:embed="rId5"/>
                <a:stretch>
                  <a:fillRect l="-40625" r="-9375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C886290-5F16-48F0-9B38-F3E6D86F273A}"/>
              </a:ext>
            </a:extLst>
          </p:cNvPr>
          <p:cNvSpPr txBox="1"/>
          <p:nvPr/>
        </p:nvSpPr>
        <p:spPr>
          <a:xfrm>
            <a:off x="2544379" y="5353391"/>
            <a:ext cx="4065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u="none" dirty="0">
                <a:cs typeface="Arial" panose="020B0604020202020204" pitchFamily="34" charset="0"/>
              </a:rPr>
              <a:t>True change in taxes owed in $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8E8120-32E6-4F8C-8D98-331B06899086}"/>
              </a:ext>
            </a:extLst>
          </p:cNvPr>
          <p:cNvCxnSpPr/>
          <p:nvPr/>
        </p:nvCxnSpPr>
        <p:spPr bwMode="auto">
          <a:xfrm>
            <a:off x="5025449" y="4858657"/>
            <a:ext cx="156057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8561846-2558-4B49-BDBE-6A5B6834BD04}"/>
              </a:ext>
            </a:extLst>
          </p:cNvPr>
          <p:cNvSpPr txBox="1"/>
          <p:nvPr/>
        </p:nvSpPr>
        <p:spPr>
          <a:xfrm>
            <a:off x="5644845" y="4900903"/>
            <a:ext cx="311875" cy="19973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54864" rtlCol="0" anchor="ctr" anchorCtr="0">
            <a:noAutofit/>
          </a:bodyPr>
          <a:lstStyle/>
          <a:p>
            <a:pPr algn="ctr"/>
            <a:r>
              <a:rPr lang="en-US" sz="1400" b="0" i="1" u="none" dirty="0">
                <a:solidFill>
                  <a:srgbClr val="00B0F0"/>
                </a:solidFill>
                <a:cs typeface="Arial" pitchFamily="34" charset="0"/>
              </a:rPr>
              <a:t>219</a:t>
            </a:r>
            <a:endParaRPr lang="en-US" sz="1400" b="0" u="none" dirty="0">
              <a:solidFill>
                <a:srgbClr val="00B0F0"/>
              </a:solidFill>
              <a:cs typeface="Arial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C03618-EECC-4973-B9F1-2CBA046E773F}"/>
              </a:ext>
            </a:extLst>
          </p:cNvPr>
          <p:cNvSpPr/>
          <p:nvPr/>
        </p:nvSpPr>
        <p:spPr bwMode="auto">
          <a:xfrm>
            <a:off x="5762683" y="4821827"/>
            <a:ext cx="71120" cy="73660"/>
          </a:xfrm>
          <a:prstGeom prst="ellipse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4ED356-71F0-4085-8466-7C3F4FE84DE2}"/>
                  </a:ext>
                </a:extLst>
              </p:cNvPr>
              <p:cNvSpPr txBox="1"/>
              <p:nvPr/>
            </p:nvSpPr>
            <p:spPr>
              <a:xfrm>
                <a:off x="4878909" y="4488987"/>
                <a:ext cx="287557" cy="215444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u="none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77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4ED356-71F0-4085-8466-7C3F4FE84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909" y="4488987"/>
                <a:ext cx="287557" cy="215444"/>
              </a:xfrm>
              <a:prstGeom prst="rect">
                <a:avLst/>
              </a:prstGeom>
              <a:blipFill>
                <a:blip r:embed="rId6"/>
                <a:stretch>
                  <a:fillRect l="-6250" r="-2083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B24158-44A9-4DBB-81B9-7D154FE09901}"/>
              </a:ext>
            </a:extLst>
          </p:cNvPr>
          <p:cNvCxnSpPr/>
          <p:nvPr/>
        </p:nvCxnSpPr>
        <p:spPr bwMode="auto">
          <a:xfrm>
            <a:off x="6586025" y="4694239"/>
            <a:ext cx="0" cy="1786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6806EA-B111-4805-ABEA-F2F66A086B1B}"/>
              </a:ext>
            </a:extLst>
          </p:cNvPr>
          <p:cNvCxnSpPr/>
          <p:nvPr/>
        </p:nvCxnSpPr>
        <p:spPr bwMode="auto">
          <a:xfrm>
            <a:off x="5025449" y="4694240"/>
            <a:ext cx="0" cy="1786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FE1BB5-FCBB-4D35-9FC0-D22AB1C029FB}"/>
                  </a:ext>
                </a:extLst>
              </p:cNvPr>
              <p:cNvSpPr txBox="1"/>
              <p:nvPr/>
            </p:nvSpPr>
            <p:spPr>
              <a:xfrm>
                <a:off x="6448835" y="4487405"/>
                <a:ext cx="287557" cy="215444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u="none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361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FE1BB5-FCBB-4D35-9FC0-D22AB1C02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835" y="4487405"/>
                <a:ext cx="287557" cy="215444"/>
              </a:xfrm>
              <a:prstGeom prst="rect">
                <a:avLst/>
              </a:prstGeom>
              <a:blipFill>
                <a:blip r:embed="rId7"/>
                <a:stretch>
                  <a:fillRect l="-21277" r="-23404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37F2A7-D702-4C10-87E6-FE4C599B44FB}"/>
                  </a:ext>
                </a:extLst>
              </p:cNvPr>
              <p:cNvSpPr txBox="1"/>
              <p:nvPr/>
            </p:nvSpPr>
            <p:spPr>
              <a:xfrm>
                <a:off x="3051054" y="1475231"/>
                <a:ext cx="3016537" cy="606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u="none" dirty="0">
                    <a:cs typeface="Arial" panose="020B0604020202020204" pitchFamily="34" charset="0"/>
                  </a:rPr>
                  <a:t>Distribution of Change in Taxes Owed, </a:t>
                </a:r>
                <a14:m>
                  <m:oMath xmlns:m="http://schemas.openxmlformats.org/officeDocument/2006/math">
                    <m:r>
                      <a:rPr lang="en-US" sz="1400" b="0" i="1" u="none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sz="1400" b="0" i="1" u="none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1400" b="0" i="1" u="none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sz="1400" b="0" i="1" u="none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f>
                      <m:fPr>
                        <m:ctrlPr>
                          <a:rPr lang="en-US" sz="1400" b="0" i="1" u="none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400" b="0" i="1" u="non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b="0" i="1" u="none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b="0" i="1" u="none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r>
                      <a:rPr lang="en-US" sz="1400" b="0" i="1" u="none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37F2A7-D702-4C10-87E6-FE4C599B4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054" y="1475231"/>
                <a:ext cx="3016537" cy="606705"/>
              </a:xfrm>
              <a:prstGeom prst="rect">
                <a:avLst/>
              </a:prstGeom>
              <a:blipFill>
                <a:blip r:embed="rId8"/>
                <a:stretch>
                  <a:fillRect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6B2A14-20A8-4D8E-9F59-8062949E922E}"/>
                  </a:ext>
                </a:extLst>
              </p:cNvPr>
              <p:cNvSpPr txBox="1"/>
              <p:nvPr/>
            </p:nvSpPr>
            <p:spPr>
              <a:xfrm>
                <a:off x="7394378" y="3949734"/>
                <a:ext cx="1690885" cy="1171924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  <a:ln w="31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“We are 95% confident the true mean is </a:t>
                </a:r>
                <a:r>
                  <a:rPr lang="en-US" sz="1400" b="0" dirty="0">
                    <a:solidFill>
                      <a:schemeClr val="accent6"/>
                    </a:solidFill>
                    <a:cs typeface="Arial" pitchFamily="34" charset="0"/>
                  </a:rPr>
                  <a:t>different from</a:t>
                </a:r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 0 because 0 is not in our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𝐶</m:t>
                    </m:r>
                    <m:sSup>
                      <m:sSupPr>
                        <m:ctrlPr>
                          <a:rPr lang="en-US" sz="14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sz="14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𝐼</m:t>
                        </m:r>
                      </m:e>
                      <m:sup>
                        <m:r>
                          <a:rPr lang="en-US" sz="14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”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6B2A14-20A8-4D8E-9F59-8062949E9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378" y="3949734"/>
                <a:ext cx="1690885" cy="1171924"/>
              </a:xfrm>
              <a:prstGeom prst="rect">
                <a:avLst/>
              </a:prstGeom>
              <a:blipFill>
                <a:blip r:embed="rId9"/>
                <a:stretch>
                  <a:fillRect l="-1079" t="-1036" b="-4145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844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1" grpId="0" animBg="1"/>
      <p:bldP spid="12" grpId="0" animBg="1"/>
      <p:bldP spid="13" grpId="0" animBg="1"/>
      <p:bldP spid="16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8D3B-46AE-1ECD-ADE8-10926C0D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ADE52BD-8D46-4892-F2AD-6F11731DF22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u="sng" dirty="0">
                    <a:solidFill>
                      <a:srgbClr val="FF0000"/>
                    </a:solidFill>
                  </a:rPr>
                  <a:t>New</a:t>
                </a:r>
                <a:r>
                  <a:rPr lang="en-US" dirty="0"/>
                  <a:t>: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accent6"/>
                    </a:solidFill>
                  </a:rPr>
                  <a:t>Approach to Seeing 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ADE52BD-8D46-4892-F2AD-6F11731DF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13BB9-A0AF-47F4-C6ED-70F04CE068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37C1C-58EB-445A-3423-B5AB21CF93DD}"/>
                  </a:ext>
                </a:extLst>
              </p:cNvPr>
              <p:cNvSpPr txBox="1"/>
              <p:nvPr/>
            </p:nvSpPr>
            <p:spPr>
              <a:xfrm>
                <a:off x="6137664" y="6073531"/>
                <a:ext cx="2947599" cy="738664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  <a:ln w="3175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0" u="none" dirty="0">
                    <a:solidFill>
                      <a:schemeClr val="accent6"/>
                    </a:solidFill>
                  </a:rPr>
                  <a:t>This ratio is known as a </a:t>
                </a:r>
                <a:r>
                  <a:rPr lang="en-US" sz="1400" b="0" u="none" dirty="0">
                    <a:solidFill>
                      <a:srgbClr val="00B0F0"/>
                    </a:solidFill>
                  </a:rPr>
                  <a:t>t-statistic</a:t>
                </a:r>
                <a:r>
                  <a:rPr lang="en-US" sz="1400" b="0" u="none" dirty="0">
                    <a:solidFill>
                      <a:schemeClr val="accent6"/>
                    </a:solidFill>
                  </a:rPr>
                  <a:t>. It is distributed </a:t>
                </a:r>
                <a14:m>
                  <m:oMath xmlns:m="http://schemas.openxmlformats.org/officeDocument/2006/math">
                    <m:r>
                      <a:rPr lang="en-US" sz="14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4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</a:rPr>
                  <a:t> for sample sizes&gt;30</a:t>
                </a:r>
                <a:endParaRPr lang="en-US" sz="1400" b="0" u="none" dirty="0">
                  <a:solidFill>
                    <a:schemeClr val="accent6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37C1C-58EB-445A-3423-B5AB21CF9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664" y="6073531"/>
                <a:ext cx="2947599" cy="738664"/>
              </a:xfrm>
              <a:prstGeom prst="rect">
                <a:avLst/>
              </a:prstGeom>
              <a:blipFill>
                <a:blip r:embed="rId3"/>
                <a:stretch>
                  <a:fillRect l="-620" t="-820" b="-7377"/>
                </a:stretch>
              </a:blipFill>
              <a:ln w="31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71A7B165-7842-1889-1C75-24CC039A2FD0}"/>
              </a:ext>
            </a:extLst>
          </p:cNvPr>
          <p:cNvSpPr/>
          <p:nvPr/>
        </p:nvSpPr>
        <p:spPr bwMode="auto">
          <a:xfrm>
            <a:off x="3918281" y="6163812"/>
            <a:ext cx="1121620" cy="646332"/>
          </a:xfrm>
          <a:prstGeom prst="rect">
            <a:avLst/>
          </a:prstGeom>
          <a:noFill/>
          <a:ln w="31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99DAF36-BEFE-5BC7-A413-91A6FE15C011}"/>
              </a:ext>
            </a:extLst>
          </p:cNvPr>
          <p:cNvSpPr/>
          <p:nvPr/>
        </p:nvSpPr>
        <p:spPr bwMode="auto">
          <a:xfrm>
            <a:off x="5074445" y="6582643"/>
            <a:ext cx="1063219" cy="172351"/>
          </a:xfrm>
          <a:custGeom>
            <a:avLst/>
            <a:gdLst>
              <a:gd name="connsiteX0" fmla="*/ 0 w 1118331"/>
              <a:gd name="connsiteY0" fmla="*/ 328921 h 571178"/>
              <a:gd name="connsiteX1" fmla="*/ 355234 w 1118331"/>
              <a:gd name="connsiteY1" fmla="*/ 559165 h 571178"/>
              <a:gd name="connsiteX2" fmla="*/ 1118331 w 1118331"/>
              <a:gd name="connsiteY2" fmla="*/ 0 h 571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8331" h="571178">
                <a:moveTo>
                  <a:pt x="0" y="328921"/>
                </a:moveTo>
                <a:cubicBezTo>
                  <a:pt x="84423" y="471453"/>
                  <a:pt x="168846" y="613985"/>
                  <a:pt x="355234" y="559165"/>
                </a:cubicBezTo>
                <a:cubicBezTo>
                  <a:pt x="541622" y="504345"/>
                  <a:pt x="829976" y="252172"/>
                  <a:pt x="1118331" y="0"/>
                </a:cubicBezTo>
              </a:path>
            </a:pathLst>
          </a:custGeom>
          <a:noFill/>
          <a:ln w="31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A9F075-7469-2BE7-D173-2296B02F4FA5}"/>
              </a:ext>
            </a:extLst>
          </p:cNvPr>
          <p:cNvGrpSpPr/>
          <p:nvPr/>
        </p:nvGrpSpPr>
        <p:grpSpPr>
          <a:xfrm>
            <a:off x="4444817" y="4402594"/>
            <a:ext cx="223666" cy="856398"/>
            <a:chOff x="4444817" y="3747105"/>
            <a:chExt cx="223666" cy="85639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B954E0C-609E-A392-38D2-6B12C2CE959D}"/>
                </a:ext>
              </a:extLst>
            </p:cNvPr>
            <p:cNvSpPr/>
            <p:nvPr/>
          </p:nvSpPr>
          <p:spPr bwMode="auto">
            <a:xfrm>
              <a:off x="4444817" y="3747105"/>
              <a:ext cx="192967" cy="28546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857F051-BF73-1EF3-7F6E-1E14845225E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41301" y="4036381"/>
              <a:ext cx="30699" cy="28546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87E4EF4-7E6D-F394-82D3-F19F01D696D6}"/>
                </a:ext>
              </a:extLst>
            </p:cNvPr>
            <p:cNvSpPr/>
            <p:nvPr/>
          </p:nvSpPr>
          <p:spPr bwMode="auto">
            <a:xfrm>
              <a:off x="4475516" y="4318037"/>
              <a:ext cx="192967" cy="28546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C957B85-8342-C31A-F68F-A9EA19657306}"/>
              </a:ext>
            </a:extLst>
          </p:cNvPr>
          <p:cNvSpPr/>
          <p:nvPr/>
        </p:nvSpPr>
        <p:spPr bwMode="auto">
          <a:xfrm>
            <a:off x="4909082" y="5257969"/>
            <a:ext cx="97257" cy="332723"/>
          </a:xfrm>
          <a:custGeom>
            <a:avLst/>
            <a:gdLst>
              <a:gd name="connsiteX0" fmla="*/ 453390 w 453390"/>
              <a:gd name="connsiteY0" fmla="*/ 0 h 358140"/>
              <a:gd name="connsiteX1" fmla="*/ 278130 w 453390"/>
              <a:gd name="connsiteY1" fmla="*/ 205740 h 358140"/>
              <a:gd name="connsiteX2" fmla="*/ 0 w 453390"/>
              <a:gd name="connsiteY2" fmla="*/ 358140 h 3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3390" h="358140">
                <a:moveTo>
                  <a:pt x="453390" y="0"/>
                </a:moveTo>
                <a:cubicBezTo>
                  <a:pt x="403542" y="73025"/>
                  <a:pt x="353695" y="146050"/>
                  <a:pt x="278130" y="205740"/>
                </a:cubicBezTo>
                <a:cubicBezTo>
                  <a:pt x="202565" y="265430"/>
                  <a:pt x="101282" y="311785"/>
                  <a:pt x="0" y="358140"/>
                </a:cubicBezTo>
              </a:path>
            </a:pathLst>
          </a:custGeom>
          <a:noFill/>
          <a:ln w="317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A2F6595-E5EF-78A5-CD55-31D1E7133D46}"/>
              </a:ext>
            </a:extLst>
          </p:cNvPr>
          <p:cNvGrpSpPr/>
          <p:nvPr/>
        </p:nvGrpSpPr>
        <p:grpSpPr>
          <a:xfrm>
            <a:off x="2059532" y="4973526"/>
            <a:ext cx="3042518" cy="617166"/>
            <a:chOff x="2059532" y="4318037"/>
            <a:chExt cx="3042518" cy="61716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94CED99-6CF2-D976-10AE-41BEB440A476}"/>
                </a:ext>
              </a:extLst>
            </p:cNvPr>
            <p:cNvSpPr/>
            <p:nvPr/>
          </p:nvSpPr>
          <p:spPr bwMode="auto">
            <a:xfrm>
              <a:off x="2059532" y="4318037"/>
              <a:ext cx="192967" cy="285466"/>
            </a:xfrm>
            <a:prstGeom prst="rect">
              <a:avLst/>
            </a:prstGeom>
            <a:noFill/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6B3ED4E-CD12-641E-3633-B8CD94A15BEE}"/>
                </a:ext>
              </a:extLst>
            </p:cNvPr>
            <p:cNvSpPr/>
            <p:nvPr/>
          </p:nvSpPr>
          <p:spPr bwMode="auto">
            <a:xfrm>
              <a:off x="4909083" y="4318037"/>
              <a:ext cx="192967" cy="285466"/>
            </a:xfrm>
            <a:prstGeom prst="rect">
              <a:avLst/>
            </a:prstGeom>
            <a:noFill/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5B04493-9E3E-3D01-809B-12580803351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52499" y="4602480"/>
              <a:ext cx="2508396" cy="332723"/>
            </a:xfrm>
            <a:prstGeom prst="straightConnector1">
              <a:avLst/>
            </a:prstGeom>
            <a:solidFill>
              <a:schemeClr val="accent1"/>
            </a:solidFill>
            <a:ln w="31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611ADB3-BF9B-547A-D5B1-C9814FF37FE3}"/>
              </a:ext>
            </a:extLst>
          </p:cNvPr>
          <p:cNvSpPr/>
          <p:nvPr/>
        </p:nvSpPr>
        <p:spPr bwMode="auto">
          <a:xfrm>
            <a:off x="3513164" y="5911401"/>
            <a:ext cx="439661" cy="671242"/>
          </a:xfrm>
          <a:custGeom>
            <a:avLst/>
            <a:gdLst>
              <a:gd name="connsiteX0" fmla="*/ 45760 w 624660"/>
              <a:gd name="connsiteY0" fmla="*/ 0 h 717048"/>
              <a:gd name="connsiteX1" fmla="*/ 58917 w 624660"/>
              <a:gd name="connsiteY1" fmla="*/ 309186 h 717048"/>
              <a:gd name="connsiteX2" fmla="*/ 624660 w 624660"/>
              <a:gd name="connsiteY2" fmla="*/ 717048 h 71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4660" h="717048">
                <a:moveTo>
                  <a:pt x="45760" y="0"/>
                </a:moveTo>
                <a:cubicBezTo>
                  <a:pt x="4097" y="94839"/>
                  <a:pt x="-37566" y="189678"/>
                  <a:pt x="58917" y="309186"/>
                </a:cubicBezTo>
                <a:cubicBezTo>
                  <a:pt x="155400" y="428694"/>
                  <a:pt x="390030" y="572871"/>
                  <a:pt x="624660" y="717048"/>
                </a:cubicBezTo>
              </a:path>
            </a:pathLst>
          </a:custGeom>
          <a:noFill/>
          <a:ln w="3175" cap="flat" cmpd="sng" algn="ctr">
            <a:solidFill>
              <a:srgbClr val="EB971B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55BD212-4694-0EF7-9440-F1A02BFED9EB}"/>
              </a:ext>
            </a:extLst>
          </p:cNvPr>
          <p:cNvSpPr/>
          <p:nvPr/>
        </p:nvSpPr>
        <p:spPr bwMode="auto">
          <a:xfrm>
            <a:off x="5006339" y="5930233"/>
            <a:ext cx="1338856" cy="621871"/>
          </a:xfrm>
          <a:custGeom>
            <a:avLst/>
            <a:gdLst>
              <a:gd name="connsiteX0" fmla="*/ 1195241 w 1195241"/>
              <a:gd name="connsiteY0" fmla="*/ 0 h 467067"/>
              <a:gd name="connsiteX1" fmla="*/ 603183 w 1195241"/>
              <a:gd name="connsiteY1" fmla="*/ 322342 h 467067"/>
              <a:gd name="connsiteX2" fmla="*/ 4547 w 1195241"/>
              <a:gd name="connsiteY2" fmla="*/ 467067 h 467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5241" h="467067">
                <a:moveTo>
                  <a:pt x="1195241" y="0"/>
                </a:moveTo>
                <a:cubicBezTo>
                  <a:pt x="998436" y="122249"/>
                  <a:pt x="801632" y="244498"/>
                  <a:pt x="603183" y="322342"/>
                </a:cubicBezTo>
                <a:cubicBezTo>
                  <a:pt x="404734" y="400186"/>
                  <a:pt x="-50273" y="452814"/>
                  <a:pt x="4547" y="467067"/>
                </a:cubicBezTo>
              </a:path>
            </a:pathLst>
          </a:custGeom>
          <a:noFill/>
          <a:ln w="3175" cap="flat" cmpd="sng" algn="ctr">
            <a:solidFill>
              <a:srgbClr val="EB971B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8D2347-378D-5C1B-5175-8ABE6C7316E6}"/>
              </a:ext>
            </a:extLst>
          </p:cNvPr>
          <p:cNvSpPr/>
          <p:nvPr/>
        </p:nvSpPr>
        <p:spPr bwMode="auto">
          <a:xfrm>
            <a:off x="4760896" y="5578679"/>
            <a:ext cx="192967" cy="337808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E570AB7-8CC6-CB95-0E75-F58C190BDB41}"/>
              </a:ext>
            </a:extLst>
          </p:cNvPr>
          <p:cNvSpPr/>
          <p:nvPr/>
        </p:nvSpPr>
        <p:spPr bwMode="auto">
          <a:xfrm>
            <a:off x="2980023" y="5581531"/>
            <a:ext cx="1121620" cy="33272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EB971B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FFADF0-0498-22E6-23D9-28425B32BAD6}"/>
              </a:ext>
            </a:extLst>
          </p:cNvPr>
          <p:cNvSpPr/>
          <p:nvPr/>
        </p:nvSpPr>
        <p:spPr bwMode="auto">
          <a:xfrm>
            <a:off x="5839990" y="5578679"/>
            <a:ext cx="1121620" cy="33272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EB971B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D9BAAFB-674C-13DE-545E-67FA7F587165}"/>
              </a:ext>
            </a:extLst>
          </p:cNvPr>
          <p:cNvSpPr/>
          <p:nvPr/>
        </p:nvSpPr>
        <p:spPr bwMode="auto">
          <a:xfrm>
            <a:off x="3952825" y="6510249"/>
            <a:ext cx="1072801" cy="24474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EB971B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BA826-8A87-91AC-F898-06A1249BA1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95203"/>
                <a:ext cx="8437562" cy="5768975"/>
              </a:xfrm>
            </p:spPr>
            <p:txBody>
              <a:bodyPr/>
              <a:lstStyle/>
              <a:p>
                <a:r>
                  <a:rPr lang="en-US" sz="1800" dirty="0">
                    <a:solidFill>
                      <a:schemeClr val="accent6"/>
                    </a:solidFill>
                  </a:rPr>
                  <a:t>Your hypothesis test</a:t>
                </a:r>
              </a:p>
              <a:p>
                <a:pPr lvl="1"/>
                <a:r>
                  <a:rPr lang="en-US" sz="18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800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: Revenue neutral (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>
                    <a:solidFill>
                      <a:schemeClr val="accent6"/>
                    </a:solidFill>
                  </a:rPr>
                  <a:t>)</a:t>
                </a:r>
              </a:p>
              <a:p>
                <a:pPr lvl="1"/>
                <a:r>
                  <a:rPr lang="en-US" sz="18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800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: Not revenue neutral (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chemeClr val="accent6"/>
                    </a:solidFill>
                  </a:rPr>
                  <a:t>)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You want to know the </a:t>
                </a:r>
                <a:r>
                  <a:rPr lang="en-US" sz="1800" u="sng" dirty="0"/>
                  <a:t>probability</a:t>
                </a:r>
                <a:r>
                  <a:rPr lang="en-US" sz="1800" dirty="0"/>
                  <a:t> of seeing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=219</m:t>
                    </m:r>
                  </m:oMath>
                </a14:m>
                <a:r>
                  <a:rPr lang="en-US" sz="1800" dirty="0"/>
                  <a:t> if H</a:t>
                </a:r>
                <a:r>
                  <a:rPr lang="en-US" sz="1800" baseline="-25000" dirty="0"/>
                  <a:t>0</a:t>
                </a:r>
                <a:r>
                  <a:rPr lang="en-US" sz="1800" dirty="0"/>
                  <a:t> is true 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How to do that? Need to know how “far”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8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 is from null hypothesis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800" dirty="0"/>
                  <a:t>!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The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 tells us with 95% confidence that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800" dirty="0">
                    <a:latin typeface="+mn-lt"/>
                  </a:rPr>
                  <a:t> within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80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18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1.96</m:t>
                    </m:r>
                    <m:r>
                      <a:rPr lang="en-US" sz="180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800" i="1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𝑆𝑡𝑑</m:t>
                    </m:r>
                    <m:r>
                      <a:rPr lang="en-US" sz="1800" i="1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i="1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sz="18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800" dirty="0"/>
                  <a:t>, or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−1.96∗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𝑆𝑡𝑑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sz="1800" i="1" dirty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1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+1.96∗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𝑆𝑡𝑑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sz="1800" i="1" dirty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1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80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180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−1.96∗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𝑆𝑡𝑑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sz="1800" i="1" dirty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1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+1.96∗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𝑆𝑡𝑑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sz="1800" i="1" dirty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marL="0" indent="0" algn="ctr">
                  <a:buNone/>
                </a:pPr>
                <a:endParaRPr lang="en-US" sz="1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−1.96∗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𝑆𝑡𝑑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sz="1800" i="1" dirty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1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0−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≤1.96∗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𝑆𝑡𝑑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800" i="1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sz="1800" i="1" dirty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1800" dirty="0">
                  <a:solidFill>
                    <a:srgbClr val="00B0F0"/>
                  </a:solidFill>
                </a:endParaRPr>
              </a:p>
              <a:p>
                <a:pPr marL="0" indent="0" algn="ctr">
                  <a:buNone/>
                </a:pPr>
                <a:endParaRPr lang="en-US" sz="1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1.96≥</m:t>
                      </m:r>
                      <m:f>
                        <m:fPr>
                          <m:ctrlPr>
                            <a:rPr lang="en-US" sz="1800" i="1" dirty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1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sz="1800" i="1" dirty="0">
                              <a:solidFill>
                                <a:srgbClr val="EB97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𝑆𝑡𝑑</m:t>
                          </m:r>
                          <m:r>
                            <a:rPr lang="en-US" sz="1800" i="1" dirty="0">
                              <a:solidFill>
                                <a:srgbClr val="EB97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 dirty="0">
                              <a:solidFill>
                                <a:srgbClr val="EB97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𝐸𝑟𝑟</m:t>
                          </m:r>
                          <m:d>
                            <m:dPr>
                              <m:ctrlPr>
                                <a:rPr lang="en-US" sz="1800" i="1" dirty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sz="1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≥−1.96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BA826-8A87-91AC-F898-06A1249BA1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95203"/>
                <a:ext cx="8437562" cy="5768975"/>
              </a:xfrm>
              <a:blipFill>
                <a:blip r:embed="rId4"/>
                <a:stretch>
                  <a:fillRect l="-434" t="-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D9AA2F-9653-4343-9BED-927952EAAE02}"/>
                  </a:ext>
                </a:extLst>
              </p:cNvPr>
              <p:cNvSpPr txBox="1"/>
              <p:nvPr/>
            </p:nvSpPr>
            <p:spPr>
              <a:xfrm>
                <a:off x="135678" y="5621929"/>
                <a:ext cx="195425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b="0" u="none" dirty="0">
                    <a:solidFill>
                      <a:schemeClr val="bg1">
                        <a:lumMod val="50000"/>
                      </a:schemeClr>
                    </a:solidFill>
                    <a:cs typeface="Arial" pitchFamily="34" charset="0"/>
                  </a:rPr>
                  <a:t>subtract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b="0" i="1" u="none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accPr>
                      <m:e>
                        <m:r>
                          <a:rPr lang="en-US" sz="1200" b="0" i="1" u="none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b="0" u="none" dirty="0">
                    <a:solidFill>
                      <a:schemeClr val="bg1">
                        <a:lumMod val="50000"/>
                      </a:schemeClr>
                    </a:solidFill>
                    <a:cs typeface="Arial" pitchFamily="34" charset="0"/>
                  </a:rPr>
                  <a:t> from both sides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D9AA2F-9653-4343-9BED-927952EAA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78" y="5621929"/>
                <a:ext cx="1954253" cy="276999"/>
              </a:xfrm>
              <a:prstGeom prst="rect">
                <a:avLst/>
              </a:prstGeom>
              <a:blipFill>
                <a:blip r:embed="rId5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319798E-F425-437C-A712-3F34E1795263}"/>
                  </a:ext>
                </a:extLst>
              </p:cNvPr>
              <p:cNvSpPr txBox="1"/>
              <p:nvPr/>
            </p:nvSpPr>
            <p:spPr>
              <a:xfrm>
                <a:off x="135678" y="5004590"/>
                <a:ext cx="132209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b="0" u="none" dirty="0">
                    <a:solidFill>
                      <a:schemeClr val="bg1">
                        <a:lumMod val="50000"/>
                      </a:schemeClr>
                    </a:solidFill>
                    <a:cs typeface="Arial" pitchFamily="34" charset="0"/>
                  </a:rPr>
                  <a:t>Replace </a:t>
                </a:r>
                <a14:m>
                  <m:oMath xmlns:m="http://schemas.openxmlformats.org/officeDocument/2006/math">
                    <m:r>
                      <a:rPr lang="en-US" sz="1200" b="0" i="1" u="none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𝜇</m:t>
                    </m:r>
                  </m:oMath>
                </a14:m>
                <a:r>
                  <a:rPr lang="en-US" sz="1200" b="0" u="none" dirty="0">
                    <a:solidFill>
                      <a:schemeClr val="bg1">
                        <a:lumMod val="50000"/>
                      </a:schemeClr>
                    </a:solidFill>
                    <a:cs typeface="Arial" pitchFamily="34" charset="0"/>
                  </a:rPr>
                  <a:t> with 0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319798E-F425-437C-A712-3F34E1795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78" y="5004590"/>
                <a:ext cx="1322093" cy="276999"/>
              </a:xfrm>
              <a:prstGeom prst="rect">
                <a:avLst/>
              </a:prstGeom>
              <a:blipFill>
                <a:blip r:embed="rId6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B549DF5-30D3-452D-9FE3-EFB389227553}"/>
                  </a:ext>
                </a:extLst>
              </p:cNvPr>
              <p:cNvSpPr txBox="1"/>
              <p:nvPr/>
            </p:nvSpPr>
            <p:spPr>
              <a:xfrm>
                <a:off x="135677" y="6171883"/>
                <a:ext cx="27773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0" u="none" dirty="0">
                    <a:solidFill>
                      <a:schemeClr val="bg1">
                        <a:lumMod val="50000"/>
                      </a:schemeClr>
                    </a:solidFill>
                    <a:cs typeface="Arial" pitchFamily="34" charset="0"/>
                  </a:rPr>
                  <a:t>divide both sides by </a:t>
                </a:r>
                <a14:m>
                  <m:oMath xmlns:m="http://schemas.openxmlformats.org/officeDocument/2006/math">
                    <m:r>
                      <a:rPr lang="en-US" sz="120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𝑆𝑡𝑑</m:t>
                    </m:r>
                    <m:r>
                      <a:rPr lang="en-US" sz="120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20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sz="1200" i="1" u="none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200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200" b="0" u="none" dirty="0">
                    <a:solidFill>
                      <a:schemeClr val="bg1">
                        <a:lumMod val="50000"/>
                      </a:schemeClr>
                    </a:solidFill>
                    <a:cs typeface="Arial" pitchFamily="34" charset="0"/>
                  </a:rPr>
                  <a:t> and multiply through by -1 (which reverses numerator and flips the inequalities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B549DF5-30D3-452D-9FE3-EFB389227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77" y="6171883"/>
                <a:ext cx="2777340" cy="646331"/>
              </a:xfrm>
              <a:prstGeom prst="rect">
                <a:avLst/>
              </a:prstGeom>
              <a:blipFill>
                <a:blip r:embed="rId7"/>
                <a:stretch>
                  <a:fillRect t="-943" r="-439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743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0" grpId="0" animBg="1"/>
      <p:bldP spid="22" grpId="0" animBg="1"/>
      <p:bldP spid="29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" grpId="0" uiExpand="1" build="p"/>
      <p:bldP spid="5" grpId="0"/>
      <p:bldP spid="26" grpId="0"/>
      <p:bldP spid="4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411CCB3-255A-453A-8B03-7F74A4DCF3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u="sng" dirty="0">
                    <a:solidFill>
                      <a:srgbClr val="FF0000"/>
                    </a:solidFill>
                  </a:rPr>
                  <a:t>New</a:t>
                </a:r>
                <a:r>
                  <a:rPr lang="en-US" dirty="0"/>
                  <a:t>: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accent6"/>
                    </a:solidFill>
                  </a:rPr>
                  <a:t>Approach to Seeing 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411CCB3-255A-453A-8B03-7F74A4DCF3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1A2D63-1E8A-418F-B2C0-02CF5D5D58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The t-statistic is the difference between our sample mean and the H</a:t>
                </a:r>
                <a:r>
                  <a:rPr lang="en-US" baseline="-25000" dirty="0"/>
                  <a:t>0</a:t>
                </a:r>
                <a:r>
                  <a:rPr lang="en-US" dirty="0"/>
                  <a:t> value we care about, normalized by the standard error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:r>
                  <a:rPr lang="en-US" i="1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t</a:t>
                </a:r>
                <a:r>
                  <a:rPr lang="en-US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-stat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𝑆𝑡𝑑</m:t>
                        </m:r>
                        <m:r>
                          <a:rPr lang="en-US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For large samples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&gt;30)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the t-statistic is distributed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, i.e., </a:t>
                </a:r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i="1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t</a:t>
                </a:r>
                <a:r>
                  <a:rPr lang="en-US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-stat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𝑆𝑡𝑑</m:t>
                        </m:r>
                        <m:r>
                          <a:rPr lang="en-US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den>
                    </m:f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So,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If t-stat is between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1.96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, we cannot reject H</a:t>
                </a:r>
                <a:r>
                  <a:rPr lang="en-US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at 95% 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If t-stat is outside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1.96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, we can reject </a:t>
                </a:r>
                <a:r>
                  <a:rPr lang="en-US" sz="20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2000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2000" dirty="0">
                    <a:solidFill>
                      <a:schemeClr val="accent6"/>
                    </a:solidFill>
                  </a:rPr>
                  <a:t> </a:t>
                </a:r>
                <a:r>
                  <a:rPr lang="en-US" dirty="0">
                    <a:solidFill>
                      <a:schemeClr val="accent6"/>
                    </a:solidFill>
                  </a:rPr>
                  <a:t>at 95%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1A2D63-1E8A-418F-B2C0-02CF5D5D58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CC237-074A-4131-8B47-26E8798D7D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8745AB-F724-AA57-A3EA-48E7F4DED466}"/>
                  </a:ext>
                </a:extLst>
              </p:cNvPr>
              <p:cNvSpPr txBox="1"/>
              <p:nvPr/>
            </p:nvSpPr>
            <p:spPr>
              <a:xfrm>
                <a:off x="6348549" y="2316243"/>
                <a:ext cx="2736714" cy="954107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  <a:ln w="31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The </a:t>
                </a:r>
                <a:r>
                  <a:rPr lang="en-US" sz="1400" b="0" i="1" u="none" dirty="0">
                    <a:solidFill>
                      <a:schemeClr val="accent6"/>
                    </a:solidFill>
                    <a:cs typeface="Arial" pitchFamily="34" charset="0"/>
                  </a:rPr>
                  <a:t>t</a:t>
                </a:r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-stat answers the question:</a:t>
                </a:r>
              </a:p>
              <a:p>
                <a:endParaRPr lang="en-US" sz="1400" b="0" u="none" dirty="0">
                  <a:solidFill>
                    <a:schemeClr val="accent6"/>
                  </a:solidFill>
                  <a:cs typeface="Arial" pitchFamily="34" charset="0"/>
                </a:endParaRPr>
              </a:p>
              <a:p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“How many standard errors is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  <a:cs typeface="Arial" pitchFamily="34" charset="0"/>
                  </a:rPr>
                  <a:t> from the value we care about?“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8745AB-F724-AA57-A3EA-48E7F4DED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549" y="2316243"/>
                <a:ext cx="2736714" cy="954107"/>
              </a:xfrm>
              <a:prstGeom prst="rect">
                <a:avLst/>
              </a:prstGeom>
              <a:blipFill>
                <a:blip r:embed="rId4"/>
                <a:stretch>
                  <a:fillRect l="-667" t="-1274" b="-5096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01E4B5D-358B-494A-B179-CAAF2821DAE8}"/>
              </a:ext>
            </a:extLst>
          </p:cNvPr>
          <p:cNvSpPr txBox="1"/>
          <p:nvPr/>
        </p:nvSpPr>
        <p:spPr>
          <a:xfrm>
            <a:off x="6348549" y="4026527"/>
            <a:ext cx="2736714" cy="52322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31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0" u="none" dirty="0">
                <a:solidFill>
                  <a:schemeClr val="accent6"/>
                </a:solidFill>
                <a:cs typeface="Arial" pitchFamily="34" charset="0"/>
              </a:rPr>
              <a:t>FYI: the </a:t>
            </a:r>
            <a:r>
              <a:rPr lang="en-US" sz="1400" b="0" i="1" u="none" dirty="0">
                <a:solidFill>
                  <a:schemeClr val="accent6"/>
                </a:solidFill>
                <a:cs typeface="Arial" pitchFamily="34" charset="0"/>
              </a:rPr>
              <a:t>t</a:t>
            </a:r>
            <a:r>
              <a:rPr lang="en-US" sz="1400" b="0" u="none" dirty="0">
                <a:solidFill>
                  <a:schemeClr val="accent6"/>
                </a:solidFill>
                <a:cs typeface="Arial" pitchFamily="34" charset="0"/>
              </a:rPr>
              <a:t>-stat is sometimes called a </a:t>
            </a:r>
            <a:r>
              <a:rPr lang="en-US" sz="1400" b="0" i="1" u="none" dirty="0">
                <a:solidFill>
                  <a:schemeClr val="accent6"/>
                </a:solidFill>
                <a:cs typeface="Arial" pitchFamily="34" charset="0"/>
              </a:rPr>
              <a:t>z</a:t>
            </a:r>
            <a:r>
              <a:rPr lang="en-US" sz="1400" b="0" u="none" dirty="0">
                <a:solidFill>
                  <a:schemeClr val="accent6"/>
                </a:solidFill>
                <a:cs typeface="Arial" pitchFamily="34" charset="0"/>
              </a:rPr>
              <a:t>-score</a:t>
            </a:r>
          </a:p>
        </p:txBody>
      </p:sp>
    </p:spTree>
    <p:extLst>
      <p:ext uri="{BB962C8B-B14F-4D97-AF65-F5344CB8AC3E}">
        <p14:creationId xmlns:p14="http://schemas.microsoft.com/office/powerpoint/2010/main" val="51890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070868A-6B4A-48E0-85EC-6F446BF629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Likely is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if H</a:t>
                </a:r>
                <a:r>
                  <a:rPr lang="en-US" baseline="-25000" dirty="0"/>
                  <a:t>0</a:t>
                </a:r>
                <a:r>
                  <a:rPr lang="en-US" dirty="0"/>
                  <a:t> is True?</a:t>
                </a:r>
                <a:br>
                  <a:rPr lang="en-US" dirty="0"/>
                </a:br>
                <a:r>
                  <a:rPr lang="en-US" sz="1400" dirty="0"/>
                  <a:t>Visualizing the t-statistic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070868A-6B4A-48E0-85EC-6F446BF629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521" b="-5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59F8A-D441-4143-AC39-48502D149E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4448B-2B53-4688-A20A-F03AD694B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8" y="1948705"/>
            <a:ext cx="4642454" cy="3307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240646-25BB-4531-A011-392E8B069ED2}"/>
                  </a:ext>
                </a:extLst>
              </p:cNvPr>
              <p:cNvSpPr txBox="1"/>
              <p:nvPr/>
            </p:nvSpPr>
            <p:spPr>
              <a:xfrm>
                <a:off x="2122550" y="5183793"/>
                <a:ext cx="8807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u="none" dirty="0"/>
                  <a:t>H</a:t>
                </a:r>
                <a:r>
                  <a:rPr lang="en-US" sz="1400" b="0" u="none" baseline="-25000" dirty="0"/>
                  <a:t>0</a:t>
                </a:r>
                <a:r>
                  <a:rPr lang="en-US" sz="1400" b="0" u="none" dirty="0"/>
                  <a:t>:</a:t>
                </a:r>
                <a14:m>
                  <m:oMath xmlns:m="http://schemas.openxmlformats.org/officeDocument/2006/math">
                    <m:r>
                      <a:rPr lang="en-US" sz="140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400" b="0" u="none" dirty="0">
                  <a:solidFill>
                    <a:schemeClr val="accent6"/>
                  </a:solidFill>
                </a:endParaRPr>
              </a:p>
              <a:p>
                <a:r>
                  <a:rPr lang="en-US" sz="1400" b="0" u="none" dirty="0"/>
                  <a:t>H</a:t>
                </a:r>
                <a:r>
                  <a:rPr lang="en-US" sz="1400" b="0" u="none" baseline="-25000" dirty="0"/>
                  <a:t>A</a:t>
                </a:r>
                <a:r>
                  <a:rPr lang="en-US" sz="1400" b="0" u="none" dirty="0"/>
                  <a:t>:</a:t>
                </a:r>
                <a14:m>
                  <m:oMath xmlns:m="http://schemas.openxmlformats.org/officeDocument/2006/math">
                    <m:r>
                      <a:rPr lang="en-US" sz="140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4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400" b="0" u="none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240646-25BB-4531-A011-392E8B069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550" y="5183793"/>
                <a:ext cx="880754" cy="523220"/>
              </a:xfrm>
              <a:prstGeom prst="rect">
                <a:avLst/>
              </a:prstGeom>
              <a:blipFill>
                <a:blip r:embed="rId4"/>
                <a:stretch>
                  <a:fillRect l="-2069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174297-391A-487C-BB78-D93F28C3834C}"/>
                  </a:ext>
                </a:extLst>
              </p:cNvPr>
              <p:cNvSpPr txBox="1"/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u="none" dirty="0">
                    <a:cs typeface="Arial" panose="020B0604020202020204" pitchFamily="34" charset="0"/>
                  </a:rPr>
                  <a:t>Standard Normal, i.e., 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(0,1)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174297-391A-487C-BB78-D93F28C38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blipFill>
                <a:blip r:embed="rId5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E9D3C5BC-77F7-41E3-98CA-B0A9FA4039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0" y="1089025"/>
                <a:ext cx="4275972" cy="5768975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9pPr>
              </a:lstStyle>
              <a:p>
                <a:r>
                  <a:rPr lang="en-US" sz="1600" b="0" u="none" kern="0" dirty="0"/>
                  <a:t>Our hypothesis test</a:t>
                </a:r>
              </a:p>
              <a:p>
                <a:pPr lvl="1"/>
                <a:r>
                  <a:rPr lang="en-US" sz="1600" b="0" u="none" kern="0" dirty="0"/>
                  <a:t>H</a:t>
                </a:r>
                <a:r>
                  <a:rPr lang="en-US" sz="1600" b="0" u="none" kern="0" baseline="-25000" dirty="0"/>
                  <a:t>0</a:t>
                </a:r>
                <a:r>
                  <a:rPr lang="en-US" sz="1600" b="0" u="none" kern="0" dirty="0"/>
                  <a:t>: </a:t>
                </a:r>
                <a:r>
                  <a:rPr lang="en-US" sz="1600" b="0" u="none" kern="0" dirty="0">
                    <a:solidFill>
                      <a:schemeClr val="accent6"/>
                    </a:solidFill>
                  </a:rPr>
                  <a:t>R</a:t>
                </a:r>
                <a:r>
                  <a:rPr lang="en-US" sz="1600" b="0" u="none" kern="0" dirty="0"/>
                  <a:t>evenue neutral (</a:t>
                </a:r>
                <a14:m>
                  <m:oMath xmlns:m="http://schemas.openxmlformats.org/officeDocument/2006/math">
                    <m:r>
                      <a:rPr lang="en-US" sz="1600" b="0" i="1" u="none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b="0" i="1" u="none" ker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b="0" u="none" kern="0" dirty="0"/>
                  <a:t>)</a:t>
                </a:r>
              </a:p>
              <a:p>
                <a:pPr lvl="1"/>
                <a:r>
                  <a:rPr lang="en-US" sz="1600" b="0" u="none" kern="0" dirty="0"/>
                  <a:t>H</a:t>
                </a:r>
                <a:r>
                  <a:rPr lang="en-US" sz="1600" b="0" u="none" kern="0" baseline="-25000" dirty="0"/>
                  <a:t>A</a:t>
                </a:r>
                <a:r>
                  <a:rPr lang="en-US" sz="1600" b="0" u="none" kern="0" dirty="0"/>
                  <a:t>: </a:t>
                </a:r>
                <a:r>
                  <a:rPr lang="en-US" sz="1600" b="0" u="none" kern="0" dirty="0">
                    <a:solidFill>
                      <a:schemeClr val="accent6"/>
                    </a:solidFill>
                  </a:rPr>
                  <a:t>N</a:t>
                </a:r>
                <a:r>
                  <a:rPr lang="en-US" sz="1600" b="0" u="none" kern="0" dirty="0"/>
                  <a:t>ot revenue neutral (</a:t>
                </a:r>
                <a14:m>
                  <m:oMath xmlns:m="http://schemas.openxmlformats.org/officeDocument/2006/math">
                    <m:r>
                      <a:rPr lang="en-US" sz="1600" b="0" i="1" u="none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b="0" i="1" u="none" ker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b="0" i="1" u="none" ker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b="0" u="none" kern="0" dirty="0"/>
                  <a:t>)</a:t>
                </a:r>
              </a:p>
              <a:p>
                <a:endParaRPr lang="en-US" sz="1600" b="0" u="none" kern="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0" i="0" u="none" kern="0" dirty="0"/>
                      <m:t>Data</m:t>
                    </m:r>
                    <m:r>
                      <m:rPr>
                        <m:nor/>
                      </m:rPr>
                      <a:rPr lang="en-US" sz="1600" b="0" i="0" u="none" kern="0" dirty="0"/>
                      <m:t>:</m:t>
                    </m:r>
                  </m:oMath>
                </a14:m>
                <a:r>
                  <a:rPr lang="en-US" sz="1600" b="0" u="none" kern="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0" i="0" u="none" kern="0" dirty="0">
                        <a:solidFill>
                          <a:schemeClr val="accent6"/>
                        </a:solidFill>
                      </a:rPr>
                      <m:t> </m:t>
                    </m:r>
                    <m:r>
                      <a:rPr lang="en-US" sz="1600" b="0" i="1" u="none" ker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600" b="0" u="none" ker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=100</m:t>
                    </m:r>
                    <m:r>
                      <a:rPr lang="en-US" sz="1600" b="0" u="none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bar>
                      <m:barPr>
                        <m:pos m:val="top"/>
                        <m:ctrlPr>
                          <a:rPr lang="en-US" sz="1600" b="0" i="1" u="none" ker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600" b="0" i="1" u="none" ker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en-US" sz="1600" b="0" i="1" u="none" kern="0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 $219</m:t>
                    </m:r>
                    <m:r>
                      <a:rPr lang="en-US" sz="1600" b="0" i="1" u="none" kern="0" dirty="0">
                        <a:latin typeface="Cambria Math" panose="02040503050406030204" pitchFamily="18" charset="0"/>
                      </a:rPr>
                      <m:t>,  </m:t>
                    </m:r>
                    <m:acc>
                      <m:accPr>
                        <m:chr m:val="̂"/>
                        <m:ctrlPr>
                          <a:rPr lang="en-US" sz="1600" b="0" i="1" u="none" ker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u="none" ker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600" b="0" i="1" u="none" ker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u="none" kern="0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$725</m:t>
                    </m:r>
                  </m:oMath>
                </a14:m>
                <a:r>
                  <a:rPr lang="en-US" sz="1600" b="0" u="none" kern="0" dirty="0">
                    <a:solidFill>
                      <a:schemeClr val="accent6"/>
                    </a:solidFill>
                  </a:rPr>
                  <a:t> </a:t>
                </a:r>
                <a:endParaRPr lang="en-US" sz="1600" b="0" u="none" kern="0" dirty="0"/>
              </a:p>
              <a:p>
                <a:endParaRPr lang="en-US" sz="1600" b="0" u="none" kern="0" dirty="0"/>
              </a:p>
              <a:p>
                <a:r>
                  <a:rPr lang="en-US" sz="1600" b="0" u="none" kern="0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t-stat</a:t>
                </a:r>
                <a14:m>
                  <m:oMath xmlns:m="http://schemas.openxmlformats.org/officeDocument/2006/math">
                    <m:r>
                      <a:rPr lang="en-US" sz="1600" b="0" u="none" kern="0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u="none" kern="0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sz="1600" b="0" i="1" u="none" ker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u="none" ker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600" b="0" i="1" u="none" ker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u="none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1600" b="0" i="1" u="none" kern="0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𝑆𝑡𝑑</m:t>
                        </m:r>
                        <m:r>
                          <a:rPr lang="en-US" sz="1600" b="0" i="1" u="none" kern="0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u="none" kern="0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sz="1600" b="0" i="1" u="none" kern="0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sz="1600" b="0" i="1" u="none" ker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0" i="1" u="none" ker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r>
                  <a:rPr lang="en-US" sz="1600" b="0" u="none" kern="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u="none" kern="0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sz="1600" b="0" i="1" u="none" ker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u="none" ker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600" b="0" i="1" u="none" ker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u="none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f>
                          <m:fPr>
                            <m:type m:val="lin"/>
                            <m:ctrlPr>
                              <a:rPr lang="en-US" sz="1600" b="0" i="1" u="none" ker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sz="1600" b="0" i="1" u="none" ker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0" i="1" u="none" ker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b="0" i="1" u="none" ker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b="0" i="1" u="none" ker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sz="1600" b="0" i="1" u="none" kern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u="none" kern="0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u="none" kern="0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219</m:t>
                        </m:r>
                      </m:num>
                      <m:den>
                        <m:f>
                          <m:fPr>
                            <m:type m:val="lin"/>
                            <m:ctrlPr>
                              <a:rPr lang="en-US" sz="1600" b="0" i="1" u="none" ker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u="none" ker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725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b="0" i="1" u="none" ker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b="0" i="1" u="none" ker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sz="1600" b="0" i="1" u="none" kern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u="none" ker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3.021</m:t>
                    </m:r>
                  </m:oMath>
                </a14:m>
                <a:r>
                  <a:rPr lang="en-US" sz="1600" b="0" u="none" kern="0" dirty="0"/>
                  <a:t> </a:t>
                </a:r>
                <a:endParaRPr lang="en-US" sz="1600" b="0" u="none" kern="0" dirty="0">
                  <a:solidFill>
                    <a:srgbClr val="00B0F0"/>
                  </a:solidFill>
                </a:endParaRPr>
              </a:p>
              <a:p>
                <a:endParaRPr lang="en-US" sz="1600" b="0" u="none" kern="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E9D3C5BC-77F7-41E3-98CA-B0A9FA403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089025"/>
                <a:ext cx="4275972" cy="5768975"/>
              </a:xfrm>
              <a:prstGeom prst="rect">
                <a:avLst/>
              </a:prstGeom>
              <a:blipFill>
                <a:blip r:embed="rId6"/>
                <a:stretch>
                  <a:fillRect l="-571" t="-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25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36703-86A2-7EF5-96F8-5A45DA3F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1198E86E-A72C-F868-8D00-5B5F32A16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" y="1948705"/>
            <a:ext cx="4642454" cy="3307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99C92CD-1015-C54B-14F6-A93B02672AF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Likely is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if H</a:t>
                </a:r>
                <a:r>
                  <a:rPr lang="en-US" baseline="-25000" dirty="0"/>
                  <a:t>0</a:t>
                </a:r>
                <a:r>
                  <a:rPr lang="en-US" dirty="0"/>
                  <a:t> is True?</a:t>
                </a:r>
                <a:br>
                  <a:rPr lang="en-US" dirty="0"/>
                </a:br>
                <a:r>
                  <a:rPr lang="en-US" sz="1400" dirty="0"/>
                  <a:t>Visualizing the t-statistic</a:t>
                </a:r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99C92CD-1015-C54B-14F6-A93B02672A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t="-2521" b="-5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935BA-9C8A-4E45-8310-0127EBAD46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7C85E25-58E2-DCA3-BB8A-7E441F4BB8BB}"/>
              </a:ext>
            </a:extLst>
          </p:cNvPr>
          <p:cNvSpPr/>
          <p:nvPr/>
        </p:nvSpPr>
        <p:spPr bwMode="auto">
          <a:xfrm>
            <a:off x="947292" y="4525951"/>
            <a:ext cx="881508" cy="657842"/>
          </a:xfrm>
          <a:prstGeom prst="ellipse">
            <a:avLst/>
          </a:prstGeom>
          <a:noFill/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4292052-97E6-BF66-5C80-BDA7434819D2}"/>
              </a:ext>
            </a:extLst>
          </p:cNvPr>
          <p:cNvSpPr/>
          <p:nvPr/>
        </p:nvSpPr>
        <p:spPr bwMode="auto">
          <a:xfrm>
            <a:off x="3303461" y="4525951"/>
            <a:ext cx="881508" cy="657842"/>
          </a:xfrm>
          <a:prstGeom prst="ellipse">
            <a:avLst/>
          </a:prstGeom>
          <a:noFill/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E63001B-6FCB-3D02-76D2-FA2577A7847B}"/>
                  </a:ext>
                </a:extLst>
              </p:cNvPr>
              <p:cNvSpPr txBox="1"/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u="none" dirty="0">
                    <a:cs typeface="Arial" panose="020B0604020202020204" pitchFamily="34" charset="0"/>
                  </a:rPr>
                  <a:t>Standard Normal, i.e., 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(0,1)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F0EBF6-9D1E-BDB4-F445-9D05937AD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blipFill>
                <a:blip r:embed="rId5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D93153-C839-1A30-FE59-35ABFA052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0" y="1089025"/>
                <a:ext cx="4275972" cy="5768975"/>
              </a:xfrm>
            </p:spPr>
            <p:txBody>
              <a:bodyPr/>
              <a:lstStyle/>
              <a:p>
                <a:r>
                  <a:rPr lang="en-US" sz="1600" dirty="0"/>
                  <a:t>Our hypothesis test</a:t>
                </a:r>
              </a:p>
              <a:p>
                <a:pPr lvl="1"/>
                <a:r>
                  <a:rPr lang="en-US" sz="1600" dirty="0"/>
                  <a:t>H</a:t>
                </a:r>
                <a:r>
                  <a:rPr lang="en-US" sz="1600" baseline="-25000" dirty="0"/>
                  <a:t>0</a:t>
                </a:r>
                <a:r>
                  <a:rPr lang="en-US" sz="1600" dirty="0"/>
                  <a:t>: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R</a:t>
                </a:r>
                <a:r>
                  <a:rPr lang="en-US" sz="1600" dirty="0"/>
                  <a:t>evenue neutral 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pPr lvl="1"/>
                <a:r>
                  <a:rPr lang="en-US" sz="1600" dirty="0"/>
                  <a:t>H</a:t>
                </a:r>
                <a:r>
                  <a:rPr lang="en-US" sz="1600" baseline="-25000" dirty="0"/>
                  <a:t>A</a:t>
                </a:r>
                <a:r>
                  <a:rPr lang="en-US" sz="1600" dirty="0"/>
                  <a:t>: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N</a:t>
                </a:r>
                <a:r>
                  <a:rPr lang="en-US" sz="1600" dirty="0"/>
                  <a:t>ot revenue neutral 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endParaRPr lang="en-US" sz="160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 dirty="0"/>
                      <m:t>Data</m:t>
                    </m:r>
                    <m:r>
                      <m:rPr>
                        <m:nor/>
                      </m:rPr>
                      <a:rPr lang="en-US" sz="1600" i="0" dirty="0"/>
                      <m:t>: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 dirty="0">
                        <a:solidFill>
                          <a:schemeClr val="accent6"/>
                        </a:solidFill>
                      </a:rPr>
                      <m:t> </m:t>
                    </m:r>
                    <m:r>
                      <a:rPr lang="en-US" sz="1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60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=100</m:t>
                    </m:r>
                    <m:r>
                      <a:rPr lang="en-US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bar>
                      <m:barPr>
                        <m:pos m:val="top"/>
                        <m:ctrlP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en-US" sz="16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 $219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,  </m:t>
                    </m:r>
                    <m:acc>
                      <m:accPr>
                        <m:chr m:val="̂"/>
                        <m:ctrlP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$725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</a:rPr>
                  <a:t> </a:t>
                </a:r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t</a:t>
                </a:r>
                <a:r>
                  <a:rPr lang="en-US" sz="1600" b="0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-stat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1600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𝑆𝑡𝑑</m:t>
                        </m:r>
                        <m:r>
                          <a:rPr lang="en-US" sz="1600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r>
                  <a:rPr lang="en-US" sz="16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f>
                          <m:fPr>
                            <m:type m:val="lin"/>
                            <m:ctrlPr>
                              <a:rPr lang="en-US" sz="16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sz="160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219</m:t>
                        </m:r>
                      </m:num>
                      <m:den>
                        <m:f>
                          <m:fPr>
                            <m:type m:val="lin"/>
                            <m:ctrlPr>
                              <a:rPr lang="en-US" sz="16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725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sz="160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3.021</m:t>
                    </m:r>
                  </m:oMath>
                </a14:m>
                <a:r>
                  <a:rPr lang="en-US" sz="1600" dirty="0"/>
                  <a:t> </a:t>
                </a:r>
                <a:endParaRPr lang="en-US" sz="1600" dirty="0">
                  <a:solidFill>
                    <a:srgbClr val="00B0F0"/>
                  </a:solidFill>
                </a:endParaRPr>
              </a:p>
              <a:p>
                <a:endParaRPr lang="en-US" sz="1600" dirty="0"/>
              </a:p>
              <a:p>
                <a:r>
                  <a:rPr lang="en-US" sz="1600" dirty="0">
                    <a:solidFill>
                      <a:schemeClr val="accent6"/>
                    </a:solidFill>
                  </a:rPr>
                  <a:t>The probability of seeing a t-statistic a</a:t>
                </a:r>
                <a:r>
                  <a:rPr lang="en-US" sz="1600" dirty="0"/>
                  <a:t>t least as big as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3.021</m:t>
                    </m:r>
                  </m:oMath>
                </a14:m>
                <a:r>
                  <a:rPr lang="en-US" sz="1600" dirty="0"/>
                  <a:t> is very small! 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We know it is less than 5% because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3.0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</a:rPr>
                  <a:t> is further out than the 95% critical values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1.96</m:t>
                    </m:r>
                  </m:oMath>
                </a14:m>
                <a:endParaRPr lang="en-US" sz="1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D93153-C839-1A30-FE59-35ABFA052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0" y="1089025"/>
                <a:ext cx="4275972" cy="5768975"/>
              </a:xfrm>
              <a:blipFill>
                <a:blip r:embed="rId6"/>
                <a:stretch>
                  <a:fillRect l="-571" t="-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F4D97F-105B-F90A-A3FA-2334259B2129}"/>
                  </a:ext>
                </a:extLst>
              </p:cNvPr>
              <p:cNvSpPr txBox="1"/>
              <p:nvPr/>
            </p:nvSpPr>
            <p:spPr>
              <a:xfrm>
                <a:off x="2122550" y="5183793"/>
                <a:ext cx="8807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u="none" dirty="0"/>
                  <a:t>H</a:t>
                </a:r>
                <a:r>
                  <a:rPr lang="en-US" sz="1400" b="0" u="none" baseline="-25000" dirty="0"/>
                  <a:t>0</a:t>
                </a:r>
                <a:r>
                  <a:rPr lang="en-US" sz="1400" b="0" u="none" dirty="0"/>
                  <a:t>:</a:t>
                </a:r>
                <a14:m>
                  <m:oMath xmlns:m="http://schemas.openxmlformats.org/officeDocument/2006/math">
                    <m:r>
                      <a:rPr lang="en-US" sz="140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400" b="0" u="none" dirty="0">
                  <a:solidFill>
                    <a:schemeClr val="accent6"/>
                  </a:solidFill>
                </a:endParaRPr>
              </a:p>
              <a:p>
                <a:r>
                  <a:rPr lang="en-US" sz="1400" b="0" u="none" dirty="0"/>
                  <a:t>H</a:t>
                </a:r>
                <a:r>
                  <a:rPr lang="en-US" sz="1400" b="0" u="none" baseline="-25000" dirty="0"/>
                  <a:t>A</a:t>
                </a:r>
                <a:r>
                  <a:rPr lang="en-US" sz="1400" b="0" u="none" dirty="0"/>
                  <a:t>:</a:t>
                </a:r>
                <a14:m>
                  <m:oMath xmlns:m="http://schemas.openxmlformats.org/officeDocument/2006/math">
                    <m:r>
                      <a:rPr lang="en-US" sz="140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4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400" b="0" u="non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F4D97F-105B-F90A-A3FA-2334259B2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550" y="5183793"/>
                <a:ext cx="880754" cy="523220"/>
              </a:xfrm>
              <a:prstGeom prst="rect">
                <a:avLst/>
              </a:prstGeom>
              <a:blipFill>
                <a:blip r:embed="rId7"/>
                <a:stretch>
                  <a:fillRect l="-2069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05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EB255-D495-B008-BA91-8CE61DA35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E69F3BC-BE63-67DF-D233-959D40BB98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Likely is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if H</a:t>
                </a:r>
                <a:r>
                  <a:rPr lang="en-US" baseline="-25000" dirty="0"/>
                  <a:t>0</a:t>
                </a:r>
                <a:r>
                  <a:rPr lang="en-US" dirty="0"/>
                  <a:t> is True?</a:t>
                </a:r>
                <a:br>
                  <a:rPr lang="en-US" dirty="0"/>
                </a:br>
                <a:r>
                  <a:rPr lang="en-US" sz="1400" dirty="0"/>
                  <a:t>Visualizing the t-statistic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E69F3BC-BE63-67DF-D233-959D40BB98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521" b="-5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0CBAE-25DE-2C15-6E03-B95BA469AA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23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D21B4F9-C2C7-CEAA-548B-AABBAC7DAD65}"/>
                  </a:ext>
                </a:extLst>
              </p:cNvPr>
              <p:cNvSpPr txBox="1"/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u="none" dirty="0">
                    <a:cs typeface="Arial" panose="020B0604020202020204" pitchFamily="34" charset="0"/>
                  </a:rPr>
                  <a:t>Standard Normal, i.e., 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(0,1)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F0EBF6-9D1E-BDB4-F445-9D05937AD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blipFill>
                <a:blip r:embed="rId5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A327900-5086-422C-420D-A8D8B26783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37" y="1948705"/>
            <a:ext cx="4642453" cy="330784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C1A5B59-6B8D-ECA3-1F0B-62EF73C8D994}"/>
              </a:ext>
            </a:extLst>
          </p:cNvPr>
          <p:cNvSpPr/>
          <p:nvPr/>
        </p:nvSpPr>
        <p:spPr bwMode="auto">
          <a:xfrm>
            <a:off x="947292" y="4525951"/>
            <a:ext cx="881508" cy="657842"/>
          </a:xfrm>
          <a:prstGeom prst="ellipse">
            <a:avLst/>
          </a:prstGeom>
          <a:noFill/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496078-05D4-DBA2-5E82-D792A35A7121}"/>
              </a:ext>
            </a:extLst>
          </p:cNvPr>
          <p:cNvSpPr/>
          <p:nvPr/>
        </p:nvSpPr>
        <p:spPr bwMode="auto">
          <a:xfrm>
            <a:off x="3303461" y="4525951"/>
            <a:ext cx="881508" cy="657842"/>
          </a:xfrm>
          <a:prstGeom prst="ellipse">
            <a:avLst/>
          </a:prstGeom>
          <a:noFill/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99F839-1421-D2D6-BE13-E7E2B02669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0" y="1089025"/>
                <a:ext cx="4275972" cy="5768975"/>
              </a:xfrm>
            </p:spPr>
            <p:txBody>
              <a:bodyPr/>
              <a:lstStyle/>
              <a:p>
                <a:r>
                  <a:rPr lang="en-US" sz="1600" dirty="0"/>
                  <a:t>Our hypothesis test</a:t>
                </a:r>
              </a:p>
              <a:p>
                <a:pPr lvl="1"/>
                <a:r>
                  <a:rPr lang="en-US" sz="1600" dirty="0"/>
                  <a:t>H</a:t>
                </a:r>
                <a:r>
                  <a:rPr lang="en-US" sz="1600" baseline="-25000" dirty="0"/>
                  <a:t>0</a:t>
                </a:r>
                <a:r>
                  <a:rPr lang="en-US" sz="1600" dirty="0"/>
                  <a:t>: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R</a:t>
                </a:r>
                <a:r>
                  <a:rPr lang="en-US" sz="1600" dirty="0"/>
                  <a:t>evenue neutral 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pPr lvl="1"/>
                <a:r>
                  <a:rPr lang="en-US" sz="1600" dirty="0"/>
                  <a:t>H</a:t>
                </a:r>
                <a:r>
                  <a:rPr lang="en-US" sz="1600" baseline="-25000" dirty="0"/>
                  <a:t>A</a:t>
                </a:r>
                <a:r>
                  <a:rPr lang="en-US" sz="1600" dirty="0"/>
                  <a:t>: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N</a:t>
                </a:r>
                <a:r>
                  <a:rPr lang="en-US" sz="1600" dirty="0"/>
                  <a:t>ot revenue neutral 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endParaRPr lang="en-US" sz="160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 dirty="0"/>
                      <m:t>Data</m:t>
                    </m:r>
                    <m:r>
                      <m:rPr>
                        <m:nor/>
                      </m:rPr>
                      <a:rPr lang="en-US" sz="1600" i="0" dirty="0"/>
                      <m:t>: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 dirty="0">
                        <a:solidFill>
                          <a:schemeClr val="accent6"/>
                        </a:solidFill>
                      </a:rPr>
                      <m:t> </m:t>
                    </m:r>
                    <m:r>
                      <a:rPr lang="en-US" sz="1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60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=100</m:t>
                    </m:r>
                    <m:r>
                      <a:rPr lang="en-US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bar>
                      <m:barPr>
                        <m:pos m:val="top"/>
                        <m:ctrlP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en-US" sz="16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 $219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,  </m:t>
                    </m:r>
                    <m:acc>
                      <m:accPr>
                        <m:chr m:val="̂"/>
                        <m:ctrlP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$725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</a:rPr>
                  <a:t> </a:t>
                </a:r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t</a:t>
                </a:r>
                <a:r>
                  <a:rPr lang="en-US" sz="1600" b="0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-stat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1600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𝑆𝑡𝑑</m:t>
                        </m:r>
                        <m:r>
                          <a:rPr lang="en-US" sz="1600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r>
                  <a:rPr lang="en-US" sz="16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f>
                          <m:fPr>
                            <m:type m:val="lin"/>
                            <m:ctrlPr>
                              <a:rPr lang="en-US" sz="16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sz="160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219</m:t>
                        </m:r>
                      </m:num>
                      <m:den>
                        <m:f>
                          <m:fPr>
                            <m:type m:val="lin"/>
                            <m:ctrlPr>
                              <a:rPr lang="en-US" sz="16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725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sz="160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3.021</m:t>
                    </m:r>
                  </m:oMath>
                </a14:m>
                <a:r>
                  <a:rPr lang="en-US" sz="1600" dirty="0"/>
                  <a:t> </a:t>
                </a:r>
                <a:endParaRPr lang="en-US" sz="1600" dirty="0">
                  <a:solidFill>
                    <a:srgbClr val="00B0F0"/>
                  </a:solidFill>
                </a:endParaRPr>
              </a:p>
              <a:p>
                <a:endParaRPr lang="en-US" sz="1600" dirty="0"/>
              </a:p>
              <a:p>
                <a:r>
                  <a:rPr lang="en-US" sz="1600" dirty="0">
                    <a:solidFill>
                      <a:schemeClr val="accent6"/>
                    </a:solidFill>
                  </a:rPr>
                  <a:t>The probability of seeing a t-statistic a</a:t>
                </a:r>
                <a:r>
                  <a:rPr lang="en-US" sz="1600" dirty="0"/>
                  <a:t>t least as big as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3.0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en-US" sz="1600" dirty="0"/>
                  <a:t> is very small! 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We know it is less than 5% because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3.0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</a:rPr>
                  <a:t> is further out than the 95% critical values of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1.96</m:t>
                    </m:r>
                  </m:oMath>
                </a14:m>
                <a:endParaRPr lang="en-US" sz="1600" dirty="0">
                  <a:solidFill>
                    <a:schemeClr val="accent6"/>
                  </a:solidFill>
                </a:endParaRPr>
              </a:p>
              <a:p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>
                    <a:solidFill>
                      <a:schemeClr val="accent6"/>
                    </a:solidFill>
                  </a:rPr>
                  <a:t>So, reject null! </a:t>
                </a:r>
              </a:p>
              <a:p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>
                    <a:solidFill>
                      <a:schemeClr val="accent6"/>
                    </a:solidFill>
                  </a:rPr>
                  <a:t>Seeing t-stat of 3.021 is so unlikely if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</a:rPr>
                  <a:t> that we can reject the idea that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99F839-1421-D2D6-BE13-E7E2B02669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0" y="1089025"/>
                <a:ext cx="4275972" cy="5768975"/>
              </a:xfrm>
              <a:blipFill>
                <a:blip r:embed="rId7"/>
                <a:stretch>
                  <a:fillRect l="-571" t="-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93DBF1-2BFC-5BCC-E6E6-8C4E3D9BB0C2}"/>
                  </a:ext>
                </a:extLst>
              </p:cNvPr>
              <p:cNvSpPr txBox="1"/>
              <p:nvPr/>
            </p:nvSpPr>
            <p:spPr>
              <a:xfrm>
                <a:off x="2122550" y="5183793"/>
                <a:ext cx="8807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u="none" dirty="0"/>
                  <a:t>H</a:t>
                </a:r>
                <a:r>
                  <a:rPr lang="en-US" sz="1400" b="0" u="none" baseline="-25000" dirty="0"/>
                  <a:t>0</a:t>
                </a:r>
                <a:r>
                  <a:rPr lang="en-US" sz="1400" b="0" u="none" dirty="0"/>
                  <a:t>:</a:t>
                </a:r>
                <a14:m>
                  <m:oMath xmlns:m="http://schemas.openxmlformats.org/officeDocument/2006/math">
                    <m:r>
                      <a:rPr lang="en-US" sz="140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400" b="0" u="none" dirty="0">
                  <a:solidFill>
                    <a:schemeClr val="accent6"/>
                  </a:solidFill>
                </a:endParaRPr>
              </a:p>
              <a:p>
                <a:r>
                  <a:rPr lang="en-US" sz="1400" b="0" u="none" dirty="0"/>
                  <a:t>H</a:t>
                </a:r>
                <a:r>
                  <a:rPr lang="en-US" sz="1400" b="0" u="none" baseline="-25000" dirty="0"/>
                  <a:t>A</a:t>
                </a:r>
                <a:r>
                  <a:rPr lang="en-US" sz="1400" b="0" u="none" dirty="0"/>
                  <a:t>:</a:t>
                </a:r>
                <a14:m>
                  <m:oMath xmlns:m="http://schemas.openxmlformats.org/officeDocument/2006/math">
                    <m:r>
                      <a:rPr lang="en-US" sz="140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4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400" b="0" u="non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93DBF1-2BFC-5BCC-E6E6-8C4E3D9BB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550" y="5183793"/>
                <a:ext cx="880754" cy="523220"/>
              </a:xfrm>
              <a:prstGeom prst="rect">
                <a:avLst/>
              </a:prstGeom>
              <a:blipFill>
                <a:blip r:embed="rId8"/>
                <a:stretch>
                  <a:fillRect l="-2069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152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FB5D3-B565-B8D1-2FC8-8ABCAA3D3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EB80AE-B68C-C1C1-7E29-FFDBF9AC8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" y="1948705"/>
            <a:ext cx="4642454" cy="33078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6475E7-E78A-B1F9-E04A-61D066330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</a:t>
            </a:r>
            <a:r>
              <a:rPr lang="en-US" dirty="0">
                <a:solidFill>
                  <a:srgbClr val="00B0F0"/>
                </a:solidFill>
              </a:rPr>
              <a:t>p-value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46A8D-C9BB-D630-8157-1C871DD109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24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1B95BE1-69A5-7482-831F-F1CABF6B5CD8}"/>
                  </a:ext>
                </a:extLst>
              </p:cNvPr>
              <p:cNvSpPr txBox="1"/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u="none" dirty="0">
                    <a:cs typeface="Arial" panose="020B0604020202020204" pitchFamily="34" charset="0"/>
                  </a:rPr>
                  <a:t>Standard Normal, i.e., 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(0,1)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F0EBF6-9D1E-BDB4-F445-9D05937AD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blipFill>
                <a:blip r:embed="rId5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EE9F55DE-4464-FAED-EDA3-9F55D583DC25}"/>
              </a:ext>
            </a:extLst>
          </p:cNvPr>
          <p:cNvSpPr/>
          <p:nvPr/>
        </p:nvSpPr>
        <p:spPr bwMode="auto">
          <a:xfrm>
            <a:off x="947292" y="4525951"/>
            <a:ext cx="881508" cy="657842"/>
          </a:xfrm>
          <a:prstGeom prst="ellipse">
            <a:avLst/>
          </a:prstGeom>
          <a:noFill/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376D3C-43AB-4ADC-70A6-A779D7DF292F}"/>
              </a:ext>
            </a:extLst>
          </p:cNvPr>
          <p:cNvSpPr/>
          <p:nvPr/>
        </p:nvSpPr>
        <p:spPr bwMode="auto">
          <a:xfrm>
            <a:off x="3303461" y="4525951"/>
            <a:ext cx="881508" cy="657842"/>
          </a:xfrm>
          <a:prstGeom prst="ellipse">
            <a:avLst/>
          </a:prstGeom>
          <a:noFill/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89165E55-32DF-9FF7-52E0-515BE3F28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9" y="1089025"/>
                <a:ext cx="4572001" cy="5768975"/>
              </a:xfrm>
            </p:spPr>
            <p:txBody>
              <a:bodyPr/>
              <a:lstStyle/>
              <a:p>
                <a:r>
                  <a:rPr lang="en-US" sz="1600" dirty="0"/>
                  <a:t>There are several ways to find the p-value, i.e., the probability of seeing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</a:rPr>
                  <a:t> 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Use AI (or google search)</a:t>
                </a:r>
              </a:p>
              <a:p>
                <a:endParaRPr lang="en-US" sz="1600" dirty="0"/>
              </a:p>
              <a:p>
                <a:pPr lvl="1"/>
                <a:r>
                  <a:rPr lang="en-US" sz="1600" u="sng" dirty="0"/>
                  <a:t>Prompt</a:t>
                </a:r>
                <a:r>
                  <a:rPr lang="en-US" sz="1600" dirty="0"/>
                  <a:t> “</a:t>
                </a:r>
                <a:r>
                  <a:rPr lang="en-US" sz="1600" dirty="0">
                    <a:solidFill>
                      <a:schemeClr val="tx1"/>
                    </a:solidFill>
                  </a:rPr>
                  <a:t>What is the p-value for a two-tailed test with t-stat 3.021 and 100 observations?</a:t>
                </a:r>
                <a:r>
                  <a:rPr lang="en-US" sz="1600" dirty="0"/>
                  <a:t>”</a:t>
                </a:r>
              </a:p>
              <a:p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>
                    <a:solidFill>
                      <a:schemeClr val="accent6"/>
                    </a:solidFill>
                  </a:rPr>
                  <a:t>Use Excel</a:t>
                </a:r>
              </a:p>
              <a:p>
                <a:pPr lvl="1"/>
                <a:r>
                  <a:rPr lang="en-US" sz="1600" dirty="0">
                    <a:solidFill>
                      <a:schemeClr val="accent6"/>
                    </a:solidFill>
                  </a:rPr>
                  <a:t>Excel has a function that gives the area under a normal curve up to the t-stat </a:t>
                </a:r>
              </a:p>
              <a:p>
                <a:pPr lvl="1"/>
                <a:r>
                  <a:rPr lang="en-US" sz="1600" dirty="0">
                    <a:solidFill>
                      <a:schemeClr val="accent6"/>
                    </a:solidFill>
                  </a:rPr>
                  <a:t>We need to add the area under the left and right tails</a:t>
                </a:r>
              </a:p>
              <a:p>
                <a:pPr lvl="1"/>
                <a:r>
                  <a:rPr lang="en-US" sz="1600" dirty="0">
                    <a:solidFill>
                      <a:schemeClr val="accent6"/>
                    </a:solidFill>
                  </a:rPr>
                  <a:t>Given the symmetry we can just double the area under the left tail by typing this into a cell</a:t>
                </a:r>
              </a:p>
              <a:p>
                <a:pPr lvl="1"/>
                <a:endParaRPr lang="en-US" sz="1600" dirty="0"/>
              </a:p>
              <a:p>
                <a:pPr marL="457200" lvl="1" indent="0" defTabSz="487363">
                  <a:buNone/>
                </a:pPr>
                <a:r>
                  <a:rPr lang="en-US" sz="1600" dirty="0"/>
                  <a:t>	</a:t>
                </a:r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=2*NORM.DIST(-3.021,0,1,TRUE)</a:t>
                </a:r>
              </a:p>
              <a:p>
                <a:pPr lvl="1"/>
                <a:endParaRPr lang="en-US" sz="1600" dirty="0">
                  <a:solidFill>
                    <a:schemeClr val="accent6"/>
                  </a:solidFill>
                </a:endParaRPr>
              </a:p>
              <a:p>
                <a:pPr lvl="1"/>
                <a:endParaRPr lang="en-US" sz="1600" dirty="0">
                  <a:solidFill>
                    <a:schemeClr val="accent6"/>
                  </a:solidFill>
                </a:endParaRPr>
              </a:p>
              <a:p>
                <a:endParaRPr lang="en-US" sz="1600" dirty="0">
                  <a:solidFill>
                    <a:schemeClr val="accent6"/>
                  </a:solidFill>
                </a:endParaRPr>
              </a:p>
              <a:p>
                <a:endParaRPr lang="en-US" sz="1600" dirty="0">
                  <a:solidFill>
                    <a:srgbClr val="EB971B"/>
                  </a:solidFill>
                </a:endParaRPr>
              </a:p>
              <a:p>
                <a:endParaRPr lang="en-US" sz="1600" dirty="0">
                  <a:solidFill>
                    <a:srgbClr val="EB971B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89165E55-32DF-9FF7-52E0-515BE3F28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9" y="1089025"/>
                <a:ext cx="4572001" cy="5768975"/>
              </a:xfrm>
              <a:blipFill>
                <a:blip r:embed="rId6"/>
                <a:stretch>
                  <a:fillRect l="-533" t="-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0910506-3DBC-D100-4A36-1C052C0CB7A7}"/>
              </a:ext>
            </a:extLst>
          </p:cNvPr>
          <p:cNvSpPr txBox="1"/>
          <p:nvPr/>
        </p:nvSpPr>
        <p:spPr>
          <a:xfrm>
            <a:off x="6342062" y="3022328"/>
            <a:ext cx="14670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47140E-1C19-337C-3E32-D09C0F603EA3}"/>
                  </a:ext>
                </a:extLst>
              </p:cNvPr>
              <p:cNvSpPr txBox="1"/>
              <p:nvPr/>
            </p:nvSpPr>
            <p:spPr>
              <a:xfrm>
                <a:off x="2122550" y="5183793"/>
                <a:ext cx="8807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u="none" dirty="0"/>
                  <a:t>H</a:t>
                </a:r>
                <a:r>
                  <a:rPr lang="en-US" sz="1400" b="0" u="none" baseline="-25000" dirty="0"/>
                  <a:t>0</a:t>
                </a:r>
                <a:r>
                  <a:rPr lang="en-US" sz="1400" b="0" u="none" dirty="0"/>
                  <a:t>:</a:t>
                </a:r>
                <a14:m>
                  <m:oMath xmlns:m="http://schemas.openxmlformats.org/officeDocument/2006/math">
                    <m:r>
                      <a:rPr lang="en-US" sz="140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400" b="0" u="none" dirty="0">
                  <a:solidFill>
                    <a:schemeClr val="accent6"/>
                  </a:solidFill>
                </a:endParaRPr>
              </a:p>
              <a:p>
                <a:r>
                  <a:rPr lang="en-US" sz="1400" b="0" u="none" dirty="0"/>
                  <a:t>H</a:t>
                </a:r>
                <a:r>
                  <a:rPr lang="en-US" sz="1400" b="0" u="none" baseline="-25000" dirty="0"/>
                  <a:t>A</a:t>
                </a:r>
                <a:r>
                  <a:rPr lang="en-US" sz="1400" b="0" u="none" dirty="0"/>
                  <a:t>:</a:t>
                </a:r>
                <a14:m>
                  <m:oMath xmlns:m="http://schemas.openxmlformats.org/officeDocument/2006/math">
                    <m:r>
                      <a:rPr lang="en-US" sz="140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4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400" b="0" u="none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47140E-1C19-337C-3E32-D09C0F603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550" y="5183793"/>
                <a:ext cx="880754" cy="523220"/>
              </a:xfrm>
              <a:prstGeom prst="rect">
                <a:avLst/>
              </a:prstGeom>
              <a:blipFill>
                <a:blip r:embed="rId7"/>
                <a:stretch>
                  <a:fillRect l="-2069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737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  <p:bldP spid="10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5109D-6D28-2594-7A39-7359BCEE8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0708249-9DAE-34FC-B8FD-26095B07A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" y="1948705"/>
            <a:ext cx="4642454" cy="33078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C4ECC8-E92F-E119-5532-9D58B236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</a:t>
            </a:r>
            <a:r>
              <a:rPr lang="en-US" dirty="0">
                <a:solidFill>
                  <a:srgbClr val="00B0F0"/>
                </a:solidFill>
              </a:rPr>
              <a:t>p-value </a:t>
            </a:r>
            <a:r>
              <a:rPr lang="en-US" dirty="0">
                <a:solidFill>
                  <a:schemeClr val="accent6"/>
                </a:solidFill>
              </a:rPr>
              <a:t>for the Senators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620DE-CC3C-3A63-4B0B-56A7F809A8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25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FC6C487-43F8-D22A-DD3A-D1235EC2BD0B}"/>
                  </a:ext>
                </a:extLst>
              </p:cNvPr>
              <p:cNvSpPr txBox="1"/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u="none" dirty="0">
                    <a:cs typeface="Arial" panose="020B0604020202020204" pitchFamily="34" charset="0"/>
                  </a:rPr>
                  <a:t>Standard Normal, i.e., 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(0,1)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F0EBF6-9D1E-BDB4-F445-9D05937AD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blipFill>
                <a:blip r:embed="rId5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A14BB69E-CCAB-E883-562F-4A6DA8D7D399}"/>
              </a:ext>
            </a:extLst>
          </p:cNvPr>
          <p:cNvSpPr/>
          <p:nvPr/>
        </p:nvSpPr>
        <p:spPr bwMode="auto">
          <a:xfrm>
            <a:off x="947292" y="4525951"/>
            <a:ext cx="881508" cy="657842"/>
          </a:xfrm>
          <a:prstGeom prst="ellipse">
            <a:avLst/>
          </a:prstGeom>
          <a:noFill/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3892AE-32DC-AA4C-DC65-53FC265BC7C4}"/>
              </a:ext>
            </a:extLst>
          </p:cNvPr>
          <p:cNvSpPr/>
          <p:nvPr/>
        </p:nvSpPr>
        <p:spPr bwMode="auto">
          <a:xfrm>
            <a:off x="3303461" y="4525951"/>
            <a:ext cx="881508" cy="657842"/>
          </a:xfrm>
          <a:prstGeom prst="ellipse">
            <a:avLst/>
          </a:prstGeom>
          <a:noFill/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5C196E8-3586-3D15-C97E-93581DD0B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9" y="1089025"/>
            <a:ext cx="4315443" cy="5768975"/>
          </a:xfrm>
        </p:spPr>
        <p:txBody>
          <a:bodyPr/>
          <a:lstStyle/>
          <a:p>
            <a:endParaRPr lang="en-US" sz="1600" dirty="0">
              <a:solidFill>
                <a:schemeClr val="accent6"/>
              </a:solidFill>
            </a:endParaRPr>
          </a:p>
          <a:p>
            <a:r>
              <a:rPr lang="en-US" sz="1600" dirty="0">
                <a:solidFill>
                  <a:schemeClr val="accent6"/>
                </a:solidFill>
              </a:rPr>
              <a:t>The p-value is 0.0025, or .00125 in each tail</a:t>
            </a:r>
          </a:p>
          <a:p>
            <a:endParaRPr lang="en-US" sz="1600" dirty="0">
              <a:solidFill>
                <a:schemeClr val="accent6"/>
              </a:solidFill>
            </a:endParaRPr>
          </a:p>
          <a:p>
            <a:r>
              <a:rPr lang="en-US" sz="1600" dirty="0">
                <a:solidFill>
                  <a:schemeClr val="accent6"/>
                </a:solidFill>
              </a:rPr>
              <a:t>What do you tell Congress?</a:t>
            </a:r>
          </a:p>
          <a:p>
            <a:endParaRPr lang="en-US" sz="1600" dirty="0">
              <a:solidFill>
                <a:schemeClr val="accent6"/>
              </a:solidFill>
            </a:endParaRPr>
          </a:p>
          <a:p>
            <a:r>
              <a:rPr lang="en-US" sz="1600" dirty="0">
                <a:solidFill>
                  <a:schemeClr val="accent6"/>
                </a:solidFill>
              </a:rPr>
              <a:t>“Senators, I examined a sample of tax returns and found that the average taxpayer would have to pay $219 more under the new law. The likelihood of seeing that large a difference if the bill were truly revenue neutral is very, very small, less than about a quarter of a percent. That’s so unlikely, I have to reject the idea that your bill is revenue neutral.” </a:t>
            </a:r>
          </a:p>
          <a:p>
            <a:endParaRPr lang="en-US" sz="1600" dirty="0">
              <a:solidFill>
                <a:schemeClr val="accent6"/>
              </a:solidFill>
            </a:endParaRPr>
          </a:p>
          <a:p>
            <a:r>
              <a:rPr lang="en-US" sz="1600" dirty="0"/>
              <a:t>Uh oh…</a:t>
            </a:r>
          </a:p>
          <a:p>
            <a:endParaRPr lang="en-US" sz="1600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B69D9D-73C0-EEBF-CFCD-211FD204ABE4}"/>
                  </a:ext>
                </a:extLst>
              </p:cNvPr>
              <p:cNvSpPr txBox="1"/>
              <p:nvPr/>
            </p:nvSpPr>
            <p:spPr>
              <a:xfrm>
                <a:off x="2122550" y="5183793"/>
                <a:ext cx="8807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u="none" dirty="0"/>
                  <a:t>H</a:t>
                </a:r>
                <a:r>
                  <a:rPr lang="en-US" sz="1400" b="0" u="none" baseline="-25000" dirty="0"/>
                  <a:t>0</a:t>
                </a:r>
                <a:r>
                  <a:rPr lang="en-US" sz="1400" b="0" u="none" dirty="0"/>
                  <a:t>:</a:t>
                </a:r>
                <a14:m>
                  <m:oMath xmlns:m="http://schemas.openxmlformats.org/officeDocument/2006/math">
                    <m:r>
                      <a:rPr lang="en-US" sz="140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400" b="0" u="none" dirty="0">
                  <a:solidFill>
                    <a:schemeClr val="accent6"/>
                  </a:solidFill>
                </a:endParaRPr>
              </a:p>
              <a:p>
                <a:r>
                  <a:rPr lang="en-US" sz="1400" b="0" u="none" dirty="0"/>
                  <a:t>H</a:t>
                </a:r>
                <a:r>
                  <a:rPr lang="en-US" sz="1400" b="0" u="none" baseline="-25000" dirty="0"/>
                  <a:t>A</a:t>
                </a:r>
                <a:r>
                  <a:rPr lang="en-US" sz="1400" b="0" u="none" dirty="0"/>
                  <a:t>:</a:t>
                </a:r>
                <a14:m>
                  <m:oMath xmlns:m="http://schemas.openxmlformats.org/officeDocument/2006/math">
                    <m:r>
                      <a:rPr lang="en-US" sz="140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4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400" b="0" u="none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B69D9D-73C0-EEBF-CFCD-211FD204A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550" y="5183793"/>
                <a:ext cx="880754" cy="523220"/>
              </a:xfrm>
              <a:prstGeom prst="rect">
                <a:avLst/>
              </a:prstGeom>
              <a:blipFill>
                <a:blip r:embed="rId6"/>
                <a:stretch>
                  <a:fillRect l="-2069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17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8143FC-76BB-4EE8-1072-74580B163E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26</a:t>
            </a:fld>
            <a:endParaRPr lang="en-GB" dirty="0"/>
          </a:p>
        </p:txBody>
      </p:sp>
      <p:pic>
        <p:nvPicPr>
          <p:cNvPr id="1028" name="Picture 4" descr="Every &quot;You're fired!&quot; ever (The Apprentice)">
            <a:extLst>
              <a:ext uri="{FF2B5EF4-FFF2-40B4-BE49-F238E27FC236}">
                <a16:creationId xmlns:a16="http://schemas.microsoft.com/office/drawing/2014/main" id="{1569148C-6924-786A-9494-2BF1A6110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975" y="1782749"/>
            <a:ext cx="6142050" cy="3454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526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4D71184-9F5A-258B-1074-855B79899EE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Comparing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4D71184-9F5A-258B-1074-855B79899E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CAED9AE-8C95-4938-8218-9C9C33D2A539}"/>
              </a:ext>
            </a:extLst>
          </p:cNvPr>
          <p:cNvGrpSpPr/>
          <p:nvPr/>
        </p:nvGrpSpPr>
        <p:grpSpPr>
          <a:xfrm>
            <a:off x="4539275" y="1901516"/>
            <a:ext cx="4642454" cy="4148397"/>
            <a:chOff x="4491145" y="1558616"/>
            <a:chExt cx="4642454" cy="414839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05D6559-C242-41BE-93A3-94CFBA090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91145" y="1948705"/>
              <a:ext cx="4642454" cy="3307845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C7C79C4-5C22-4857-A714-7418D21F6CDC}"/>
                </a:ext>
              </a:extLst>
            </p:cNvPr>
            <p:cNvSpPr/>
            <p:nvPr/>
          </p:nvSpPr>
          <p:spPr bwMode="auto">
            <a:xfrm>
              <a:off x="5379700" y="4525951"/>
              <a:ext cx="881508" cy="657842"/>
            </a:xfrm>
            <a:prstGeom prst="ellipse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AD00F78-8B92-4E93-869E-7F3D1F26B16C}"/>
                </a:ext>
              </a:extLst>
            </p:cNvPr>
            <p:cNvSpPr/>
            <p:nvPr/>
          </p:nvSpPr>
          <p:spPr bwMode="auto">
            <a:xfrm>
              <a:off x="7735869" y="4525951"/>
              <a:ext cx="881508" cy="657842"/>
            </a:xfrm>
            <a:prstGeom prst="ellipse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9955B13-94BE-4FED-BAA9-D732D01EF434}"/>
                    </a:ext>
                  </a:extLst>
                </p:cNvPr>
                <p:cNvSpPr txBox="1"/>
                <p:nvPr/>
              </p:nvSpPr>
              <p:spPr>
                <a:xfrm>
                  <a:off x="6554958" y="5183793"/>
                  <a:ext cx="88075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0" u="none" dirty="0"/>
                    <a:t>H</a:t>
                  </a:r>
                  <a:r>
                    <a:rPr lang="en-US" sz="1400" b="0" u="none" baseline="-25000" dirty="0"/>
                    <a:t>0</a:t>
                  </a:r>
                  <a:r>
                    <a:rPr lang="en-US" sz="1400" b="0" u="none" dirty="0"/>
                    <a:t>:</a:t>
                  </a:r>
                  <a14:m>
                    <m:oMath xmlns:m="http://schemas.openxmlformats.org/officeDocument/2006/math">
                      <m:r>
                        <a:rPr lang="en-US" sz="1400" i="1" u="none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 u="none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1400" b="0" u="none" dirty="0">
                    <a:solidFill>
                      <a:schemeClr val="accent6"/>
                    </a:solidFill>
                  </a:endParaRPr>
                </a:p>
                <a:p>
                  <a:r>
                    <a:rPr lang="en-US" sz="1400" b="0" u="none" dirty="0"/>
                    <a:t>H</a:t>
                  </a:r>
                  <a:r>
                    <a:rPr lang="en-US" sz="1400" b="0" u="none" baseline="-25000" dirty="0"/>
                    <a:t>A</a:t>
                  </a:r>
                  <a:r>
                    <a:rPr lang="en-US" sz="1400" b="0" u="none" dirty="0"/>
                    <a:t>:</a:t>
                  </a:r>
                  <a14:m>
                    <m:oMath xmlns:m="http://schemas.openxmlformats.org/officeDocument/2006/math">
                      <m:r>
                        <a:rPr lang="en-US" sz="1400" i="1" u="none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 u="none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400" b="0" i="1" u="none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lang="en-US" sz="1400" b="0" u="none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9955B13-94BE-4FED-BAA9-D732D01EF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4958" y="5183793"/>
                  <a:ext cx="880754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2069" t="-2353" b="-117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3721759-408C-40F3-A41C-40E9422918C0}"/>
                    </a:ext>
                  </a:extLst>
                </p:cNvPr>
                <p:cNvSpPr txBox="1"/>
                <p:nvPr/>
              </p:nvSpPr>
              <p:spPr>
                <a:xfrm>
                  <a:off x="5480654" y="1558616"/>
                  <a:ext cx="301653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0" u="none" dirty="0">
                      <a:cs typeface="Arial" panose="020B0604020202020204" pitchFamily="34" charset="0"/>
                    </a:rPr>
                    <a:t>Standard Normal, i.e.,  </a:t>
                  </a:r>
                  <a14:m>
                    <m:oMath xmlns:m="http://schemas.openxmlformats.org/officeDocument/2006/math">
                      <m:r>
                        <a:rPr lang="en-US" sz="1400" b="0" i="1" u="none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lang="en-US" sz="1400" b="0" i="1" u="none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(0,1)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3721759-408C-40F3-A41C-40E942291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654" y="1558616"/>
                  <a:ext cx="3016537" cy="307777"/>
                </a:xfrm>
                <a:prstGeom prst="rect">
                  <a:avLst/>
                </a:prstGeom>
                <a:blipFill>
                  <a:blip r:embed="rId5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7D76195-1C79-451C-AA59-8882E0081C64}"/>
              </a:ext>
            </a:extLst>
          </p:cNvPr>
          <p:cNvGrpSpPr/>
          <p:nvPr/>
        </p:nvGrpSpPr>
        <p:grpSpPr>
          <a:xfrm>
            <a:off x="-120959" y="1907564"/>
            <a:ext cx="4825015" cy="4026214"/>
            <a:chOff x="-120959" y="1564664"/>
            <a:chExt cx="4825015" cy="40262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580F659-F89F-4F1D-8345-FA64DB5BE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20959" y="1850832"/>
              <a:ext cx="4825015" cy="3437924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FC1CC7C-611D-4FF9-A17E-4723238F5B1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405" y="3500145"/>
              <a:ext cx="47686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686C98-C2BE-4A40-8A0C-DB47833A1098}"/>
                    </a:ext>
                  </a:extLst>
                </p:cNvPr>
                <p:cNvSpPr txBox="1"/>
                <p:nvPr/>
              </p:nvSpPr>
              <p:spPr>
                <a:xfrm>
                  <a:off x="3057775" y="2842036"/>
                  <a:ext cx="16122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u="none" dirty="0" smtClean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</m:t>
                      </m:r>
                      <m:r>
                        <a:rPr lang="en-US" sz="1400" b="0" i="1" u="none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𝑡𝑑</m:t>
                      </m:r>
                      <m:r>
                        <a:rPr lang="en-US" sz="1400" b="0" i="1" u="none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1400" b="0" i="1" u="none" dirty="0" smtClean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r>
                        <a:rPr lang="en-US" sz="1400" b="0" i="1" u="none" dirty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𝑟</m:t>
                      </m:r>
                      <m:r>
                        <a:rPr lang="en-US" sz="1400" b="0" i="1" u="none" dirty="0" smtClean="0">
                          <a:solidFill>
                            <a:srgbClr val="EB971B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𝑟</m:t>
                      </m:r>
                      <m:d>
                        <m:dPr>
                          <m:ctrlPr>
                            <a:rPr lang="en-US" sz="1400" b="0" i="1" u="none" dirty="0" smtClean="0">
                              <a:solidFill>
                                <a:srgbClr val="EB971B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1400" b="0" i="1" u="none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u="none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1400" b="0" i="1" u="none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400" b="0" i="0" u="none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72.5</m:t>
                      </m:r>
                    </m:oMath>
                  </a14:m>
                  <a:r>
                    <a:rPr lang="en-US" sz="1400" b="0" u="none" dirty="0">
                      <a:solidFill>
                        <a:schemeClr val="accent6"/>
                      </a:solidFill>
                      <a:cs typeface="Arial" panose="020B060402020202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686C98-C2BE-4A40-8A0C-DB47833A1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775" y="2842036"/>
                  <a:ext cx="1612239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C43DBC5-AA30-40BD-8814-078A4A0A0BF7}"/>
                </a:ext>
              </a:extLst>
            </p:cNvPr>
            <p:cNvSpPr/>
            <p:nvPr/>
          </p:nvSpPr>
          <p:spPr bwMode="auto">
            <a:xfrm>
              <a:off x="2642856" y="3012053"/>
              <a:ext cx="426308" cy="420130"/>
            </a:xfrm>
            <a:custGeom>
              <a:avLst/>
              <a:gdLst>
                <a:gd name="connsiteX0" fmla="*/ 0 w 426308"/>
                <a:gd name="connsiteY0" fmla="*/ 420130 h 420130"/>
                <a:gd name="connsiteX1" fmla="*/ 98854 w 426308"/>
                <a:gd name="connsiteY1" fmla="*/ 129746 h 420130"/>
                <a:gd name="connsiteX2" fmla="*/ 426308 w 426308"/>
                <a:gd name="connsiteY2" fmla="*/ 0 h 4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6308" h="420130">
                  <a:moveTo>
                    <a:pt x="0" y="420130"/>
                  </a:moveTo>
                  <a:cubicBezTo>
                    <a:pt x="13901" y="309949"/>
                    <a:pt x="27803" y="199768"/>
                    <a:pt x="98854" y="129746"/>
                  </a:cubicBezTo>
                  <a:cubicBezTo>
                    <a:pt x="169905" y="59724"/>
                    <a:pt x="298106" y="29862"/>
                    <a:pt x="426308" y="0"/>
                  </a:cubicBezTo>
                </a:path>
              </a:pathLst>
            </a:cu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2513D4B-020E-40C9-BF68-4308DA6A763F}"/>
                    </a:ext>
                  </a:extLst>
                </p:cNvPr>
                <p:cNvSpPr txBox="1"/>
                <p:nvPr/>
              </p:nvSpPr>
              <p:spPr>
                <a:xfrm>
                  <a:off x="2423449" y="4936751"/>
                  <a:ext cx="19697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0</m:t>
                        </m:r>
                      </m:oMath>
                    </m:oMathPara>
                  </a14:m>
                  <a:endParaRPr lang="en-US" sz="1800" b="0" u="none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2513D4B-020E-40C9-BF68-4308DA6A7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449" y="4936751"/>
                  <a:ext cx="196977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0625" r="-9375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285360B-2E84-40F6-AAC0-BC6E886DF379}"/>
                </a:ext>
              </a:extLst>
            </p:cNvPr>
            <p:cNvSpPr txBox="1"/>
            <p:nvPr/>
          </p:nvSpPr>
          <p:spPr>
            <a:xfrm>
              <a:off x="489389" y="5252324"/>
              <a:ext cx="40650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0" u="none" dirty="0">
                  <a:cs typeface="Arial" panose="020B0604020202020204" pitchFamily="34" charset="0"/>
                </a:rPr>
                <a:t>True change in taxes owed in $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466327F-F8A8-49C5-AA0D-0E6C3B3FCFFA}"/>
                </a:ext>
              </a:extLst>
            </p:cNvPr>
            <p:cNvCxnSpPr/>
            <p:nvPr/>
          </p:nvCxnSpPr>
          <p:spPr bwMode="auto">
            <a:xfrm>
              <a:off x="2970459" y="4757590"/>
              <a:ext cx="156057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43D8063-16CF-4F80-B2FA-F1AC8997A2FC}"/>
                </a:ext>
              </a:extLst>
            </p:cNvPr>
            <p:cNvSpPr txBox="1"/>
            <p:nvPr/>
          </p:nvSpPr>
          <p:spPr>
            <a:xfrm>
              <a:off x="3589855" y="4799836"/>
              <a:ext cx="311875" cy="19973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54864" rtlCol="0" anchor="ctr" anchorCtr="0">
              <a:noAutofit/>
            </a:bodyPr>
            <a:lstStyle/>
            <a:p>
              <a:pPr algn="ctr"/>
              <a:r>
                <a:rPr lang="en-US" sz="1400" b="0" i="1" u="none" dirty="0">
                  <a:solidFill>
                    <a:srgbClr val="00B0F0"/>
                  </a:solidFill>
                  <a:cs typeface="Arial" pitchFamily="34" charset="0"/>
                </a:rPr>
                <a:t>219</a:t>
              </a:r>
              <a:endParaRPr lang="en-US" sz="1400" b="0" u="none" dirty="0">
                <a:solidFill>
                  <a:srgbClr val="00B0F0"/>
                </a:solidFill>
                <a:cs typeface="Arial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03D7B6B-5B7F-42C0-B124-2381ED75AC15}"/>
                </a:ext>
              </a:extLst>
            </p:cNvPr>
            <p:cNvSpPr/>
            <p:nvPr/>
          </p:nvSpPr>
          <p:spPr bwMode="auto">
            <a:xfrm>
              <a:off x="3707693" y="4720760"/>
              <a:ext cx="71120" cy="73660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B0F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4CFD058-A942-4125-884C-6BED816438BF}"/>
                    </a:ext>
                  </a:extLst>
                </p:cNvPr>
                <p:cNvSpPr txBox="1"/>
                <p:nvPr/>
              </p:nvSpPr>
              <p:spPr>
                <a:xfrm>
                  <a:off x="2823919" y="4387920"/>
                  <a:ext cx="287557" cy="215444"/>
                </a:xfrm>
                <a:prstGeom prst="rect">
                  <a:avLst/>
                </a:prstGeom>
                <a:solidFill>
                  <a:srgbClr val="FFFF99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b="0" i="1" u="none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77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4CFD058-A942-4125-884C-6BED816438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3919" y="4387920"/>
                  <a:ext cx="287557" cy="215444"/>
                </a:xfrm>
                <a:prstGeom prst="rect">
                  <a:avLst/>
                </a:prstGeom>
                <a:blipFill>
                  <a:blip r:embed="rId9"/>
                  <a:stretch>
                    <a:fillRect l="-6383" r="-4255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6470D9D-4052-4401-9937-C7176F19DC93}"/>
                </a:ext>
              </a:extLst>
            </p:cNvPr>
            <p:cNvCxnSpPr/>
            <p:nvPr/>
          </p:nvCxnSpPr>
          <p:spPr bwMode="auto">
            <a:xfrm>
              <a:off x="4531035" y="4593172"/>
              <a:ext cx="0" cy="17862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BDD1E3-64EA-48FA-B2B2-2830E004F0C0}"/>
                </a:ext>
              </a:extLst>
            </p:cNvPr>
            <p:cNvCxnSpPr/>
            <p:nvPr/>
          </p:nvCxnSpPr>
          <p:spPr bwMode="auto">
            <a:xfrm>
              <a:off x="2970459" y="4593173"/>
              <a:ext cx="0" cy="17862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08AE152-F99E-4157-A0A7-ACA4C24B256E}"/>
                    </a:ext>
                  </a:extLst>
                </p:cNvPr>
                <p:cNvSpPr txBox="1"/>
                <p:nvPr/>
              </p:nvSpPr>
              <p:spPr>
                <a:xfrm>
                  <a:off x="4393845" y="4386338"/>
                  <a:ext cx="287557" cy="215444"/>
                </a:xfrm>
                <a:prstGeom prst="rect">
                  <a:avLst/>
                </a:prstGeom>
                <a:solidFill>
                  <a:srgbClr val="FFFF99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b="0" i="1" u="none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361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08AE152-F99E-4157-A0A7-ACA4C24B25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3845" y="4386338"/>
                  <a:ext cx="287557" cy="215444"/>
                </a:xfrm>
                <a:prstGeom prst="rect">
                  <a:avLst/>
                </a:prstGeom>
                <a:blipFill>
                  <a:blip r:embed="rId10"/>
                  <a:stretch>
                    <a:fillRect l="-21277" r="-23404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9B68ED4-B0CC-49C0-BFC6-1CE3A2F89F7E}"/>
                    </a:ext>
                  </a:extLst>
                </p:cNvPr>
                <p:cNvSpPr txBox="1"/>
                <p:nvPr/>
              </p:nvSpPr>
              <p:spPr>
                <a:xfrm>
                  <a:off x="996064" y="1564664"/>
                  <a:ext cx="3016537" cy="3912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0" u="none" dirty="0">
                      <a:cs typeface="Arial" panose="020B0604020202020204" pitchFamily="34" charset="0"/>
                    </a:rPr>
                    <a:t>Change in Taxes Owed, </a:t>
                  </a:r>
                  <a14:m>
                    <m:oMath xmlns:m="http://schemas.openxmlformats.org/officeDocument/2006/math">
                      <m:r>
                        <a:rPr lang="en-US" sz="1400" b="0" i="1" u="none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lang="en-US" sz="1400" b="0" i="1" u="none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1400" b="0" i="1" u="non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  <m:r>
                        <a:rPr lang="en-US" sz="1400" b="0" i="1" u="none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f>
                        <m:fPr>
                          <m:ctrlPr>
                            <a:rPr lang="en-US" sz="1400" b="0" i="1" u="none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400" b="0" i="1" u="none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b="0" i="1" u="none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b="0" i="1" u="none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r>
                        <a:rPr lang="en-US" sz="1400" b="0" i="1" u="none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9B68ED4-B0CC-49C0-BFC6-1CE3A2F89F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064" y="1564664"/>
                  <a:ext cx="3016537" cy="39126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551803B-48CA-431B-BD71-6950CA09318E}"/>
              </a:ext>
            </a:extLst>
          </p:cNvPr>
          <p:cNvSpPr txBox="1"/>
          <p:nvPr/>
        </p:nvSpPr>
        <p:spPr>
          <a:xfrm flipH="1">
            <a:off x="7735872" y="4368843"/>
            <a:ext cx="1360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p-value=0.25%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B777286-6369-4D9A-8A16-08C89C1E163E}"/>
                  </a:ext>
                </a:extLst>
              </p:cNvPr>
              <p:cNvSpPr txBox="1"/>
              <p:nvPr/>
            </p:nvSpPr>
            <p:spPr>
              <a:xfrm>
                <a:off x="937786" y="6150987"/>
                <a:ext cx="3101378" cy="584775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0" lvl="1" indent="0" algn="ctr">
                  <a:buNone/>
                </a:pPr>
                <a:r>
                  <a:rPr lang="en-US" sz="1600" b="0" u="none" dirty="0">
                    <a:solidFill>
                      <a:schemeClr val="accent6"/>
                    </a:solidFill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600" b="0" i="1" u="non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b="0" u="none" dirty="0">
                    <a:solidFill>
                      <a:schemeClr val="accent6"/>
                    </a:solidFill>
                    <a:latin typeface="+mj-lt"/>
                  </a:rPr>
                  <a:t> is not in </a:t>
                </a:r>
                <a14:m>
                  <m:oMath xmlns:m="http://schemas.openxmlformats.org/officeDocument/2006/math">
                    <m:r>
                      <a:rPr lang="en-US" sz="1600" b="0" i="1" u="none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[77, 361]</m:t>
                    </m:r>
                  </m:oMath>
                </a14:m>
                <a:r>
                  <a:rPr lang="en-US" sz="1600" b="0" u="none" dirty="0">
                    <a:solidFill>
                      <a:schemeClr val="accent6"/>
                    </a:solidFill>
                    <a:latin typeface="+mj-lt"/>
                  </a:rPr>
                  <a:t>, then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b="0" i="1" u="none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b="0" u="none" dirty="0">
                    <a:solidFill>
                      <a:schemeClr val="accent6"/>
                    </a:solidFill>
                    <a:latin typeface="+mj-lt"/>
                  </a:rPr>
                  <a:t> is different from </a:t>
                </a:r>
                <a:r>
                  <a:rPr lang="en-US" sz="1600" b="0" u="none" dirty="0">
                    <a:solidFill>
                      <a:srgbClr val="FF0000"/>
                    </a:solidFill>
                    <a:latin typeface="+mj-lt"/>
                  </a:rPr>
                  <a:t>0</a:t>
                </a:r>
                <a:r>
                  <a:rPr lang="en-US" sz="1600" b="0" u="none" dirty="0">
                    <a:solidFill>
                      <a:schemeClr val="accent6"/>
                    </a:solidFill>
                    <a:latin typeface="+mj-lt"/>
                  </a:rPr>
                  <a:t> at the 95% level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B777286-6369-4D9A-8A16-08C89C1E1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86" y="6150987"/>
                <a:ext cx="3101378" cy="584775"/>
              </a:xfrm>
              <a:prstGeom prst="rect">
                <a:avLst/>
              </a:prstGeom>
              <a:blipFill>
                <a:blip r:embed="rId12"/>
                <a:stretch>
                  <a:fillRect t="-3125" r="-196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42898DD5-28E4-46C6-9F93-751AF98500C3}"/>
              </a:ext>
            </a:extLst>
          </p:cNvPr>
          <p:cNvSpPr txBox="1"/>
          <p:nvPr/>
        </p:nvSpPr>
        <p:spPr>
          <a:xfrm>
            <a:off x="5565087" y="6132225"/>
            <a:ext cx="3007414" cy="58477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lvl="1" indent="0" algn="ctr">
              <a:buNone/>
            </a:pPr>
            <a:r>
              <a:rPr lang="en-US" sz="1600" b="0" u="none" dirty="0">
                <a:solidFill>
                  <a:schemeClr val="accent6"/>
                </a:solidFill>
                <a:latin typeface="+mj-lt"/>
              </a:rPr>
              <a:t>If </a:t>
            </a:r>
            <a:r>
              <a:rPr lang="en-US" sz="1600" b="0" u="none" dirty="0">
                <a:solidFill>
                  <a:srgbClr val="00B0F0"/>
                </a:solidFill>
                <a:latin typeface="+mj-lt"/>
              </a:rPr>
              <a:t>p-value</a:t>
            </a:r>
            <a:r>
              <a:rPr lang="en-US" sz="1600" b="0" u="none" dirty="0">
                <a:solidFill>
                  <a:schemeClr val="accent6"/>
                </a:solidFill>
                <a:latin typeface="+mj-lt"/>
              </a:rPr>
              <a:t>&lt;5%, null hypothesis </a:t>
            </a:r>
            <a:br>
              <a:rPr lang="en-US" sz="1600" b="0" u="none" dirty="0">
                <a:solidFill>
                  <a:schemeClr val="accent6"/>
                </a:solidFill>
                <a:latin typeface="+mj-lt"/>
              </a:rPr>
            </a:br>
            <a:r>
              <a:rPr lang="en-US" sz="1600" b="0" u="none" dirty="0">
                <a:solidFill>
                  <a:schemeClr val="accent6"/>
                </a:solidFill>
                <a:latin typeface="+mj-lt"/>
              </a:rPr>
              <a:t>can be rejected at the 5%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95C1E1-A908-C219-9BFE-51A621CD8433}"/>
                  </a:ext>
                </a:extLst>
              </p:cNvPr>
              <p:cNvSpPr txBox="1"/>
              <p:nvPr/>
            </p:nvSpPr>
            <p:spPr>
              <a:xfrm>
                <a:off x="607086" y="1241381"/>
                <a:ext cx="3632726" cy="400110"/>
              </a:xfrm>
              <a:prstGeom prst="rect">
                <a:avLst/>
              </a:prstGeom>
              <a:solidFill>
                <a:srgbClr val="FFFF99"/>
              </a:solidFill>
              <a:ln w="31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6"/>
                          </a:solidFill>
                        </a:rPr>
                        <m:t>Confidence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6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6"/>
                          </a:solidFill>
                        </a:rPr>
                        <m:t>Interval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6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6"/>
                          </a:solidFill>
                        </a:rPr>
                        <m:t>Approach</m:t>
                      </m:r>
                    </m:oMath>
                  </m:oMathPara>
                </a14:m>
                <a:endParaRPr lang="en-US" b="0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95C1E1-A908-C219-9BFE-51A621CD8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86" y="1241381"/>
                <a:ext cx="3632726" cy="400110"/>
              </a:xfrm>
              <a:prstGeom prst="rect">
                <a:avLst/>
              </a:prstGeom>
              <a:blipFill>
                <a:blip r:embed="rId13"/>
                <a:stretch>
                  <a:fillRect b="-15152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1BCFD8-FF7E-1D8A-651C-6A05FBBF1CB0}"/>
                  </a:ext>
                </a:extLst>
              </p:cNvPr>
              <p:cNvSpPr txBox="1"/>
              <p:nvPr/>
            </p:nvSpPr>
            <p:spPr>
              <a:xfrm>
                <a:off x="5969979" y="1241381"/>
                <a:ext cx="1991251" cy="400110"/>
              </a:xfrm>
              <a:prstGeom prst="rect">
                <a:avLst/>
              </a:prstGeom>
              <a:solidFill>
                <a:srgbClr val="FFFF99"/>
              </a:solidFill>
              <a:ln w="31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6"/>
                          </a:solidFill>
                        </a:rPr>
                        <m:t>t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6"/>
                          </a:solidFill>
                        </a:rPr>
                        <m:t>−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6"/>
                          </a:solidFill>
                        </a:rPr>
                        <m:t>stat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6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6"/>
                          </a:solidFill>
                        </a:rPr>
                        <m:t>Approach</m:t>
                      </m:r>
                    </m:oMath>
                  </m:oMathPara>
                </a14:m>
                <a:endParaRPr lang="en-US" b="0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1BCFD8-FF7E-1D8A-651C-6A05FBBF1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979" y="1241381"/>
                <a:ext cx="1991251" cy="400110"/>
              </a:xfrm>
              <a:prstGeom prst="rect">
                <a:avLst/>
              </a:prstGeom>
              <a:blipFill>
                <a:blip r:embed="rId14"/>
                <a:stretch>
                  <a:fillRect b="-15152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260C8EF-C8FC-BE55-3EE9-9DB3E89E8DBE}"/>
              </a:ext>
            </a:extLst>
          </p:cNvPr>
          <p:cNvSpPr txBox="1"/>
          <p:nvPr/>
        </p:nvSpPr>
        <p:spPr>
          <a:xfrm>
            <a:off x="4285327" y="6081226"/>
            <a:ext cx="1033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u="none" dirty="0">
                <a:solidFill>
                  <a:srgbClr val="FF0000"/>
                </a:solidFill>
                <a:cs typeface="Arial" pitchFamily="34" charset="0"/>
              </a:rPr>
              <a:t>Same conclusion, but more info with p-value</a:t>
            </a:r>
            <a:endParaRPr lang="en-US" sz="1000" b="0" u="none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6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 animBg="1"/>
      <p:bldP spid="36" grpId="0" animBg="1"/>
      <p:bldP spid="4" grpId="0" animBg="1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28765-DCC7-A350-F265-C213B3048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18C4114-679A-BE3E-54A7-8A8626EB1EE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Comparing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</m:oMath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18C4114-679A-BE3E-54A7-8A8626EB1E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C9C7702-D3C2-DC31-ACED-EC193FFF00A3}"/>
              </a:ext>
            </a:extLst>
          </p:cNvPr>
          <p:cNvGrpSpPr/>
          <p:nvPr/>
        </p:nvGrpSpPr>
        <p:grpSpPr>
          <a:xfrm>
            <a:off x="4539275" y="1901516"/>
            <a:ext cx="4642454" cy="4148397"/>
            <a:chOff x="4491145" y="1558616"/>
            <a:chExt cx="4642454" cy="414839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8052CB6-4810-7632-B497-1456E814C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91145" y="1948705"/>
              <a:ext cx="4642454" cy="33078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3759AA6-1A2B-CE7A-B9A7-129D66788358}"/>
                    </a:ext>
                  </a:extLst>
                </p:cNvPr>
                <p:cNvSpPr txBox="1"/>
                <p:nvPr/>
              </p:nvSpPr>
              <p:spPr>
                <a:xfrm>
                  <a:off x="6554958" y="5183793"/>
                  <a:ext cx="88075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0" u="none" dirty="0">
                      <a:solidFill>
                        <a:schemeClr val="bg1">
                          <a:lumMod val="50000"/>
                        </a:schemeClr>
                      </a:solidFill>
                    </a:rPr>
                    <a:t>H</a:t>
                  </a:r>
                  <a:r>
                    <a:rPr lang="en-US" sz="1400" b="0" u="none" baseline="-25000" dirty="0">
                      <a:solidFill>
                        <a:schemeClr val="bg1">
                          <a:lumMod val="50000"/>
                        </a:schemeClr>
                      </a:solidFill>
                    </a:rPr>
                    <a:t>0</a:t>
                  </a:r>
                  <a:r>
                    <a:rPr lang="en-US" sz="1400" b="0" u="none" dirty="0">
                      <a:solidFill>
                        <a:schemeClr val="bg1">
                          <a:lumMod val="50000"/>
                        </a:schemeClr>
                      </a:solidFill>
                    </a:rPr>
                    <a:t>:</a:t>
                  </a:r>
                  <a14:m>
                    <m:oMath xmlns:m="http://schemas.openxmlformats.org/officeDocument/2006/math">
                      <m:r>
                        <a:rPr lang="en-US" sz="1400" i="1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1400" b="0" u="none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r>
                    <a:rPr lang="en-US" sz="1400" b="0" u="none" dirty="0">
                      <a:solidFill>
                        <a:schemeClr val="bg1">
                          <a:lumMod val="50000"/>
                        </a:schemeClr>
                      </a:solidFill>
                    </a:rPr>
                    <a:t>H</a:t>
                  </a:r>
                  <a:r>
                    <a:rPr lang="en-US" sz="1400" b="0" u="none" baseline="-25000" dirty="0">
                      <a:solidFill>
                        <a:schemeClr val="bg1">
                          <a:lumMod val="50000"/>
                        </a:schemeClr>
                      </a:solidFill>
                    </a:rPr>
                    <a:t>A</a:t>
                  </a:r>
                  <a:r>
                    <a:rPr lang="en-US" sz="1400" b="0" u="none" dirty="0">
                      <a:solidFill>
                        <a:schemeClr val="bg1">
                          <a:lumMod val="50000"/>
                        </a:schemeClr>
                      </a:solidFill>
                    </a:rPr>
                    <a:t>:</a:t>
                  </a:r>
                  <a14:m>
                    <m:oMath xmlns:m="http://schemas.openxmlformats.org/officeDocument/2006/math">
                      <m:r>
                        <a:rPr lang="en-US" sz="1400" i="1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 u="none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4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lang="en-US" sz="1400" b="0" u="none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9955B13-94BE-4FED-BAA9-D732D01EF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4958" y="5183793"/>
                  <a:ext cx="880754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2069" t="-2353" b="-117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06A6DF6-C860-8A9A-43F4-6C0CE36358AF}"/>
                    </a:ext>
                  </a:extLst>
                </p:cNvPr>
                <p:cNvSpPr txBox="1"/>
                <p:nvPr/>
              </p:nvSpPr>
              <p:spPr>
                <a:xfrm>
                  <a:off x="5480654" y="1558616"/>
                  <a:ext cx="301653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0" u="none" dirty="0">
                      <a:solidFill>
                        <a:schemeClr val="bg1">
                          <a:lumMod val="50000"/>
                        </a:schemeClr>
                      </a:solidFill>
                      <a:cs typeface="Arial" panose="020B0604020202020204" pitchFamily="34" charset="0"/>
                    </a:rPr>
                    <a:t>Standard Normal, i.e.,  </a:t>
                  </a:r>
                  <a14:m>
                    <m:oMath xmlns:m="http://schemas.openxmlformats.org/officeDocument/2006/math">
                      <m:r>
                        <a:rPr lang="en-US" sz="1400" b="0" i="1" u="none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lang="en-US" sz="1400" b="0" i="1" u="none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(0,1)</m:t>
                      </m:r>
                    </m:oMath>
                  </a14:m>
                  <a:endParaRPr lang="en-US" sz="14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3721759-408C-40F3-A41C-40E942291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654" y="1558616"/>
                  <a:ext cx="3016537" cy="307777"/>
                </a:xfrm>
                <a:prstGeom prst="rect">
                  <a:avLst/>
                </a:prstGeom>
                <a:blipFill>
                  <a:blip r:embed="rId5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DD0B2E-5D72-198A-0A94-14847A168C8A}"/>
              </a:ext>
            </a:extLst>
          </p:cNvPr>
          <p:cNvGrpSpPr/>
          <p:nvPr/>
        </p:nvGrpSpPr>
        <p:grpSpPr>
          <a:xfrm>
            <a:off x="-120959" y="1907564"/>
            <a:ext cx="4825015" cy="4026214"/>
            <a:chOff x="-120959" y="1564664"/>
            <a:chExt cx="4825015" cy="40262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25642DA-C7E8-5AF8-AA7D-E2BC70709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20959" y="1850832"/>
              <a:ext cx="4825015" cy="3437924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684532-D5E9-32A6-426F-DE4F9CE65FD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405" y="3500145"/>
              <a:ext cx="47686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815FD8B-C51E-62C6-AE45-6DE43C3E21B8}"/>
                    </a:ext>
                  </a:extLst>
                </p:cNvPr>
                <p:cNvSpPr txBox="1"/>
                <p:nvPr/>
              </p:nvSpPr>
              <p:spPr>
                <a:xfrm>
                  <a:off x="3057775" y="2842036"/>
                  <a:ext cx="16122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u="non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</m:t>
                      </m:r>
                      <m:r>
                        <a:rPr lang="en-US" sz="14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𝑡𝑑</m:t>
                      </m:r>
                      <m:r>
                        <a:rPr lang="en-US" sz="14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1400" b="0" i="1" u="non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r>
                        <a:rPr lang="en-US" sz="14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𝑟</m:t>
                      </m:r>
                      <m:r>
                        <a:rPr lang="en-US" sz="1400" b="0" i="1" u="non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𝑟</m:t>
                      </m:r>
                      <m:d>
                        <m:dPr>
                          <m:ctrlPr>
                            <a:rPr lang="en-US" sz="1400" b="0" i="1" u="none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1400" b="0" i="1" u="none" dirty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u="none" dirty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1400" b="0" i="1" u="non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400" b="0" i="0" u="none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72.5</m:t>
                      </m:r>
                    </m:oMath>
                  </a14:m>
                  <a:r>
                    <a:rPr lang="en-US" sz="1400" b="0" u="none" dirty="0">
                      <a:solidFill>
                        <a:schemeClr val="bg1">
                          <a:lumMod val="50000"/>
                        </a:schemeClr>
                      </a:solidFill>
                      <a:cs typeface="Arial" panose="020B060402020202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686C98-C2BE-4A40-8A0C-DB47833A1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775" y="2842036"/>
                  <a:ext cx="1612239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1BC2848-8F5C-7715-9525-0DC9417BB9A3}"/>
                </a:ext>
              </a:extLst>
            </p:cNvPr>
            <p:cNvSpPr/>
            <p:nvPr/>
          </p:nvSpPr>
          <p:spPr bwMode="auto">
            <a:xfrm>
              <a:off x="2642856" y="3012053"/>
              <a:ext cx="426308" cy="420130"/>
            </a:xfrm>
            <a:custGeom>
              <a:avLst/>
              <a:gdLst>
                <a:gd name="connsiteX0" fmla="*/ 0 w 426308"/>
                <a:gd name="connsiteY0" fmla="*/ 420130 h 420130"/>
                <a:gd name="connsiteX1" fmla="*/ 98854 w 426308"/>
                <a:gd name="connsiteY1" fmla="*/ 129746 h 420130"/>
                <a:gd name="connsiteX2" fmla="*/ 426308 w 426308"/>
                <a:gd name="connsiteY2" fmla="*/ 0 h 4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6308" h="420130">
                  <a:moveTo>
                    <a:pt x="0" y="420130"/>
                  </a:moveTo>
                  <a:cubicBezTo>
                    <a:pt x="13901" y="309949"/>
                    <a:pt x="27803" y="199768"/>
                    <a:pt x="98854" y="129746"/>
                  </a:cubicBezTo>
                  <a:cubicBezTo>
                    <a:pt x="169905" y="59724"/>
                    <a:pt x="298106" y="29862"/>
                    <a:pt x="426308" y="0"/>
                  </a:cubicBezTo>
                </a:path>
              </a:pathLst>
            </a:cu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7173E2B-7FC4-0AEC-884F-92A4E6BDB70F}"/>
                    </a:ext>
                  </a:extLst>
                </p:cNvPr>
                <p:cNvSpPr txBox="1"/>
                <p:nvPr/>
              </p:nvSpPr>
              <p:spPr>
                <a:xfrm>
                  <a:off x="2423449" y="4936751"/>
                  <a:ext cx="19697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u="none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0</m:t>
                        </m:r>
                      </m:oMath>
                    </m:oMathPara>
                  </a14:m>
                  <a:endParaRPr lang="en-US" sz="1800" b="0" u="none" dirty="0">
                    <a:solidFill>
                      <a:schemeClr val="bg1">
                        <a:lumMod val="50000"/>
                      </a:schemeClr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2513D4B-020E-40C9-BF68-4308DA6A7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449" y="4936751"/>
                  <a:ext cx="196977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0625" r="-9375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3C351A-3F64-9B64-05CA-EF642AEB8838}"/>
                </a:ext>
              </a:extLst>
            </p:cNvPr>
            <p:cNvSpPr txBox="1"/>
            <p:nvPr/>
          </p:nvSpPr>
          <p:spPr>
            <a:xfrm>
              <a:off x="489389" y="5252324"/>
              <a:ext cx="40650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0" u="none" dirty="0">
                  <a:solidFill>
                    <a:schemeClr val="bg1">
                      <a:lumMod val="50000"/>
                    </a:schemeClr>
                  </a:solidFill>
                  <a:cs typeface="Arial" panose="020B0604020202020204" pitchFamily="34" charset="0"/>
                </a:rPr>
                <a:t>True change in taxes owed in $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65F3C63-B76D-1208-BA61-9678585828FA}"/>
                </a:ext>
              </a:extLst>
            </p:cNvPr>
            <p:cNvCxnSpPr/>
            <p:nvPr/>
          </p:nvCxnSpPr>
          <p:spPr bwMode="auto">
            <a:xfrm>
              <a:off x="2970459" y="4757590"/>
              <a:ext cx="156057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205F52B-3545-D802-B4DA-077E5F366B3F}"/>
                </a:ext>
              </a:extLst>
            </p:cNvPr>
            <p:cNvSpPr txBox="1"/>
            <p:nvPr/>
          </p:nvSpPr>
          <p:spPr>
            <a:xfrm>
              <a:off x="3589855" y="4799836"/>
              <a:ext cx="311875" cy="19973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54864" rtlCol="0" anchor="ctr" anchorCtr="0">
              <a:noAutofit/>
            </a:bodyPr>
            <a:lstStyle/>
            <a:p>
              <a:pPr algn="ctr"/>
              <a:r>
                <a:rPr lang="en-US" sz="1400" b="0" i="1" u="none" dirty="0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rPr>
                <a:t>219</a:t>
              </a:r>
              <a:endParaRPr lang="en-US" sz="1400" b="0" u="none" dirty="0">
                <a:solidFill>
                  <a:schemeClr val="bg1">
                    <a:lumMod val="50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0A1B7A8-9398-395F-89EC-73521947AED1}"/>
                </a:ext>
              </a:extLst>
            </p:cNvPr>
            <p:cNvSpPr/>
            <p:nvPr/>
          </p:nvSpPr>
          <p:spPr bwMode="auto">
            <a:xfrm>
              <a:off x="3707693" y="4720760"/>
              <a:ext cx="71120" cy="73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E415B33-87F2-CB46-07D8-C65A2D875B72}"/>
                    </a:ext>
                  </a:extLst>
                </p:cNvPr>
                <p:cNvSpPr txBox="1"/>
                <p:nvPr/>
              </p:nvSpPr>
              <p:spPr>
                <a:xfrm>
                  <a:off x="2823919" y="4387920"/>
                  <a:ext cx="287557" cy="215444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b="0" i="1" u="none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77</m:t>
                        </m:r>
                      </m:oMath>
                    </m:oMathPara>
                  </a14:m>
                  <a:endParaRPr lang="en-US" sz="1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E415B33-87F2-CB46-07D8-C65A2D875B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3919" y="4387920"/>
                  <a:ext cx="287557" cy="215444"/>
                </a:xfrm>
                <a:prstGeom prst="rect">
                  <a:avLst/>
                </a:prstGeom>
                <a:blipFill>
                  <a:blip r:embed="rId9"/>
                  <a:stretch>
                    <a:fillRect l="-6383" r="-4255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872C2D-1ADB-BF25-D41A-47A0DD71A51B}"/>
                </a:ext>
              </a:extLst>
            </p:cNvPr>
            <p:cNvCxnSpPr/>
            <p:nvPr/>
          </p:nvCxnSpPr>
          <p:spPr bwMode="auto">
            <a:xfrm>
              <a:off x="4531035" y="4593172"/>
              <a:ext cx="0" cy="17862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5A5AC2A-620A-6397-5D7A-EF65B8BC7B88}"/>
                </a:ext>
              </a:extLst>
            </p:cNvPr>
            <p:cNvCxnSpPr/>
            <p:nvPr/>
          </p:nvCxnSpPr>
          <p:spPr bwMode="auto">
            <a:xfrm>
              <a:off x="2970459" y="4593173"/>
              <a:ext cx="0" cy="17862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A3EAE04-3D25-2977-022B-6A717E640A92}"/>
                    </a:ext>
                  </a:extLst>
                </p:cNvPr>
                <p:cNvSpPr txBox="1"/>
                <p:nvPr/>
              </p:nvSpPr>
              <p:spPr>
                <a:xfrm>
                  <a:off x="4393845" y="4386338"/>
                  <a:ext cx="287557" cy="215444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b="0" i="1" u="none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361</m:t>
                        </m:r>
                      </m:oMath>
                    </m:oMathPara>
                  </a14:m>
                  <a:endParaRPr lang="en-US" sz="1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A3EAE04-3D25-2977-022B-6A717E640A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3845" y="4386338"/>
                  <a:ext cx="287557" cy="215444"/>
                </a:xfrm>
                <a:prstGeom prst="rect">
                  <a:avLst/>
                </a:prstGeom>
                <a:blipFill>
                  <a:blip r:embed="rId10"/>
                  <a:stretch>
                    <a:fillRect l="-21277" r="-23404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C7DA937-D2A0-095A-3051-0B026FB0CB8B}"/>
                    </a:ext>
                  </a:extLst>
                </p:cNvPr>
                <p:cNvSpPr txBox="1"/>
                <p:nvPr/>
              </p:nvSpPr>
              <p:spPr>
                <a:xfrm>
                  <a:off x="996064" y="1564664"/>
                  <a:ext cx="3016537" cy="3912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0" u="none" dirty="0">
                      <a:solidFill>
                        <a:schemeClr val="bg1">
                          <a:lumMod val="50000"/>
                        </a:schemeClr>
                      </a:solidFill>
                      <a:cs typeface="Arial" panose="020B0604020202020204" pitchFamily="34" charset="0"/>
                    </a:rPr>
                    <a:t>Change in Taxes Owed, </a:t>
                  </a:r>
                  <a14:m>
                    <m:oMath xmlns:m="http://schemas.openxmlformats.org/officeDocument/2006/math">
                      <m:r>
                        <a:rPr lang="en-US" sz="1400" b="0" i="1" u="non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lang="en-US" sz="1400" b="0" i="1" u="non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1400" b="0" i="1" u="non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  <m:r>
                        <a:rPr lang="en-US" sz="1400" b="0" i="1" u="non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f>
                        <m:fPr>
                          <m:ctrlPr>
                            <a:rPr lang="en-US" sz="1400" b="0" i="1" u="none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400" b="0" i="1" u="none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b="0" i="1" u="none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b="0" i="1" u="none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r>
                        <a:rPr lang="en-US" sz="1400" b="0" i="1" u="non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a14:m>
                  <a:endParaRPr lang="en-US" sz="14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9B68ED4-B0CC-49C0-BFC6-1CE3A2F89F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064" y="1564664"/>
                  <a:ext cx="3016537" cy="39126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86F19B0-7D97-88E1-4F60-544F9474A68B}"/>
              </a:ext>
            </a:extLst>
          </p:cNvPr>
          <p:cNvSpPr txBox="1"/>
          <p:nvPr/>
        </p:nvSpPr>
        <p:spPr>
          <a:xfrm flipH="1">
            <a:off x="7735872" y="4368843"/>
            <a:ext cx="1360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u="none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p-value=0.25%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B36989C-A47B-8794-48B5-211A4C8F0889}"/>
                  </a:ext>
                </a:extLst>
              </p:cNvPr>
              <p:cNvSpPr txBox="1"/>
              <p:nvPr/>
            </p:nvSpPr>
            <p:spPr>
              <a:xfrm>
                <a:off x="937786" y="6150987"/>
                <a:ext cx="3101378" cy="584775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0" lvl="1" indent="0" algn="ctr">
                  <a:buNone/>
                </a:pPr>
                <a:r>
                  <a:rPr lang="en-US" sz="1600" b="0" u="none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600" b="0" i="1" u="none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b="0" u="none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is not in </a:t>
                </a:r>
                <a14:m>
                  <m:oMath xmlns:m="http://schemas.openxmlformats.org/officeDocument/2006/math">
                    <m:r>
                      <a:rPr lang="en-US" sz="1600" b="0" i="1" u="none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[77, 361]</m:t>
                    </m:r>
                  </m:oMath>
                </a14:m>
                <a:r>
                  <a:rPr lang="en-US" sz="1600" b="0" u="none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, then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b="0" i="1" u="none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u="none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b="0" u="none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is different from 0 at the 95% level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B36989C-A47B-8794-48B5-211A4C8F0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86" y="6150987"/>
                <a:ext cx="3101378" cy="584775"/>
              </a:xfrm>
              <a:prstGeom prst="rect">
                <a:avLst/>
              </a:prstGeom>
              <a:blipFill>
                <a:blip r:embed="rId12"/>
                <a:stretch>
                  <a:fillRect t="-3125" r="-196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7F8CF056-90D1-3D45-B15B-2D9D39C4AE86}"/>
              </a:ext>
            </a:extLst>
          </p:cNvPr>
          <p:cNvSpPr txBox="1"/>
          <p:nvPr/>
        </p:nvSpPr>
        <p:spPr>
          <a:xfrm>
            <a:off x="5565087" y="6132225"/>
            <a:ext cx="3007414" cy="58477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lvl="1" indent="0" algn="ctr">
              <a:buNone/>
            </a:pPr>
            <a:r>
              <a:rPr lang="en-US" sz="1600" b="0" u="none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If p-value&lt;5%, null hypothesis </a:t>
            </a:r>
            <a:br>
              <a:rPr lang="en-US" sz="1600" b="0" u="none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en-US" sz="1600" b="0" u="none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can be rejected at the 5%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86C630-AA88-D4A9-0A43-3BC00A96AA05}"/>
                  </a:ext>
                </a:extLst>
              </p:cNvPr>
              <p:cNvSpPr txBox="1"/>
              <p:nvPr/>
            </p:nvSpPr>
            <p:spPr>
              <a:xfrm>
                <a:off x="607086" y="1241381"/>
                <a:ext cx="3632726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Confidence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Interval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Approach</m:t>
                      </m:r>
                    </m:oMath>
                  </m:oMathPara>
                </a14:m>
                <a:endParaRPr lang="en-US" b="0" dirty="0">
                  <a:solidFill>
                    <a:schemeClr val="bg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86C630-AA88-D4A9-0A43-3BC00A96A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86" y="1241381"/>
                <a:ext cx="3632726" cy="400110"/>
              </a:xfrm>
              <a:prstGeom prst="rect">
                <a:avLst/>
              </a:prstGeom>
              <a:blipFill>
                <a:blip r:embed="rId13"/>
                <a:stretch>
                  <a:fillRect b="-15152"/>
                </a:stretch>
              </a:blipFill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3AA645-7918-B0CE-6C60-44BD92879436}"/>
                  </a:ext>
                </a:extLst>
              </p:cNvPr>
              <p:cNvSpPr txBox="1"/>
              <p:nvPr/>
            </p:nvSpPr>
            <p:spPr>
              <a:xfrm>
                <a:off x="5969979" y="1241381"/>
                <a:ext cx="2055371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t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−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stat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Approach</m:t>
                      </m:r>
                    </m:oMath>
                  </m:oMathPara>
                </a14:m>
                <a:endParaRPr lang="en-US" b="0" dirty="0">
                  <a:solidFill>
                    <a:schemeClr val="bg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3AA645-7918-B0CE-6C60-44BD92879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979" y="1241381"/>
                <a:ext cx="2055371" cy="400110"/>
              </a:xfrm>
              <a:prstGeom prst="rect">
                <a:avLst/>
              </a:prstGeom>
              <a:blipFill>
                <a:blip r:embed="rId14"/>
                <a:stretch>
                  <a:fillRect b="-15152"/>
                </a:stretch>
              </a:blipFill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7F9A96D-1386-D108-B3DC-7C5B8898EDA2}"/>
              </a:ext>
            </a:extLst>
          </p:cNvPr>
          <p:cNvSpPr txBox="1"/>
          <p:nvPr/>
        </p:nvSpPr>
        <p:spPr>
          <a:xfrm>
            <a:off x="4285327" y="6081226"/>
            <a:ext cx="1033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u="none" dirty="0">
                <a:solidFill>
                  <a:schemeClr val="bg1">
                    <a:lumMod val="50000"/>
                  </a:schemeClr>
                </a:solidFill>
                <a:cs typeface="Arial" pitchFamily="34" charset="0"/>
              </a:rPr>
              <a:t>Same conclusion, but more info with p-value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39BCAC26-8A1F-7936-35C4-684BF0BA7A95}"/>
              </a:ext>
            </a:extLst>
          </p:cNvPr>
          <p:cNvSpPr/>
          <p:nvPr/>
        </p:nvSpPr>
        <p:spPr bwMode="auto">
          <a:xfrm rot="5400000">
            <a:off x="3028587" y="3638079"/>
            <a:ext cx="196977" cy="1247342"/>
          </a:xfrm>
          <a:prstGeom prst="leftBrace">
            <a:avLst/>
          </a:prstGeom>
          <a:noFill/>
          <a:ln w="38100" cap="flat" cmpd="sng" algn="ctr">
            <a:solidFill>
              <a:srgbClr val="EB971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0EA3B152-B6CA-FCF9-43A1-A51E6C4B3112}"/>
              </a:ext>
            </a:extLst>
          </p:cNvPr>
          <p:cNvSpPr/>
          <p:nvPr/>
        </p:nvSpPr>
        <p:spPr bwMode="auto">
          <a:xfrm rot="5400000">
            <a:off x="7566458" y="3705747"/>
            <a:ext cx="193399" cy="1161567"/>
          </a:xfrm>
          <a:prstGeom prst="leftBrace">
            <a:avLst/>
          </a:prstGeom>
          <a:noFill/>
          <a:ln w="38100" cap="flat" cmpd="sng" algn="ctr">
            <a:solidFill>
              <a:srgbClr val="EB971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C22E46A-B7DF-83DA-9936-76736ED6392E}"/>
              </a:ext>
            </a:extLst>
          </p:cNvPr>
          <p:cNvSpPr/>
          <p:nvPr/>
        </p:nvSpPr>
        <p:spPr bwMode="auto">
          <a:xfrm>
            <a:off x="3125336" y="3492713"/>
            <a:ext cx="4515165" cy="628911"/>
          </a:xfrm>
          <a:custGeom>
            <a:avLst/>
            <a:gdLst>
              <a:gd name="csX0" fmla="*/ 0 w 3309582"/>
              <a:gd name="csY0" fmla="*/ 832515 h 839339"/>
              <a:gd name="csX1" fmla="*/ 1610436 w 3309582"/>
              <a:gd name="csY1" fmla="*/ 2 h 839339"/>
              <a:gd name="csX2" fmla="*/ 3309582 w 3309582"/>
              <a:gd name="csY2" fmla="*/ 839339 h 8393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309582" h="839339">
                <a:moveTo>
                  <a:pt x="0" y="832515"/>
                </a:moveTo>
                <a:cubicBezTo>
                  <a:pt x="529419" y="415690"/>
                  <a:pt x="1058839" y="-1135"/>
                  <a:pt x="1610436" y="2"/>
                </a:cubicBezTo>
                <a:cubicBezTo>
                  <a:pt x="2162033" y="1139"/>
                  <a:pt x="2735807" y="420239"/>
                  <a:pt x="3309582" y="839339"/>
                </a:cubicBezTo>
              </a:path>
            </a:pathLst>
          </a:custGeom>
          <a:noFill/>
          <a:ln w="57150" cap="flat" cmpd="sng" algn="ctr">
            <a:solidFill>
              <a:srgbClr val="EB971B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842241-771F-DE42-5DC8-971A8793909C}"/>
                  </a:ext>
                </a:extLst>
              </p:cNvPr>
              <p:cNvSpPr txBox="1"/>
              <p:nvPr/>
            </p:nvSpPr>
            <p:spPr>
              <a:xfrm>
                <a:off x="5001144" y="2498548"/>
                <a:ext cx="2566540" cy="854208"/>
              </a:xfrm>
              <a:prstGeom prst="rect">
                <a:avLst/>
              </a:prstGeom>
              <a:solidFill>
                <a:srgbClr val="FFE4C9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600" b="0" u="none" dirty="0">
                    <a:solidFill>
                      <a:srgbClr val="EB971B"/>
                    </a:solidFill>
                    <a:latin typeface="Arial" pitchFamily="34" charset="0"/>
                    <a:cs typeface="Arial" pitchFamily="34" charset="0"/>
                  </a:rPr>
                  <a:t>219-0 in Standard Errors is 3.021-0! </a:t>
                </a:r>
                <a:r>
                  <a:rPr lang="en-US" sz="1600" b="0" u="none" dirty="0">
                    <a:solidFill>
                      <a:schemeClr val="bg1">
                        <a:lumMod val="65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(219/(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16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725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600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rad>
                      </m:den>
                    </m:f>
                    <m:r>
                      <a:rPr lang="en-US" sz="1600" b="1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b="0" u="none" dirty="0">
                    <a:solidFill>
                      <a:schemeClr val="bg1">
                        <a:lumMod val="65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=3.021)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842241-771F-DE42-5DC8-971A87939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144" y="2498548"/>
                <a:ext cx="2566540" cy="854208"/>
              </a:xfrm>
              <a:prstGeom prst="rect">
                <a:avLst/>
              </a:prstGeom>
              <a:blipFill>
                <a:blip r:embed="rId15"/>
                <a:stretch>
                  <a:fillRect l="-1188" t="-2143" b="-6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56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56CEF-7AC2-2C21-4B3E-9A23E09D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4B87-59AD-CE08-118D-79D48120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for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04F8B-0F62-C41E-6B62-531DEE8CF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70C0"/>
                </a:solidFill>
              </a:rPr>
              <a:t>Step 1</a:t>
            </a:r>
            <a:r>
              <a:rPr lang="en-US" sz="1800" dirty="0">
                <a:solidFill>
                  <a:schemeClr val="tx1"/>
                </a:solidFill>
              </a:rPr>
              <a:t>: State the hypotheses to be tested; choose confidence level, e.g., 95%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rgbClr val="0070C0"/>
                </a:solidFill>
              </a:rPr>
              <a:t>Step 2</a:t>
            </a:r>
            <a:r>
              <a:rPr lang="en-US" sz="1800" dirty="0">
                <a:solidFill>
                  <a:schemeClr val="tx1"/>
                </a:solidFill>
              </a:rPr>
              <a:t>: Compute </a:t>
            </a:r>
            <a:r>
              <a:rPr lang="en-US" sz="1800" dirty="0">
                <a:solidFill>
                  <a:srgbClr val="00B0F0"/>
                </a:solidFill>
              </a:rPr>
              <a:t>test statistic </a:t>
            </a:r>
            <a:r>
              <a:rPr lang="en-US" sz="1800" dirty="0">
                <a:solidFill>
                  <a:schemeClr val="tx1"/>
                </a:solidFill>
              </a:rPr>
              <a:t>appropriate to your hypothesis</a:t>
            </a:r>
            <a:endParaRPr lang="en-US" sz="1800" dirty="0">
              <a:solidFill>
                <a:srgbClr val="0070C0"/>
              </a:solidFill>
            </a:endParaRPr>
          </a:p>
          <a:p>
            <a:endParaRPr lang="en-US" sz="1800" dirty="0"/>
          </a:p>
          <a:p>
            <a:pPr marL="800100" lvl="2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dirty="0">
                <a:solidFill>
                  <a:srgbClr val="00B0F0"/>
                </a:solidFill>
              </a:rPr>
              <a:t>test statistic</a:t>
            </a:r>
            <a:r>
              <a:rPr lang="en-US" sz="1800" dirty="0">
                <a:solidFill>
                  <a:schemeClr val="tx1"/>
                </a:solidFill>
              </a:rPr>
              <a:t> is a standardized measure of the difference between a sample attribute and the value expected under H</a:t>
            </a:r>
            <a:r>
              <a:rPr lang="en-US" sz="1800" baseline="-25000" dirty="0">
                <a:solidFill>
                  <a:schemeClr val="tx1"/>
                </a:solidFill>
              </a:rPr>
              <a:t>0</a:t>
            </a:r>
            <a:r>
              <a:rPr lang="en-US" sz="1800" dirty="0">
                <a:solidFill>
                  <a:schemeClr val="tx1"/>
                </a:solidFill>
              </a:rPr>
              <a:t>. It is constructed so that it can be compared to a distribution, e.g., a standard normal. </a:t>
            </a:r>
          </a:p>
          <a:p>
            <a:endParaRPr lang="en-US" sz="1800" dirty="0"/>
          </a:p>
          <a:p>
            <a:r>
              <a:rPr lang="en-US" sz="1800" dirty="0">
                <a:solidFill>
                  <a:srgbClr val="0070C0"/>
                </a:solidFill>
              </a:rPr>
              <a:t>Step 3</a:t>
            </a:r>
            <a:r>
              <a:rPr lang="en-US" sz="1800" dirty="0">
                <a:solidFill>
                  <a:schemeClr val="tx1"/>
                </a:solidFill>
              </a:rPr>
              <a:t>: Compute the </a:t>
            </a:r>
            <a:r>
              <a:rPr lang="en-US" sz="1800" dirty="0">
                <a:solidFill>
                  <a:srgbClr val="00B0F0"/>
                </a:solidFill>
              </a:rPr>
              <a:t>p-value</a:t>
            </a:r>
            <a:r>
              <a:rPr lang="en-US" sz="1800" dirty="0">
                <a:solidFill>
                  <a:schemeClr val="tx1"/>
                </a:solidFill>
              </a:rPr>
              <a:t> of the test statistic by determining the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           likelihood that it would be observed under H</a:t>
            </a:r>
            <a:r>
              <a:rPr lang="en-US" sz="1800" baseline="-25000" dirty="0">
                <a:solidFill>
                  <a:schemeClr val="tx1"/>
                </a:solidFill>
              </a:rPr>
              <a:t>0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endParaRPr lang="en-US" sz="1800" dirty="0"/>
          </a:p>
          <a:p>
            <a:pPr marL="400050" lvl="1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800100" lvl="2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dirty="0">
                <a:solidFill>
                  <a:srgbClr val="00B0F0"/>
                </a:solidFill>
              </a:rPr>
              <a:t>p-value</a:t>
            </a:r>
            <a:r>
              <a:rPr lang="en-US" sz="1800" dirty="0">
                <a:solidFill>
                  <a:schemeClr val="tx1"/>
                </a:solidFill>
              </a:rPr>
              <a:t> is the probability of observing at least the test statistic under the null hypothesis. It is found by comparing the test stat to its distribution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>
                <a:solidFill>
                  <a:srgbClr val="0070C0"/>
                </a:solidFill>
              </a:rPr>
              <a:t>Step 4</a:t>
            </a:r>
            <a:r>
              <a:rPr lang="en-US" sz="1800" dirty="0">
                <a:solidFill>
                  <a:schemeClr val="tx1"/>
                </a:solidFill>
              </a:rPr>
              <a:t>: Decide if the null hypothesis should be rejected based on the </a:t>
            </a:r>
            <a:r>
              <a:rPr lang="en-US" sz="1800" dirty="0">
                <a:solidFill>
                  <a:srgbClr val="00B0F0"/>
                </a:solidFill>
              </a:rPr>
              <a:t>p-value</a:t>
            </a:r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F4D2D-D8D9-A06C-44B1-85B1722FA7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509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07DD-13F6-4931-A280-B5D47BB8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Emissions Control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(1-sided t-test)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F4AB75-E64F-444F-AA4A-AD36D1A4F2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7759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0AC1F-B38E-4FBA-9C40-45EBB1DE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Emissions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2E19A4-C348-4E89-94DB-C02A390C76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106695"/>
                <a:ext cx="8437562" cy="5768975"/>
              </a:xfrm>
            </p:spPr>
            <p:txBody>
              <a:bodyPr/>
              <a:lstStyle/>
              <a:p>
                <a:r>
                  <a:rPr lang="en-US" dirty="0"/>
                  <a:t>The EPA requires power plant emissions have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0.90 </a:t>
                </a:r>
                <a:r>
                  <a:rPr lang="en-US" dirty="0" err="1"/>
                  <a:t>lb</a:t>
                </a:r>
                <a:r>
                  <a:rPr lang="en-US" dirty="0"/>
                  <a:t>/MWh of SO</a:t>
                </a:r>
                <a:r>
                  <a:rPr lang="en-US" baseline="-25000" dirty="0"/>
                  <a:t>2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Your boss asks you to check if your plant’s emissions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0.90</a:t>
                </a:r>
              </a:p>
              <a:p>
                <a:endParaRPr lang="en-US" dirty="0"/>
              </a:p>
              <a:p>
                <a:r>
                  <a:rPr lang="en-US" dirty="0"/>
                  <a:t>Using 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dirty="0"/>
                  <a:t> measurements taken during the year, you find that your plant emits an average of .92 </a:t>
                </a:r>
                <a:r>
                  <a:rPr lang="en-US" dirty="0" err="1"/>
                  <a:t>lb</a:t>
                </a:r>
                <a:r>
                  <a:rPr lang="en-US" dirty="0"/>
                  <a:t>/MWh with a sample standard deviation of .11, i.e.,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=0.92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=0.11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 answer your boss, you do the following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Develop null and alternate hypotheses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Compute the </a:t>
                </a:r>
                <a:r>
                  <a:rPr lang="en-US" i="1" dirty="0">
                    <a:solidFill>
                      <a:schemeClr val="accent6"/>
                    </a:solidFill>
                  </a:rPr>
                  <a:t>t</a:t>
                </a:r>
                <a:r>
                  <a:rPr lang="en-US" dirty="0">
                    <a:solidFill>
                      <a:schemeClr val="accent6"/>
                    </a:solidFill>
                  </a:rPr>
                  <a:t>-statistic and </a:t>
                </a:r>
                <a:r>
                  <a:rPr lang="en-US" i="1" dirty="0">
                    <a:solidFill>
                      <a:schemeClr val="accent6"/>
                    </a:solidFill>
                  </a:rPr>
                  <a:t>p</a:t>
                </a:r>
                <a:r>
                  <a:rPr lang="en-US" dirty="0">
                    <a:solidFill>
                      <a:schemeClr val="accent6"/>
                    </a:solidFill>
                  </a:rPr>
                  <a:t>-value for these hypotheses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Explain whether you would reject a null hypothesis of compliance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2E19A4-C348-4E89-94DB-C02A390C76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106695"/>
                <a:ext cx="8437562" cy="5768975"/>
              </a:xfrm>
              <a:blipFill>
                <a:blip r:embed="rId2"/>
                <a:stretch>
                  <a:fillRect l="-650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B5E5B-1D89-4F59-A72D-7A92495AC1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136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309657-EFF0-CCA2-5A5B-93A49D686669}"/>
              </a:ext>
            </a:extLst>
          </p:cNvPr>
          <p:cNvSpPr/>
          <p:nvPr/>
        </p:nvSpPr>
        <p:spPr bwMode="auto">
          <a:xfrm>
            <a:off x="6286500" y="4375150"/>
            <a:ext cx="412750" cy="273050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C91D4-8B80-4523-B1DA-521674D8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Emissions Compliance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D8862-A479-45DA-A8F6-DB2792B1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5"/>
            <a:ext cx="3005875" cy="576897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Random Variable</a:t>
            </a:r>
          </a:p>
          <a:p>
            <a:endParaRPr lang="en-US" dirty="0"/>
          </a:p>
          <a:p>
            <a:r>
              <a:rPr lang="en-US" dirty="0">
                <a:solidFill>
                  <a:schemeClr val="accent6"/>
                </a:solidFill>
              </a:rPr>
              <a:t>Distribution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Population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Sample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statistic </a:t>
            </a:r>
            <a:r>
              <a:rPr lang="en-US" dirty="0" err="1">
                <a:solidFill>
                  <a:schemeClr val="bg1"/>
                </a:solidFill>
              </a:rPr>
              <a:t>xxxxxxxxxxx</a:t>
            </a:r>
            <a:endParaRPr lang="en-US" dirty="0">
              <a:solidFill>
                <a:schemeClr val="bg1"/>
              </a:solidFill>
            </a:endParaRP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6C76D-3002-40FC-A6C0-21B8EF5BFC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32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454764" y="1089025"/>
                <a:ext cx="4461990" cy="5678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9pPr>
              </a:lstStyle>
              <a:p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</a:rPr>
                  <a:t>, the SO</a:t>
                </a:r>
                <a:r>
                  <a:rPr lang="en-US" b="0" u="none" kern="0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en-US" b="0" u="none" kern="0" dirty="0">
                    <a:solidFill>
                      <a:schemeClr val="tx1"/>
                    </a:solidFill>
                  </a:rPr>
                  <a:t> emissions of your plant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Continuous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All SO</a:t>
                </a:r>
                <a:r>
                  <a:rPr lang="en-US" b="0" u="none" kern="0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en-US" b="0" u="none" kern="0" dirty="0">
                    <a:solidFill>
                      <a:schemeClr val="tx1"/>
                    </a:solidFill>
                  </a:rPr>
                  <a:t> emissions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u="none" kern="0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b="0" i="1" u="none" kern="0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US" b="0" u="none" kern="0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US" sz="2000" b="0" u="none" kern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i="1" u="none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0.90</m:t>
                        </m:r>
                      </m:num>
                      <m:den>
                        <m:r>
                          <a:rPr lang="en-US" i="1" u="none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i="1" u="none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u="none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𝐸𝑟𝑟𝑜𝑟</m:t>
                        </m:r>
                        <m:r>
                          <a:rPr lang="en-US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bar>
                          <m:barPr>
                            <m:pos m:val="top"/>
                            <m:ctrlPr>
                              <a:rPr lang="en-US" i="1" u="none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u="none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1200"/>
                  </a:spcBef>
                  <a:buFontTx/>
                  <a:buNone/>
                  <a:tabLst>
                    <a:tab pos="287338" algn="l"/>
                  </a:tabLst>
                </a:pPr>
                <a14:m>
                  <m:oMath xmlns:m="http://schemas.openxmlformats.org/officeDocument/2006/math"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</m:t>
                    </m:r>
                    <m:r>
                      <a:rPr lang="en-US" b="0" i="1" u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u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in large samples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4764" y="1089025"/>
                <a:ext cx="4461990" cy="5678488"/>
              </a:xfrm>
              <a:prstGeom prst="rect">
                <a:avLst/>
              </a:prstGeom>
              <a:blipFill>
                <a:blip r:embed="rId2"/>
                <a:stretch>
                  <a:fillRect l="-150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FBF0985-096E-A0E1-06A4-6070D5A088E7}"/>
              </a:ext>
            </a:extLst>
          </p:cNvPr>
          <p:cNvSpPr txBox="1"/>
          <p:nvPr/>
        </p:nvSpPr>
        <p:spPr>
          <a:xfrm>
            <a:off x="6807200" y="3549650"/>
            <a:ext cx="1003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0" u="none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Null hypothesis value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4AA9E3B-A271-8B0A-75A4-C172053169AB}"/>
              </a:ext>
            </a:extLst>
          </p:cNvPr>
          <p:cNvSpPr/>
          <p:nvPr/>
        </p:nvSpPr>
        <p:spPr bwMode="auto">
          <a:xfrm>
            <a:off x="6724650" y="4171950"/>
            <a:ext cx="368300" cy="330200"/>
          </a:xfrm>
          <a:custGeom>
            <a:avLst/>
            <a:gdLst>
              <a:gd name="connsiteX0" fmla="*/ 0 w 368300"/>
              <a:gd name="connsiteY0" fmla="*/ 330200 h 330200"/>
              <a:gd name="connsiteX1" fmla="*/ 292100 w 368300"/>
              <a:gd name="connsiteY1" fmla="*/ 254000 h 330200"/>
              <a:gd name="connsiteX2" fmla="*/ 368300 w 368300"/>
              <a:gd name="connsiteY2" fmla="*/ 0 h 3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300" h="330200">
                <a:moveTo>
                  <a:pt x="0" y="330200"/>
                </a:moveTo>
                <a:cubicBezTo>
                  <a:pt x="115358" y="319616"/>
                  <a:pt x="230717" y="309033"/>
                  <a:pt x="292100" y="254000"/>
                </a:cubicBezTo>
                <a:cubicBezTo>
                  <a:pt x="353483" y="198967"/>
                  <a:pt x="360891" y="99483"/>
                  <a:pt x="368300" y="0"/>
                </a:cubicBezTo>
              </a:path>
            </a:pathLst>
          </a:custGeom>
          <a:noFill/>
          <a:ln w="317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0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03706-2E5D-46F8-8AA8-6E4472BBF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Hypothesis Test Here?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78B413-09FC-4047-923F-28BE102DD2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89025"/>
                <a:ext cx="8437562" cy="4737009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6"/>
                    </a:solidFill>
                  </a:rPr>
                  <a:t>In this example, you want to know if your plant is EPA compliant, that is, if your true emissions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 are </a:t>
                </a:r>
                <a:r>
                  <a:rPr lang="en-US" u="sng" dirty="0">
                    <a:solidFill>
                      <a:schemeClr val="accent6"/>
                    </a:solidFill>
                  </a:rPr>
                  <a:t>at or below</a:t>
                </a:r>
                <a:r>
                  <a:rPr lang="en-US" dirty="0">
                    <a:solidFill>
                      <a:schemeClr val="accent6"/>
                    </a:solidFill>
                  </a:rPr>
                  <a:t> 0.90</a:t>
                </a:r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There are two different kinds of t-tests</a:t>
                </a:r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2-sided: is sample mean </a:t>
                </a:r>
                <a:r>
                  <a:rPr lang="en-US" u="sng" dirty="0">
                    <a:solidFill>
                      <a:schemeClr val="accent6"/>
                    </a:solidFill>
                  </a:rPr>
                  <a:t>different from</a:t>
                </a:r>
                <a:r>
                  <a:rPr lang="en-US" dirty="0">
                    <a:solidFill>
                      <a:schemeClr val="accent6"/>
                    </a:solidFill>
                  </a:rPr>
                  <a:t> a value? E.g., </a:t>
                </a:r>
              </a:p>
              <a:p>
                <a:pPr marL="57150" indent="0" algn="ctr">
                  <a:buNone/>
                </a:pPr>
                <a:r>
                  <a:rPr lang="en-US" dirty="0"/>
                  <a:t>H</a:t>
                </a:r>
                <a:r>
                  <a:rPr lang="en-US" baseline="-25000" dirty="0"/>
                  <a:t>0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dirty="0"/>
              </a:p>
              <a:p>
                <a:pPr marL="57150" indent="0" algn="ctr">
                  <a:buNone/>
                </a:pPr>
                <a:r>
                  <a:rPr lang="en-US" dirty="0"/>
                  <a:t>H</a:t>
                </a:r>
                <a:r>
                  <a:rPr lang="en-US" baseline="-25000" dirty="0"/>
                  <a:t>A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dirty="0"/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1-sided: is the sample mean </a:t>
                </a:r>
                <a:r>
                  <a:rPr lang="en-US" u="sng" dirty="0">
                    <a:solidFill>
                      <a:schemeClr val="accent6"/>
                    </a:solidFill>
                  </a:rPr>
                  <a:t>on one side</a:t>
                </a:r>
                <a:r>
                  <a:rPr lang="en-US" dirty="0">
                    <a:solidFill>
                      <a:schemeClr val="accent6"/>
                    </a:solidFill>
                  </a:rPr>
                  <a:t> of a value, E.g., here,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H</a:t>
                </a:r>
                <a:r>
                  <a:rPr lang="en-US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dirty="0">
                    <a:solidFill>
                      <a:schemeClr val="accent6"/>
                    </a:solidFill>
                  </a:rPr>
                  <a:t>: You are in compliance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H</a:t>
                </a:r>
                <a:r>
                  <a:rPr lang="en-US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dirty="0">
                    <a:solidFill>
                      <a:schemeClr val="accent6"/>
                    </a:solidFill>
                  </a:rPr>
                  <a:t>: You are not in compliance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78B413-09FC-4047-923F-28BE102DD2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89025"/>
                <a:ext cx="8437562" cy="4737009"/>
              </a:xfrm>
              <a:blipFill>
                <a:blip r:embed="rId2"/>
                <a:stretch>
                  <a:fillRect l="-650" t="-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363F3-F7FF-4D85-A758-5D06EFE7B1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33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7DF1C7-5547-E6C8-BB8F-8B52FC0977A6}"/>
                  </a:ext>
                </a:extLst>
              </p:cNvPr>
              <p:cNvSpPr txBox="1"/>
              <p:nvPr/>
            </p:nvSpPr>
            <p:spPr>
              <a:xfrm>
                <a:off x="7175092" y="3222587"/>
                <a:ext cx="1910171" cy="646331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  <a:ln w="31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0" u="none" dirty="0">
                    <a:solidFill>
                      <a:schemeClr val="accent6"/>
                    </a:solidFill>
                    <a:cs typeface="Arial" pitchFamily="34" charset="0"/>
                  </a:rPr>
                  <a:t>Here, seeing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b="0" i="1" u="none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accPr>
                      <m:e>
                        <m:r>
                          <a:rPr lang="en-US" sz="1200" b="0" i="1" u="none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</m:acc>
                    <m:r>
                      <a:rPr lang="en-US" sz="12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  <a:cs typeface="Arial" pitchFamily="34" charset="0"/>
                  </a:rPr>
                  <a:t>very far above </a:t>
                </a:r>
                <a:r>
                  <a:rPr lang="en-US" sz="1200" b="0" dirty="0">
                    <a:solidFill>
                      <a:schemeClr val="accent6"/>
                    </a:solidFill>
                    <a:cs typeface="Arial" pitchFamily="34" charset="0"/>
                  </a:rPr>
                  <a:t>or</a:t>
                </a:r>
                <a:r>
                  <a:rPr lang="en-US" sz="1200" b="0" u="none" dirty="0">
                    <a:solidFill>
                      <a:schemeClr val="accent6"/>
                    </a:solidFill>
                    <a:cs typeface="Arial" pitchFamily="34" charset="0"/>
                  </a:rPr>
                  <a:t> below .90 will cause rejection</a:t>
                </a:r>
                <a:endParaRPr lang="en-US" sz="1200" b="0" u="none" dirty="0">
                  <a:solidFill>
                    <a:schemeClr val="accent6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7DF1C7-5547-E6C8-BB8F-8B52FC097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092" y="3222587"/>
                <a:ext cx="1910171" cy="646331"/>
              </a:xfrm>
              <a:prstGeom prst="rect">
                <a:avLst/>
              </a:prstGeom>
              <a:blipFill>
                <a:blip r:embed="rId3"/>
                <a:stretch>
                  <a:fillRect t="-1869" b="-4673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F9DDAB-4E84-90E5-CD45-9B5F97263C34}"/>
              </a:ext>
            </a:extLst>
          </p:cNvPr>
          <p:cNvCxnSpPr>
            <a:cxnSpLocks/>
            <a:stCxn id="5" idx="1"/>
          </p:cNvCxnSpPr>
          <p:nvPr/>
        </p:nvCxnSpPr>
        <p:spPr bwMode="auto">
          <a:xfrm flipH="1">
            <a:off x="5913982" y="3545753"/>
            <a:ext cx="1261110" cy="0"/>
          </a:xfrm>
          <a:prstGeom prst="straightConnector1">
            <a:avLst/>
          </a:prstGeom>
          <a:solidFill>
            <a:schemeClr val="accent1"/>
          </a:solidFill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75F5FA-7748-B17D-D19F-5C407722BDBC}"/>
                  </a:ext>
                </a:extLst>
              </p:cNvPr>
              <p:cNvSpPr txBox="1"/>
              <p:nvPr/>
            </p:nvSpPr>
            <p:spPr>
              <a:xfrm>
                <a:off x="7175092" y="4772627"/>
                <a:ext cx="1910171" cy="830997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  <a:ln w="31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0" u="none" dirty="0">
                    <a:solidFill>
                      <a:schemeClr val="accent6"/>
                    </a:solidFill>
                    <a:cs typeface="Arial" pitchFamily="34" charset="0"/>
                  </a:rPr>
                  <a:t>Here, </a:t>
                </a:r>
                <a:r>
                  <a:rPr lang="en-US" sz="1200" b="0" u="none" dirty="0">
                    <a:solidFill>
                      <a:schemeClr val="accent6"/>
                    </a:solidFill>
                  </a:rPr>
                  <a:t>seeing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</a:rPr>
                  <a:t> very far above .90 will cause rejection, but seeing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</a:rPr>
                  <a:t> very far below .90 will not</a:t>
                </a:r>
                <a:endParaRPr lang="en-US" sz="1200" b="0" u="none" dirty="0">
                  <a:solidFill>
                    <a:schemeClr val="accent6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75F5FA-7748-B17D-D19F-5C407722B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092" y="4772627"/>
                <a:ext cx="1910171" cy="830997"/>
              </a:xfrm>
              <a:prstGeom prst="rect">
                <a:avLst/>
              </a:prstGeom>
              <a:blipFill>
                <a:blip r:embed="rId4"/>
                <a:stretch>
                  <a:fillRect t="-1460" b="-3650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49DC1AB-331A-6611-63EF-176148F958EA}"/>
              </a:ext>
            </a:extLst>
          </p:cNvPr>
          <p:cNvCxnSpPr>
            <a:cxnSpLocks/>
          </p:cNvCxnSpPr>
          <p:nvPr/>
        </p:nvCxnSpPr>
        <p:spPr bwMode="auto">
          <a:xfrm flipH="1">
            <a:off x="6982097" y="5024840"/>
            <a:ext cx="192995" cy="0"/>
          </a:xfrm>
          <a:prstGeom prst="straightConnector1">
            <a:avLst/>
          </a:prstGeom>
          <a:solidFill>
            <a:schemeClr val="accent1"/>
          </a:solidFill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8358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EC3D63-6B4A-C436-65F6-DC7FF28AF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3C06-D494-457B-757D-3BF5396AF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Emissions Compliance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828E42-0D0D-8736-9B82-2BC5B67186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6"/>
                    </a:solidFill>
                  </a:rPr>
                  <a:t>Hypothesis test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H</a:t>
                </a:r>
                <a:r>
                  <a:rPr lang="en-US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dirty="0">
                    <a:solidFill>
                      <a:schemeClr val="accent6"/>
                    </a:solidFill>
                  </a:rPr>
                  <a:t>: You are in compliance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H</a:t>
                </a:r>
                <a:r>
                  <a:rPr lang="en-US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dirty="0">
                    <a:solidFill>
                      <a:schemeClr val="accent6"/>
                    </a:solidFill>
                  </a:rPr>
                  <a:t>: Your plant’s emissions are </a:t>
                </a:r>
                <a:r>
                  <a:rPr lang="en-US" i="1" dirty="0">
                    <a:solidFill>
                      <a:schemeClr val="accent6"/>
                    </a:solidFill>
                  </a:rPr>
                  <a:t>above</a:t>
                </a:r>
                <a:r>
                  <a:rPr lang="en-US" dirty="0">
                    <a:solidFill>
                      <a:schemeClr val="accent6"/>
                    </a:solidFill>
                  </a:rPr>
                  <a:t> .90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/>
                  <a:t>Data: </a:t>
                </a:r>
                <a14:m>
                  <m:oMath xmlns:m="http://schemas.openxmlformats.org/officeDocument/2006/math">
                    <m:r>
                      <a:rPr lang="en-US" b="0" i="1" u="none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= 100,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b="0" i="1" u="none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=.92,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>
                    <a:solidFill>
                      <a:schemeClr val="accent6"/>
                    </a:solidFill>
                  </a:rPr>
                  <a:t>= .11</a:t>
                </a:r>
              </a:p>
              <a:p>
                <a:endParaRPr lang="en-US" dirty="0"/>
              </a:p>
              <a:p>
                <a:r>
                  <a:rPr lang="en-US" dirty="0"/>
                  <a:t>Computations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EB971B"/>
                        </a:solidFill>
                        <a:latin typeface="Cambria Math" panose="02040503050406030204" pitchFamily="18" charset="0"/>
                      </a:rPr>
                      <m:t>𝑆𝑡𝑑</m:t>
                    </m:r>
                    <m:r>
                      <a:rPr lang="en-US" i="1">
                        <a:solidFill>
                          <a:srgbClr val="EB97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EB971B"/>
                        </a:solidFill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.11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.011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Margin of Error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1.96∗</m:t>
                    </m:r>
                    <m:r>
                      <a:rPr lang="en-US" i="1">
                        <a:solidFill>
                          <a:srgbClr val="EB971B"/>
                        </a:solidFill>
                        <a:latin typeface="Cambria Math" panose="02040503050406030204" pitchFamily="18" charset="0"/>
                      </a:rPr>
                      <m:t>𝑆𝑡𝑑</m:t>
                    </m:r>
                    <m:r>
                      <a:rPr lang="en-US" i="1">
                        <a:solidFill>
                          <a:srgbClr val="EB97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EB971B"/>
                        </a:solidFill>
                        <a:latin typeface="Cambria Math" panose="02040503050406030204" pitchFamily="18" charset="0"/>
                      </a:rPr>
                      <m:t>𝐸𝑟𝑟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=.022</m:t>
                    </m:r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𝑀𝑎𝑟𝑔𝑖𝑛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𝐸𝑟𝑟𝑜𝑟</m:t>
                    </m:r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.92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.022=</m:t>
                    </m:r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[.898, .942]</m:t>
                    </m:r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.90</m:t>
                        </m:r>
                      </m:num>
                      <m:den>
                        <m:r>
                          <a:rPr lang="en-US" i="1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i="1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.90</m:t>
                        </m:r>
                      </m:num>
                      <m:den>
                        <m:f>
                          <m:fPr>
                            <m:type m:val="lin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.92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−.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f>
                          <m:fPr>
                            <m:type m:val="li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.11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.02</m:t>
                        </m:r>
                      </m:num>
                      <m:den>
                        <m: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011</m:t>
                        </m:r>
                      </m:den>
                    </m:f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1.81</m:t>
                    </m:r>
                  </m:oMath>
                </a14:m>
                <a:endParaRPr lang="en-US" b="0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b="0" dirty="0">
                    <a:solidFill>
                      <a:schemeClr val="accent6"/>
                    </a:solidFill>
                  </a:rPr>
                  <a:t>1-sided p-value: </a:t>
                </a:r>
                <a:r>
                  <a:rPr lang="en-US" dirty="0">
                    <a:solidFill>
                      <a:schemeClr val="accent6"/>
                    </a:solidFill>
                  </a:rPr>
                  <a:t>1-</a:t>
                </a:r>
                <a:r>
                  <a:rPr lang="en-US" dirty="0">
                    <a:solidFill>
                      <a:schemeClr val="accent6"/>
                    </a:solidFill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NORM.DIST(1.81,0,1,True)</a:t>
                </a:r>
                <a:r>
                  <a:rPr lang="en-US" dirty="0">
                    <a:solidFill>
                      <a:schemeClr val="accent6"/>
                    </a:solidFill>
                    <a:latin typeface="+mj-lt"/>
                    <a:ea typeface="Cambria Math" panose="02040503050406030204" pitchFamily="18" charset="0"/>
                    <a:cs typeface="Courier New" panose="02070309020205020404" pitchFamily="49" charset="0"/>
                  </a:rPr>
                  <a:t>=.035</a:t>
                </a:r>
              </a:p>
              <a:p>
                <a:pPr lvl="1"/>
                <a:endParaRPr lang="en-US" dirty="0">
                  <a:solidFill>
                    <a:schemeClr val="accent6"/>
                  </a:solidFill>
                  <a:latin typeface="+mj-lt"/>
                  <a:ea typeface="Cambria Math" panose="02040503050406030204" pitchFamily="18" charset="0"/>
                  <a:cs typeface="Courier New" panose="02070309020205020404" pitchFamily="49" charset="0"/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  <a:latin typeface="+mj-lt"/>
                    <a:ea typeface="Cambria Math" panose="02040503050406030204" pitchFamily="18" charset="0"/>
                    <a:cs typeface="Courier New" panose="02070309020205020404" pitchFamily="49" charset="0"/>
                  </a:rPr>
                  <a:t>What do you tell your boss?</a:t>
                </a:r>
                <a:endParaRPr lang="en-US" b="0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828E42-0D0D-8736-9B82-2BC5B67186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0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09809-71A9-4EDE-3F9A-91D6089366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977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52F2D-1B62-1FC8-116B-459489A0A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8C7B-665A-99DD-A0BF-3ADC2890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Emissions Compliance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EF717-99B5-CF42-CE54-4B86E06282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6"/>
                    </a:solidFill>
                  </a:rPr>
                  <a:t>Hypothesis test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H</a:t>
                </a:r>
                <a:r>
                  <a:rPr lang="en-US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dirty="0">
                    <a:solidFill>
                      <a:schemeClr val="accent6"/>
                    </a:solidFill>
                  </a:rPr>
                  <a:t>: You are in compliance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H</a:t>
                </a:r>
                <a:r>
                  <a:rPr lang="en-US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dirty="0">
                    <a:solidFill>
                      <a:schemeClr val="accent6"/>
                    </a:solidFill>
                  </a:rPr>
                  <a:t>: You are not in compliance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/>
                  <a:t>Data: </a:t>
                </a:r>
                <a14:m>
                  <m:oMath xmlns:m="http://schemas.openxmlformats.org/officeDocument/2006/math">
                    <m:r>
                      <a:rPr lang="en-US" b="0" i="1" u="none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= 100,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b="0" i="1" u="none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=.92,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>
                    <a:solidFill>
                      <a:schemeClr val="accent6"/>
                    </a:solidFill>
                  </a:rPr>
                  <a:t>= .11</a:t>
                </a:r>
              </a:p>
              <a:p>
                <a:endParaRPr lang="en-US" dirty="0"/>
              </a:p>
              <a:p>
                <a:r>
                  <a:rPr lang="en-US" dirty="0"/>
                  <a:t>Computations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EB971B"/>
                        </a:solidFill>
                        <a:latin typeface="Cambria Math" panose="02040503050406030204" pitchFamily="18" charset="0"/>
                      </a:rPr>
                      <m:t>𝑆𝑡𝑑</m:t>
                    </m:r>
                    <m:r>
                      <a:rPr lang="en-US" i="1">
                        <a:solidFill>
                          <a:srgbClr val="EB97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EB971B"/>
                        </a:solidFill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</m:oMath>
                </a14:m>
                <a:endParaRPr lang="en-US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r>
                      <a:rPr lang="en-US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.11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=.011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 </a:t>
                </a:r>
              </a:p>
              <a:p>
                <a:pPr lvl="1"/>
                <a:endParaRPr lang="en-US" b="0" i="1" dirty="0">
                  <a:solidFill>
                    <a:schemeClr val="accent6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</m:oMath>
                </a14:m>
                <a:endParaRPr lang="en-US" b="0" i="1" dirty="0">
                  <a:solidFill>
                    <a:schemeClr val="accent6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.90</m:t>
                        </m:r>
                      </m:num>
                      <m:den>
                        <m:r>
                          <a:rPr lang="en-US" i="1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i="1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.92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−.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011</m:t>
                        </m:r>
                      </m:den>
                    </m:f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.02</m:t>
                        </m:r>
                      </m:num>
                      <m:den>
                        <m: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011</m:t>
                        </m:r>
                      </m:den>
                    </m:f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1.81</m:t>
                    </m:r>
                  </m:oMath>
                </a14:m>
                <a:r>
                  <a:rPr lang="en-US" b="0" dirty="0">
                    <a:solidFill>
                      <a:schemeClr val="accent6"/>
                    </a:solidFill>
                  </a:rPr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EF717-99B5-CF42-CE54-4B86E06282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0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D1388-99E0-F2B6-046A-F3F7F2901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293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3988A6-06E6-FD74-F17C-4664D931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ghlightCI">
            <a:extLst>
              <a:ext uri="{FF2B5EF4-FFF2-40B4-BE49-F238E27FC236}">
                <a16:creationId xmlns:a16="http://schemas.microsoft.com/office/drawing/2014/main" id="{5D5F5B04-27BC-B2A7-C6AD-E819E6118F35}"/>
              </a:ext>
            </a:extLst>
          </p:cNvPr>
          <p:cNvSpPr/>
          <p:nvPr/>
        </p:nvSpPr>
        <p:spPr bwMode="auto">
          <a:xfrm>
            <a:off x="4470400" y="3644900"/>
            <a:ext cx="1219200" cy="36830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0A502-E287-C5EF-5443-83E2288DFD08}"/>
              </a:ext>
            </a:extLst>
          </p:cNvPr>
          <p:cNvSpPr/>
          <p:nvPr/>
        </p:nvSpPr>
        <p:spPr bwMode="auto">
          <a:xfrm>
            <a:off x="7129279" y="2159000"/>
            <a:ext cx="1809140" cy="18034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B87E4-4C7E-29DF-00D8-F220E6EC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6"/>
                </a:solidFill>
              </a:rPr>
              <a:t>Computing the 1-Sided CI</a:t>
            </a:r>
            <a:r>
              <a:rPr lang="en-US" baseline="30000">
                <a:solidFill>
                  <a:schemeClr val="accent6"/>
                </a:solidFill>
              </a:rPr>
              <a:t>95</a:t>
            </a:r>
            <a:r>
              <a:rPr lang="en-US">
                <a:solidFill>
                  <a:schemeClr val="accent6"/>
                </a:solidFill>
              </a:rPr>
              <a:t> for Emissions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2D26C-5F82-C98E-BD80-67B9C915D9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01517" y="6272213"/>
            <a:ext cx="383746" cy="476250"/>
          </a:xfrm>
        </p:spPr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36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6E891B-FAA0-5C00-3A61-AFC84AE507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95203"/>
                <a:ext cx="8437562" cy="5768975"/>
              </a:xfrm>
            </p:spPr>
            <p:txBody>
              <a:bodyPr/>
              <a:lstStyle/>
              <a:p>
                <a:r>
                  <a:rPr lang="en-US" sz="1600" dirty="0">
                    <a:solidFill>
                      <a:schemeClr val="accent6"/>
                    </a:solidFill>
                  </a:rPr>
                  <a:t>Your hypothesis test</a:t>
                </a:r>
              </a:p>
              <a:p>
                <a:pPr lvl="1"/>
                <a:r>
                  <a:rPr lang="en-US" sz="16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600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1600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sz="16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600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1600" dirty="0">
                  <a:solidFill>
                    <a:schemeClr val="accent6"/>
                  </a:solidFill>
                </a:endParaRPr>
              </a:p>
              <a:p>
                <a:endParaRPr lang="en-US" sz="1600" dirty="0"/>
              </a:p>
              <a:p>
                <a:r>
                  <a:rPr lang="en-US" sz="1600"/>
                  <a:t>For </a:t>
                </a:r>
                <a:r>
                  <a:rPr lang="en-US" sz="1600" dirty="0"/>
                  <a:t>one-sided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CI</m:t>
                        </m:r>
                      </m:e>
                      <m:sup>
                        <m:r>
                          <a:rPr lang="en-US" sz="16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sz="1600" dirty="0"/>
                  <a:t>, put all the probability on one side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𝑃𝑟𝑜𝑏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i="1" dirty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̅"/>
                                  <m:ctrlPr>
                                    <a:rPr lang="en-US" sz="16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160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sz="1600" i="1" dirty="0">
                                  <a:solidFill>
                                    <a:srgbClr val="EB97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𝑆𝑡𝑑</m:t>
                              </m:r>
                              <m:r>
                                <a:rPr lang="en-US" sz="1600" i="1" dirty="0">
                                  <a:solidFill>
                                    <a:srgbClr val="EB97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 dirty="0">
                                  <a:solidFill>
                                    <a:srgbClr val="EB97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</m:t>
                              </m:r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6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den>
                          </m:f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1.65</m:t>
                          </m:r>
                        </m:e>
                      </m:d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=.95</m:t>
                      </m:r>
                    </m:oMath>
                  </m:oMathPara>
                </a14:m>
                <a:endParaRPr lang="en-US" sz="160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Sup>
                      <m:sSubSupPr>
                        <m:ctrlP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𝑠𝑖𝑑𝑒𝑑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bSup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1.6</m:t>
                    </m:r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600" i="1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𝑆𝑡𝑑</m:t>
                    </m:r>
                    <m:r>
                      <a:rPr lang="en-US" sz="1600" i="1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sz="16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∞)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Sup>
                      <m:sSubSupPr>
                        <m:ctrlP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𝑠𝑖𝑑𝑒𝑑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bSup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.92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1.6</m:t>
                    </m:r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600" b="0" i="1" dirty="0" smtClean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.011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∞)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Sup>
                      <m:sSubSupPr>
                        <m:ctrlP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𝑠𝑖𝑑𝑒𝑑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bSup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902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∞)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ctr">
                  <a:buNone/>
                </a:pPr>
                <a:endParaRPr lang="en-US" sz="160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6E891B-FAA0-5C00-3A61-AFC84AE507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95203"/>
                <a:ext cx="8437562" cy="5768975"/>
              </a:xfrm>
              <a:blipFill>
                <a:blip r:embed="rId2"/>
                <a:stretch>
                  <a:fillRect l="-289" t="-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CA9A880-E3A5-FF76-B7D5-7102DF2CF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629" y="2692400"/>
            <a:ext cx="1799035" cy="129857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018457-E9B1-5892-4E22-57707B60AE21}"/>
              </a:ext>
            </a:extLst>
          </p:cNvPr>
          <p:cNvSpPr txBox="1"/>
          <p:nvPr/>
        </p:nvSpPr>
        <p:spPr>
          <a:xfrm>
            <a:off x="7145734" y="2159000"/>
            <a:ext cx="1799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0" u="none" dirty="0">
                <a:solidFill>
                  <a:schemeClr val="accent6"/>
                </a:solidFill>
                <a:cs typeface="Arial" pitchFamily="34" charset="0"/>
              </a:rPr>
              <a:t>Use 1.65 because you want all 5% in one tail!</a:t>
            </a:r>
            <a:endParaRPr lang="en-US" sz="1200" b="0" u="none" dirty="0">
              <a:solidFill>
                <a:schemeClr val="accent6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69BD8-F217-70A7-34D1-29C95ABC0C34}"/>
                  </a:ext>
                </a:extLst>
              </p:cNvPr>
              <p:cNvSpPr txBox="1"/>
              <p:nvPr/>
            </p:nvSpPr>
            <p:spPr>
              <a:xfrm>
                <a:off x="7135629" y="4254500"/>
                <a:ext cx="1799035" cy="120244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200" b="0" u="none" dirty="0">
                    <a:solidFill>
                      <a:schemeClr val="accent6"/>
                    </a:solidFill>
                    <a:cs typeface="Arial" pitchFamily="34" charset="0"/>
                  </a:rPr>
                  <a:t>1-sided </a:t>
                </a:r>
                <a14:m>
                  <m:oMath xmlns:m="http://schemas.openxmlformats.org/officeDocument/2006/math">
                    <m:r>
                      <a:rPr lang="en-US" sz="12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𝐶</m:t>
                    </m:r>
                    <m:sSup>
                      <m:sSupPr>
                        <m:ctrlPr>
                          <a:rPr lang="en-US" sz="12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sz="12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𝐼</m:t>
                        </m:r>
                      </m:e>
                      <m:sup>
                        <m:r>
                          <a:rPr lang="en-US" sz="12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  <a:cs typeface="Arial" pitchFamily="34" charset="0"/>
                  </a:rPr>
                  <a:t> does not contain .90, so observed .92 is significantly different from .90 at the 95 percent level</a:t>
                </a:r>
                <a:endParaRPr lang="en-US" sz="1200" b="0" u="none" dirty="0">
                  <a:solidFill>
                    <a:schemeClr val="accent6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69BD8-F217-70A7-34D1-29C95ABC0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629" y="4254500"/>
                <a:ext cx="1799035" cy="1202445"/>
              </a:xfrm>
              <a:prstGeom prst="rect">
                <a:avLst/>
              </a:prstGeom>
              <a:blipFill>
                <a:blip r:embed="rId4"/>
                <a:stretch>
                  <a:fillRect l="-338" t="-505" b="-2525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6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uiExpand="1" build="p"/>
      <p:bldP spid="9" grpId="0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98D54-6E29-445C-84BF-3FA214C8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1-Sided t-test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879594-3C05-40E9-9C1A-3C6E7F5DA5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37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63AEF-F337-46C7-8629-E3F1AED67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8" y="1948705"/>
            <a:ext cx="4642454" cy="3307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5DEDCD-14ED-4B39-A346-E68813F1C48A}"/>
                  </a:ext>
                </a:extLst>
              </p:cNvPr>
              <p:cNvSpPr txBox="1"/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u="none" dirty="0">
                    <a:cs typeface="Arial" panose="020B0604020202020204" pitchFamily="34" charset="0"/>
                  </a:rPr>
                  <a:t>Standard Normal, i.e., 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(0,1)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5DEDCD-14ED-4B39-A346-E68813F1C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blipFill>
                <a:blip r:embed="rId3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8C03815-5E33-46FB-9C79-B0FD1B7A68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1999" y="1089025"/>
                <a:ext cx="4572001" cy="5768975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9pPr>
              </a:lstStyle>
              <a:p>
                <a:r>
                  <a:rPr lang="en-US" sz="1600" b="0" u="none" dirty="0">
                    <a:solidFill>
                      <a:schemeClr val="accent6"/>
                    </a:solidFill>
                  </a:rPr>
                  <a:t>Hypothesis test</a:t>
                </a:r>
              </a:p>
              <a:p>
                <a:pPr lvl="1"/>
                <a:r>
                  <a:rPr lang="en-US" sz="16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1600" b="0" u="none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1600" b="0" u="none" dirty="0">
                    <a:solidFill>
                      <a:schemeClr val="accent6"/>
                    </a:solidFill>
                  </a:rPr>
                  <a:t>: In compliance (</a:t>
                </a:r>
                <a14:m>
                  <m:oMath xmlns:m="http://schemas.openxmlformats.org/officeDocument/2006/math">
                    <m:r>
                      <a:rPr lang="en-US" sz="1600" b="0" i="1" u="non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b="0" i="1" u="none" smtClean="0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r>
                  <a:rPr lang="en-US" sz="1600" b="0" u="none" dirty="0">
                    <a:solidFill>
                      <a:schemeClr val="accent6"/>
                    </a:solidFill>
                  </a:rPr>
                  <a:t>)</a:t>
                </a:r>
              </a:p>
              <a:p>
                <a:pPr lvl="1"/>
                <a:r>
                  <a:rPr lang="en-US" sz="16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1600" b="0" u="none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sz="1600" b="0" u="none" dirty="0">
                    <a:solidFill>
                      <a:schemeClr val="accent6"/>
                    </a:solidFill>
                  </a:rPr>
                  <a:t>: </a:t>
                </a:r>
                <a:r>
                  <a:rPr lang="en-US" sz="1600" b="0" i="1" u="none" dirty="0">
                    <a:solidFill>
                      <a:schemeClr val="accent6"/>
                    </a:solidFill>
                  </a:rPr>
                  <a:t>Above</a:t>
                </a:r>
                <a:r>
                  <a:rPr lang="en-US" sz="1600" b="0" u="none" dirty="0">
                    <a:solidFill>
                      <a:schemeClr val="accent6"/>
                    </a:solidFill>
                  </a:rPr>
                  <a:t> compliance (</a:t>
                </a:r>
                <a14:m>
                  <m:oMath xmlns:m="http://schemas.openxmlformats.org/officeDocument/2006/math">
                    <m:r>
                      <a:rPr lang="en-US" sz="1600" b="0" i="1" u="non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b="0" i="1" u="none" smtClean="0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r>
                  <a:rPr lang="en-US" sz="1600" b="0" u="none" dirty="0">
                    <a:solidFill>
                      <a:schemeClr val="accent6"/>
                    </a:solidFill>
                  </a:rPr>
                  <a:t>)</a:t>
                </a:r>
              </a:p>
              <a:p>
                <a:endParaRPr lang="en-US" sz="1600" b="0" u="none" kern="0" dirty="0"/>
              </a:p>
              <a:p>
                <a:r>
                  <a:rPr lang="en-US" sz="1600" b="0" u="none" kern="0" dirty="0"/>
                  <a:t>The </a:t>
                </a:r>
                <a:r>
                  <a:rPr lang="en-US" sz="1600" b="0" i="1" u="none" kern="0" dirty="0"/>
                  <a:t>t</a:t>
                </a:r>
                <a:r>
                  <a:rPr lang="en-US" sz="1600" b="0" u="none" kern="0" dirty="0"/>
                  <a:t>-stat from the last slide is 1.81</a:t>
                </a:r>
              </a:p>
              <a:p>
                <a:endParaRPr lang="en-US" sz="1600" b="0" u="none" kern="0" dirty="0"/>
              </a:p>
              <a:p>
                <a:endParaRPr lang="en-US" sz="1600" b="0" u="none" kern="0" dirty="0"/>
              </a:p>
              <a:p>
                <a:endParaRPr lang="en-US" sz="1600" b="0" u="none" kern="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8C03815-5E33-46FB-9C79-B0FD1B7A6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9" y="1089025"/>
                <a:ext cx="4572001" cy="5768975"/>
              </a:xfrm>
              <a:prstGeom prst="rect">
                <a:avLst/>
              </a:prstGeom>
              <a:blipFill>
                <a:blip r:embed="rId4"/>
                <a:stretch>
                  <a:fillRect l="-533" t="-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77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C25AC-CAAA-2935-ABDE-E9A847092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4500F-1ECB-3041-D80E-44A455C4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1-Sided t-test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73A1D8-E501-355A-0E09-38CD038791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38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E3212E-2DE8-A0E4-56E6-496E08916AAC}"/>
                  </a:ext>
                </a:extLst>
              </p:cNvPr>
              <p:cNvSpPr txBox="1"/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u="none" dirty="0">
                    <a:cs typeface="Arial" panose="020B0604020202020204" pitchFamily="34" charset="0"/>
                  </a:rPr>
                  <a:t>Standard Normal, i.e., 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(0,1)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E3212E-2DE8-A0E4-56E6-496E08916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blipFill>
                <a:blip r:embed="rId2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1B6C9FD4-0C13-6F8D-F434-99536D6093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1999" y="1089025"/>
                <a:ext cx="4572001" cy="5768975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9pPr>
              </a:lstStyle>
              <a:p>
                <a:r>
                  <a:rPr lang="en-US" sz="1600" b="0" u="none" dirty="0">
                    <a:solidFill>
                      <a:schemeClr val="accent6"/>
                    </a:solidFill>
                  </a:rPr>
                  <a:t>Hypothesis test</a:t>
                </a:r>
              </a:p>
              <a:p>
                <a:pPr lvl="1"/>
                <a:r>
                  <a:rPr lang="en-US" sz="16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1600" b="0" u="none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1600" b="0" u="none" dirty="0">
                    <a:solidFill>
                      <a:schemeClr val="accent6"/>
                    </a:solidFill>
                  </a:rPr>
                  <a:t>: In compliance (</a:t>
                </a:r>
                <a14:m>
                  <m:oMath xmlns:m="http://schemas.openxmlformats.org/officeDocument/2006/math">
                    <m:r>
                      <a:rPr lang="en-US" sz="1600" b="0" i="1" u="non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r>
                  <a:rPr lang="en-US" sz="1600" b="0" u="none" dirty="0">
                    <a:solidFill>
                      <a:schemeClr val="accent6"/>
                    </a:solidFill>
                  </a:rPr>
                  <a:t>)</a:t>
                </a:r>
              </a:p>
              <a:p>
                <a:pPr lvl="1"/>
                <a:r>
                  <a:rPr lang="en-US" sz="16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1600" b="0" u="none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sz="1600" b="0" u="none" dirty="0">
                    <a:solidFill>
                      <a:schemeClr val="accent6"/>
                    </a:solidFill>
                  </a:rPr>
                  <a:t>: </a:t>
                </a:r>
                <a:r>
                  <a:rPr lang="en-US" sz="1600" b="0" i="1" u="none" dirty="0">
                    <a:solidFill>
                      <a:schemeClr val="accent6"/>
                    </a:solidFill>
                  </a:rPr>
                  <a:t>Above</a:t>
                </a:r>
                <a:r>
                  <a:rPr lang="en-US" sz="1600" b="0" u="none" dirty="0">
                    <a:solidFill>
                      <a:schemeClr val="accent6"/>
                    </a:solidFill>
                  </a:rPr>
                  <a:t> compliance (</a:t>
                </a:r>
                <a14:m>
                  <m:oMath xmlns:m="http://schemas.openxmlformats.org/officeDocument/2006/math">
                    <m:r>
                      <a:rPr lang="en-US" sz="1600" b="0" i="1" u="non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b="0" i="1" u="none" smtClean="0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r>
                  <a:rPr lang="en-US" sz="1600" b="0" u="none" dirty="0">
                    <a:solidFill>
                      <a:schemeClr val="accent6"/>
                    </a:solidFill>
                  </a:rPr>
                  <a:t>)</a:t>
                </a:r>
              </a:p>
              <a:p>
                <a:endParaRPr lang="en-US" sz="1600" b="0" u="none" kern="0" dirty="0"/>
              </a:p>
              <a:p>
                <a:r>
                  <a:rPr lang="en-US" sz="1600" b="0" u="none" kern="0" dirty="0"/>
                  <a:t>The </a:t>
                </a:r>
                <a:r>
                  <a:rPr lang="en-US" sz="1600" b="0" i="1" u="none" kern="0" dirty="0"/>
                  <a:t>t</a:t>
                </a:r>
                <a:r>
                  <a:rPr lang="en-US" sz="1600" b="0" u="none" kern="0" dirty="0"/>
                  <a:t>-stat from the last slide is 1.81</a:t>
                </a:r>
              </a:p>
              <a:p>
                <a:endParaRPr lang="en-US" sz="1600" b="0" u="none" kern="0" dirty="0"/>
              </a:p>
              <a:p>
                <a:endParaRPr lang="en-US" sz="1600" b="0" u="none" kern="0" dirty="0"/>
              </a:p>
              <a:p>
                <a:endParaRPr lang="en-US" sz="1600" b="0" u="none" kern="0" dirty="0"/>
              </a:p>
              <a:p>
                <a:endParaRPr lang="en-US" sz="1600" b="0" u="none" kern="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1B6C9FD4-0C13-6F8D-F434-99536D609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9" y="1089025"/>
                <a:ext cx="4572001" cy="5768975"/>
              </a:xfrm>
              <a:prstGeom prst="rect">
                <a:avLst/>
              </a:prstGeom>
              <a:blipFill>
                <a:blip r:embed="rId3"/>
                <a:stretch>
                  <a:fillRect l="-533" t="-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C4645C6-1E6E-C37F-C0DC-0452768A6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7" y="1948704"/>
            <a:ext cx="4642454" cy="330784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853650-3CB2-4584-863C-45A90B316AE0}"/>
              </a:ext>
            </a:extLst>
          </p:cNvPr>
          <p:cNvCxnSpPr>
            <a:cxnSpLocks/>
          </p:cNvCxnSpPr>
          <p:nvPr/>
        </p:nvCxnSpPr>
        <p:spPr bwMode="auto">
          <a:xfrm flipV="1">
            <a:off x="3263538" y="2077720"/>
            <a:ext cx="0" cy="279400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F9CA348-2545-7C9B-2C45-830A3F1A7C50}"/>
              </a:ext>
            </a:extLst>
          </p:cNvPr>
          <p:cNvSpPr/>
          <p:nvPr/>
        </p:nvSpPr>
        <p:spPr bwMode="auto">
          <a:xfrm>
            <a:off x="1619250" y="4876800"/>
            <a:ext cx="527050" cy="2413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721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5BCE8-5C45-7CD4-7660-7D110AAC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1-Sided t-test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1B1D4-5D21-DE8C-D00A-43F6FBFBE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39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73AE41-B008-243F-2E3B-03D8EFABF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" y="1948705"/>
            <a:ext cx="4642454" cy="3307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F75F08-E269-7C07-52C2-6C72696C1C5A}"/>
                  </a:ext>
                </a:extLst>
              </p:cNvPr>
              <p:cNvSpPr txBox="1"/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u="none" dirty="0">
                    <a:cs typeface="Arial" panose="020B0604020202020204" pitchFamily="34" charset="0"/>
                  </a:rPr>
                  <a:t>Standard Normal, i.e., 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sz="1400" b="0" i="1" u="none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(0,1)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F75F08-E269-7C07-52C2-6C72696C1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11" y="1520318"/>
                <a:ext cx="3016537" cy="307777"/>
              </a:xfrm>
              <a:prstGeom prst="rect">
                <a:avLst/>
              </a:prstGeom>
              <a:blipFill>
                <a:blip r:embed="rId3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70A43C1-A110-5A26-05B8-D284ED7B36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1999" y="1089025"/>
                <a:ext cx="4572001" cy="5768975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9pPr>
              </a:lstStyle>
              <a:p>
                <a:r>
                  <a:rPr lang="en-US" sz="1600" b="0" u="none" dirty="0">
                    <a:solidFill>
                      <a:schemeClr val="accent6"/>
                    </a:solidFill>
                  </a:rPr>
                  <a:t>Hypothesis test</a:t>
                </a:r>
              </a:p>
              <a:p>
                <a:pPr lvl="1"/>
                <a:r>
                  <a:rPr lang="en-US" sz="16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1600" b="0" u="none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1600" b="0" u="none" dirty="0">
                    <a:solidFill>
                      <a:schemeClr val="accent6"/>
                    </a:solidFill>
                  </a:rPr>
                  <a:t>: In compliance (</a:t>
                </a:r>
                <a14:m>
                  <m:oMath xmlns:m="http://schemas.openxmlformats.org/officeDocument/2006/math">
                    <m:r>
                      <a:rPr lang="en-US" sz="1600" b="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r>
                  <a:rPr lang="en-US" sz="1600" b="0" u="none" dirty="0">
                    <a:solidFill>
                      <a:schemeClr val="accent6"/>
                    </a:solidFill>
                  </a:rPr>
                  <a:t>)</a:t>
                </a:r>
              </a:p>
              <a:p>
                <a:pPr lvl="1"/>
                <a:r>
                  <a:rPr lang="en-US" sz="16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1600" b="0" u="none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sz="1600" b="0" u="none" dirty="0">
                    <a:solidFill>
                      <a:schemeClr val="accent6"/>
                    </a:solidFill>
                  </a:rPr>
                  <a:t>: </a:t>
                </a:r>
                <a:r>
                  <a:rPr lang="en-US" sz="1600" b="0" i="1" u="none" dirty="0">
                    <a:solidFill>
                      <a:schemeClr val="accent6"/>
                    </a:solidFill>
                  </a:rPr>
                  <a:t>Above</a:t>
                </a:r>
                <a:r>
                  <a:rPr lang="en-US" sz="1600" b="0" u="none" dirty="0">
                    <a:solidFill>
                      <a:schemeClr val="accent6"/>
                    </a:solidFill>
                  </a:rPr>
                  <a:t> compliance (</a:t>
                </a:r>
                <a14:m>
                  <m:oMath xmlns:m="http://schemas.openxmlformats.org/officeDocument/2006/math">
                    <m:r>
                      <a:rPr lang="en-US" sz="1600" b="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b="0" i="1" u="none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r>
                  <a:rPr lang="en-US" sz="1600" b="0" u="none" dirty="0">
                    <a:solidFill>
                      <a:schemeClr val="accent6"/>
                    </a:solidFill>
                  </a:rPr>
                  <a:t>)</a:t>
                </a:r>
              </a:p>
              <a:p>
                <a:endParaRPr lang="en-US" sz="1600" b="0" u="none" kern="0" dirty="0"/>
              </a:p>
              <a:p>
                <a:r>
                  <a:rPr lang="en-US" sz="1600" b="0" u="none" kern="0" dirty="0"/>
                  <a:t>The t-stat from the last slide is 1.81</a:t>
                </a:r>
              </a:p>
              <a:p>
                <a:endParaRPr lang="en-US" sz="1600" b="0" u="none" kern="0" dirty="0"/>
              </a:p>
              <a:p>
                <a:r>
                  <a:rPr lang="en-US" sz="1600" b="0" u="none" kern="0" dirty="0"/>
                  <a:t>AI tells us the probability under the normal for </a:t>
                </a:r>
                <a:r>
                  <a:rPr lang="en-US" sz="1600" b="0" i="1" u="none" kern="0" dirty="0"/>
                  <a:t>t</a:t>
                </a:r>
                <a:r>
                  <a:rPr lang="en-US" sz="1600" b="0" u="none" kern="0" dirty="0"/>
                  <a:t>-stat above 1.81 </a:t>
                </a:r>
                <a14:m>
                  <m:oMath xmlns:m="http://schemas.openxmlformats.org/officeDocument/2006/math">
                    <m:r>
                      <a:rPr lang="en-US" sz="1600" b="0" i="1" u="none" kern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u="none" kern="0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sz="1600" b="0" u="none" kern="0" dirty="0"/>
                  <a:t> is 3.5%</a:t>
                </a:r>
              </a:p>
              <a:p>
                <a:pPr lvl="1"/>
                <a:r>
                  <a:rPr lang="en-US" sz="1600" b="0" u="none" kern="0" dirty="0">
                    <a:solidFill>
                      <a:schemeClr val="accent6"/>
                    </a:solidFill>
                  </a:rPr>
                  <a:t>We care about just the right tail</a:t>
                </a:r>
              </a:p>
              <a:p>
                <a:pPr lvl="1"/>
                <a:r>
                  <a:rPr lang="en-US" sz="1600" b="0" u="none" kern="0" dirty="0"/>
                  <a:t>So, the </a:t>
                </a:r>
                <a:r>
                  <a:rPr lang="en-US" sz="1600" b="0" u="none" kern="0" dirty="0">
                    <a:solidFill>
                      <a:srgbClr val="00B0F0"/>
                    </a:solidFill>
                  </a:rPr>
                  <a:t>1-sided p-value</a:t>
                </a:r>
                <a:r>
                  <a:rPr lang="en-US" sz="1600" b="0" u="none" kern="0" dirty="0">
                    <a:solidFill>
                      <a:schemeClr val="accent6"/>
                    </a:solidFill>
                  </a:rPr>
                  <a:t> is .035</a:t>
                </a:r>
                <a:endParaRPr lang="en-US" sz="1600" b="0" u="none" dirty="0">
                  <a:solidFill>
                    <a:schemeClr val="accent6"/>
                  </a:solidFill>
                  <a:ea typeface="Cambria Math" panose="02040503050406030204" pitchFamily="18" charset="0"/>
                  <a:cs typeface="Courier New" panose="02070309020205020404" pitchFamily="49" charset="0"/>
                </a:endParaRPr>
              </a:p>
              <a:p>
                <a:endParaRPr lang="en-US" sz="1600" b="0" u="none" dirty="0">
                  <a:solidFill>
                    <a:schemeClr val="accent6"/>
                  </a:solidFill>
                  <a:ea typeface="Cambria Math" panose="02040503050406030204" pitchFamily="18" charset="0"/>
                  <a:cs typeface="Courier New" panose="02070309020205020404" pitchFamily="49" charset="0"/>
                </a:endParaRPr>
              </a:p>
              <a:p>
                <a:r>
                  <a:rPr lang="en-US" sz="1600" b="0" u="none" dirty="0">
                    <a:solidFill>
                      <a:schemeClr val="accent6"/>
                    </a:solidFill>
                    <a:ea typeface="Cambria Math" panose="02040503050406030204" pitchFamily="18" charset="0"/>
                    <a:cs typeface="Courier New" panose="02070309020205020404" pitchFamily="49" charset="0"/>
                  </a:rPr>
                  <a:t>What do you tell your boss? </a:t>
                </a:r>
              </a:p>
              <a:p>
                <a:endParaRPr lang="en-US" sz="1600" b="0" u="none" dirty="0">
                  <a:solidFill>
                    <a:schemeClr val="accent6"/>
                  </a:solidFill>
                  <a:ea typeface="Cambria Math" panose="02040503050406030204" pitchFamily="18" charset="0"/>
                  <a:cs typeface="Courier New" panose="02070309020205020404" pitchFamily="49" charset="0"/>
                </a:endParaRPr>
              </a:p>
              <a:p>
                <a:r>
                  <a:rPr lang="en-US" sz="1600" b="0" u="none" dirty="0">
                    <a:solidFill>
                      <a:schemeClr val="accent6"/>
                    </a:solidFill>
                    <a:ea typeface="Cambria Math" panose="02040503050406030204" pitchFamily="18" charset="0"/>
                    <a:cs typeface="Courier New" panose="02070309020205020404" pitchFamily="49" charset="0"/>
                  </a:rPr>
                  <a:t>Since .035&lt;.05 </a:t>
                </a:r>
              </a:p>
              <a:p>
                <a:pPr lvl="1"/>
                <a:r>
                  <a:rPr lang="en-US" sz="1600" b="0" u="none" dirty="0">
                    <a:solidFill>
                      <a:schemeClr val="accent6"/>
                    </a:solidFill>
                    <a:ea typeface="Cambria Math" panose="02040503050406030204" pitchFamily="18" charset="0"/>
                    <a:cs typeface="Courier New" panose="02070309020205020404" pitchFamily="49" charset="0"/>
                  </a:rPr>
                  <a:t>“We can reject the null hypothesis that we are in compliance at the 5% level.” </a:t>
                </a:r>
              </a:p>
              <a:p>
                <a:pPr lvl="1"/>
                <a:r>
                  <a:rPr lang="en-US" sz="1600" b="0" u="none" dirty="0">
                    <a:solidFill>
                      <a:schemeClr val="accent6"/>
                    </a:solidFill>
                    <a:ea typeface="Cambria Math" panose="02040503050406030204" pitchFamily="18" charset="0"/>
                    <a:cs typeface="Courier New" panose="02070309020205020404" pitchFamily="49" charset="0"/>
                  </a:rPr>
                  <a:t>“Seeing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600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600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 sz="1600" b="0" u="none" dirty="0">
                    <a:solidFill>
                      <a:schemeClr val="accent6"/>
                    </a:solidFill>
                  </a:rPr>
                  <a:t> =.92 is so unlikely if the upper value of the null hypothesis is .90 that we can reject that we are in compliance at the 5% level.”</a:t>
                </a:r>
                <a:endParaRPr lang="en-US" sz="1600" b="0" u="none" kern="0" dirty="0">
                  <a:solidFill>
                    <a:schemeClr val="accent6"/>
                  </a:solidFill>
                </a:endParaRPr>
              </a:p>
              <a:p>
                <a:endParaRPr lang="en-US" sz="1600" b="0" u="none" kern="0" dirty="0">
                  <a:solidFill>
                    <a:schemeClr val="accent6"/>
                  </a:solidFill>
                </a:endParaRPr>
              </a:p>
              <a:p>
                <a:endParaRPr lang="en-US" sz="1600" b="0" u="none" kern="0" dirty="0">
                  <a:solidFill>
                    <a:schemeClr val="accent6"/>
                  </a:solidFill>
                </a:endParaRPr>
              </a:p>
              <a:p>
                <a:endParaRPr lang="en-US" sz="1600" b="0" u="none" kern="0" dirty="0"/>
              </a:p>
              <a:p>
                <a:endParaRPr lang="en-US" sz="1600" b="0" u="none" kern="0" dirty="0"/>
              </a:p>
              <a:p>
                <a:endParaRPr lang="en-US" sz="1600" b="0" u="none" kern="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70A43C1-A110-5A26-05B8-D284ED7B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9" y="1089025"/>
                <a:ext cx="4572001" cy="5768975"/>
              </a:xfrm>
              <a:prstGeom prst="rect">
                <a:avLst/>
              </a:prstGeom>
              <a:blipFill>
                <a:blip r:embed="rId4"/>
                <a:stretch>
                  <a:fillRect l="-533" t="-317" r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5051358-A5C3-3495-B252-99A34B5BD9D2}"/>
              </a:ext>
            </a:extLst>
          </p:cNvPr>
          <p:cNvSpPr txBox="1"/>
          <p:nvPr/>
        </p:nvSpPr>
        <p:spPr>
          <a:xfrm>
            <a:off x="927101" y="5690331"/>
            <a:ext cx="3237038" cy="646331"/>
          </a:xfrm>
          <a:prstGeom prst="rect">
            <a:avLst/>
          </a:prstGeom>
          <a:solidFill>
            <a:srgbClr val="FFFF99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chemeClr val="accent6"/>
                </a:solidFill>
                <a:latin typeface="+mj-lt"/>
                <a:ea typeface="Cambria Math" panose="02040503050406030204" pitchFamily="18" charset="0"/>
                <a:cs typeface="Courier New" panose="02070309020205020404" pitchFamily="49" charset="0"/>
              </a:rPr>
              <a:t>Prompt</a:t>
            </a:r>
            <a:r>
              <a:rPr lang="en-US" sz="1200" b="0" u="none" dirty="0">
                <a:solidFill>
                  <a:schemeClr val="accent6"/>
                </a:solidFill>
                <a:latin typeface="+mj-lt"/>
                <a:ea typeface="Cambria Math" panose="02040503050406030204" pitchFamily="18" charset="0"/>
                <a:cs typeface="Courier New" panose="02070309020205020404" pitchFamily="49" charset="0"/>
              </a:rPr>
              <a:t>:</a:t>
            </a:r>
            <a:r>
              <a:rPr lang="en-US" sz="1200" b="0" u="none" dirty="0">
                <a:solidFill>
                  <a:srgbClr val="FF0000"/>
                </a:solidFill>
                <a:latin typeface="+mj-lt"/>
                <a:ea typeface="Cambria Math" panose="02040503050406030204" pitchFamily="18" charset="0"/>
                <a:cs typeface="Courier New" panose="02070309020205020404" pitchFamily="49" charset="0"/>
              </a:rPr>
              <a:t> </a:t>
            </a:r>
            <a:r>
              <a:rPr lang="en-US" sz="1200" b="0" u="none" dirty="0">
                <a:latin typeface="+mj-lt"/>
                <a:ea typeface="Cambria Math" panose="02040503050406030204" pitchFamily="18" charset="0"/>
                <a:cs typeface="Courier New" panose="02070309020205020404" pitchFamily="49" charset="0"/>
              </a:rPr>
              <a:t>What is the probability under the normal of a t-stat greater than or equal to 1.81 with observations = 100? </a:t>
            </a:r>
            <a:endParaRPr lang="en-US" sz="1200" b="0" u="none" dirty="0">
              <a:latin typeface="+mj-lt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505483D-05DA-2B05-E542-ECCBB5130376}"/>
              </a:ext>
            </a:extLst>
          </p:cNvPr>
          <p:cNvSpPr/>
          <p:nvPr/>
        </p:nvSpPr>
        <p:spPr bwMode="auto">
          <a:xfrm>
            <a:off x="3486561" y="4808823"/>
            <a:ext cx="434072" cy="881508"/>
          </a:xfrm>
          <a:custGeom>
            <a:avLst/>
            <a:gdLst>
              <a:gd name="connsiteX0" fmla="*/ 0 w 434072"/>
              <a:gd name="connsiteY0" fmla="*/ 0 h 881508"/>
              <a:gd name="connsiteX1" fmla="*/ 414440 w 434072"/>
              <a:gd name="connsiteY1" fmla="*/ 381548 h 881508"/>
              <a:gd name="connsiteX2" fmla="*/ 328921 w 434072"/>
              <a:gd name="connsiteY2" fmla="*/ 881508 h 881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4072" h="881508">
                <a:moveTo>
                  <a:pt x="0" y="0"/>
                </a:moveTo>
                <a:cubicBezTo>
                  <a:pt x="179810" y="117315"/>
                  <a:pt x="359620" y="234630"/>
                  <a:pt x="414440" y="381548"/>
                </a:cubicBezTo>
                <a:cubicBezTo>
                  <a:pt x="469260" y="528466"/>
                  <a:pt x="399090" y="704987"/>
                  <a:pt x="328921" y="881508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19F88C-6AAC-D29C-7E29-5091A1EB9D37}"/>
              </a:ext>
            </a:extLst>
          </p:cNvPr>
          <p:cNvSpPr/>
          <p:nvPr/>
        </p:nvSpPr>
        <p:spPr bwMode="auto">
          <a:xfrm>
            <a:off x="1619250" y="4876800"/>
            <a:ext cx="527050" cy="2413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961083-4C92-8E73-517E-F408ADDD042D}"/>
              </a:ext>
            </a:extLst>
          </p:cNvPr>
          <p:cNvCxnSpPr>
            <a:cxnSpLocks/>
          </p:cNvCxnSpPr>
          <p:nvPr/>
        </p:nvCxnSpPr>
        <p:spPr bwMode="auto">
          <a:xfrm flipV="1">
            <a:off x="3263538" y="2077720"/>
            <a:ext cx="0" cy="279400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3187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B11FE-757E-3437-D54E-DEE379C0D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7EFFCCE-9466-DB99-ABC9-4C2E126AE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286" y="4145280"/>
            <a:ext cx="3208847" cy="22863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A920941-508B-7A8C-4965-4B2345EAE9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1- vs 2-Sided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𝑡𝑒𝑠𝑡</m:t>
                    </m:r>
                  </m:oMath>
                </a14:m>
                <a:br>
                  <a:rPr lang="en-US" b="0" dirty="0"/>
                </a:br>
                <a:r>
                  <a:rPr lang="en-US" sz="1400" b="0" dirty="0"/>
                  <a:t>Want 95% Confidence in BOTH cases!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A920941-508B-7A8C-4965-4B2345EAE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t="-2521" b="-5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737D7-E50E-63EE-FB4A-3E3D196A1C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the last example, we examined</a:t>
                </a:r>
              </a:p>
              <a:p>
                <a:pPr lvl="1"/>
                <a:r>
                  <a:rPr lang="en-US" sz="20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2000" b="0" u="none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2000" b="0" u="none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2000" b="0" u="none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sz="20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2000" b="0" u="none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sz="2000" b="0" u="none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u="none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2000" b="0" u="none" dirty="0">
                  <a:solidFill>
                    <a:schemeClr val="accent6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.90</m:t>
                        </m:r>
                      </m:num>
                      <m:den>
                        <m:r>
                          <a:rPr lang="en-US" i="1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i="1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den>
                    </m:f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1.81</m:t>
                    </m:r>
                  </m:oMath>
                </a14:m>
                <a:endParaRPr lang="en-US" sz="2000" b="0" u="none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From AI: 1-sided p-value=.035</a:t>
                </a:r>
                <a:r>
                  <a:rPr lang="en-US" sz="2000" b="0" u="none" dirty="0">
                    <a:solidFill>
                      <a:schemeClr val="accent6"/>
                    </a:solidFill>
                  </a:rPr>
                  <a:t>  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Reject because .035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.05</a:t>
                </a:r>
                <a:endParaRPr lang="en-US" sz="2000" b="0" u="none" dirty="0">
                  <a:solidFill>
                    <a:schemeClr val="accent6"/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Suppose instead we had tested </a:t>
                </a:r>
              </a:p>
              <a:p>
                <a:pPr lvl="1"/>
                <a:r>
                  <a:rPr lang="en-US" sz="20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2000" b="0" u="none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2000" b="0" u="none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2000" b="0" u="none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sz="20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2000" b="0" u="none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sz="2000" b="0" u="none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u="none" smtClean="0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2000" b="0" u="none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.90</m:t>
                        </m:r>
                      </m:num>
                      <m:den>
                        <m:r>
                          <a:rPr lang="en-US" i="1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i="1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den>
                    </m:f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1.81</m:t>
                    </m:r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From AI: </a:t>
                </a:r>
                <a:r>
                  <a:rPr lang="en-US" dirty="0">
                    <a:solidFill>
                      <a:srgbClr val="0000FF"/>
                    </a:solidFill>
                  </a:rPr>
                  <a:t>2-sided p-value=.07  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Can’t reject because .07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.05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737D7-E50E-63EE-FB4A-3E3D196A1C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50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B7F59-FD6D-A8AA-2E8B-D064A7DC75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40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4DF9F0-C5C8-22E8-1203-BD2718D9A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3286" y="1234078"/>
            <a:ext cx="3208847" cy="2286316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D8256D-29B8-1296-F8F3-26C2A0A2A808}"/>
              </a:ext>
            </a:extLst>
          </p:cNvPr>
          <p:cNvCxnSpPr>
            <a:cxnSpLocks/>
          </p:cNvCxnSpPr>
          <p:nvPr/>
        </p:nvCxnSpPr>
        <p:spPr bwMode="auto">
          <a:xfrm flipH="1">
            <a:off x="4004310" y="5994400"/>
            <a:ext cx="53340" cy="30067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06039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AD1E-39A4-EAA5-2831-D4C7C114E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Wait…..What?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1DE6B5-ED4F-7BE4-2D44-0C87A6F762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41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166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3A079-3923-B49D-88E8-B68EF00A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8B56C067-DA6F-8AD1-8949-70118FB91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286" y="4145280"/>
            <a:ext cx="3208847" cy="22863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1341FF-502F-DA65-CF6A-A691A75DC27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1- vs 2-Sided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𝑡𝑒𝑠𝑡</m:t>
                    </m:r>
                  </m:oMath>
                </a14:m>
                <a:br>
                  <a:rPr lang="en-US" b="0" dirty="0"/>
                </a:br>
                <a:r>
                  <a:rPr lang="en-US" sz="1400" b="0" dirty="0"/>
                  <a:t>Want 95% Confidence in BOTH cases!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1341FF-502F-DA65-CF6A-A691A75DC2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t="-2521" b="-5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1AFDF3-4BF3-E714-48E1-429B5D3C9D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1-sided</a:t>
                </a:r>
              </a:p>
              <a:p>
                <a:pPr lvl="1"/>
                <a:r>
                  <a:rPr lang="en-US" sz="20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2000" b="0" u="none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2000" b="0" u="none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2000" b="0" u="none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sz="20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2000" b="0" u="none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sz="2000" b="0" u="none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u="none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2000" b="0" u="none" dirty="0">
                  <a:solidFill>
                    <a:schemeClr val="accent6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.90</m:t>
                        </m:r>
                      </m:num>
                      <m:den>
                        <m:r>
                          <a:rPr lang="en-US" i="1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i="1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den>
                    </m:f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1.81</m:t>
                    </m:r>
                  </m:oMath>
                </a14:m>
                <a:endParaRPr lang="en-US" sz="2000" b="0" u="none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1-sided p-value=.035</a:t>
                </a:r>
                <a:r>
                  <a:rPr lang="en-US" sz="2000" b="0" u="none" dirty="0">
                    <a:solidFill>
                      <a:schemeClr val="accent6"/>
                    </a:solidFill>
                  </a:rPr>
                  <a:t>  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Reject because .035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.05</a:t>
                </a:r>
                <a:endParaRPr lang="en-US" sz="2000" b="0" u="none" dirty="0">
                  <a:solidFill>
                    <a:schemeClr val="accent6"/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2-sided</a:t>
                </a:r>
              </a:p>
              <a:p>
                <a:pPr lvl="1"/>
                <a:r>
                  <a:rPr lang="en-US" sz="20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2000" b="0" u="none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2000" b="0" u="none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2000" b="0" u="none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sz="2000" b="0" u="none" dirty="0">
                    <a:solidFill>
                      <a:schemeClr val="accent6"/>
                    </a:solidFill>
                  </a:rPr>
                  <a:t>H</a:t>
                </a:r>
                <a:r>
                  <a:rPr lang="en-US" sz="2000" b="0" u="none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sz="2000" b="0" u="none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u="none" smtClean="0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2000" b="0" u="none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.90</m:t>
                        </m:r>
                      </m:num>
                      <m:den>
                        <m:r>
                          <a:rPr lang="en-US" i="1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i="1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den>
                    </m:f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1.81</m:t>
                    </m:r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2-sided p-value=.07  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Can’t reject because .07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.05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1AFDF3-4BF3-E714-48E1-429B5D3C9D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50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9D3B8-B58A-53DF-929F-14E0DA7D1E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42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FAF741-0FDB-4940-7570-70AD89081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3286" y="1234078"/>
            <a:ext cx="3208847" cy="22863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1661541-634C-C381-3981-997B53C91DF6}"/>
              </a:ext>
            </a:extLst>
          </p:cNvPr>
          <p:cNvSpPr txBox="1"/>
          <p:nvPr/>
        </p:nvSpPr>
        <p:spPr>
          <a:xfrm>
            <a:off x="757995" y="1563164"/>
            <a:ext cx="3814005" cy="2062103"/>
          </a:xfrm>
          <a:prstGeom prst="rect">
            <a:avLst/>
          </a:prstGeom>
          <a:solidFill>
            <a:schemeClr val="accent3">
              <a:lumMod val="95000"/>
            </a:schemeClr>
          </a:solidFill>
          <a:ln w="31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lvl="1" indent="0">
              <a:buNone/>
            </a:pPr>
            <a:r>
              <a:rPr lang="en-US" sz="1600" b="0" u="none" dirty="0">
                <a:solidFill>
                  <a:schemeClr val="accent6"/>
                </a:solidFill>
                <a:latin typeface="+mj-lt"/>
              </a:rPr>
              <a:t>For a given probability you choose to be wrong, e.g., 5%, a 1-sided test is more likely to reject than a 2-sided test because you are looking in only 1 direction. So, you put all the probability of being wrong in that direction. </a:t>
            </a:r>
          </a:p>
          <a:p>
            <a:pPr marL="0" lvl="1" indent="0">
              <a:buNone/>
            </a:pPr>
            <a:endParaRPr lang="en-US" sz="1600" b="0" u="none" dirty="0">
              <a:solidFill>
                <a:schemeClr val="accent6"/>
              </a:solidFill>
              <a:latin typeface="+mj-lt"/>
            </a:endParaRPr>
          </a:p>
          <a:p>
            <a:pPr marL="0" lvl="1" indent="0">
              <a:buNone/>
            </a:pPr>
            <a:endParaRPr lang="en-US" sz="1600" b="0" u="none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B90E0-66FB-6987-52D0-9D19F4392759}"/>
              </a:ext>
            </a:extLst>
          </p:cNvPr>
          <p:cNvSpPr txBox="1"/>
          <p:nvPr/>
        </p:nvSpPr>
        <p:spPr>
          <a:xfrm>
            <a:off x="757995" y="4316990"/>
            <a:ext cx="3814005" cy="2062103"/>
          </a:xfrm>
          <a:prstGeom prst="rect">
            <a:avLst/>
          </a:prstGeom>
          <a:solidFill>
            <a:schemeClr val="accent3">
              <a:lumMod val="95000"/>
            </a:schemeClr>
          </a:solidFill>
          <a:ln w="31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lvl="1" indent="0">
              <a:buNone/>
            </a:pPr>
            <a:r>
              <a:rPr lang="en-US" sz="1600" b="0" u="none" dirty="0">
                <a:solidFill>
                  <a:schemeClr val="accent6"/>
                </a:solidFill>
              </a:rPr>
              <a:t>For a given probability you choose to be wrong, e.g., 5%, a 2-sided test is less likely to reject than a 1-sided test because you are looking in both directions. So, you have to split your probability of being wrong across both tails. </a:t>
            </a:r>
          </a:p>
          <a:p>
            <a:pPr marL="0" lvl="1" indent="0">
              <a:buNone/>
            </a:pPr>
            <a:endParaRPr lang="en-US" sz="1600" b="0" u="none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55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967317-224B-B1A6-BC62-7C215FD75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A026C5E8-5435-4D4E-98E7-0D518F99F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286" y="4145280"/>
            <a:ext cx="3208847" cy="22863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F59E7A2-D2B5-BE27-306E-234DACAC85F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1- vs 2-Sided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𝑡𝑒𝑠𝑡</m:t>
                    </m:r>
                  </m:oMath>
                </a14:m>
                <a:br>
                  <a:rPr lang="en-US" b="0" dirty="0"/>
                </a:br>
                <a:r>
                  <a:rPr lang="en-US" sz="1400" b="0" dirty="0"/>
                  <a:t>Want 95% Confidence in BOTH cases!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F59E7A2-D2B5-BE27-306E-234DACAC85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t="-2521" b="-5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595127-5300-3459-AC7E-A08E2252AB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In the last example, we examined</a:t>
                </a:r>
              </a:p>
              <a:p>
                <a:pPr lvl="1"/>
                <a:r>
                  <a:rPr lang="en-US" sz="2000" b="0" u="none" dirty="0">
                    <a:solidFill>
                      <a:schemeClr val="bg1">
                        <a:lumMod val="50000"/>
                      </a:schemeClr>
                    </a:solidFill>
                  </a:rPr>
                  <a:t>H</a:t>
                </a:r>
                <a:r>
                  <a:rPr lang="en-US" sz="2000" b="0" u="none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r>
                  <a:rPr lang="en-US" sz="2000" b="0" u="none" dirty="0">
                    <a:solidFill>
                      <a:schemeClr val="bg1">
                        <a:lumMod val="50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u="none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u="none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u="none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2000" b="0" u="none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lvl="1"/>
                <a:r>
                  <a:rPr lang="en-US" sz="2000" b="0" u="none" dirty="0">
                    <a:solidFill>
                      <a:schemeClr val="bg1">
                        <a:lumMod val="50000"/>
                      </a:schemeClr>
                    </a:solidFill>
                  </a:rPr>
                  <a:t>H</a:t>
                </a:r>
                <a:r>
                  <a:rPr lang="en-US" sz="2000" b="0" u="none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A</a:t>
                </a:r>
                <a:r>
                  <a:rPr lang="en-US" sz="2000" b="0" u="none" dirty="0">
                    <a:solidFill>
                      <a:schemeClr val="bg1">
                        <a:lumMod val="50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u="none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u="none">
                        <a:solidFill>
                          <a:schemeClr val="bg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u="none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2000" b="0" u="none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  <m:r>
                      <a:rPr lang="en-US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−.90</m:t>
                        </m:r>
                      </m:num>
                      <m:den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den>
                    </m:f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1.81</m:t>
                    </m:r>
                  </m:oMath>
                </a14:m>
                <a:endParaRPr lang="en-US" sz="2000" b="0" u="none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1-sided p-value=.035</a:t>
                </a:r>
                <a:r>
                  <a:rPr lang="en-US" sz="2000" b="0" u="none" dirty="0">
                    <a:solidFill>
                      <a:schemeClr val="bg1">
                        <a:lumMod val="50000"/>
                      </a:schemeClr>
                    </a:solidFill>
                  </a:rPr>
                  <a:t>  </a:t>
                </a:r>
              </a:p>
              <a:p>
                <a:pPr lvl="1"/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Reject because .035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.05</a:t>
                </a:r>
                <a:endParaRPr lang="en-US" sz="2000" b="0" u="none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Suppose instead we had tested </a:t>
                </a:r>
              </a:p>
              <a:p>
                <a:pPr lvl="1"/>
                <a:r>
                  <a:rPr lang="en-US" sz="2000" b="0" u="none" dirty="0">
                    <a:solidFill>
                      <a:schemeClr val="bg1">
                        <a:lumMod val="50000"/>
                      </a:schemeClr>
                    </a:solidFill>
                  </a:rPr>
                  <a:t>H</a:t>
                </a:r>
                <a:r>
                  <a:rPr lang="en-US" sz="2000" b="0" u="none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r>
                  <a:rPr lang="en-US" sz="2000" b="0" u="none" dirty="0">
                    <a:solidFill>
                      <a:schemeClr val="bg1">
                        <a:lumMod val="50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u="none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u="none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u="none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2000" b="0" u="none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lvl="1"/>
                <a:r>
                  <a:rPr lang="en-US" sz="2000" b="0" u="none" dirty="0">
                    <a:solidFill>
                      <a:schemeClr val="bg1">
                        <a:lumMod val="50000"/>
                      </a:schemeClr>
                    </a:solidFill>
                  </a:rPr>
                  <a:t>H</a:t>
                </a:r>
                <a:r>
                  <a:rPr lang="en-US" sz="2000" b="0" u="none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A</a:t>
                </a:r>
                <a:r>
                  <a:rPr lang="en-US" sz="2000" b="0" u="none" dirty="0">
                    <a:solidFill>
                      <a:schemeClr val="bg1">
                        <a:lumMod val="50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u="none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u="none" smtClean="0">
                        <a:solidFill>
                          <a:schemeClr val="bg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b="0" i="1" u="none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2000" b="0" u="none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−.90</m:t>
                        </m:r>
                      </m:num>
                      <m:den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den>
                    </m:f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1.81</m:t>
                    </m:r>
                  </m:oMath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2-sided p-value=.07  </a:t>
                </a:r>
              </a:p>
              <a:p>
                <a:pPr lvl="1"/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Can’t reject because .07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.05</a:t>
                </a:r>
              </a:p>
              <a:p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595127-5300-3459-AC7E-A08E2252AB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50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671CF-AB03-C0E5-96F3-D9629B0B66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43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65E043-BC5B-EC38-D3F1-C94E6B48C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3286" y="1234078"/>
            <a:ext cx="3208847" cy="2286316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3D25F0F-CE9F-BF8E-30C5-23E0F0587B2B}"/>
              </a:ext>
            </a:extLst>
          </p:cNvPr>
          <p:cNvCxnSpPr>
            <a:cxnSpLocks/>
          </p:cNvCxnSpPr>
          <p:nvPr/>
        </p:nvCxnSpPr>
        <p:spPr bwMode="auto">
          <a:xfrm flipH="1">
            <a:off x="4004310" y="5994400"/>
            <a:ext cx="53340" cy="30067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6DC8BD-D399-0BBC-D1B0-D30E6B9DB717}"/>
              </a:ext>
            </a:extLst>
          </p:cNvPr>
          <p:cNvCxnSpPr/>
          <p:nvPr/>
        </p:nvCxnSpPr>
        <p:spPr bwMode="auto">
          <a:xfrm>
            <a:off x="7531826" y="1427579"/>
            <a:ext cx="0" cy="198516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C9CC67-3B95-9308-E8BD-6DD3CD3C27C0}"/>
              </a:ext>
            </a:extLst>
          </p:cNvPr>
          <p:cNvSpPr txBox="1"/>
          <p:nvPr/>
        </p:nvSpPr>
        <p:spPr>
          <a:xfrm>
            <a:off x="7239919" y="1089025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0" u="none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1.65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275034-B975-A5DC-E9CC-27C5017088C4}"/>
              </a:ext>
            </a:extLst>
          </p:cNvPr>
          <p:cNvSpPr txBox="1"/>
          <p:nvPr/>
        </p:nvSpPr>
        <p:spPr>
          <a:xfrm>
            <a:off x="5907101" y="1308880"/>
            <a:ext cx="1359612" cy="138499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31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lvl="1" indent="0">
              <a:buNone/>
            </a:pPr>
            <a:r>
              <a:rPr lang="en-US" sz="1050" b="0" u="none" dirty="0">
                <a:solidFill>
                  <a:schemeClr val="accent6"/>
                </a:solidFill>
                <a:latin typeface="+mj-lt"/>
              </a:rPr>
              <a:t>The 95% critical value for a 1-sided t-test is 1.65, because that value puts 5% in the tail. It is not 1.96 because 1.96 is for 2.5% in the tail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45BA35-3726-2CFB-501F-9AB42CF55B0C}"/>
              </a:ext>
            </a:extLst>
          </p:cNvPr>
          <p:cNvCxnSpPr/>
          <p:nvPr/>
        </p:nvCxnSpPr>
        <p:spPr bwMode="auto">
          <a:xfrm>
            <a:off x="7781289" y="4286414"/>
            <a:ext cx="0" cy="198516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51405F-E69B-E3D4-61DF-180753011E02}"/>
              </a:ext>
            </a:extLst>
          </p:cNvPr>
          <p:cNvSpPr txBox="1"/>
          <p:nvPr/>
        </p:nvSpPr>
        <p:spPr>
          <a:xfrm>
            <a:off x="7489382" y="3947860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0" u="none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1.96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F3DCCA-1696-3E5B-6CFD-DCDF984C6B4E}"/>
              </a:ext>
            </a:extLst>
          </p:cNvPr>
          <p:cNvCxnSpPr/>
          <p:nvPr/>
        </p:nvCxnSpPr>
        <p:spPr bwMode="auto">
          <a:xfrm>
            <a:off x="6614668" y="4286414"/>
            <a:ext cx="0" cy="198516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CBB9AAB-17A8-7898-D896-2E22D1CD87FA}"/>
              </a:ext>
            </a:extLst>
          </p:cNvPr>
          <p:cNvSpPr txBox="1"/>
          <p:nvPr/>
        </p:nvSpPr>
        <p:spPr>
          <a:xfrm>
            <a:off x="6322761" y="3947860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0" u="none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1.96</a:t>
            </a:r>
          </a:p>
        </p:txBody>
      </p:sp>
    </p:spTree>
    <p:extLst>
      <p:ext uri="{BB962C8B-B14F-4D97-AF65-F5344CB8AC3E}">
        <p14:creationId xmlns:p14="http://schemas.microsoft.com/office/powerpoint/2010/main" val="275647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F7E74E0-F6F6-475D-8DFB-80BEC82261A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More 1- vs 2-Sided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i="0" dirty="0">
                    <a:latin typeface="+mj-lt"/>
                  </a:rPr>
                  <a:t>-test</a:t>
                </a:r>
                <a:r>
                  <a:rPr lang="en-US" b="0" i="0" dirty="0">
                    <a:latin typeface="+mj-lt"/>
                  </a:rPr>
                  <a:t>s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F7E74E0-F6F6-475D-8DFB-80BEC82261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31C13-4F71-4D15-B01A-D53C6A35E2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Another way to think about 1- vs 2-sided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i="0" dirty="0">
                    <a:latin typeface="+mj-lt"/>
                  </a:rPr>
                  <a:t>-tests</a:t>
                </a:r>
                <a:endParaRPr lang="en-US" dirty="0"/>
              </a:p>
              <a:p>
                <a:pPr lvl="1"/>
                <a:r>
                  <a:rPr lang="en-US" dirty="0"/>
                  <a:t>When we choose a significance level of 5%, we are saying we are ok with reaching the wrong conclusion 5% of the time </a:t>
                </a:r>
              </a:p>
              <a:p>
                <a:pPr lvl="1"/>
                <a:r>
                  <a:rPr lang="en-US" dirty="0"/>
                  <a:t>But how do you allocate that 5%? </a:t>
                </a:r>
              </a:p>
              <a:p>
                <a:pPr lvl="1"/>
                <a:r>
                  <a:rPr lang="en-US" dirty="0"/>
                  <a:t>For </a:t>
                </a:r>
                <a:r>
                  <a:rPr lang="en-US" dirty="0">
                    <a:solidFill>
                      <a:schemeClr val="accent6"/>
                    </a:solidFill>
                  </a:rPr>
                  <a:t>H</a:t>
                </a:r>
                <a:r>
                  <a:rPr lang="en-US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, you allow for the possibility that the true value could be </a:t>
                </a:r>
                <a:r>
                  <a:rPr lang="en-US" u="sng" dirty="0">
                    <a:solidFill>
                      <a:schemeClr val="accent6"/>
                    </a:solidFill>
                  </a:rPr>
                  <a:t>above or below</a:t>
                </a:r>
                <a:r>
                  <a:rPr lang="en-US" dirty="0">
                    <a:solidFill>
                      <a:schemeClr val="accent6"/>
                    </a:solidFill>
                  </a:rPr>
                  <a:t> 0.90. So you put 2.5% wrong in each direction. Need a large </a:t>
                </a:r>
                <a:r>
                  <a:rPr lang="en-US" i="1" dirty="0">
                    <a:solidFill>
                      <a:schemeClr val="accent6"/>
                    </a:solidFill>
                  </a:rPr>
                  <a:t>t</a:t>
                </a:r>
                <a:r>
                  <a:rPr lang="en-US" dirty="0">
                    <a:solidFill>
                      <a:schemeClr val="accent6"/>
                    </a:solidFill>
                  </a:rPr>
                  <a:t>-stat to reject</a:t>
                </a:r>
              </a:p>
              <a:p>
                <a:pPr lvl="1"/>
                <a:r>
                  <a:rPr lang="en-US" dirty="0"/>
                  <a:t>For </a:t>
                </a:r>
                <a:r>
                  <a:rPr lang="en-US" dirty="0">
                    <a:solidFill>
                      <a:schemeClr val="accent6"/>
                    </a:solidFill>
                  </a:rPr>
                  <a:t>H</a:t>
                </a:r>
                <a:r>
                  <a:rPr lang="en-US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, whole 5% in the right tail. Need smaller </a:t>
                </a:r>
                <a:r>
                  <a:rPr lang="en-US" i="1" dirty="0">
                    <a:solidFill>
                      <a:schemeClr val="accent6"/>
                    </a:solidFill>
                  </a:rPr>
                  <a:t>t</a:t>
                </a:r>
                <a:r>
                  <a:rPr lang="en-US" dirty="0">
                    <a:solidFill>
                      <a:schemeClr val="accent6"/>
                    </a:solidFill>
                  </a:rPr>
                  <a:t>-stat to be convinced null is wrong </a:t>
                </a:r>
              </a:p>
              <a:p>
                <a:pPr lvl="1"/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Note 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that we computed in slide deck 1 are for </a:t>
                </a:r>
                <a:r>
                  <a:rPr lang="en-US" u="sng" dirty="0">
                    <a:solidFill>
                      <a:schemeClr val="accent6"/>
                    </a:solidFill>
                  </a:rPr>
                  <a:t>2-sided</a:t>
                </a:r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-test</a:t>
                </a:r>
                <a:endParaRPr lang="en-US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For 1-sided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, see next slide (optional; if you want)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31C13-4F71-4D15-B01A-D53C6A35E2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50" t="-529" r="-1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DF406-564A-481E-8C31-49FEDD202B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44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209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3988A6-06E6-FD74-F17C-4664D931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8404AF5-5572-883C-9741-54D1A08B8D5D}"/>
              </a:ext>
            </a:extLst>
          </p:cNvPr>
          <p:cNvSpPr/>
          <p:nvPr/>
        </p:nvSpPr>
        <p:spPr bwMode="auto">
          <a:xfrm>
            <a:off x="5195521" y="3225800"/>
            <a:ext cx="1884729" cy="850900"/>
          </a:xfrm>
          <a:custGeom>
            <a:avLst/>
            <a:gdLst>
              <a:gd name="connsiteX0" fmla="*/ 49579 w 1884729"/>
              <a:gd name="connsiteY0" fmla="*/ 850900 h 850900"/>
              <a:gd name="connsiteX1" fmla="*/ 233729 w 1884729"/>
              <a:gd name="connsiteY1" fmla="*/ 285750 h 850900"/>
              <a:gd name="connsiteX2" fmla="*/ 1884729 w 1884729"/>
              <a:gd name="connsiteY2" fmla="*/ 0 h 85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84729" h="850900">
                <a:moveTo>
                  <a:pt x="49579" y="850900"/>
                </a:moveTo>
                <a:cubicBezTo>
                  <a:pt x="-11275" y="639233"/>
                  <a:pt x="-72129" y="427567"/>
                  <a:pt x="233729" y="285750"/>
                </a:cubicBezTo>
                <a:cubicBezTo>
                  <a:pt x="539587" y="143933"/>
                  <a:pt x="1212158" y="71966"/>
                  <a:pt x="1884729" y="0"/>
                </a:cubicBezTo>
              </a:path>
            </a:pathLst>
          </a:custGeom>
          <a:noFill/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097167-10AD-93F0-42EA-419BA6AACAEC}"/>
                  </a:ext>
                </a:extLst>
              </p:cNvPr>
              <p:cNvSpPr txBox="1"/>
              <p:nvPr/>
            </p:nvSpPr>
            <p:spPr>
              <a:xfrm>
                <a:off x="7145734" y="1255005"/>
                <a:ext cx="1799035" cy="8331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200" b="0" u="none" dirty="0">
                    <a:solidFill>
                      <a:schemeClr val="accent6"/>
                    </a:solidFill>
                    <a:cs typeface="Arial" pitchFamily="34" charset="0"/>
                  </a:rPr>
                  <a:t>2-sided </a:t>
                </a:r>
                <a14:m>
                  <m:oMath xmlns:m="http://schemas.openxmlformats.org/officeDocument/2006/math">
                    <m:r>
                      <a:rPr lang="en-US" sz="12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𝐶</m:t>
                    </m:r>
                    <m:sSup>
                      <m:sSupPr>
                        <m:ctrlPr>
                          <a:rPr lang="en-US" sz="12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sz="12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𝐼</m:t>
                        </m:r>
                      </m:e>
                      <m:sup>
                        <m:r>
                          <a:rPr lang="en-US" sz="12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  <a:cs typeface="Arial" pitchFamily="34" charset="0"/>
                  </a:rPr>
                  <a:t> includes .90, so cannot reject .90 at the 95 percent level</a:t>
                </a:r>
                <a:endParaRPr lang="en-US" sz="1200" b="0" u="none" dirty="0">
                  <a:solidFill>
                    <a:schemeClr val="accent6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097167-10AD-93F0-42EA-419BA6AAC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734" y="1255005"/>
                <a:ext cx="1799035" cy="833113"/>
              </a:xfrm>
              <a:prstGeom prst="rect">
                <a:avLst/>
              </a:prstGeom>
              <a:blipFill>
                <a:blip r:embed="rId2"/>
                <a:stretch>
                  <a:fillRect t="-725" b="-3623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105BE552-ACF1-678D-89FA-982EF8923AB5}"/>
              </a:ext>
            </a:extLst>
          </p:cNvPr>
          <p:cNvSpPr/>
          <p:nvPr/>
        </p:nvSpPr>
        <p:spPr bwMode="auto">
          <a:xfrm>
            <a:off x="4648200" y="3073400"/>
            <a:ext cx="958850" cy="279400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4D5E5E4-7F8A-6E93-302B-52CC1E2A2DB8}"/>
              </a:ext>
            </a:extLst>
          </p:cNvPr>
          <p:cNvSpPr/>
          <p:nvPr/>
        </p:nvSpPr>
        <p:spPr bwMode="auto">
          <a:xfrm>
            <a:off x="5613400" y="1428750"/>
            <a:ext cx="1479550" cy="1771650"/>
          </a:xfrm>
          <a:custGeom>
            <a:avLst/>
            <a:gdLst>
              <a:gd name="connsiteX0" fmla="*/ 0 w 1479550"/>
              <a:gd name="connsiteY0" fmla="*/ 1771650 h 1771650"/>
              <a:gd name="connsiteX1" fmla="*/ 711200 w 1479550"/>
              <a:gd name="connsiteY1" fmla="*/ 603250 h 1771650"/>
              <a:gd name="connsiteX2" fmla="*/ 1479550 w 1479550"/>
              <a:gd name="connsiteY2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9550" h="1771650">
                <a:moveTo>
                  <a:pt x="0" y="1771650"/>
                </a:moveTo>
                <a:cubicBezTo>
                  <a:pt x="232304" y="1335087"/>
                  <a:pt x="464608" y="898525"/>
                  <a:pt x="711200" y="603250"/>
                </a:cubicBezTo>
                <a:cubicBezTo>
                  <a:pt x="957792" y="307975"/>
                  <a:pt x="1218671" y="153987"/>
                  <a:pt x="1479550" y="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FD768B-BB72-84E1-9FEE-DD1C9B0E634A}"/>
              </a:ext>
            </a:extLst>
          </p:cNvPr>
          <p:cNvSpPr/>
          <p:nvPr/>
        </p:nvSpPr>
        <p:spPr bwMode="auto">
          <a:xfrm>
            <a:off x="4673600" y="5910263"/>
            <a:ext cx="812800" cy="279400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A3BC4A-CC68-DCEF-5CAA-7C130F4ED9AC}"/>
              </a:ext>
            </a:extLst>
          </p:cNvPr>
          <p:cNvSpPr/>
          <p:nvPr/>
        </p:nvSpPr>
        <p:spPr bwMode="auto">
          <a:xfrm>
            <a:off x="4940300" y="4000500"/>
            <a:ext cx="469900" cy="279400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0A502-E287-C5EF-5443-83E2288DFD08}"/>
              </a:ext>
            </a:extLst>
          </p:cNvPr>
          <p:cNvSpPr/>
          <p:nvPr/>
        </p:nvSpPr>
        <p:spPr bwMode="auto">
          <a:xfrm>
            <a:off x="7129279" y="3009901"/>
            <a:ext cx="1809140" cy="18034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FB87E4-4C7E-29DF-00D8-F220E6ECE4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6"/>
                    </a:solidFill>
                  </a:rPr>
                  <a:t>1-sided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Corresponding to 1-sided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𝑡𝑒𝑠𝑡</m:t>
                    </m:r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FB87E4-4C7E-29DF-00D8-F220E6ECE4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2D26C-5F82-C98E-BD80-67B9C915D9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01517" y="6272213"/>
            <a:ext cx="383746" cy="476250"/>
          </a:xfrm>
        </p:spPr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45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6E891B-FAA0-5C00-3A61-AFC84AE507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95203"/>
                <a:ext cx="8437562" cy="5768975"/>
              </a:xfrm>
            </p:spPr>
            <p:txBody>
              <a:bodyPr/>
              <a:lstStyle/>
              <a:p>
                <a:r>
                  <a:rPr lang="en-US" sz="1600" dirty="0">
                    <a:solidFill>
                      <a:schemeClr val="accent6"/>
                    </a:solidFill>
                  </a:rPr>
                  <a:t>Your hypothesis test</a:t>
                </a:r>
              </a:p>
              <a:p>
                <a:pPr lvl="1"/>
                <a:r>
                  <a:rPr lang="en-US" sz="16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600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1600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sz="16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600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.90</m:t>
                    </m:r>
                  </m:oMath>
                </a14:m>
                <a:endParaRPr lang="en-US" sz="1600" dirty="0">
                  <a:solidFill>
                    <a:schemeClr val="accent6"/>
                  </a:solidFill>
                </a:endParaRPr>
              </a:p>
              <a:p>
                <a:endParaRPr lang="en-US" sz="1600" dirty="0"/>
              </a:p>
              <a:p>
                <a:r>
                  <a:rPr lang="en-US" sz="1600" dirty="0"/>
                  <a:t>Two-sided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CI</m:t>
                        </m:r>
                      </m:e>
                      <m:sup>
                        <m:r>
                          <a:rPr lang="en-US" sz="1600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endParaRPr lang="en-US" sz="1600" b="0" i="0" dirty="0">
                  <a:solidFill>
                    <a:schemeClr val="accent6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𝑃𝑟𝑜𝑏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−1.96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sz="1600" i="1" dirty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̅"/>
                                  <m:ctrlPr>
                                    <a:rPr lang="en-US" sz="16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16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sz="1600" i="1" dirty="0">
                                  <a:solidFill>
                                    <a:srgbClr val="EB97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𝑆𝑡𝑑</m:t>
                              </m:r>
                              <m:r>
                                <a:rPr lang="en-US" sz="1600" i="1" dirty="0">
                                  <a:solidFill>
                                    <a:srgbClr val="EB97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 dirty="0">
                                  <a:solidFill>
                                    <a:srgbClr val="EB97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</m:t>
                              </m:r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6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den>
                          </m:f>
                          <m:r>
                            <a:rPr lang="en-US" sz="16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1.96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=.95</m:t>
                      </m:r>
                    </m:oMath>
                  </m:oMathPara>
                </a14:m>
                <a:endParaRPr lang="en-US" sz="1600" b="0" i="1" dirty="0">
                  <a:solidFill>
                    <a:schemeClr val="accent6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𝑠𝑖𝑑𝑒𝑑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95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 =[</m:t>
                      </m:r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.898, .942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160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1600" dirty="0"/>
                  <a:t>For one-sided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CI</m:t>
                        </m:r>
                      </m:e>
                      <m:sup>
                        <m:r>
                          <a:rPr lang="en-US" sz="16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sz="1600" dirty="0"/>
                  <a:t>, put all the probability on one side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𝑃𝑟𝑜𝑏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i="1" dirty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̅"/>
                                  <m:ctrlPr>
                                    <a:rPr lang="en-US" sz="16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160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sz="1600" i="1" dirty="0">
                                  <a:solidFill>
                                    <a:srgbClr val="EB97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𝑆𝑡𝑑</m:t>
                              </m:r>
                              <m:r>
                                <a:rPr lang="en-US" sz="1600" i="1" dirty="0">
                                  <a:solidFill>
                                    <a:srgbClr val="EB97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 dirty="0">
                                  <a:solidFill>
                                    <a:srgbClr val="EB97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</m:t>
                              </m:r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6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den>
                          </m:f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1.65</m:t>
                          </m:r>
                        </m:e>
                      </m:d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=.95</m:t>
                      </m:r>
                    </m:oMath>
                  </m:oMathPara>
                </a14:m>
                <a:endParaRPr lang="en-US" sz="160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𝑃𝑟𝑜𝑏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16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≤1.6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5∗</m:t>
                          </m:r>
                          <m:r>
                            <a:rPr lang="en-US" sz="1600" i="1" dirty="0">
                              <a:solidFill>
                                <a:srgbClr val="EB97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𝑆𝑡𝑑</m:t>
                          </m:r>
                          <m:r>
                            <a:rPr lang="en-US" sz="1600" i="1" dirty="0">
                              <a:solidFill>
                                <a:srgbClr val="EB97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dirty="0">
                              <a:solidFill>
                                <a:srgbClr val="EB97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𝐸𝑟𝑟</m:t>
                          </m:r>
                          <m:d>
                            <m:dPr>
                              <m:ctrlPr>
                                <a:rPr lang="en-US" sz="1600" i="1" dirty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sz="16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=.95</m:t>
                      </m:r>
                    </m:oMath>
                  </m:oMathPara>
                </a14:m>
                <a:endParaRPr lang="en-US" sz="160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𝑃𝑟𝑜𝑏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1.6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600" i="1" dirty="0">
                              <a:solidFill>
                                <a:srgbClr val="EB97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𝑆𝑡𝑑</m:t>
                          </m:r>
                          <m:r>
                            <a:rPr lang="en-US" sz="1600" i="1" dirty="0">
                              <a:solidFill>
                                <a:srgbClr val="EB97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dirty="0">
                              <a:solidFill>
                                <a:srgbClr val="EB97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𝐸𝑟𝑟</m:t>
                          </m:r>
                          <m:d>
                            <m:dPr>
                              <m:ctrlPr>
                                <a:rPr lang="en-US" sz="1600" i="1" dirty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sz="16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=.95</m:t>
                      </m:r>
                    </m:oMath>
                  </m:oMathPara>
                </a14:m>
                <a:endParaRPr lang="en-US" sz="160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𝑃𝑟𝑜𝑏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1.6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600" i="1" dirty="0">
                              <a:solidFill>
                                <a:srgbClr val="EB97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𝑆𝑡𝑑</m:t>
                          </m:r>
                          <m:r>
                            <a:rPr lang="en-US" sz="1600" i="1" dirty="0">
                              <a:solidFill>
                                <a:srgbClr val="EB97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dirty="0">
                              <a:solidFill>
                                <a:srgbClr val="EB971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𝐸𝑟𝑟</m:t>
                          </m:r>
                          <m:d>
                            <m:dPr>
                              <m:ctrlPr>
                                <a:rPr lang="en-US" sz="1600" i="1" dirty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sz="16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=.95</m:t>
                      </m:r>
                    </m:oMath>
                  </m:oMathPara>
                </a14:m>
                <a:endParaRPr lang="en-US" sz="160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Sup>
                      <m:sSubSupPr>
                        <m:ctrlP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𝑠𝑖𝑑𝑒𝑑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bSup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1.6</m:t>
                    </m:r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600" i="1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𝑆𝑡𝑑</m:t>
                    </m:r>
                    <m:r>
                      <a:rPr lang="en-US" sz="1600" i="1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sz="16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∞)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Sup>
                      <m:sSubSupPr>
                        <m:ctrlP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𝑠𝑖𝑑𝑒𝑑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bSup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.92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1.6</m:t>
                    </m:r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600" b="0" i="1" dirty="0" smtClean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.011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∞)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Sup>
                      <m:sSubSupPr>
                        <m:ctrlP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𝑠𝑖𝑑𝑒𝑑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bSup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902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∞)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ctr">
                  <a:buNone/>
                </a:pPr>
                <a:endParaRPr lang="en-US" sz="1600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6E891B-FAA0-5C00-3A61-AFC84AE507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95203"/>
                <a:ext cx="8437562" cy="5768975"/>
              </a:xfrm>
              <a:blipFill>
                <a:blip r:embed="rId4"/>
                <a:stretch>
                  <a:fillRect l="-289" t="-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CA9A880-E3A5-FF76-B7D5-7102DF2CF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5629" y="3511550"/>
            <a:ext cx="1799035" cy="129857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018457-E9B1-5892-4E22-57707B60AE21}"/>
              </a:ext>
            </a:extLst>
          </p:cNvPr>
          <p:cNvSpPr txBox="1"/>
          <p:nvPr/>
        </p:nvSpPr>
        <p:spPr>
          <a:xfrm>
            <a:off x="7145734" y="3009900"/>
            <a:ext cx="1799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0" u="none" dirty="0">
                <a:solidFill>
                  <a:schemeClr val="accent6"/>
                </a:solidFill>
                <a:cs typeface="Arial" pitchFamily="34" charset="0"/>
              </a:rPr>
              <a:t>Use 1.65 because you want all 5% in one tail!</a:t>
            </a:r>
            <a:endParaRPr lang="en-US" sz="1200" b="0" u="none" dirty="0">
              <a:solidFill>
                <a:schemeClr val="accent6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69BD8-F217-70A7-34D1-29C95ABC0C34}"/>
                  </a:ext>
                </a:extLst>
              </p:cNvPr>
              <p:cNvSpPr txBox="1"/>
              <p:nvPr/>
            </p:nvSpPr>
            <p:spPr>
              <a:xfrm>
                <a:off x="7135629" y="5240213"/>
                <a:ext cx="1799035" cy="120244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200" b="0" u="none" dirty="0">
                    <a:solidFill>
                      <a:schemeClr val="accent6"/>
                    </a:solidFill>
                    <a:cs typeface="Arial" pitchFamily="34" charset="0"/>
                  </a:rPr>
                  <a:t>1-sided </a:t>
                </a:r>
                <a14:m>
                  <m:oMath xmlns:m="http://schemas.openxmlformats.org/officeDocument/2006/math">
                    <m:r>
                      <a:rPr lang="en-US" sz="12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𝐶</m:t>
                    </m:r>
                    <m:sSup>
                      <m:sSupPr>
                        <m:ctrlPr>
                          <a:rPr lang="en-US" sz="12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sz="12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𝐼</m:t>
                        </m:r>
                      </m:e>
                      <m:sup>
                        <m:r>
                          <a:rPr lang="en-US" sz="1200" b="0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  <a:cs typeface="Arial" pitchFamily="34" charset="0"/>
                  </a:rPr>
                  <a:t> does not contain .90, so observed .92 is significantly different from .90 at the 95 percent level</a:t>
                </a:r>
                <a:endParaRPr lang="en-US" sz="1200" b="0" u="none" dirty="0">
                  <a:solidFill>
                    <a:schemeClr val="accent6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69BD8-F217-70A7-34D1-29C95ABC0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629" y="5240213"/>
                <a:ext cx="1799035" cy="1202445"/>
              </a:xfrm>
              <a:prstGeom prst="rect">
                <a:avLst/>
              </a:prstGeom>
              <a:blipFill>
                <a:blip r:embed="rId6"/>
                <a:stretch>
                  <a:fillRect l="-338" t="-505" b="-2525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B57EDF6-E65E-1787-E152-1561C5368BFB}"/>
              </a:ext>
            </a:extLst>
          </p:cNvPr>
          <p:cNvSpPr/>
          <p:nvPr/>
        </p:nvSpPr>
        <p:spPr bwMode="auto">
          <a:xfrm>
            <a:off x="5486400" y="5403850"/>
            <a:ext cx="1581150" cy="677207"/>
          </a:xfrm>
          <a:custGeom>
            <a:avLst/>
            <a:gdLst>
              <a:gd name="connsiteX0" fmla="*/ 0 w 1581150"/>
              <a:gd name="connsiteY0" fmla="*/ 635000 h 677207"/>
              <a:gd name="connsiteX1" fmla="*/ 863600 w 1581150"/>
              <a:gd name="connsiteY1" fmla="*/ 609600 h 677207"/>
              <a:gd name="connsiteX2" fmla="*/ 1581150 w 1581150"/>
              <a:gd name="connsiteY2" fmla="*/ 0 h 677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1150" h="677207">
                <a:moveTo>
                  <a:pt x="0" y="635000"/>
                </a:moveTo>
                <a:cubicBezTo>
                  <a:pt x="300037" y="675216"/>
                  <a:pt x="600075" y="715433"/>
                  <a:pt x="863600" y="609600"/>
                </a:cubicBezTo>
                <a:cubicBezTo>
                  <a:pt x="1127125" y="503767"/>
                  <a:pt x="1354137" y="251883"/>
                  <a:pt x="1581150" y="0"/>
                </a:cubicBezTo>
              </a:path>
            </a:pathLst>
          </a:custGeom>
          <a:noFill/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1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  <p:bldP spid="18" grpId="0" animBg="1"/>
      <p:bldP spid="13" grpId="0" animBg="1"/>
      <p:bldP spid="11" grpId="0" animBg="1"/>
      <p:bldP spid="10" grpId="0" animBg="1"/>
      <p:bldP spid="3" grpId="0" uiExpand="1" build="p"/>
      <p:bldP spid="9" grpId="0"/>
      <p:bldP spid="14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C6DE56-3B47-C1E4-EBC5-CEEAEF9ED686}"/>
              </a:ext>
            </a:extLst>
          </p:cNvPr>
          <p:cNvSpPr/>
          <p:nvPr/>
        </p:nvSpPr>
        <p:spPr bwMode="auto">
          <a:xfrm>
            <a:off x="4565650" y="6196075"/>
            <a:ext cx="539750" cy="279400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F9A4FAA-CAF3-1876-6BB8-A61C86D9D7A5}"/>
              </a:ext>
            </a:extLst>
          </p:cNvPr>
          <p:cNvSpPr/>
          <p:nvPr/>
        </p:nvSpPr>
        <p:spPr bwMode="auto">
          <a:xfrm>
            <a:off x="5105400" y="5689662"/>
            <a:ext cx="1581150" cy="677207"/>
          </a:xfrm>
          <a:custGeom>
            <a:avLst/>
            <a:gdLst>
              <a:gd name="connsiteX0" fmla="*/ 0 w 1581150"/>
              <a:gd name="connsiteY0" fmla="*/ 635000 h 677207"/>
              <a:gd name="connsiteX1" fmla="*/ 863600 w 1581150"/>
              <a:gd name="connsiteY1" fmla="*/ 609600 h 677207"/>
              <a:gd name="connsiteX2" fmla="*/ 1581150 w 1581150"/>
              <a:gd name="connsiteY2" fmla="*/ 0 h 677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1150" h="677207">
                <a:moveTo>
                  <a:pt x="0" y="635000"/>
                </a:moveTo>
                <a:cubicBezTo>
                  <a:pt x="300037" y="675216"/>
                  <a:pt x="600075" y="715433"/>
                  <a:pt x="863600" y="609600"/>
                </a:cubicBezTo>
                <a:cubicBezTo>
                  <a:pt x="1127125" y="503767"/>
                  <a:pt x="1354137" y="251883"/>
                  <a:pt x="1581150" y="0"/>
                </a:cubicBezTo>
              </a:path>
            </a:pathLst>
          </a:custGeom>
          <a:noFill/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BC4F1-0D4A-4E82-BB1F-8689AE458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Emissions Compliance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3A828A-DE5A-4275-A233-EA08184491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Your boss responds to your test by saying she’d like to do another test with a tighter margin of error, of </a:t>
                </a:r>
                <a:r>
                  <a:rPr lang="en-US" dirty="0">
                    <a:solidFill>
                      <a:srgbClr val="00B050"/>
                    </a:solidFill>
                  </a:rPr>
                  <a:t>.01</a:t>
                </a:r>
                <a:r>
                  <a:rPr lang="en-US" dirty="0">
                    <a:solidFill>
                      <a:schemeClr val="accent6"/>
                    </a:solidFill>
                  </a:rPr>
                  <a:t>, </a:t>
                </a:r>
                <a:r>
                  <a:rPr lang="en-US" dirty="0"/>
                  <a:t>before moving forward </a:t>
                </a:r>
                <a:endParaRPr lang="en-US" dirty="0">
                  <a:solidFill>
                    <a:srgbClr val="00B050"/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What sample size do you need to get that margin of error?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Margin of Error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1.96∗</m:t>
                    </m:r>
                    <m:r>
                      <a:rPr lang="en-US" i="1">
                        <a:solidFill>
                          <a:srgbClr val="EB971B"/>
                        </a:solidFill>
                        <a:latin typeface="Cambria Math" panose="02040503050406030204" pitchFamily="18" charset="0"/>
                      </a:rPr>
                      <m:t>𝑆𝑡𝑑</m:t>
                    </m:r>
                    <m:r>
                      <a:rPr lang="en-US" i="1">
                        <a:solidFill>
                          <a:srgbClr val="EB97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EB971B"/>
                        </a:solidFill>
                        <a:latin typeface="Cambria Math" panose="02040503050406030204" pitchFamily="18" charset="0"/>
                      </a:rPr>
                      <m:t>𝐸𝑟𝑟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=1.96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b="0" i="1" u="none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u="none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=.022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We don’t know what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n-US" dirty="0"/>
                  <a:t> will be with a new sample, but if we assume it will be the same as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dirty="0"/>
                  <a:t>,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such that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1.96∗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sz="18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.01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1.96∗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num>
                      <m:den>
                        <m:r>
                          <a:rPr 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.01</m:t>
                        </m:r>
                      </m:den>
                    </m:f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 lang="en-US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1.96∗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.11</m:t>
                        </m:r>
                      </m:num>
                      <m:den>
                        <m:r>
                          <a:rPr lang="en-US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.01</m:t>
                        </m:r>
                      </m:den>
                    </m:f>
                  </m:oMath>
                </a14:m>
                <a:r>
                  <a:rPr lang="en-US" sz="1800" dirty="0"/>
                  <a:t>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=21.56</m:t>
                      </m:r>
                    </m:oMath>
                  </m:oMathPara>
                </a14:m>
                <a:endParaRPr lang="en-US" sz="1800" baseline="30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=465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3A828A-DE5A-4275-A233-EA08184491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0" t="-529" r="-14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056AA-962B-41CC-809F-C863D290B1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46</a:t>
            </a:fld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370B5D-E9C8-9B58-1FEA-B4DCF44FF6AF}"/>
              </a:ext>
            </a:extLst>
          </p:cNvPr>
          <p:cNvSpPr/>
          <p:nvPr/>
        </p:nvSpPr>
        <p:spPr bwMode="auto">
          <a:xfrm>
            <a:off x="5044440" y="2933700"/>
            <a:ext cx="1051560" cy="495300"/>
          </a:xfrm>
          <a:prstGeom prst="rect">
            <a:avLst/>
          </a:prstGeom>
          <a:noFill/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1B77F6-B471-98C5-08DB-0A8A42A2D2F5}"/>
              </a:ext>
            </a:extLst>
          </p:cNvPr>
          <p:cNvSpPr/>
          <p:nvPr/>
        </p:nvSpPr>
        <p:spPr bwMode="auto">
          <a:xfrm>
            <a:off x="3705074" y="4480983"/>
            <a:ext cx="1051560" cy="495300"/>
          </a:xfrm>
          <a:prstGeom prst="rect">
            <a:avLst/>
          </a:prstGeom>
          <a:noFill/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D66E38-3CF1-1517-C966-C098647C1D49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 bwMode="auto">
          <a:xfrm flipH="1">
            <a:off x="4230854" y="3429000"/>
            <a:ext cx="1339366" cy="1051983"/>
          </a:xfrm>
          <a:prstGeom prst="straightConnector1">
            <a:avLst/>
          </a:prstGeom>
          <a:solidFill>
            <a:schemeClr val="accent1"/>
          </a:solidFill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AB41C80-3197-F61E-FF22-4D436B0015D5}"/>
              </a:ext>
            </a:extLst>
          </p:cNvPr>
          <p:cNvSpPr/>
          <p:nvPr/>
        </p:nvSpPr>
        <p:spPr bwMode="auto">
          <a:xfrm>
            <a:off x="4381607" y="1465360"/>
            <a:ext cx="340614" cy="275844"/>
          </a:xfrm>
          <a:prstGeom prst="rect">
            <a:avLst/>
          </a:prstGeom>
          <a:noFill/>
          <a:ln w="31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F10A29-AD96-6C76-B484-604AEEEFE588}"/>
              </a:ext>
            </a:extLst>
          </p:cNvPr>
          <p:cNvSpPr/>
          <p:nvPr/>
        </p:nvSpPr>
        <p:spPr bwMode="auto">
          <a:xfrm>
            <a:off x="4991100" y="4590711"/>
            <a:ext cx="340614" cy="275844"/>
          </a:xfrm>
          <a:prstGeom prst="rect">
            <a:avLst/>
          </a:prstGeom>
          <a:noFill/>
          <a:ln w="31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E31BBC-F9F9-419E-9977-FA732F5DB6C4}"/>
              </a:ext>
            </a:extLst>
          </p:cNvPr>
          <p:cNvSpPr txBox="1"/>
          <p:nvPr/>
        </p:nvSpPr>
        <p:spPr>
          <a:xfrm>
            <a:off x="727590" y="4631044"/>
            <a:ext cx="1600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0" u="none" dirty="0">
                <a:solidFill>
                  <a:schemeClr val="bg1">
                    <a:lumMod val="50000"/>
                  </a:schemeClr>
                </a:solidFill>
                <a:cs typeface="Arial" pitchFamily="34" charset="0"/>
              </a:rPr>
              <a:t>replace .022 with .01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6F0C88-E699-4D92-B14A-2A781531C548}"/>
                  </a:ext>
                </a:extLst>
              </p:cNvPr>
              <p:cNvSpPr txBox="1"/>
              <p:nvPr/>
            </p:nvSpPr>
            <p:spPr>
              <a:xfrm>
                <a:off x="727590" y="5050144"/>
                <a:ext cx="1899366" cy="387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0" u="none" dirty="0">
                    <a:solidFill>
                      <a:schemeClr val="bg1">
                        <a:lumMod val="50000"/>
                      </a:schemeClr>
                    </a:solidFill>
                    <a:cs typeface="Arial" pitchFamily="34" charset="0"/>
                  </a:rPr>
                  <a:t>multiply both sides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u="none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2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num>
                      <m:den>
                        <m:r>
                          <a:rPr lang="en-US" sz="1200" i="1" u="none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.01</m:t>
                        </m:r>
                      </m:den>
                    </m:f>
                  </m:oMath>
                </a14:m>
                <a:r>
                  <a:rPr lang="en-US" sz="1200" u="none" dirty="0"/>
                  <a:t> </a:t>
                </a:r>
                <a:endParaRPr lang="en-US" sz="1200" b="0" u="none" dirty="0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6F0C88-E699-4D92-B14A-2A781531C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90" y="5050144"/>
                <a:ext cx="1899366" cy="3878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143D09-ED84-4B53-8C06-8D9DD9208E6C}"/>
                  </a:ext>
                </a:extLst>
              </p:cNvPr>
              <p:cNvSpPr txBox="1"/>
              <p:nvPr/>
            </p:nvSpPr>
            <p:spPr>
              <a:xfrm>
                <a:off x="727590" y="5516369"/>
                <a:ext cx="16648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0" u="none" dirty="0">
                    <a:solidFill>
                      <a:schemeClr val="bg1">
                        <a:lumMod val="50000"/>
                      </a:schemeClr>
                    </a:solidFill>
                    <a:cs typeface="Arial" pitchFamily="34" charset="0"/>
                  </a:rPr>
                  <a:t>sub in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n-US" sz="1200" b="0" u="none" dirty="0">
                    <a:solidFill>
                      <a:schemeClr val="bg1">
                        <a:lumMod val="50000"/>
                      </a:schemeClr>
                    </a:solidFill>
                    <a:cs typeface="Arial" pitchFamily="34" charset="0"/>
                  </a:rPr>
                  <a:t> from first test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143D09-ED84-4B53-8C06-8D9DD9208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90" y="5516369"/>
                <a:ext cx="1664815" cy="276999"/>
              </a:xfrm>
              <a:prstGeom prst="rect">
                <a:avLst/>
              </a:prstGeom>
              <a:blipFill>
                <a:blip r:embed="rId4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40E2847-FB26-4ACE-9DDC-5AD57AE945D6}"/>
              </a:ext>
            </a:extLst>
          </p:cNvPr>
          <p:cNvSpPr/>
          <p:nvPr/>
        </p:nvSpPr>
        <p:spPr bwMode="auto">
          <a:xfrm rot="21393934">
            <a:off x="4926841" y="1741204"/>
            <a:ext cx="1863211" cy="2849507"/>
          </a:xfrm>
          <a:custGeom>
            <a:avLst/>
            <a:gdLst>
              <a:gd name="connsiteX0" fmla="*/ 0 w 1866686"/>
              <a:gd name="connsiteY0" fmla="*/ 0 h 2980267"/>
              <a:gd name="connsiteX1" fmla="*/ 1862666 w 1866686"/>
              <a:gd name="connsiteY1" fmla="*/ 1824567 h 2980267"/>
              <a:gd name="connsiteX2" fmla="*/ 397933 w 1866686"/>
              <a:gd name="connsiteY2" fmla="*/ 2980267 h 298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6686" h="2980267">
                <a:moveTo>
                  <a:pt x="0" y="0"/>
                </a:moveTo>
                <a:cubicBezTo>
                  <a:pt x="898172" y="663928"/>
                  <a:pt x="1796344" y="1327856"/>
                  <a:pt x="1862666" y="1824567"/>
                </a:cubicBezTo>
                <a:cubicBezTo>
                  <a:pt x="1928988" y="2321278"/>
                  <a:pt x="1163460" y="2650772"/>
                  <a:pt x="397933" y="2980267"/>
                </a:cubicBezTo>
              </a:path>
            </a:pathLst>
          </a:custGeom>
          <a:noFill/>
          <a:ln w="31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1E7EFC-0596-4689-BDF1-715B401256DE}"/>
              </a:ext>
            </a:extLst>
          </p:cNvPr>
          <p:cNvSpPr txBox="1"/>
          <p:nvPr/>
        </p:nvSpPr>
        <p:spPr>
          <a:xfrm>
            <a:off x="727589" y="5897486"/>
            <a:ext cx="2565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u="none" dirty="0">
                <a:solidFill>
                  <a:schemeClr val="bg1">
                    <a:lumMod val="50000"/>
                  </a:schemeClr>
                </a:solidFill>
                <a:cs typeface="Arial" pitchFamily="34" charset="0"/>
              </a:rPr>
              <a:t>flip right and left side, and compute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324DBC-920A-4A23-9CE5-ACB5CD8707C9}"/>
              </a:ext>
            </a:extLst>
          </p:cNvPr>
          <p:cNvSpPr txBox="1"/>
          <p:nvPr/>
        </p:nvSpPr>
        <p:spPr>
          <a:xfrm>
            <a:off x="727589" y="6187184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u="none" dirty="0">
                <a:solidFill>
                  <a:schemeClr val="bg1">
                    <a:lumMod val="50000"/>
                  </a:schemeClr>
                </a:solidFill>
                <a:cs typeface="Arial" pitchFamily="34" charset="0"/>
              </a:rPr>
              <a:t>compute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63119B-0E39-A442-F7EC-770145A3D30A}"/>
              </a:ext>
            </a:extLst>
          </p:cNvPr>
          <p:cNvSpPr txBox="1"/>
          <p:nvPr/>
        </p:nvSpPr>
        <p:spPr>
          <a:xfrm>
            <a:off x="6754629" y="5526025"/>
            <a:ext cx="1799035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0" u="none" dirty="0">
                <a:solidFill>
                  <a:schemeClr val="accent6"/>
                </a:solidFill>
                <a:cs typeface="Arial" pitchFamily="34" charset="0"/>
              </a:rPr>
              <a:t>So, you tell your boss that if she wants a margin of error of .01, you need to boost the sample size to 465</a:t>
            </a:r>
            <a:endParaRPr lang="en-US" sz="1200" b="0" u="none" dirty="0">
              <a:solidFill>
                <a:schemeClr val="accent6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9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3" grpId="0" uiExpand="1" build="p"/>
      <p:bldP spid="6" grpId="0" animBg="1"/>
      <p:bldP spid="7" grpId="0" animBg="1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2C8766-091D-4D25-8D79-F27464CA56E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Rule for Finding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Needed to Get a Certain Margin of Error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2C8766-091D-4D25-8D79-F27464CA56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434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2E54B7-8F5A-4244-AD2C-F388701F68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Need to assume a sample standard deviation,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Often get this from small-sample-size pilot study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Choose the margin of error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𝑀𝑎𝑟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𝐸𝑟𝑟</m:t>
                    </m:r>
                  </m:oMath>
                </a14:m>
                <a:r>
                  <a:rPr lang="en-US" dirty="0"/>
                  <a:t>) you want</a:t>
                </a:r>
              </a:p>
              <a:p>
                <a:endParaRPr lang="en-US" dirty="0"/>
              </a:p>
              <a:p>
                <a:r>
                  <a:rPr lang="en-US" dirty="0"/>
                  <a:t>Choose the level of significance to get critical value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𝐶𝑉</m:t>
                    </m:r>
                  </m:oMath>
                </a14:m>
                <a:r>
                  <a:rPr lang="en-US" dirty="0"/>
                  <a:t>), e.g., 1.96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𝐶𝑉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𝑀𝑎𝑟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𝐸𝑟𝑟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u="none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𝐶𝑉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en-US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𝑎𝑟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𝑟𝑟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2E54B7-8F5A-4244-AD2C-F388701F68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5406C-D0B3-44FC-8FCC-00401E3463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47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611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07DD-13F6-4931-A280-B5D47BB8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for Differences in Two Samples’ Means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F4AB75-E64F-444F-AA4A-AD36D1A4F2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48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6792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652A8-0506-422A-920B-3239E451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in Samples’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F5E5B-5E8F-4959-AE99-82C528909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5"/>
            <a:ext cx="8437562" cy="1500171"/>
          </a:xfrm>
        </p:spPr>
        <p:txBody>
          <a:bodyPr/>
          <a:lstStyle/>
          <a:p>
            <a:r>
              <a:rPr lang="en-US" dirty="0"/>
              <a:t>The above examples test whether a sample’s mean is different from a particular value, like </a:t>
            </a:r>
            <a:r>
              <a:rPr lang="en-US" dirty="0">
                <a:solidFill>
                  <a:srgbClr val="FF0000"/>
                </a:solidFill>
              </a:rPr>
              <a:t>0</a:t>
            </a:r>
          </a:p>
          <a:p>
            <a:endParaRPr lang="en-US" dirty="0"/>
          </a:p>
          <a:p>
            <a:r>
              <a:rPr lang="en-US" dirty="0"/>
              <a:t>It is often useful to test whether two samples have different means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7F6E7-4A2B-4EC8-A96D-AECB650E6E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49</a:t>
            </a:fld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D7327D-1121-4654-AF3B-34EEA2462645}"/>
              </a:ext>
            </a:extLst>
          </p:cNvPr>
          <p:cNvSpPr/>
          <p:nvPr/>
        </p:nvSpPr>
        <p:spPr bwMode="auto">
          <a:xfrm>
            <a:off x="2603799" y="3296653"/>
            <a:ext cx="3936401" cy="297556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9328F-A40B-4CEE-A63F-37D694FFDD9E}"/>
              </a:ext>
            </a:extLst>
          </p:cNvPr>
          <p:cNvSpPr txBox="1"/>
          <p:nvPr/>
        </p:nvSpPr>
        <p:spPr>
          <a:xfrm>
            <a:off x="3709366" y="3516584"/>
            <a:ext cx="1725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u="none" dirty="0">
                <a:latin typeface="Arial" pitchFamily="34" charset="0"/>
                <a:cs typeface="Arial" pitchFamily="34" charset="0"/>
              </a:rPr>
              <a:t>Population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3F2CAC-E053-4DDB-8827-1B9868FD42C4}"/>
              </a:ext>
            </a:extLst>
          </p:cNvPr>
          <p:cNvSpPr/>
          <p:nvPr/>
        </p:nvSpPr>
        <p:spPr bwMode="auto">
          <a:xfrm>
            <a:off x="2850727" y="4182420"/>
            <a:ext cx="1636991" cy="912033"/>
          </a:xfrm>
          <a:prstGeom prst="ellipse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B86833-77E5-445F-82C2-1AA5C138F705}"/>
              </a:ext>
            </a:extLst>
          </p:cNvPr>
          <p:cNvSpPr txBox="1"/>
          <p:nvPr/>
        </p:nvSpPr>
        <p:spPr>
          <a:xfrm>
            <a:off x="3112581" y="4302328"/>
            <a:ext cx="1100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Sample1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0046D9-1927-4905-8753-15F42FD2689E}"/>
              </a:ext>
            </a:extLst>
          </p:cNvPr>
          <p:cNvSpPr/>
          <p:nvPr/>
        </p:nvSpPr>
        <p:spPr bwMode="auto">
          <a:xfrm>
            <a:off x="4487718" y="4748463"/>
            <a:ext cx="1636991" cy="912033"/>
          </a:xfrm>
          <a:prstGeom prst="ellipse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D148DB-3D1B-4693-B152-1233766ACF6D}"/>
              </a:ext>
            </a:extLst>
          </p:cNvPr>
          <p:cNvSpPr txBox="1"/>
          <p:nvPr/>
        </p:nvSpPr>
        <p:spPr>
          <a:xfrm>
            <a:off x="4749572" y="4868371"/>
            <a:ext cx="1100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Sample2</a:t>
            </a:r>
          </a:p>
        </p:txBody>
      </p:sp>
    </p:spTree>
    <p:extLst>
      <p:ext uri="{BB962C8B-B14F-4D97-AF65-F5344CB8AC3E}">
        <p14:creationId xmlns:p14="http://schemas.microsoft.com/office/powerpoint/2010/main" val="233942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/>
      <p:bldP spid="7" grpId="0" animBg="1"/>
      <p:bldP spid="8" grpId="0"/>
      <p:bldP spid="9" grpId="0" animBg="1"/>
      <p:bldP spid="1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652A8-0506-422A-920B-3239E451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in Samples’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F5E5B-5E8F-4959-AE99-82C528909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5"/>
            <a:ext cx="8437562" cy="1500171"/>
          </a:xfrm>
        </p:spPr>
        <p:txBody>
          <a:bodyPr/>
          <a:lstStyle/>
          <a:p>
            <a:r>
              <a:rPr lang="en-US" dirty="0"/>
              <a:t>The above examples test whether a sample’s mean is different from a particular value, like 0</a:t>
            </a:r>
          </a:p>
          <a:p>
            <a:endParaRPr lang="en-US" dirty="0"/>
          </a:p>
          <a:p>
            <a:r>
              <a:rPr lang="en-US" dirty="0"/>
              <a:t>It is often useful to test whether two samples have different means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7F6E7-4A2B-4EC8-A96D-AECB650E6E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50</a:t>
            </a:fld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D7327D-1121-4654-AF3B-34EEA2462645}"/>
              </a:ext>
            </a:extLst>
          </p:cNvPr>
          <p:cNvSpPr/>
          <p:nvPr/>
        </p:nvSpPr>
        <p:spPr bwMode="auto">
          <a:xfrm>
            <a:off x="2603799" y="3296653"/>
            <a:ext cx="3936401" cy="297556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9328F-A40B-4CEE-A63F-37D694FFDD9E}"/>
              </a:ext>
            </a:extLst>
          </p:cNvPr>
          <p:cNvSpPr txBox="1"/>
          <p:nvPr/>
        </p:nvSpPr>
        <p:spPr>
          <a:xfrm>
            <a:off x="3709366" y="3516584"/>
            <a:ext cx="1725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u="none" dirty="0">
                <a:latin typeface="Arial" pitchFamily="34" charset="0"/>
                <a:cs typeface="Arial" pitchFamily="34" charset="0"/>
              </a:rPr>
              <a:t>Sales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3F2CAC-E053-4DDB-8827-1B9868FD42C4}"/>
              </a:ext>
            </a:extLst>
          </p:cNvPr>
          <p:cNvSpPr/>
          <p:nvPr/>
        </p:nvSpPr>
        <p:spPr bwMode="auto">
          <a:xfrm>
            <a:off x="2850727" y="4182420"/>
            <a:ext cx="1636991" cy="912033"/>
          </a:xfrm>
          <a:prstGeom prst="ellipse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B86833-77E5-445F-82C2-1AA5C138F705}"/>
              </a:ext>
            </a:extLst>
          </p:cNvPr>
          <p:cNvSpPr txBox="1"/>
          <p:nvPr/>
        </p:nvSpPr>
        <p:spPr>
          <a:xfrm>
            <a:off x="3094527" y="4302328"/>
            <a:ext cx="1181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Strategy 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0046D9-1927-4905-8753-15F42FD2689E}"/>
              </a:ext>
            </a:extLst>
          </p:cNvPr>
          <p:cNvSpPr/>
          <p:nvPr/>
        </p:nvSpPr>
        <p:spPr bwMode="auto">
          <a:xfrm>
            <a:off x="4487718" y="4748463"/>
            <a:ext cx="1636991" cy="912033"/>
          </a:xfrm>
          <a:prstGeom prst="ellipse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775D76-51AF-45EE-A68F-F3B6FA74F5D0}"/>
              </a:ext>
            </a:extLst>
          </p:cNvPr>
          <p:cNvSpPr txBox="1"/>
          <p:nvPr/>
        </p:nvSpPr>
        <p:spPr>
          <a:xfrm>
            <a:off x="4731518" y="4850536"/>
            <a:ext cx="1181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Strategy B</a:t>
            </a:r>
          </a:p>
        </p:txBody>
      </p:sp>
    </p:spTree>
    <p:extLst>
      <p:ext uri="{BB962C8B-B14F-4D97-AF65-F5344CB8AC3E}">
        <p14:creationId xmlns:p14="http://schemas.microsoft.com/office/powerpoint/2010/main" val="23361395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652A8-0506-422A-920B-3239E451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in Samples’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F5E5B-5E8F-4959-AE99-82C528909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5"/>
            <a:ext cx="8437562" cy="1500171"/>
          </a:xfrm>
        </p:spPr>
        <p:txBody>
          <a:bodyPr/>
          <a:lstStyle/>
          <a:p>
            <a:r>
              <a:rPr lang="en-US" dirty="0"/>
              <a:t>The above examples test whether a sample’s mean is different from a particular value, like 0</a:t>
            </a:r>
          </a:p>
          <a:p>
            <a:endParaRPr lang="en-US" dirty="0"/>
          </a:p>
          <a:p>
            <a:r>
              <a:rPr lang="en-US" dirty="0"/>
              <a:t>It is often useful to test whether two samples have different means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7F6E7-4A2B-4EC8-A96D-AECB650E6E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51</a:t>
            </a:fld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D7327D-1121-4654-AF3B-34EEA2462645}"/>
              </a:ext>
            </a:extLst>
          </p:cNvPr>
          <p:cNvSpPr/>
          <p:nvPr/>
        </p:nvSpPr>
        <p:spPr bwMode="auto">
          <a:xfrm>
            <a:off x="2603799" y="3296653"/>
            <a:ext cx="3936401" cy="297556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9328F-A40B-4CEE-A63F-37D694FFDD9E}"/>
              </a:ext>
            </a:extLst>
          </p:cNvPr>
          <p:cNvSpPr txBox="1"/>
          <p:nvPr/>
        </p:nvSpPr>
        <p:spPr>
          <a:xfrm>
            <a:off x="3709366" y="3516584"/>
            <a:ext cx="1725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u="none" dirty="0">
                <a:latin typeface="Arial" pitchFamily="34" charset="0"/>
                <a:cs typeface="Arial" pitchFamily="34" charset="0"/>
              </a:rPr>
              <a:t>Mortality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3F2CAC-E053-4DDB-8827-1B9868FD42C4}"/>
              </a:ext>
            </a:extLst>
          </p:cNvPr>
          <p:cNvSpPr/>
          <p:nvPr/>
        </p:nvSpPr>
        <p:spPr bwMode="auto">
          <a:xfrm>
            <a:off x="2850727" y="4182420"/>
            <a:ext cx="1636991" cy="912033"/>
          </a:xfrm>
          <a:prstGeom prst="ellipse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B86833-77E5-445F-82C2-1AA5C138F705}"/>
              </a:ext>
            </a:extLst>
          </p:cNvPr>
          <p:cNvSpPr txBox="1"/>
          <p:nvPr/>
        </p:nvSpPr>
        <p:spPr>
          <a:xfrm>
            <a:off x="3094527" y="4302328"/>
            <a:ext cx="1181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Drug</a:t>
            </a:r>
            <a:b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</a:br>
            <a: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0046D9-1927-4905-8753-15F42FD2689E}"/>
              </a:ext>
            </a:extLst>
          </p:cNvPr>
          <p:cNvSpPr/>
          <p:nvPr/>
        </p:nvSpPr>
        <p:spPr bwMode="auto">
          <a:xfrm>
            <a:off x="4487718" y="4748463"/>
            <a:ext cx="1636991" cy="912033"/>
          </a:xfrm>
          <a:prstGeom prst="ellipse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775D76-51AF-45EE-A68F-F3B6FA74F5D0}"/>
              </a:ext>
            </a:extLst>
          </p:cNvPr>
          <p:cNvSpPr txBox="1"/>
          <p:nvPr/>
        </p:nvSpPr>
        <p:spPr>
          <a:xfrm>
            <a:off x="4731518" y="4850536"/>
            <a:ext cx="1181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Drug</a:t>
            </a:r>
            <a:b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</a:br>
            <a: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36827364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28033-9627-CD40-6B29-70E34B7A0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08218-98BB-42EF-9539-59FC83D8F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in Samples’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21764-5D54-C2F9-E404-476F5818A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5"/>
            <a:ext cx="8437562" cy="1500171"/>
          </a:xfrm>
        </p:spPr>
        <p:txBody>
          <a:bodyPr/>
          <a:lstStyle/>
          <a:p>
            <a:r>
              <a:rPr lang="en-US" dirty="0"/>
              <a:t>The above examples test whether a sample’s mean is different from a particular value, like 0</a:t>
            </a:r>
          </a:p>
          <a:p>
            <a:endParaRPr lang="en-US" dirty="0"/>
          </a:p>
          <a:p>
            <a:r>
              <a:rPr lang="en-US" dirty="0"/>
              <a:t>It is often useful to test whether two samples have different means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B6073-4E1B-536D-63AB-2181936AFC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52</a:t>
            </a:fld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CF0B63-2DA9-BA16-8357-92A75697AB09}"/>
              </a:ext>
            </a:extLst>
          </p:cNvPr>
          <p:cNvSpPr/>
          <p:nvPr/>
        </p:nvSpPr>
        <p:spPr bwMode="auto">
          <a:xfrm>
            <a:off x="2603799" y="3296653"/>
            <a:ext cx="3936401" cy="297556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2228F2-CBB4-BE75-5A48-47FC2EAFB47E}"/>
              </a:ext>
            </a:extLst>
          </p:cNvPr>
          <p:cNvSpPr txBox="1"/>
          <p:nvPr/>
        </p:nvSpPr>
        <p:spPr>
          <a:xfrm>
            <a:off x="3709366" y="3516584"/>
            <a:ext cx="17252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u="none" dirty="0">
                <a:latin typeface="Arial" pitchFamily="34" charset="0"/>
                <a:cs typeface="Arial" pitchFamily="34" charset="0"/>
              </a:rPr>
              <a:t>Firm Productivity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99B1A7-A342-9C63-DDE9-3D5220592162}"/>
              </a:ext>
            </a:extLst>
          </p:cNvPr>
          <p:cNvSpPr/>
          <p:nvPr/>
        </p:nvSpPr>
        <p:spPr bwMode="auto">
          <a:xfrm>
            <a:off x="2850727" y="4182420"/>
            <a:ext cx="1636991" cy="912033"/>
          </a:xfrm>
          <a:prstGeom prst="ellipse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BB689D-47B7-DF4E-736D-633013B98EFF}"/>
              </a:ext>
            </a:extLst>
          </p:cNvPr>
          <p:cNvSpPr txBox="1"/>
          <p:nvPr/>
        </p:nvSpPr>
        <p:spPr>
          <a:xfrm>
            <a:off x="3094527" y="4302328"/>
            <a:ext cx="1181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Country</a:t>
            </a:r>
            <a:b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</a:br>
            <a: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DA09FD-A3BF-7FDA-218B-51D9D2D7D386}"/>
              </a:ext>
            </a:extLst>
          </p:cNvPr>
          <p:cNvSpPr/>
          <p:nvPr/>
        </p:nvSpPr>
        <p:spPr bwMode="auto">
          <a:xfrm>
            <a:off x="4487718" y="4748463"/>
            <a:ext cx="1636991" cy="912033"/>
          </a:xfrm>
          <a:prstGeom prst="ellipse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7B0048-B245-F75D-E903-BAE43055BF04}"/>
              </a:ext>
            </a:extLst>
          </p:cNvPr>
          <p:cNvSpPr txBox="1"/>
          <p:nvPr/>
        </p:nvSpPr>
        <p:spPr>
          <a:xfrm>
            <a:off x="4731518" y="4850536"/>
            <a:ext cx="1181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u="none" dirty="0">
                <a:solidFill>
                  <a:srgbClr val="00B0F0"/>
                </a:solidFill>
                <a:cs typeface="Arial" pitchFamily="34" charset="0"/>
              </a:rPr>
              <a:t>Country</a:t>
            </a:r>
            <a:b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</a:br>
            <a:r>
              <a:rPr lang="en-US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24472978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652A8-0506-422A-920B-3239E451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in Samples’ Means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FF5E5B-5E8F-4959-AE99-82C5289090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89025"/>
                <a:ext cx="8437562" cy="1500171"/>
              </a:xfrm>
            </p:spPr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i="1" dirty="0"/>
                  <a:t>t</a:t>
                </a:r>
                <a:r>
                  <a:rPr lang="en-US" dirty="0"/>
                  <a:t>-stat for a difference in two samples’ means is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341313">
                  <a:buNone/>
                </a:pPr>
                <a:r>
                  <a:rPr lang="en-US" dirty="0"/>
                  <a:t>where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	observations in two samples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means of the two samples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	standard deviation in the two samples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The </a:t>
                </a:r>
                <a:r>
                  <a:rPr lang="en-US" i="1" dirty="0"/>
                  <a:t>t</a:t>
                </a:r>
                <a:r>
                  <a:rPr lang="en-US" dirty="0"/>
                  <a:t>-stat follows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 for large samples</a:t>
                </a:r>
              </a:p>
              <a:p>
                <a:pPr marL="0" indent="0">
                  <a:buNone/>
                </a:pPr>
                <a:endParaRPr lang="en-US" u="none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FF5E5B-5E8F-4959-AE99-82C528909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89025"/>
                <a:ext cx="8437562" cy="1500171"/>
              </a:xfrm>
              <a:blipFill>
                <a:blip r:embed="rId2"/>
                <a:stretch>
                  <a:fillRect l="-650" b="-194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7F6E7-4A2B-4EC8-A96D-AECB650E6E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53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370BF0-9E3D-44B6-979B-A24364A9E411}"/>
              </a:ext>
            </a:extLst>
          </p:cNvPr>
          <p:cNvSpPr txBox="1"/>
          <p:nvPr/>
        </p:nvSpPr>
        <p:spPr>
          <a:xfrm>
            <a:off x="6696457" y="1910480"/>
            <a:ext cx="2387065" cy="353943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This test statistic is larger when </a:t>
            </a:r>
          </a:p>
          <a:p>
            <a:endParaRPr lang="en-US" sz="1600" b="0" u="none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lang="en-US" sz="1600" b="0" u="none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difference in means is bigger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lang="en-US" sz="1600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variances are smaller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lang="en-US" sz="1600" b="0" u="none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sample sizes are larger</a:t>
            </a:r>
          </a:p>
          <a:p>
            <a:pPr algn="l"/>
            <a:endParaRPr lang="en-US" sz="1600" b="0" u="none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Does it make sense to you that we are more likely to reject when these things are true?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65567E4-5B81-F78B-A22E-BED4721E76B4}"/>
              </a:ext>
            </a:extLst>
          </p:cNvPr>
          <p:cNvSpPr/>
          <p:nvPr/>
        </p:nvSpPr>
        <p:spPr bwMode="auto">
          <a:xfrm>
            <a:off x="5558763" y="2078778"/>
            <a:ext cx="1065703" cy="559165"/>
          </a:xfrm>
          <a:custGeom>
            <a:avLst/>
            <a:gdLst>
              <a:gd name="connsiteX0" fmla="*/ 0 w 1065703"/>
              <a:gd name="connsiteY0" fmla="*/ 559165 h 559165"/>
              <a:gd name="connsiteX1" fmla="*/ 657841 w 1065703"/>
              <a:gd name="connsiteY1" fmla="*/ 98676 h 559165"/>
              <a:gd name="connsiteX2" fmla="*/ 1065703 w 1065703"/>
              <a:gd name="connsiteY2" fmla="*/ 0 h 55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5703" h="559165">
                <a:moveTo>
                  <a:pt x="0" y="559165"/>
                </a:moveTo>
                <a:cubicBezTo>
                  <a:pt x="240112" y="375517"/>
                  <a:pt x="480224" y="191870"/>
                  <a:pt x="657841" y="98676"/>
                </a:cubicBezTo>
                <a:cubicBezTo>
                  <a:pt x="835458" y="5482"/>
                  <a:pt x="950580" y="2741"/>
                  <a:pt x="1065703" y="0"/>
                </a:cubicBezTo>
              </a:path>
            </a:pathLst>
          </a:cu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72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uiExpand="1" build="p" animBg="1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D5F8B-81AF-4418-B4DD-B62FD118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for the Difference in Samples’ Means t-statistic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685B0-FCA9-4022-91A0-F3332BE4AF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54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58D10C-5A73-4D81-BBF0-15848B1080AA}"/>
                  </a:ext>
                </a:extLst>
              </p:cNvPr>
              <p:cNvSpPr txBox="1"/>
              <p:nvPr/>
            </p:nvSpPr>
            <p:spPr>
              <a:xfrm>
                <a:off x="2580070" y="3590863"/>
                <a:ext cx="1636154" cy="112774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u="non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u="non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u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u="none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sz="1600" b="0" i="1" u="none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sz="1600" b="0" i="1" u="none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sz="1600" b="0" i="1" u="none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u="none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b="0" i="1" u="none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sz="1600" b="0" i="1" u="none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sz="1600" b="0" i="1" u="none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sz="1600" b="0" i="1" u="none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b="0" i="1" u="none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1600" b="0" i="1" u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b="0" i="1" u="none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sz="1600" b="0" i="1" u="none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600" b="0" i="1" u="none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b="0" i="1" u="none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sz="1600" b="0" i="1" u="none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sz="1600" b="0" i="1" u="none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b="0" i="1" u="none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u="none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1600" b="0" i="1" u="none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b="0" i="1" u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600" b="0" i="1" u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b="0" i="1" u="none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sz="1600" b="0" i="1" u="none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600" b="0" i="1" u="none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b="0" i="1" u="none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sz="1600" b="0" i="1" u="none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sz="1600" b="0" i="1" u="none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b="0" i="1" u="none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u="none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1600" b="0" i="1" u="none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sz="1600" b="0" u="none" dirty="0"/>
              </a:p>
              <a:p>
                <a:pPr algn="ctr"/>
                <a:endParaRPr lang="en-US" sz="1600" b="0" u="none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58D10C-5A73-4D81-BBF0-15848B108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070" y="3590863"/>
                <a:ext cx="1636154" cy="11277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70BBDFF8-0EFA-4879-99B6-9748D003013C}"/>
              </a:ext>
            </a:extLst>
          </p:cNvPr>
          <p:cNvGrpSpPr/>
          <p:nvPr/>
        </p:nvGrpSpPr>
        <p:grpSpPr>
          <a:xfrm>
            <a:off x="3196590" y="4530849"/>
            <a:ext cx="3223260" cy="632928"/>
            <a:chOff x="5920740" y="3642360"/>
            <a:chExt cx="3223260" cy="63292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0D23524-F4DA-43D5-A10E-F5650C66FF71}"/>
                </a:ext>
              </a:extLst>
            </p:cNvPr>
            <p:cNvSpPr txBox="1"/>
            <p:nvPr/>
          </p:nvSpPr>
          <p:spPr>
            <a:xfrm>
              <a:off x="7469063" y="3844401"/>
              <a:ext cx="1674937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b="0" u="none" dirty="0">
                  <a:solidFill>
                    <a:srgbClr val="00B050"/>
                  </a:solidFill>
                  <a:latin typeface="Arial" pitchFamily="34" charset="0"/>
                  <a:cs typeface="Arial" pitchFamily="34" charset="0"/>
                </a:rPr>
                <a:t>It gets bigger if the sample sizes are larger</a:t>
              </a: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862C379-7FDC-49FA-8884-5E8D278B1C71}"/>
                </a:ext>
              </a:extLst>
            </p:cNvPr>
            <p:cNvSpPr/>
            <p:nvPr/>
          </p:nvSpPr>
          <p:spPr>
            <a:xfrm>
              <a:off x="6858000" y="3642360"/>
              <a:ext cx="624840" cy="504140"/>
            </a:xfrm>
            <a:custGeom>
              <a:avLst/>
              <a:gdLst>
                <a:gd name="connsiteX0" fmla="*/ 624840 w 624840"/>
                <a:gd name="connsiteY0" fmla="*/ 480060 h 504140"/>
                <a:gd name="connsiteX1" fmla="*/ 114300 w 624840"/>
                <a:gd name="connsiteY1" fmla="*/ 449580 h 504140"/>
                <a:gd name="connsiteX2" fmla="*/ 0 w 624840"/>
                <a:gd name="connsiteY2" fmla="*/ 0 h 50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4840" h="504140">
                  <a:moveTo>
                    <a:pt x="624840" y="480060"/>
                  </a:moveTo>
                  <a:cubicBezTo>
                    <a:pt x="421640" y="504825"/>
                    <a:pt x="218440" y="529590"/>
                    <a:pt x="114300" y="449580"/>
                  </a:cubicBezTo>
                  <a:cubicBezTo>
                    <a:pt x="10160" y="369570"/>
                    <a:pt x="5080" y="184785"/>
                    <a:pt x="0" y="0"/>
                  </a:cubicBezTo>
                </a:path>
              </a:pathLst>
            </a:custGeom>
            <a:noFill/>
            <a:ln>
              <a:solidFill>
                <a:srgbClr val="00B050"/>
              </a:solidFill>
              <a:headEnd type="none" w="med" len="med"/>
              <a:tailEnd type="triangle" w="med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4499A1F-C8E7-4B2C-8B36-F88F636C5119}"/>
                </a:ext>
              </a:extLst>
            </p:cNvPr>
            <p:cNvSpPr/>
            <p:nvPr/>
          </p:nvSpPr>
          <p:spPr>
            <a:xfrm>
              <a:off x="5920740" y="3642360"/>
              <a:ext cx="1555212" cy="504140"/>
            </a:xfrm>
            <a:custGeom>
              <a:avLst/>
              <a:gdLst>
                <a:gd name="connsiteX0" fmla="*/ 624840 w 624840"/>
                <a:gd name="connsiteY0" fmla="*/ 480060 h 504140"/>
                <a:gd name="connsiteX1" fmla="*/ 114300 w 624840"/>
                <a:gd name="connsiteY1" fmla="*/ 449580 h 504140"/>
                <a:gd name="connsiteX2" fmla="*/ 0 w 624840"/>
                <a:gd name="connsiteY2" fmla="*/ 0 h 50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4840" h="504140">
                  <a:moveTo>
                    <a:pt x="624840" y="480060"/>
                  </a:moveTo>
                  <a:cubicBezTo>
                    <a:pt x="421640" y="504825"/>
                    <a:pt x="218440" y="529590"/>
                    <a:pt x="114300" y="449580"/>
                  </a:cubicBezTo>
                  <a:cubicBezTo>
                    <a:pt x="10160" y="369570"/>
                    <a:pt x="5080" y="184785"/>
                    <a:pt x="0" y="0"/>
                  </a:cubicBezTo>
                </a:path>
              </a:pathLst>
            </a:custGeom>
            <a:noFill/>
            <a:ln>
              <a:solidFill>
                <a:srgbClr val="00B050"/>
              </a:solidFill>
              <a:headEnd type="none" w="med" len="med"/>
              <a:tailEnd type="triangle" w="med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2CFB82D-6933-41C6-BB3D-BFA41FED815E}"/>
              </a:ext>
            </a:extLst>
          </p:cNvPr>
          <p:cNvSpPr txBox="1"/>
          <p:nvPr/>
        </p:nvSpPr>
        <p:spPr>
          <a:xfrm>
            <a:off x="4751802" y="3963183"/>
            <a:ext cx="167493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It gets bigger if the variances are smaller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49AD4BF-4E43-4B2E-BC5E-39C3205FD873}"/>
              </a:ext>
            </a:extLst>
          </p:cNvPr>
          <p:cNvGrpSpPr/>
          <p:nvPr/>
        </p:nvGrpSpPr>
        <p:grpSpPr>
          <a:xfrm>
            <a:off x="3547110" y="2334603"/>
            <a:ext cx="2872739" cy="1289674"/>
            <a:chOff x="6271260" y="1446114"/>
            <a:chExt cx="2872739" cy="128967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115BE3F-DE3B-44B1-8E60-F5C6B59F56EB}"/>
                </a:ext>
              </a:extLst>
            </p:cNvPr>
            <p:cNvSpPr txBox="1"/>
            <p:nvPr/>
          </p:nvSpPr>
          <p:spPr>
            <a:xfrm>
              <a:off x="7469822" y="1446114"/>
              <a:ext cx="167417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0" u="none" dirty="0">
                  <a:solidFill>
                    <a:srgbClr val="7030A0"/>
                  </a:solidFill>
                  <a:latin typeface="Arial" pitchFamily="34" charset="0"/>
                  <a:cs typeface="Arial" pitchFamily="34" charset="0"/>
                </a:rPr>
                <a:t>The absolute value of the  </a:t>
              </a:r>
              <a:r>
                <a:rPr lang="en-US" sz="1100" b="0" i="1" u="none" dirty="0">
                  <a:solidFill>
                    <a:srgbClr val="7030A0"/>
                  </a:solidFill>
                  <a:latin typeface="Arial" pitchFamily="34" charset="0"/>
                  <a:cs typeface="Arial" pitchFamily="34" charset="0"/>
                </a:rPr>
                <a:t>t</a:t>
              </a:r>
              <a:r>
                <a:rPr lang="en-US" sz="1100" b="0" u="none" dirty="0">
                  <a:solidFill>
                    <a:srgbClr val="7030A0"/>
                  </a:solidFill>
                  <a:latin typeface="Arial" pitchFamily="34" charset="0"/>
                  <a:cs typeface="Arial" pitchFamily="34" charset="0"/>
                </a:rPr>
                <a:t>-statistic gets bigger if the difference in means gets bigger – this pushes towards rejection of the null hypothesis </a:t>
              </a: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8C40682-F3A0-4AD7-A10C-FAF1B1313B58}"/>
                </a:ext>
              </a:extLst>
            </p:cNvPr>
            <p:cNvSpPr/>
            <p:nvPr/>
          </p:nvSpPr>
          <p:spPr>
            <a:xfrm>
              <a:off x="6271260" y="2065020"/>
              <a:ext cx="1226820" cy="670768"/>
            </a:xfrm>
            <a:custGeom>
              <a:avLst/>
              <a:gdLst>
                <a:gd name="connsiteX0" fmla="*/ 944880 w 944880"/>
                <a:gd name="connsiteY0" fmla="*/ 0 h 563880"/>
                <a:gd name="connsiteX1" fmla="*/ 373380 w 944880"/>
                <a:gd name="connsiteY1" fmla="*/ 121920 h 563880"/>
                <a:gd name="connsiteX2" fmla="*/ 0 w 944880"/>
                <a:gd name="connsiteY2" fmla="*/ 563880 h 56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4880" h="563880">
                  <a:moveTo>
                    <a:pt x="944880" y="0"/>
                  </a:moveTo>
                  <a:cubicBezTo>
                    <a:pt x="737870" y="13970"/>
                    <a:pt x="530860" y="27940"/>
                    <a:pt x="373380" y="121920"/>
                  </a:cubicBezTo>
                  <a:cubicBezTo>
                    <a:pt x="215900" y="215900"/>
                    <a:pt x="107950" y="389890"/>
                    <a:pt x="0" y="563880"/>
                  </a:cubicBezTo>
                </a:path>
              </a:pathLst>
            </a:custGeom>
            <a:noFill/>
            <a:ln>
              <a:solidFill>
                <a:srgbClr val="7030A0"/>
              </a:solidFill>
              <a:headEnd type="none" w="med" len="med"/>
              <a:tailEnd type="triangle" w="med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F1080-1B17-4526-D056-42D2F357DF8C}"/>
              </a:ext>
            </a:extLst>
          </p:cNvPr>
          <p:cNvSpPr txBox="1">
            <a:spLocks/>
          </p:cNvSpPr>
          <p:nvPr/>
        </p:nvSpPr>
        <p:spPr>
          <a:xfrm>
            <a:off x="342900" y="1101299"/>
            <a:ext cx="8801100" cy="269811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accent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+mn-lt"/>
                <a:cs typeface="+mn-cs"/>
              </a:defRPr>
            </a:lvl9pPr>
          </a:lstStyle>
          <a:p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lang="en-US" sz="1600" b="0" i="1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-stat is larger when </a:t>
            </a:r>
          </a:p>
          <a:p>
            <a:pPr lvl="1"/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lang="en-US" sz="1600" b="0" u="none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difference in means</a:t>
            </a:r>
            <a:r>
              <a: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is bigger</a:t>
            </a:r>
          </a:p>
          <a:p>
            <a:pPr lvl="1"/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lang="en-US" sz="1600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variances</a:t>
            </a:r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 are smaller</a:t>
            </a:r>
          </a:p>
          <a:p>
            <a:pPr lvl="1"/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lang="en-US" sz="1600" b="0" u="none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sample sizes </a:t>
            </a:r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are larger</a:t>
            </a:r>
          </a:p>
          <a:p>
            <a:endParaRPr lang="en-US" sz="1600" b="0" i="1" u="none" dirty="0">
              <a:solidFill>
                <a:schemeClr val="accent6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en-US" sz="1600" b="0" u="none" kern="0" dirty="0"/>
          </a:p>
          <a:p>
            <a:endParaRPr lang="en-US" sz="1600" b="0" u="none" kern="0" dirty="0"/>
          </a:p>
          <a:p>
            <a:endParaRPr lang="en-US" sz="1600" b="0" u="none" kern="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30AB4C-9D61-2A0C-32F1-AED50B62B744}"/>
              </a:ext>
            </a:extLst>
          </p:cNvPr>
          <p:cNvCxnSpPr>
            <a:cxnSpLocks/>
          </p:cNvCxnSpPr>
          <p:nvPr/>
        </p:nvCxnSpPr>
        <p:spPr bwMode="auto">
          <a:xfrm flipH="1">
            <a:off x="4511040" y="4102934"/>
            <a:ext cx="234633" cy="34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Right Brace 8">
            <a:extLst>
              <a:ext uri="{FF2B5EF4-FFF2-40B4-BE49-F238E27FC236}">
                <a16:creationId xmlns:a16="http://schemas.microsoft.com/office/drawing/2014/main" id="{B1170E6B-6F69-5412-AB2F-A702485FFEE6}"/>
              </a:ext>
            </a:extLst>
          </p:cNvPr>
          <p:cNvSpPr/>
          <p:nvPr/>
        </p:nvSpPr>
        <p:spPr bwMode="auto">
          <a:xfrm>
            <a:off x="6343650" y="3854450"/>
            <a:ext cx="83090" cy="1454150"/>
          </a:xfrm>
          <a:prstGeom prst="rightBrac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19207B-87EE-3D12-E60D-DA4A46ED2E1B}"/>
              </a:ext>
            </a:extLst>
          </p:cNvPr>
          <p:cNvSpPr txBox="1"/>
          <p:nvPr/>
        </p:nvSpPr>
        <p:spPr>
          <a:xfrm>
            <a:off x="6485572" y="4021239"/>
            <a:ext cx="19345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So, a given difference in means gets larger if one is “more confident” about the data, i.e., the variances are smaller, or the sample sizes are larger</a:t>
            </a:r>
          </a:p>
        </p:txBody>
      </p:sp>
    </p:spTree>
    <p:extLst>
      <p:ext uri="{BB962C8B-B14F-4D97-AF65-F5344CB8AC3E}">
        <p14:creationId xmlns:p14="http://schemas.microsoft.com/office/powerpoint/2010/main" val="139337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9" grpId="0" animBg="1"/>
      <p:bldP spid="1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BEE67-10A1-B25F-61E0-93FC9A6EF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F9D29-393C-53FE-C817-9EBDF2F78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Tests 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A336A-1C8E-DBE2-FBA4-92E17C4FB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motivated by a question</a:t>
            </a:r>
          </a:p>
          <a:p>
            <a:endParaRPr lang="en-US" dirty="0"/>
          </a:p>
          <a:p>
            <a:r>
              <a:rPr lang="en-US" dirty="0"/>
              <a:t>Set up a horse race between a conservative null hypothesis and an interesting alternate hypothesis</a:t>
            </a:r>
          </a:p>
          <a:p>
            <a:endParaRPr lang="en-US" dirty="0"/>
          </a:p>
          <a:p>
            <a:r>
              <a:rPr lang="en-US" dirty="0"/>
              <a:t>Involve matching the hypotheses to the proper test statistic</a:t>
            </a:r>
          </a:p>
          <a:p>
            <a:endParaRPr lang="en-US" dirty="0"/>
          </a:p>
          <a:p>
            <a:r>
              <a:rPr lang="en-US" dirty="0"/>
              <a:t>Use sample data to assess the likelihood of observing the test statistic if the null hypothesis were true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Many statisticians spend time developing and evaluating test statistics and their analytical or bootstrap distributions so we can just look up whatever we need to answer a particular question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Conclude with an assessment of whether null hypothesis can be rejected (i.e., whether the result is “statistically significant”)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E1A34-1E36-88AF-8031-7D61469B91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55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208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07DD-13F6-4931-A280-B5D47BB8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3: Management Scores (if time)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F4AB75-E64F-444F-AA4A-AD36D1A4F2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56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22048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82977-FD60-F159-6EC1-6CDC21BD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Scores</a:t>
            </a:r>
            <a:br>
              <a:rPr lang="en-US" dirty="0"/>
            </a:br>
            <a:r>
              <a:rPr lang="en-US" sz="1400" dirty="0">
                <a:hlinkClick r:id="rId3"/>
              </a:rPr>
              <a:t>https://worldmanagementsurvey.org/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B4F79B-0BAF-E352-AA43-8B6550284C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57</a:t>
            </a:fld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02BF36-99E3-44EC-8C47-7F8F2614FCAC}"/>
              </a:ext>
            </a:extLst>
          </p:cNvPr>
          <p:cNvSpPr txBox="1">
            <a:spLocks/>
          </p:cNvSpPr>
          <p:nvPr/>
        </p:nvSpPr>
        <p:spPr>
          <a:xfrm>
            <a:off x="354013" y="1089025"/>
            <a:ext cx="8437562" cy="57689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accent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+mn-lt"/>
                <a:cs typeface="+mn-cs"/>
              </a:defRPr>
            </a:lvl9pPr>
          </a:lstStyle>
          <a:p>
            <a:r>
              <a:rPr lang="en-US" b="0" u="none" dirty="0"/>
              <a:t>The </a:t>
            </a:r>
            <a:r>
              <a:rPr lang="en-US" b="0" u="none" dirty="0">
                <a:hlinkClick r:id="rId3"/>
              </a:rPr>
              <a:t>World Management Survey</a:t>
            </a:r>
            <a:r>
              <a:rPr lang="en-US" b="0" u="none" dirty="0"/>
              <a:t> is a cross-country, cross-industry, double-blind ongoing survey of firms’ management practices across 35 countries and 4 sectors. Data are available starting in 2002</a:t>
            </a:r>
          </a:p>
          <a:p>
            <a:endParaRPr lang="en-US" b="0" u="none" dirty="0"/>
          </a:p>
          <a:p>
            <a:r>
              <a:rPr lang="en-US" b="0" u="none" dirty="0"/>
              <a:t>Interviewers ask a series of questions about how firms manage their operations. Interviewers do not know what firm they are talking to, and interviewees are not aware their management practices are being assessed</a:t>
            </a:r>
          </a:p>
          <a:p>
            <a:endParaRPr lang="en-US" b="0" u="none" dirty="0"/>
          </a:p>
          <a:p>
            <a:r>
              <a:rPr lang="en-US" b="0" u="none" dirty="0"/>
              <a:t>Managers are scored along 4 dimensions of management practices</a:t>
            </a:r>
          </a:p>
          <a:p>
            <a:pPr lvl="1"/>
            <a:r>
              <a:rPr lang="en-US" b="0" u="none" dirty="0"/>
              <a:t>Operations: documenting process improvements, JIT, </a:t>
            </a:r>
            <a:r>
              <a:rPr lang="en-US" b="0" u="none" dirty="0" err="1"/>
              <a:t>etc</a:t>
            </a:r>
            <a:endParaRPr lang="en-US" b="0" u="none" dirty="0"/>
          </a:p>
          <a:p>
            <a:pPr lvl="1"/>
            <a:r>
              <a:rPr lang="en-US" b="0" u="none" dirty="0"/>
              <a:t>Monitoring: performance, workers, etc.</a:t>
            </a:r>
          </a:p>
          <a:p>
            <a:pPr lvl="1"/>
            <a:r>
              <a:rPr lang="en-US" b="0" u="none" dirty="0"/>
              <a:t>Targets: what types (e.g., financial), transparency, etc. </a:t>
            </a:r>
          </a:p>
          <a:p>
            <a:pPr lvl="1"/>
            <a:r>
              <a:rPr lang="en-US" b="0" u="none" dirty="0"/>
              <a:t>Incentives: promotion criteria, firing policies, etc.</a:t>
            </a:r>
          </a:p>
          <a:p>
            <a:pPr lvl="1"/>
            <a:endParaRPr lang="en-US" b="0" u="none" dirty="0"/>
          </a:p>
          <a:p>
            <a:r>
              <a:rPr lang="en-US" b="0" u="none" dirty="0"/>
              <a:t>This info is used to assign an overall management score to each firm</a:t>
            </a:r>
            <a:endParaRPr lang="en-US" b="0" u="none" kern="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50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91D4-8B80-4523-B1DA-521674D8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Management Score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D8862-A479-45DA-A8F6-DB2792B1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5"/>
            <a:ext cx="3005875" cy="576897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Random Variable</a:t>
            </a:r>
          </a:p>
          <a:p>
            <a:pPr marL="0" indent="0">
              <a:buNone/>
              <a:tabLst>
                <a:tab pos="287338" algn="l"/>
              </a:tabLst>
            </a:pPr>
            <a:r>
              <a:rPr lang="en-US" dirty="0"/>
              <a:t>	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Distribution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Population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Samples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statistic </a:t>
            </a:r>
            <a:r>
              <a:rPr lang="en-US" dirty="0" err="1">
                <a:solidFill>
                  <a:schemeClr val="bg1"/>
                </a:solidFill>
              </a:rPr>
              <a:t>xxxxxxxxxxx</a:t>
            </a:r>
            <a:endParaRPr lang="en-US" dirty="0">
              <a:solidFill>
                <a:schemeClr val="bg1"/>
              </a:solidFill>
            </a:endParaRP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6C76D-3002-40FC-A6C0-21B8EF5BFC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58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56591" y="1089025"/>
                <a:ext cx="5587409" cy="5678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9pPr>
              </a:lstStyle>
              <a:p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</a:rPr>
                  <a:t>, the management score of firm </a:t>
                </a:r>
                <a:r>
                  <a:rPr lang="en-US" b="0" i="1" u="none" kern="0" dirty="0" err="1">
                    <a:solidFill>
                      <a:schemeClr val="tx1"/>
                    </a:solidFill>
                  </a:rPr>
                  <a:t>i</a:t>
                </a:r>
                <a:r>
                  <a:rPr lang="en-US" b="0" u="none" kern="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Continuous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All firms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u="none" kern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u="none" kern="0" baseline="-250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𝐶h𝑖𝑛𝑎</m:t>
                    </m:r>
                    <m:r>
                      <a:rPr lang="en-US" b="0" i="1" u="none" kern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=872</m:t>
                    </m:r>
                  </m:oMath>
                </a14:m>
                <a:r>
                  <a:rPr lang="en-US" b="0" u="none" kern="0" dirty="0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Chinese firms, </a:t>
                </a:r>
                <a14:m>
                  <m:oMath xmlns:m="http://schemas.openxmlformats.org/officeDocument/2006/math">
                    <m:r>
                      <a:rPr lang="en-US" b="0" i="1" u="none" kern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u="none" kern="0" baseline="-250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𝑈𝑆</m:t>
                    </m:r>
                    <m:r>
                      <a:rPr lang="en-US" b="0" i="1" u="none" kern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=947</m:t>
                    </m:r>
                  </m:oMath>
                </a14:m>
                <a:r>
                  <a:rPr lang="en-US" b="0" u="none" kern="0" dirty="0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US firms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u="none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u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𝐶h𝑖𝑛𝑎</m:t>
                              </m:r>
                            </m:sub>
                          </m:sSub>
                          <m:r>
                            <a:rPr lang="en-US" i="1" u="non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𝑈𝑆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u="none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i="1" u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i="1" u="none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 u="none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u="none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i="1" u="none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b="0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𝐶h𝑖𝑛𝑎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𝐶h𝑖𝑛𝑎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 u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 u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i="1" u="none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 u="none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u="none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i="1" u="none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𝑈𝑆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u="none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𝑈𝑆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u="none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u="none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u="none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u="none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for large samples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6591" y="1089025"/>
                <a:ext cx="5587409" cy="5678488"/>
              </a:xfrm>
              <a:prstGeom prst="rect">
                <a:avLst/>
              </a:prstGeom>
              <a:blipFill>
                <a:blip r:embed="rId2"/>
                <a:stretch>
                  <a:fillRect l="-1091" r="-32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28958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82977-FD60-F159-6EC1-6CDC21BD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vs Chinese Management Scores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data_wms.xlsx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B4F79B-0BAF-E352-AA43-8B6550284C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59</a:t>
            </a:fld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83A091-58C1-4A90-9291-B2C732CAA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01" y="1410462"/>
            <a:ext cx="4581144" cy="45704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3">
                <a:extLst>
                  <a:ext uri="{FF2B5EF4-FFF2-40B4-BE49-F238E27FC236}">
                    <a16:creationId xmlns:a16="http://schemas.microsoft.com/office/drawing/2014/main" id="{CB130BF4-908B-4597-9CE5-AF62F7A89E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48200" y="1089025"/>
                <a:ext cx="4143375" cy="5768975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9pPr>
              </a:lstStyle>
              <a:p>
                <a:endParaRPr lang="en-US" sz="1800" b="0" u="none" kern="0" dirty="0"/>
              </a:p>
              <a:p>
                <a:endParaRPr lang="en-US" sz="1800" b="0" u="none" kern="0" dirty="0"/>
              </a:p>
              <a:p>
                <a:pPr marL="0" indent="0" algn="ctr">
                  <a:buNone/>
                </a:pPr>
                <a:r>
                  <a:rPr lang="en-US" sz="1800" b="0" u="none" kern="0" dirty="0"/>
                  <a:t>Hypothesis Test</a:t>
                </a:r>
              </a:p>
              <a:p>
                <a:endParaRPr lang="en-US" sz="1800" b="0" u="none" kern="0" dirty="0"/>
              </a:p>
              <a:p>
                <a:r>
                  <a:rPr lang="en-US" sz="1800" b="0" u="none" kern="0" dirty="0"/>
                  <a:t>H</a:t>
                </a:r>
                <a:r>
                  <a:rPr lang="en-US" sz="1800" b="0" u="none" kern="0" baseline="-25000" dirty="0"/>
                  <a:t>0</a:t>
                </a:r>
                <a:r>
                  <a:rPr lang="en-US" sz="1800" b="0" u="none" kern="0" dirty="0"/>
                  <a:t>: Management quality is the</a:t>
                </a:r>
                <a:br>
                  <a:rPr lang="en-US" sz="1800" b="0" u="none" kern="0" dirty="0"/>
                </a:br>
                <a:r>
                  <a:rPr lang="en-US" sz="1800" b="0" u="none" kern="0" dirty="0"/>
                  <a:t>      same in the US and China </a:t>
                </a:r>
                <a:br>
                  <a:rPr lang="en-US" sz="1800" b="0" u="none" kern="0" dirty="0"/>
                </a:br>
                <a:r>
                  <a:rPr lang="en-US" sz="1800" b="0" u="none" kern="0" dirty="0"/>
                  <a:t> 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u="none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u="none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  <m:r>
                      <a:rPr lang="en-US" sz="1800" b="0" i="1" u="none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u="none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u="none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𝐶h𝑖𝑛𝑎</m:t>
                        </m:r>
                      </m:sub>
                    </m:sSub>
                  </m:oMath>
                </a14:m>
                <a:r>
                  <a:rPr lang="en-US" sz="1800" b="0" u="none" kern="0" dirty="0"/>
                  <a:t>)</a:t>
                </a:r>
              </a:p>
              <a:p>
                <a:endParaRPr lang="en-US" sz="1800" b="0" u="none" kern="0" dirty="0"/>
              </a:p>
              <a:p>
                <a:r>
                  <a:rPr lang="en-US" sz="1800" b="0" u="none" kern="0" dirty="0"/>
                  <a:t>H</a:t>
                </a:r>
                <a:r>
                  <a:rPr lang="en-US" sz="1800" b="0" u="none" kern="0" baseline="-25000" dirty="0"/>
                  <a:t>A</a:t>
                </a:r>
                <a:r>
                  <a:rPr lang="en-US" sz="1800" b="0" u="none" kern="0" dirty="0"/>
                  <a:t>: Management quality is</a:t>
                </a:r>
                <a:br>
                  <a:rPr lang="en-US" sz="1800" b="0" u="none" kern="0" dirty="0"/>
                </a:br>
                <a:r>
                  <a:rPr lang="en-US" sz="1800" b="0" u="none" kern="0" dirty="0"/>
                  <a:t>      higher in one of the two</a:t>
                </a:r>
                <a:br>
                  <a:rPr lang="en-US" sz="1800" b="0" u="none" kern="0" dirty="0"/>
                </a:br>
                <a:r>
                  <a:rPr lang="en-US" sz="1800" b="0" u="none" kern="0" dirty="0"/>
                  <a:t>      countries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u="none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u="none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  <m:r>
                      <a:rPr lang="en-US" sz="1800" b="0" i="1" u="none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1800" b="0" i="1" u="none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u="none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𝐶h𝑖𝑛𝑎</m:t>
                        </m:r>
                      </m:sub>
                    </m:sSub>
                  </m:oMath>
                </a14:m>
                <a:r>
                  <a:rPr lang="en-US" sz="1800" b="0" u="none" kern="0" dirty="0"/>
                  <a:t>)</a:t>
                </a:r>
                <a:br>
                  <a:rPr lang="en-US" sz="1800" b="0" u="none" kern="0" dirty="0"/>
                </a:br>
                <a:r>
                  <a:rPr lang="en-US" sz="1800" b="0" u="none" kern="0" dirty="0"/>
                  <a:t>      </a:t>
                </a:r>
                <a:r>
                  <a:rPr lang="en-US" sz="1800" b="0" u="none" kern="0" dirty="0">
                    <a:solidFill>
                      <a:schemeClr val="bg1">
                        <a:lumMod val="50000"/>
                      </a:schemeClr>
                    </a:solidFill>
                  </a:rPr>
                  <a:t>(two-sided test)</a:t>
                </a:r>
                <a:br>
                  <a:rPr lang="en-US" sz="1800" b="0" u="none" kern="0" dirty="0">
                    <a:solidFill>
                      <a:schemeClr val="bg1">
                        <a:lumMod val="50000"/>
                      </a:schemeClr>
                    </a:solidFill>
                  </a:rPr>
                </a:br>
                <a:endParaRPr lang="en-US" sz="1800" b="0" u="none" kern="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Content Placeholder 3">
                <a:extLst>
                  <a:ext uri="{FF2B5EF4-FFF2-40B4-BE49-F238E27FC236}">
                    <a16:creationId xmlns:a16="http://schemas.microsoft.com/office/drawing/2014/main" id="{CB130BF4-908B-4597-9CE5-AF62F7A89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1089025"/>
                <a:ext cx="4143375" cy="5768975"/>
              </a:xfrm>
              <a:prstGeom prst="rect">
                <a:avLst/>
              </a:prstGeom>
              <a:blipFill>
                <a:blip r:embed="rId4"/>
                <a:stretch>
                  <a:fillRect l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154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7447-93D5-416D-9E01-446E1445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vs China Management Scores Hypothesis Testing</a:t>
            </a:r>
            <a:br>
              <a:rPr lang="en-US" dirty="0"/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data_wms.xlsx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F3554-7E07-4940-B683-651410436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89026"/>
                <a:ext cx="8437562" cy="5537968"/>
              </a:xfrm>
            </p:spPr>
            <p:txBody>
              <a:bodyPr/>
              <a:lstStyle/>
              <a:p>
                <a:r>
                  <a:rPr lang="en-US" dirty="0"/>
                  <a:t>Hypothesis test</a:t>
                </a:r>
              </a:p>
              <a:p>
                <a:pPr lvl="1"/>
                <a:r>
                  <a:rPr lang="en-US" dirty="0"/>
                  <a:t>H</a:t>
                </a:r>
                <a:r>
                  <a:rPr lang="en-US" baseline="-25000" dirty="0"/>
                  <a:t>0</a:t>
                </a:r>
                <a:r>
                  <a:rPr lang="en-US" dirty="0"/>
                  <a:t>: Management quality is the same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𝐶h𝑖𝑛𝑎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H</a:t>
                </a:r>
                <a:r>
                  <a:rPr lang="en-US" baseline="-25000" dirty="0"/>
                  <a:t>A</a:t>
                </a:r>
                <a:r>
                  <a:rPr lang="en-US" dirty="0"/>
                  <a:t>: Management quality is different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𝐶h𝑖𝑛𝑎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You find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(see above Excel file)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𝐶h𝑖𝑛𝑎</m:t>
                        </m:r>
                      </m:sub>
                    </m:sSub>
                  </m:oMath>
                </a14:m>
                <a:r>
                  <a:rPr lang="en-US" dirty="0"/>
                  <a:t>= 872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𝐶h𝑖𝑛𝑎</m:t>
                        </m:r>
                      </m:sub>
                    </m:sSub>
                  </m:oMath>
                </a14:m>
                <a:r>
                  <a:rPr lang="en-US" dirty="0"/>
                  <a:t>= 2.67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𝐶h𝑖𝑛𝑎</m:t>
                        </m:r>
                      </m:sub>
                    </m:sSub>
                  </m:oMath>
                </a14:m>
                <a:r>
                  <a:rPr lang="en-US" dirty="0"/>
                  <a:t>=.62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</m:oMath>
                </a14:m>
                <a:r>
                  <a:rPr lang="en-US" dirty="0"/>
                  <a:t>    = 947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   </a:t>
                </a:r>
                <a:r>
                  <a:rPr lang="en-US" dirty="0"/>
                  <a:t>= 3.26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   </a:t>
                </a:r>
                <a:r>
                  <a:rPr lang="en-US" dirty="0"/>
                  <a:t>=.63</a:t>
                </a:r>
              </a:p>
              <a:p>
                <a:endParaRPr lang="en-US" dirty="0"/>
              </a:p>
              <a:p>
                <a:r>
                  <a:rPr lang="en-US" dirty="0"/>
                  <a:t>Test statistic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𝐶h𝑖𝑛𝑎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𝑈𝑆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𝐶h𝑖𝑛𝑎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𝐶h𝑖𝑛𝑎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𝑈𝑆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𝑈𝑆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2.67−3.26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nor/>
                                </m:rPr>
                                <a:rPr lang="en-US" b="0" i="0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00044</m:t>
                              </m:r>
                              <m:r>
                                <a:rPr lang="en-US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.00042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US" i="1" dirty="0">
                  <a:solidFill>
                    <a:schemeClr val="accent6"/>
                  </a:solidFill>
                </a:endParaRPr>
              </a:p>
              <a:p>
                <a:endParaRPr lang="en-US" i="1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rgbClr val="00B0F0"/>
                    </a:solidFill>
                  </a:rPr>
                  <a:t>p-value</a:t>
                </a:r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0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F3554-7E07-4940-B683-651410436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89026"/>
                <a:ext cx="8437562" cy="5537968"/>
              </a:xfrm>
              <a:blipFill>
                <a:blip r:embed="rId2"/>
                <a:stretch>
                  <a:fillRect l="-650" t="-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234A8-AB71-4678-B749-C7DF452A57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60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010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ED02A-0EE4-91A9-12CA-0B7D650D4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ACFFF-DD2F-ECB7-559D-2C4E16F6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in Means Hypothesis Testing in Excel</a:t>
            </a:r>
            <a:br>
              <a:rPr lang="en-US" dirty="0"/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data_wms.xlsx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5795F-EDC1-2459-0093-D5BB5F8024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61</a:t>
            </a:fld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EAEE04-A4E0-8C9E-82B9-ADA7373DD5B2}"/>
              </a:ext>
            </a:extLst>
          </p:cNvPr>
          <p:cNvGrpSpPr/>
          <p:nvPr/>
        </p:nvGrpSpPr>
        <p:grpSpPr>
          <a:xfrm>
            <a:off x="208744" y="2099333"/>
            <a:ext cx="8726511" cy="2853348"/>
            <a:chOff x="208744" y="2099333"/>
            <a:chExt cx="8726511" cy="285334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BBF6984-04DF-DBFA-2FF5-7A80C697B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744" y="2362519"/>
              <a:ext cx="8726511" cy="2590162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88A11BC-401E-6F18-123E-9298ECDBD2B3}"/>
                </a:ext>
              </a:extLst>
            </p:cNvPr>
            <p:cNvCxnSpPr/>
            <p:nvPr/>
          </p:nvCxnSpPr>
          <p:spPr bwMode="auto">
            <a:xfrm>
              <a:off x="8078102" y="2099333"/>
              <a:ext cx="221836" cy="600582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64859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9F22A-A993-FD3F-CE79-CF68144BB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E35A8-E134-7DB5-07F8-C6C8DAEC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in Means Hypothesis Testing in Excel</a:t>
            </a:r>
            <a:br>
              <a:rPr lang="en-US" dirty="0"/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data_wms.xlsx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6CDF9-A068-CB27-6C15-1EBE9EDF81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62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68244-E0F6-F3B9-56A6-D21011982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760" y="2071498"/>
            <a:ext cx="3972479" cy="271500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92EF19-AEEF-7731-8381-FA496267499F}"/>
              </a:ext>
            </a:extLst>
          </p:cNvPr>
          <p:cNvCxnSpPr>
            <a:cxnSpLocks/>
          </p:cNvCxnSpPr>
          <p:nvPr/>
        </p:nvCxnSpPr>
        <p:spPr bwMode="auto">
          <a:xfrm flipH="1">
            <a:off x="5336177" y="2018211"/>
            <a:ext cx="679269" cy="6858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235C9E-86B9-93E1-8512-A9D230EAB2C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373717" y="2933700"/>
            <a:ext cx="1386312" cy="843271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5DD715A-0305-DF40-6EB5-B62C65500823}"/>
              </a:ext>
            </a:extLst>
          </p:cNvPr>
          <p:cNvSpPr txBox="1"/>
          <p:nvPr/>
        </p:nvSpPr>
        <p:spPr>
          <a:xfrm>
            <a:off x="6015446" y="1788522"/>
            <a:ext cx="1130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US scores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93D106-078A-59B4-152E-D1D98BF24D9B}"/>
              </a:ext>
            </a:extLst>
          </p:cNvPr>
          <p:cNvSpPr txBox="1"/>
          <p:nvPr/>
        </p:nvSpPr>
        <p:spPr>
          <a:xfrm>
            <a:off x="6760029" y="3607694"/>
            <a:ext cx="15969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Chinese scores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23D37FE-E817-D85E-579D-76C7F6B55AEE}"/>
              </a:ext>
            </a:extLst>
          </p:cNvPr>
          <p:cNvCxnSpPr>
            <a:cxnSpLocks/>
          </p:cNvCxnSpPr>
          <p:nvPr/>
        </p:nvCxnSpPr>
        <p:spPr bwMode="auto">
          <a:xfrm>
            <a:off x="1874520" y="2838542"/>
            <a:ext cx="825137" cy="53122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B842577-5682-A29E-7784-94499F92D231}"/>
              </a:ext>
            </a:extLst>
          </p:cNvPr>
          <p:cNvSpPr txBox="1"/>
          <p:nvPr/>
        </p:nvSpPr>
        <p:spPr>
          <a:xfrm>
            <a:off x="633228" y="1957799"/>
            <a:ext cx="19525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Click this if you included the column title in your ranges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088A7CB-3C83-9EE5-9C1A-C62F85DC2FA6}"/>
              </a:ext>
            </a:extLst>
          </p:cNvPr>
          <p:cNvCxnSpPr>
            <a:cxnSpLocks/>
          </p:cNvCxnSpPr>
          <p:nvPr/>
        </p:nvCxnSpPr>
        <p:spPr bwMode="auto">
          <a:xfrm flipV="1">
            <a:off x="4774474" y="3341044"/>
            <a:ext cx="156755" cy="172843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FCF9945-DDE6-9DA9-97F0-5C8E9649CAB9}"/>
              </a:ext>
            </a:extLst>
          </p:cNvPr>
          <p:cNvSpPr txBox="1"/>
          <p:nvPr/>
        </p:nvSpPr>
        <p:spPr>
          <a:xfrm>
            <a:off x="4699545" y="5121990"/>
            <a:ext cx="2060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If you enter nothing, the  default is 0</a:t>
            </a:r>
          </a:p>
        </p:txBody>
      </p:sp>
    </p:spTree>
    <p:extLst>
      <p:ext uri="{BB962C8B-B14F-4D97-AF65-F5344CB8AC3E}">
        <p14:creationId xmlns:p14="http://schemas.microsoft.com/office/powerpoint/2010/main" val="14023404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5403-2F8C-4BF7-A3E6-7A9DDD17C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vs China Management Scores t-Test in </a:t>
            </a:r>
            <a:r>
              <a:rPr lang="en-US" u="sng" dirty="0"/>
              <a:t>Excel</a:t>
            </a:r>
            <a:br>
              <a:rPr lang="en-US" u="sng" dirty="0"/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data_wms.xlsx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241A2E-4EDA-420D-A847-B201B966C6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63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29373-ADE7-4410-B549-EC9416CFF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048" y="1357776"/>
            <a:ext cx="5671904" cy="31300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90C609-B84D-D6FF-CA28-7FAC75C2C45D}"/>
                  </a:ext>
                </a:extLst>
              </p:cNvPr>
              <p:cNvSpPr txBox="1"/>
              <p:nvPr/>
            </p:nvSpPr>
            <p:spPr>
              <a:xfrm>
                <a:off x="2737012" y="4779108"/>
                <a:ext cx="3669979" cy="19241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u="none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1600" b="0" i="0" u="none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600" b="0" i="0" u="none" smtClean="0">
                          <a:latin typeface="Cambria Math" panose="02040503050406030204" pitchFamily="18" charset="0"/>
                        </a:rPr>
                        <m:t>statistic</m:t>
                      </m:r>
                      <m:r>
                        <a:rPr lang="en-US" sz="1600" b="0" u="non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u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u="none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sz="1600" i="1" u="none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sz="1600" i="1" u="none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sz="1600" i="1" u="none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𝐶h𝑖𝑛𝑎</m:t>
                              </m:r>
                            </m:sub>
                          </m:sSub>
                          <m:r>
                            <a:rPr lang="en-US" sz="1600" i="1" u="non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 u="none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sz="1600" i="1" u="none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sz="1600" i="1" u="none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sz="1600" i="1" u="none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𝑈𝑆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i="1" u="none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1600" i="1" u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 u="none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sz="1600" i="1" u="none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600" i="1" u="none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i="1" u="none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sz="1600" i="1" u="none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sz="1600" b="0" i="1" u="none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𝐶h𝑖𝑛𝑎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i="1" u="none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u="none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1600" b="0" i="1" u="none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𝐶h𝑖𝑛𝑎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i="1" u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600" i="1" u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 u="none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sz="1600" i="1" u="none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600" i="1" u="none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i="1" u="none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sz="1600" i="1" u="none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sz="1600" i="1" u="none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𝑈𝑆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i="1" u="none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u="none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1600" b="0" i="1" u="none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𝑈𝑆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sz="1600" i="1" u="none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1600" i="1" u="none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u="none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600" b="0" u="none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600" b="0" u="none">
                        <a:latin typeface="Cambria Math" panose="02040503050406030204" pitchFamily="18" charset="0"/>
                      </a:rPr>
                      <m:t>statistic</m:t>
                    </m:r>
                    <m:r>
                      <a:rPr lang="en-US" sz="1600" b="0" i="1" u="non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u="none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u="none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2.67−3.26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600" b="0" i="1" u="none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1600" b="0" i="1" u="none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u="none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0.3948</m:t>
                                </m:r>
                              </m:num>
                              <m:den>
                                <m:r>
                                  <a:rPr lang="en-US" sz="1600" b="0" i="1" u="none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947</m:t>
                                </m:r>
                              </m:den>
                            </m:f>
                            <m:r>
                              <a:rPr lang="en-US" sz="1600" b="0" i="1" u="none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600" b="0" i="1" u="none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u="none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0.3822</m:t>
                                </m:r>
                              </m:num>
                              <m:den>
                                <m:r>
                                  <a:rPr lang="en-US" sz="1600" b="0" i="1" u="none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872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sz="1600" b="0" i="1" u="non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−20</m:t>
                    </m:r>
                    <m:r>
                      <a:rPr lang="en-US" sz="16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.2181</m:t>
                    </m:r>
                  </m:oMath>
                </a14:m>
                <a:r>
                  <a:rPr lang="en-US" sz="1600" b="0" i="1" u="none" dirty="0">
                    <a:solidFill>
                      <a:schemeClr val="accent6"/>
                    </a:solidFill>
                  </a:rPr>
                  <a:t> </a:t>
                </a:r>
              </a:p>
              <a:p>
                <a:pPr algn="l"/>
                <a:endParaRPr lang="en-US" sz="1600" b="0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90C609-B84D-D6FF-CA28-7FAC75C2C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012" y="4779108"/>
                <a:ext cx="3669979" cy="19241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3F4C8D2-CCED-E1D9-6699-2254AA05889E}"/>
              </a:ext>
            </a:extLst>
          </p:cNvPr>
          <p:cNvSpPr/>
          <p:nvPr/>
        </p:nvSpPr>
        <p:spPr bwMode="auto">
          <a:xfrm>
            <a:off x="5708469" y="2220686"/>
            <a:ext cx="2214092" cy="2684417"/>
          </a:xfrm>
          <a:custGeom>
            <a:avLst/>
            <a:gdLst>
              <a:gd name="connsiteX0" fmla="*/ 1665514 w 2214092"/>
              <a:gd name="connsiteY0" fmla="*/ 0 h 2684417"/>
              <a:gd name="connsiteX1" fmla="*/ 2116182 w 2214092"/>
              <a:gd name="connsiteY1" fmla="*/ 1240971 h 2684417"/>
              <a:gd name="connsiteX2" fmla="*/ 0 w 2214092"/>
              <a:gd name="connsiteY2" fmla="*/ 2684417 h 2684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14092" h="2684417">
                <a:moveTo>
                  <a:pt x="1665514" y="0"/>
                </a:moveTo>
                <a:cubicBezTo>
                  <a:pt x="2029641" y="396784"/>
                  <a:pt x="2393768" y="793568"/>
                  <a:pt x="2116182" y="1240971"/>
                </a:cubicBezTo>
                <a:cubicBezTo>
                  <a:pt x="1838596" y="1688374"/>
                  <a:pt x="919298" y="2186395"/>
                  <a:pt x="0" y="2684417"/>
                </a:cubicBezTo>
              </a:path>
            </a:pathLst>
          </a:custGeom>
          <a:noFill/>
          <a:ln w="317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2F17530-6E1C-005C-8550-FA91DAA281F4}"/>
              </a:ext>
            </a:extLst>
          </p:cNvPr>
          <p:cNvSpPr/>
          <p:nvPr/>
        </p:nvSpPr>
        <p:spPr bwMode="auto">
          <a:xfrm>
            <a:off x="4781698" y="2207623"/>
            <a:ext cx="606731" cy="2651760"/>
          </a:xfrm>
          <a:custGeom>
            <a:avLst/>
            <a:gdLst>
              <a:gd name="connsiteX0" fmla="*/ 606731 w 606731"/>
              <a:gd name="connsiteY0" fmla="*/ 0 h 2651760"/>
              <a:gd name="connsiteX1" fmla="*/ 38496 w 606731"/>
              <a:gd name="connsiteY1" fmla="*/ 1756954 h 2651760"/>
              <a:gd name="connsiteX2" fmla="*/ 97279 w 606731"/>
              <a:gd name="connsiteY2" fmla="*/ 2651760 h 265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731" h="2651760">
                <a:moveTo>
                  <a:pt x="606731" y="0"/>
                </a:moveTo>
                <a:cubicBezTo>
                  <a:pt x="365068" y="657497"/>
                  <a:pt x="123405" y="1314994"/>
                  <a:pt x="38496" y="1756954"/>
                </a:cubicBezTo>
                <a:cubicBezTo>
                  <a:pt x="-46413" y="2198914"/>
                  <a:pt x="25433" y="2425337"/>
                  <a:pt x="97279" y="2651760"/>
                </a:cubicBezTo>
              </a:path>
            </a:pathLst>
          </a:custGeom>
          <a:noFill/>
          <a:ln w="317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CDBBF9D-A477-3C81-EBAD-0AE3DCAB8262}"/>
              </a:ext>
            </a:extLst>
          </p:cNvPr>
          <p:cNvSpPr/>
          <p:nvPr/>
        </p:nvSpPr>
        <p:spPr bwMode="auto">
          <a:xfrm>
            <a:off x="4972718" y="2481943"/>
            <a:ext cx="415711" cy="2782388"/>
          </a:xfrm>
          <a:custGeom>
            <a:avLst/>
            <a:gdLst>
              <a:gd name="connsiteX0" fmla="*/ 415711 w 415711"/>
              <a:gd name="connsiteY0" fmla="*/ 0 h 2782388"/>
              <a:gd name="connsiteX1" fmla="*/ 4231 w 415711"/>
              <a:gd name="connsiteY1" fmla="*/ 1593668 h 2782388"/>
              <a:gd name="connsiteX2" fmla="*/ 193642 w 415711"/>
              <a:gd name="connsiteY2" fmla="*/ 2122714 h 2782388"/>
              <a:gd name="connsiteX3" fmla="*/ 56482 w 415711"/>
              <a:gd name="connsiteY3" fmla="*/ 2782388 h 278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711" h="2782388">
                <a:moveTo>
                  <a:pt x="415711" y="0"/>
                </a:moveTo>
                <a:cubicBezTo>
                  <a:pt x="228476" y="619941"/>
                  <a:pt x="41242" y="1239882"/>
                  <a:pt x="4231" y="1593668"/>
                </a:cubicBezTo>
                <a:cubicBezTo>
                  <a:pt x="-32780" y="1947454"/>
                  <a:pt x="184934" y="1924594"/>
                  <a:pt x="193642" y="2122714"/>
                </a:cubicBezTo>
                <a:cubicBezTo>
                  <a:pt x="202350" y="2320834"/>
                  <a:pt x="129416" y="2551611"/>
                  <a:pt x="56482" y="2782388"/>
                </a:cubicBezTo>
              </a:path>
            </a:pathLst>
          </a:custGeom>
          <a:noFill/>
          <a:ln w="3175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0279690-79AD-E7B8-D927-612F4AAF38D9}"/>
              </a:ext>
            </a:extLst>
          </p:cNvPr>
          <p:cNvSpPr/>
          <p:nvPr/>
        </p:nvSpPr>
        <p:spPr bwMode="auto">
          <a:xfrm>
            <a:off x="5254052" y="2521131"/>
            <a:ext cx="1172874" cy="2743200"/>
          </a:xfrm>
          <a:custGeom>
            <a:avLst/>
            <a:gdLst>
              <a:gd name="connsiteX0" fmla="*/ 1172874 w 1172874"/>
              <a:gd name="connsiteY0" fmla="*/ 0 h 2743200"/>
              <a:gd name="connsiteX1" fmla="*/ 487074 w 1172874"/>
              <a:gd name="connsiteY1" fmla="*/ 770709 h 2743200"/>
              <a:gd name="connsiteX2" fmla="*/ 10279 w 1172874"/>
              <a:gd name="connsiteY2" fmla="*/ 2227218 h 2743200"/>
              <a:gd name="connsiteX3" fmla="*/ 206222 w 1172874"/>
              <a:gd name="connsiteY3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874" h="2743200">
                <a:moveTo>
                  <a:pt x="1172874" y="0"/>
                </a:moveTo>
                <a:cubicBezTo>
                  <a:pt x="926857" y="199753"/>
                  <a:pt x="680840" y="399506"/>
                  <a:pt x="487074" y="770709"/>
                </a:cubicBezTo>
                <a:cubicBezTo>
                  <a:pt x="293308" y="1141912"/>
                  <a:pt x="57088" y="1898469"/>
                  <a:pt x="10279" y="2227218"/>
                </a:cubicBezTo>
                <a:cubicBezTo>
                  <a:pt x="-36530" y="2555967"/>
                  <a:pt x="84846" y="2649583"/>
                  <a:pt x="206222" y="2743200"/>
                </a:cubicBezTo>
              </a:path>
            </a:pathLst>
          </a:custGeom>
          <a:noFill/>
          <a:ln w="3175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A6C6948-2B9E-BEBA-DEAE-987200FEF80B}"/>
              </a:ext>
            </a:extLst>
          </p:cNvPr>
          <p:cNvSpPr/>
          <p:nvPr/>
        </p:nvSpPr>
        <p:spPr bwMode="auto">
          <a:xfrm>
            <a:off x="6028509" y="2723606"/>
            <a:ext cx="1995345" cy="2769325"/>
          </a:xfrm>
          <a:custGeom>
            <a:avLst/>
            <a:gdLst>
              <a:gd name="connsiteX0" fmla="*/ 1378131 w 1995345"/>
              <a:gd name="connsiteY0" fmla="*/ 0 h 2769325"/>
              <a:gd name="connsiteX1" fmla="*/ 1926771 w 1995345"/>
              <a:gd name="connsiteY1" fmla="*/ 1365068 h 2769325"/>
              <a:gd name="connsiteX2" fmla="*/ 0 w 1995345"/>
              <a:gd name="connsiteY2" fmla="*/ 2769325 h 276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5345" h="2769325">
                <a:moveTo>
                  <a:pt x="1378131" y="0"/>
                </a:moveTo>
                <a:cubicBezTo>
                  <a:pt x="1767295" y="451757"/>
                  <a:pt x="2156460" y="903514"/>
                  <a:pt x="1926771" y="1365068"/>
                </a:cubicBezTo>
                <a:cubicBezTo>
                  <a:pt x="1697083" y="1826622"/>
                  <a:pt x="848541" y="2297973"/>
                  <a:pt x="0" y="2769325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496B880-EF49-61BF-755D-4EB3F0FD1B59}"/>
              </a:ext>
            </a:extLst>
          </p:cNvPr>
          <p:cNvSpPr/>
          <p:nvPr/>
        </p:nvSpPr>
        <p:spPr bwMode="auto">
          <a:xfrm>
            <a:off x="3526565" y="2684417"/>
            <a:ext cx="2508475" cy="2815046"/>
          </a:xfrm>
          <a:custGeom>
            <a:avLst/>
            <a:gdLst>
              <a:gd name="connsiteX0" fmla="*/ 2508475 w 2508475"/>
              <a:gd name="connsiteY0" fmla="*/ 0 h 2815046"/>
              <a:gd name="connsiteX1" fmla="*/ 52658 w 2508475"/>
              <a:gd name="connsiteY1" fmla="*/ 2044337 h 2815046"/>
              <a:gd name="connsiteX2" fmla="*/ 1065029 w 2508475"/>
              <a:gd name="connsiteY2" fmla="*/ 2815046 h 2815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475" h="2815046">
                <a:moveTo>
                  <a:pt x="2508475" y="0"/>
                </a:moveTo>
                <a:cubicBezTo>
                  <a:pt x="1400853" y="787581"/>
                  <a:pt x="293232" y="1575163"/>
                  <a:pt x="52658" y="2044337"/>
                </a:cubicBezTo>
                <a:cubicBezTo>
                  <a:pt x="-187916" y="2513511"/>
                  <a:pt x="438556" y="2664278"/>
                  <a:pt x="1065029" y="281504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B839368-CEDE-745D-64BA-71D29D42E211}"/>
              </a:ext>
            </a:extLst>
          </p:cNvPr>
          <p:cNvSpPr/>
          <p:nvPr/>
        </p:nvSpPr>
        <p:spPr bwMode="auto">
          <a:xfrm>
            <a:off x="964666" y="3422469"/>
            <a:ext cx="4560923" cy="2547257"/>
          </a:xfrm>
          <a:custGeom>
            <a:avLst/>
            <a:gdLst>
              <a:gd name="connsiteX0" fmla="*/ 707380 w 4560923"/>
              <a:gd name="connsiteY0" fmla="*/ 0 h 2547257"/>
              <a:gd name="connsiteX1" fmla="*/ 295900 w 4560923"/>
              <a:gd name="connsiteY1" fmla="*/ 1136468 h 2547257"/>
              <a:gd name="connsiteX2" fmla="*/ 4560923 w 4560923"/>
              <a:gd name="connsiteY2" fmla="*/ 2547257 h 254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60923" h="2547257">
                <a:moveTo>
                  <a:pt x="707380" y="0"/>
                </a:moveTo>
                <a:cubicBezTo>
                  <a:pt x="180511" y="355962"/>
                  <a:pt x="-346357" y="711925"/>
                  <a:pt x="295900" y="1136468"/>
                </a:cubicBezTo>
                <a:cubicBezTo>
                  <a:pt x="938157" y="1561011"/>
                  <a:pt x="2749540" y="2054134"/>
                  <a:pt x="4560923" y="2547257"/>
                </a:cubicBezTo>
              </a:path>
            </a:pathLst>
          </a:cu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6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87163-2CD4-4470-928A-04B69D8EB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vs China Management Scores t-Test in </a:t>
            </a:r>
            <a:r>
              <a:rPr lang="en-US" u="sng" dirty="0"/>
              <a:t>Stata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0C704C-652A-4708-BBD6-8B2B28C6D0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64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545FD-A673-44BC-9408-2E017F9EF3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590" t="16523" r="21643" b="34610"/>
          <a:stretch/>
        </p:blipFill>
        <p:spPr>
          <a:xfrm>
            <a:off x="820146" y="1534905"/>
            <a:ext cx="7503708" cy="420094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5C5E39E-6B11-089F-E70B-FFB8B6BBCD14}"/>
              </a:ext>
            </a:extLst>
          </p:cNvPr>
          <p:cNvCxnSpPr>
            <a:cxnSpLocks/>
          </p:cNvCxnSpPr>
          <p:nvPr/>
        </p:nvCxnSpPr>
        <p:spPr bwMode="auto">
          <a:xfrm flipH="1">
            <a:off x="3656596" y="2768394"/>
            <a:ext cx="489954" cy="33061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7FD9D4-FB89-9CF8-5BF6-B2A48682FAF1}"/>
              </a:ext>
            </a:extLst>
          </p:cNvPr>
          <p:cNvCxnSpPr>
            <a:cxnSpLocks/>
          </p:cNvCxnSpPr>
          <p:nvPr/>
        </p:nvCxnSpPr>
        <p:spPr bwMode="auto">
          <a:xfrm flipH="1">
            <a:off x="3656596" y="3028744"/>
            <a:ext cx="489954" cy="33061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19DA36E-4E87-4677-05B9-7D11E31B3728}"/>
              </a:ext>
            </a:extLst>
          </p:cNvPr>
          <p:cNvCxnSpPr>
            <a:cxnSpLocks/>
          </p:cNvCxnSpPr>
          <p:nvPr/>
        </p:nvCxnSpPr>
        <p:spPr bwMode="auto">
          <a:xfrm flipH="1">
            <a:off x="8165096" y="4266994"/>
            <a:ext cx="489954" cy="33061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12F950-9083-1D11-49AD-0221C40B2A0B}"/>
              </a:ext>
            </a:extLst>
          </p:cNvPr>
          <p:cNvCxnSpPr>
            <a:cxnSpLocks/>
          </p:cNvCxnSpPr>
          <p:nvPr/>
        </p:nvCxnSpPr>
        <p:spPr bwMode="auto">
          <a:xfrm flipH="1">
            <a:off x="5561596" y="5111544"/>
            <a:ext cx="489954" cy="33061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692469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07DD-13F6-4931-A280-B5D47BB8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4: Management Scores Test with Bootstrap (if time)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F4AB75-E64F-444F-AA4A-AD36D1A4F2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65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98350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88B9-22B1-4C4D-A5ED-DABE8D69D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680DE-A2D7-4087-BF29-235225C59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also compare the means of two samples using bootstrapping</a:t>
            </a:r>
          </a:p>
          <a:p>
            <a:endParaRPr lang="en-US" dirty="0"/>
          </a:p>
          <a:p>
            <a:r>
              <a:rPr lang="en-US" sz="2000" b="0" u="none" kern="0" dirty="0"/>
              <a:t>For both China and the US, we take 1000 random draws from our samples, with replacement</a:t>
            </a:r>
          </a:p>
          <a:p>
            <a:endParaRPr lang="en-US" sz="2000" b="0" u="none" kern="0" dirty="0"/>
          </a:p>
          <a:p>
            <a:r>
              <a:rPr lang="en-US" sz="2000" b="0" u="none" kern="0" dirty="0"/>
              <a:t>For each draw, we compute the mean management score for each country, and take their difference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E2753-1CE5-4E87-B37A-089603B9B6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66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83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82977-FD60-F159-6EC1-6CDC21BD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Bootstrap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B4F79B-0BAF-E352-AA43-8B6550284C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67</a:t>
            </a:fld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83A091-58C1-4A90-9291-B2C732CAA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6" y="1410462"/>
            <a:ext cx="4581144" cy="4570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DA8030-F009-44E1-85E7-AE73705193C2}"/>
              </a:ext>
            </a:extLst>
          </p:cNvPr>
          <p:cNvSpPr txBox="1"/>
          <p:nvPr/>
        </p:nvSpPr>
        <p:spPr>
          <a:xfrm>
            <a:off x="5005702" y="3837687"/>
            <a:ext cx="1367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u="none" dirty="0">
                <a:solidFill>
                  <a:srgbClr val="FF7F00"/>
                </a:solidFill>
                <a:latin typeface="Arial" pitchFamily="34" charset="0"/>
                <a:cs typeface="Arial" pitchFamily="34" charset="0"/>
              </a:rPr>
              <a:t>compute mean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E14685-990A-46F1-ABD7-52F99D587482}"/>
              </a:ext>
            </a:extLst>
          </p:cNvPr>
          <p:cNvSpPr txBox="1"/>
          <p:nvPr/>
        </p:nvSpPr>
        <p:spPr>
          <a:xfrm>
            <a:off x="6608205" y="3837687"/>
            <a:ext cx="1367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u="none" dirty="0">
                <a:latin typeface="Arial" pitchFamily="34" charset="0"/>
                <a:cs typeface="Arial" pitchFamily="34" charset="0"/>
              </a:rPr>
              <a:t>compute mean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31B3A43-7ADE-4909-A4E3-BB85932D97B6}"/>
              </a:ext>
            </a:extLst>
          </p:cNvPr>
          <p:cNvSpPr/>
          <p:nvPr/>
        </p:nvSpPr>
        <p:spPr>
          <a:xfrm>
            <a:off x="6065936" y="4235605"/>
            <a:ext cx="260131" cy="244366"/>
          </a:xfrm>
          <a:custGeom>
            <a:avLst/>
            <a:gdLst>
              <a:gd name="connsiteX0" fmla="*/ 0 w 260131"/>
              <a:gd name="connsiteY0" fmla="*/ 0 h 244366"/>
              <a:gd name="connsiteX1" fmla="*/ 141889 w 260131"/>
              <a:gd name="connsiteY1" fmla="*/ 78828 h 244366"/>
              <a:gd name="connsiteX2" fmla="*/ 260131 w 260131"/>
              <a:gd name="connsiteY2" fmla="*/ 244366 h 244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0131" h="244366">
                <a:moveTo>
                  <a:pt x="0" y="0"/>
                </a:moveTo>
                <a:cubicBezTo>
                  <a:pt x="49267" y="19050"/>
                  <a:pt x="98534" y="38100"/>
                  <a:pt x="141889" y="78828"/>
                </a:cubicBezTo>
                <a:cubicBezTo>
                  <a:pt x="185244" y="119556"/>
                  <a:pt x="222687" y="181961"/>
                  <a:pt x="260131" y="244366"/>
                </a:cubicBezTo>
              </a:path>
            </a:pathLst>
          </a:custGeom>
          <a:noFill/>
          <a:ln>
            <a:solidFill>
              <a:srgbClr val="FF7F00"/>
            </a:solidFill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8F6E56E-7B9A-44A0-9CB7-710E1E6C2933}"/>
              </a:ext>
            </a:extLst>
          </p:cNvPr>
          <p:cNvSpPr/>
          <p:nvPr/>
        </p:nvSpPr>
        <p:spPr>
          <a:xfrm flipH="1">
            <a:off x="6447274" y="4237256"/>
            <a:ext cx="260131" cy="244366"/>
          </a:xfrm>
          <a:custGeom>
            <a:avLst/>
            <a:gdLst>
              <a:gd name="connsiteX0" fmla="*/ 0 w 260131"/>
              <a:gd name="connsiteY0" fmla="*/ 0 h 244366"/>
              <a:gd name="connsiteX1" fmla="*/ 141889 w 260131"/>
              <a:gd name="connsiteY1" fmla="*/ 78828 h 244366"/>
              <a:gd name="connsiteX2" fmla="*/ 260131 w 260131"/>
              <a:gd name="connsiteY2" fmla="*/ 244366 h 244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0131" h="244366">
                <a:moveTo>
                  <a:pt x="0" y="0"/>
                </a:moveTo>
                <a:cubicBezTo>
                  <a:pt x="49267" y="19050"/>
                  <a:pt x="98534" y="38100"/>
                  <a:pt x="141889" y="78828"/>
                </a:cubicBezTo>
                <a:cubicBezTo>
                  <a:pt x="185244" y="119556"/>
                  <a:pt x="222687" y="181961"/>
                  <a:pt x="260131" y="244366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78EA96-0CC4-4487-9010-B61385989E19}"/>
              </a:ext>
            </a:extLst>
          </p:cNvPr>
          <p:cNvSpPr txBox="1"/>
          <p:nvPr/>
        </p:nvSpPr>
        <p:spPr>
          <a:xfrm>
            <a:off x="5902634" y="4490058"/>
            <a:ext cx="966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compute </a:t>
            </a:r>
          </a:p>
          <a:p>
            <a:pPr algn="ctr"/>
            <a:r>
              <a:rPr lang="en-US" sz="14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difference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8C5F2ED4-5B02-4EAA-BAAB-2AE4F68D8078}"/>
              </a:ext>
            </a:extLst>
          </p:cNvPr>
          <p:cNvSpPr/>
          <p:nvPr/>
        </p:nvSpPr>
        <p:spPr>
          <a:xfrm>
            <a:off x="3529004" y="2006895"/>
            <a:ext cx="3606088" cy="1804737"/>
          </a:xfrm>
          <a:custGeom>
            <a:avLst/>
            <a:gdLst>
              <a:gd name="connsiteX0" fmla="*/ 0 w 2194560"/>
              <a:gd name="connsiteY0" fmla="*/ 891012 h 891012"/>
              <a:gd name="connsiteX1" fmla="*/ 1417320 w 2194560"/>
              <a:gd name="connsiteY1" fmla="*/ 22332 h 891012"/>
              <a:gd name="connsiteX2" fmla="*/ 2194560 w 2194560"/>
              <a:gd name="connsiteY2" fmla="*/ 342372 h 891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4560" h="891012">
                <a:moveTo>
                  <a:pt x="0" y="891012"/>
                </a:moveTo>
                <a:cubicBezTo>
                  <a:pt x="525780" y="502392"/>
                  <a:pt x="1051560" y="113772"/>
                  <a:pt x="1417320" y="22332"/>
                </a:cubicBezTo>
                <a:cubicBezTo>
                  <a:pt x="1783080" y="-69108"/>
                  <a:pt x="1988820" y="136632"/>
                  <a:pt x="2194560" y="342372"/>
                </a:cubicBezTo>
              </a:path>
            </a:pathLst>
          </a:custGeom>
          <a:noFill/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E44FCE4-3A80-4061-8732-AC42303F431B}"/>
              </a:ext>
            </a:extLst>
          </p:cNvPr>
          <p:cNvSpPr/>
          <p:nvPr/>
        </p:nvSpPr>
        <p:spPr>
          <a:xfrm>
            <a:off x="3028148" y="2447733"/>
            <a:ext cx="2798844" cy="1506381"/>
          </a:xfrm>
          <a:custGeom>
            <a:avLst/>
            <a:gdLst>
              <a:gd name="connsiteX0" fmla="*/ 0 w 2232660"/>
              <a:gd name="connsiteY0" fmla="*/ 1536962 h 1536962"/>
              <a:gd name="connsiteX1" fmla="*/ 1524000 w 2232660"/>
              <a:gd name="connsiteY1" fmla="*/ 96782 h 1536962"/>
              <a:gd name="connsiteX2" fmla="*/ 2232660 w 2232660"/>
              <a:gd name="connsiteY2" fmla="*/ 249182 h 1536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2660" h="1536962">
                <a:moveTo>
                  <a:pt x="0" y="1536962"/>
                </a:moveTo>
                <a:cubicBezTo>
                  <a:pt x="575945" y="924187"/>
                  <a:pt x="1151890" y="311412"/>
                  <a:pt x="1524000" y="96782"/>
                </a:cubicBezTo>
                <a:cubicBezTo>
                  <a:pt x="1896110" y="-117848"/>
                  <a:pt x="2064385" y="65667"/>
                  <a:pt x="2232660" y="249182"/>
                </a:cubicBezTo>
              </a:path>
            </a:pathLst>
          </a:custGeom>
          <a:noFill/>
          <a:ln>
            <a:solidFill>
              <a:srgbClr val="FF7F00"/>
            </a:solidFill>
            <a:prstDash val="dash"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63C3FB-E97E-440E-9121-2415F8D63366}"/>
              </a:ext>
            </a:extLst>
          </p:cNvPr>
          <p:cNvSpPr txBox="1"/>
          <p:nvPr/>
        </p:nvSpPr>
        <p:spPr>
          <a:xfrm>
            <a:off x="5156395" y="2766902"/>
            <a:ext cx="11887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solidFill>
                  <a:srgbClr val="FF7F00"/>
                </a:solidFill>
                <a:latin typeface="Arial" pitchFamily="34" charset="0"/>
                <a:cs typeface="Arial" pitchFamily="34" charset="0"/>
              </a:rPr>
              <a:t>Take 872 draws with replacement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32D5F8-5582-4E0D-AB01-41FBF966696B}"/>
              </a:ext>
            </a:extLst>
          </p:cNvPr>
          <p:cNvSpPr txBox="1"/>
          <p:nvPr/>
        </p:nvSpPr>
        <p:spPr>
          <a:xfrm>
            <a:off x="6549691" y="2766902"/>
            <a:ext cx="11887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latin typeface="Arial" pitchFamily="34" charset="0"/>
                <a:cs typeface="Arial" pitchFamily="34" charset="0"/>
              </a:rPr>
              <a:t>Take 947 draws with replacement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74DBE1EA-868F-EC9A-ABFC-F818CDF81374}"/>
              </a:ext>
            </a:extLst>
          </p:cNvPr>
          <p:cNvSpPr/>
          <p:nvPr/>
        </p:nvSpPr>
        <p:spPr bwMode="auto">
          <a:xfrm rot="10800000">
            <a:off x="7970060" y="2729942"/>
            <a:ext cx="122677" cy="2371224"/>
          </a:xfrm>
          <a:prstGeom prst="leftBrac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DE49BB-C055-0C45-5679-63327EC6DD92}"/>
              </a:ext>
            </a:extLst>
          </p:cNvPr>
          <p:cNvSpPr txBox="1"/>
          <p:nvPr/>
        </p:nvSpPr>
        <p:spPr>
          <a:xfrm>
            <a:off x="8031398" y="3664878"/>
            <a:ext cx="11333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Do this 1000x, then plot</a:t>
            </a:r>
          </a:p>
        </p:txBody>
      </p:sp>
    </p:spTree>
    <p:extLst>
      <p:ext uri="{BB962C8B-B14F-4D97-AF65-F5344CB8AC3E}">
        <p14:creationId xmlns:p14="http://schemas.microsoft.com/office/powerpoint/2010/main" val="161020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  <p:bldP spid="8" grpId="0" animBg="1"/>
      <p:bldP spid="22" grpId="0" animBg="1"/>
      <p:bldP spid="23" grpId="0"/>
      <p:bldP spid="37" grpId="0" animBg="1"/>
      <p:bldP spid="40" grpId="0" animBg="1"/>
      <p:bldP spid="41" grpId="0"/>
      <p:bldP spid="42" grpId="0"/>
      <p:bldP spid="26" grpId="0" animBg="1"/>
      <p:bldP spid="2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21FFDD-F6C2-D15F-74DD-7F627A41328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152" y="1410462"/>
            <a:ext cx="4581144" cy="4570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182977-FD60-F159-6EC1-6CDC21BD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US Firms Better Managed than Chinese Firms?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B4F79B-0BAF-E352-AA43-8B6550284C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68</a:t>
            </a:fld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83A091-58C1-4A90-9291-B2C732CAA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7" y="1410462"/>
            <a:ext cx="4581144" cy="457047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A6D2EFD-8EE1-438E-847C-DE5D1E82EA3F}"/>
              </a:ext>
            </a:extLst>
          </p:cNvPr>
          <p:cNvSpPr txBox="1"/>
          <p:nvPr/>
        </p:nvSpPr>
        <p:spPr>
          <a:xfrm>
            <a:off x="6284339" y="2213012"/>
            <a:ext cx="1380496" cy="1600438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Each point on this distribution is the difference in the means for one of the 1000 draws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9D708C1-ED15-4FCD-9FB5-4955DB6AA6DB}"/>
              </a:ext>
            </a:extLst>
          </p:cNvPr>
          <p:cNvSpPr/>
          <p:nvPr/>
        </p:nvSpPr>
        <p:spPr>
          <a:xfrm>
            <a:off x="5918200" y="2540000"/>
            <a:ext cx="78828" cy="9459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1800" b="0" u="none" dirty="0">
              <a:solidFill>
                <a:schemeClr val="accent6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26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35E9D-5CEC-B278-97B0-B9038601F0D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152" y="1410462"/>
            <a:ext cx="4581144" cy="4570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182977-FD60-F159-6EC1-6CDC21BD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US Firms Better Managed than Chinese Firms?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B4F79B-0BAF-E352-AA43-8B6550284C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69</a:t>
            </a:fld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83A091-58C1-4A90-9291-B2C732CAA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7" y="1410462"/>
            <a:ext cx="4581144" cy="457047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9897A6D-D1BC-4F05-BE5D-F547EC505E1F}"/>
              </a:ext>
            </a:extLst>
          </p:cNvPr>
          <p:cNvSpPr txBox="1"/>
          <p:nvPr/>
        </p:nvSpPr>
        <p:spPr>
          <a:xfrm>
            <a:off x="694078" y="2664342"/>
            <a:ext cx="1465863" cy="52322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Actual difference is -.6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FEA495-AB7A-4E64-8722-83671AAA9E79}"/>
              </a:ext>
            </a:extLst>
          </p:cNvPr>
          <p:cNvCxnSpPr/>
          <p:nvPr/>
        </p:nvCxnSpPr>
        <p:spPr bwMode="auto">
          <a:xfrm>
            <a:off x="2262374" y="2095500"/>
            <a:ext cx="0" cy="32689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7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5E4473-CA49-46DB-B020-15E65E7DADB4}"/>
              </a:ext>
            </a:extLst>
          </p:cNvPr>
          <p:cNvCxnSpPr/>
          <p:nvPr/>
        </p:nvCxnSpPr>
        <p:spPr bwMode="auto">
          <a:xfrm>
            <a:off x="2864354" y="2095500"/>
            <a:ext cx="0" cy="32689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BBB6193-19C8-4509-B8B5-74F06631A3EF}"/>
              </a:ext>
            </a:extLst>
          </p:cNvPr>
          <p:cNvSpPr txBox="1"/>
          <p:nvPr/>
        </p:nvSpPr>
        <p:spPr>
          <a:xfrm>
            <a:off x="1751755" y="1906597"/>
            <a:ext cx="99008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solidFill>
                  <a:srgbClr val="FF7F00"/>
                </a:solidFill>
                <a:latin typeface="Arial" pitchFamily="34" charset="0"/>
                <a:cs typeface="Arial" pitchFamily="34" charset="0"/>
              </a:rPr>
              <a:t>Mean</a:t>
            </a:r>
            <a:br>
              <a:rPr lang="en-US" sz="1400" b="0" u="none" dirty="0">
                <a:solidFill>
                  <a:srgbClr val="FF7F00"/>
                </a:solidFill>
                <a:latin typeface="Arial" pitchFamily="34" charset="0"/>
                <a:cs typeface="Arial" pitchFamily="34" charset="0"/>
              </a:rPr>
            </a:br>
            <a:r>
              <a:rPr lang="en-US" sz="1400" b="0" u="none" dirty="0">
                <a:solidFill>
                  <a:srgbClr val="FF7F00"/>
                </a:solidFill>
                <a:latin typeface="Arial" pitchFamily="34" charset="0"/>
                <a:cs typeface="Arial" pitchFamily="34" charset="0"/>
              </a:rPr>
              <a:t> 2.7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29E446-97BF-4EB0-BF26-A36E4063EA3D}"/>
              </a:ext>
            </a:extLst>
          </p:cNvPr>
          <p:cNvSpPr txBox="1"/>
          <p:nvPr/>
        </p:nvSpPr>
        <p:spPr>
          <a:xfrm>
            <a:off x="2406290" y="1906597"/>
            <a:ext cx="91006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latin typeface="Arial" pitchFamily="34" charset="0"/>
                <a:cs typeface="Arial" pitchFamily="34" charset="0"/>
              </a:rPr>
              <a:t>Mean 3.3</a:t>
            </a:r>
          </a:p>
        </p:txBody>
      </p:sp>
    </p:spTree>
    <p:extLst>
      <p:ext uri="{BB962C8B-B14F-4D97-AF65-F5344CB8AC3E}">
        <p14:creationId xmlns:p14="http://schemas.microsoft.com/office/powerpoint/2010/main" val="4406831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E37873-3319-FDBB-FDBB-B40A1285E15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085" y="1410462"/>
            <a:ext cx="4581144" cy="4570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182977-FD60-F159-6EC1-6CDC21BD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US Firms Better Managed than Chinese Firms?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B4F79B-0BAF-E352-AA43-8B6550284C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70</a:t>
            </a:fld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83A091-58C1-4A90-9291-B2C732CAA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7" y="1410462"/>
            <a:ext cx="4581144" cy="4570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5AB075-30AD-4A97-8B37-4CC5137B3EC0}"/>
              </a:ext>
            </a:extLst>
          </p:cNvPr>
          <p:cNvSpPr txBox="1"/>
          <p:nvPr/>
        </p:nvSpPr>
        <p:spPr>
          <a:xfrm>
            <a:off x="6134784" y="2030742"/>
            <a:ext cx="1830708" cy="267765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The 1000 bootstrap differences pile up around the actual difference, -.59. </a:t>
            </a:r>
          </a:p>
          <a:p>
            <a:endParaRPr lang="en-US" sz="1400" b="0" u="none" dirty="0">
              <a:solidFill>
                <a:schemeClr val="accent6"/>
              </a:solidFill>
              <a:cs typeface="Arial" pitchFamily="34" charset="0"/>
            </a:endParaRPr>
          </a:p>
          <a:p>
            <a:r>
              <a:rPr lang="en-US" sz="14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95% of them lie between -.65 and -.54, nowhere near 0</a:t>
            </a:r>
          </a:p>
          <a:p>
            <a:endParaRPr lang="en-US" sz="1400" b="0" u="none" dirty="0">
              <a:solidFill>
                <a:schemeClr val="accent6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So, would you reject the null hypothesis of equal means?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897A6D-D1BC-4F05-BE5D-F547EC505E1F}"/>
              </a:ext>
            </a:extLst>
          </p:cNvPr>
          <p:cNvSpPr txBox="1"/>
          <p:nvPr/>
        </p:nvSpPr>
        <p:spPr>
          <a:xfrm>
            <a:off x="694078" y="2664342"/>
            <a:ext cx="1465863" cy="52322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Actual difference is -.6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FEA495-AB7A-4E64-8722-83671AAA9E79}"/>
              </a:ext>
            </a:extLst>
          </p:cNvPr>
          <p:cNvCxnSpPr/>
          <p:nvPr/>
        </p:nvCxnSpPr>
        <p:spPr bwMode="auto">
          <a:xfrm>
            <a:off x="2262374" y="2095500"/>
            <a:ext cx="0" cy="32689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7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5E4473-CA49-46DB-B020-15E65E7DADB4}"/>
              </a:ext>
            </a:extLst>
          </p:cNvPr>
          <p:cNvCxnSpPr/>
          <p:nvPr/>
        </p:nvCxnSpPr>
        <p:spPr bwMode="auto">
          <a:xfrm>
            <a:off x="2864354" y="2095500"/>
            <a:ext cx="0" cy="32689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BBB6193-19C8-4509-B8B5-74F06631A3EF}"/>
              </a:ext>
            </a:extLst>
          </p:cNvPr>
          <p:cNvSpPr txBox="1"/>
          <p:nvPr/>
        </p:nvSpPr>
        <p:spPr>
          <a:xfrm>
            <a:off x="1751755" y="1906597"/>
            <a:ext cx="99008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solidFill>
                  <a:srgbClr val="FF7F00"/>
                </a:solidFill>
                <a:latin typeface="Arial" pitchFamily="34" charset="0"/>
                <a:cs typeface="Arial" pitchFamily="34" charset="0"/>
              </a:rPr>
              <a:t>Mean</a:t>
            </a:r>
            <a:br>
              <a:rPr lang="en-US" sz="1400" b="0" u="none" dirty="0">
                <a:solidFill>
                  <a:srgbClr val="FF7F00"/>
                </a:solidFill>
                <a:latin typeface="Arial" pitchFamily="34" charset="0"/>
                <a:cs typeface="Arial" pitchFamily="34" charset="0"/>
              </a:rPr>
            </a:br>
            <a:r>
              <a:rPr lang="en-US" sz="1400" b="0" u="none" dirty="0">
                <a:solidFill>
                  <a:srgbClr val="FF7F00"/>
                </a:solidFill>
                <a:latin typeface="Arial" pitchFamily="34" charset="0"/>
                <a:cs typeface="Arial" pitchFamily="34" charset="0"/>
              </a:rPr>
              <a:t> 2.7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29E446-97BF-4EB0-BF26-A36E4063EA3D}"/>
              </a:ext>
            </a:extLst>
          </p:cNvPr>
          <p:cNvSpPr txBox="1"/>
          <p:nvPr/>
        </p:nvSpPr>
        <p:spPr>
          <a:xfrm>
            <a:off x="2406290" y="1906597"/>
            <a:ext cx="91006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latin typeface="Arial" pitchFamily="34" charset="0"/>
                <a:cs typeface="Arial" pitchFamily="34" charset="0"/>
              </a:rPr>
              <a:t>Mean 3.3</a:t>
            </a:r>
          </a:p>
        </p:txBody>
      </p:sp>
    </p:spTree>
    <p:extLst>
      <p:ext uri="{BB962C8B-B14F-4D97-AF65-F5344CB8AC3E}">
        <p14:creationId xmlns:p14="http://schemas.microsoft.com/office/powerpoint/2010/main" val="23929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30E7DB-FD36-FEE3-1CA4-F5850D50930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085" y="1410462"/>
            <a:ext cx="4581144" cy="4570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182977-FD60-F159-6EC1-6CDC21BD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US Firms Better Managed than Chinese Firms?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B4F79B-0BAF-E352-AA43-8B6550284C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71</a:t>
            </a:fld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83A091-58C1-4A90-9291-B2C732CAA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7" y="1410462"/>
            <a:ext cx="4581144" cy="457047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9897A6D-D1BC-4F05-BE5D-F547EC505E1F}"/>
              </a:ext>
            </a:extLst>
          </p:cNvPr>
          <p:cNvSpPr txBox="1"/>
          <p:nvPr/>
        </p:nvSpPr>
        <p:spPr>
          <a:xfrm>
            <a:off x="694078" y="2664342"/>
            <a:ext cx="1465863" cy="52322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Actual difference is -.6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FEA495-AB7A-4E64-8722-83671AAA9E79}"/>
              </a:ext>
            </a:extLst>
          </p:cNvPr>
          <p:cNvCxnSpPr/>
          <p:nvPr/>
        </p:nvCxnSpPr>
        <p:spPr bwMode="auto">
          <a:xfrm>
            <a:off x="2262374" y="2095500"/>
            <a:ext cx="0" cy="32689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7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5E4473-CA49-46DB-B020-15E65E7DADB4}"/>
              </a:ext>
            </a:extLst>
          </p:cNvPr>
          <p:cNvCxnSpPr/>
          <p:nvPr/>
        </p:nvCxnSpPr>
        <p:spPr bwMode="auto">
          <a:xfrm>
            <a:off x="2864354" y="2095500"/>
            <a:ext cx="0" cy="32689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BBB6193-19C8-4509-B8B5-74F06631A3EF}"/>
              </a:ext>
            </a:extLst>
          </p:cNvPr>
          <p:cNvSpPr txBox="1"/>
          <p:nvPr/>
        </p:nvSpPr>
        <p:spPr>
          <a:xfrm>
            <a:off x="1751755" y="1906597"/>
            <a:ext cx="99008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solidFill>
                  <a:srgbClr val="FF7F00"/>
                </a:solidFill>
                <a:latin typeface="Arial" pitchFamily="34" charset="0"/>
                <a:cs typeface="Arial" pitchFamily="34" charset="0"/>
              </a:rPr>
              <a:t>Mean</a:t>
            </a:r>
            <a:br>
              <a:rPr lang="en-US" sz="1400" b="0" u="none" dirty="0">
                <a:solidFill>
                  <a:srgbClr val="FF7F00"/>
                </a:solidFill>
                <a:latin typeface="Arial" pitchFamily="34" charset="0"/>
                <a:cs typeface="Arial" pitchFamily="34" charset="0"/>
              </a:rPr>
            </a:br>
            <a:r>
              <a:rPr lang="en-US" sz="1400" b="0" u="none" dirty="0">
                <a:solidFill>
                  <a:srgbClr val="FF7F00"/>
                </a:solidFill>
                <a:latin typeface="Arial" pitchFamily="34" charset="0"/>
                <a:cs typeface="Arial" pitchFamily="34" charset="0"/>
              </a:rPr>
              <a:t> 2.7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29E446-97BF-4EB0-BF26-A36E4063EA3D}"/>
              </a:ext>
            </a:extLst>
          </p:cNvPr>
          <p:cNvSpPr txBox="1"/>
          <p:nvPr/>
        </p:nvSpPr>
        <p:spPr>
          <a:xfrm>
            <a:off x="2406290" y="1906597"/>
            <a:ext cx="91006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latin typeface="Arial" pitchFamily="34" charset="0"/>
                <a:cs typeface="Arial" pitchFamily="34" charset="0"/>
              </a:rPr>
              <a:t>Mean 3.3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9F94C8-B3CA-4B09-ABF0-31EFADCF6122}"/>
                  </a:ext>
                </a:extLst>
              </p:cNvPr>
              <p:cNvSpPr txBox="1"/>
              <p:nvPr/>
            </p:nvSpPr>
            <p:spPr>
              <a:xfrm>
                <a:off x="6147281" y="2066203"/>
                <a:ext cx="1780483" cy="2677656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b="0" u="none" dirty="0">
                    <a:solidFill>
                      <a:schemeClr val="accent6"/>
                    </a:solidFill>
                    <a:latin typeface="Arial" pitchFamily="34" charset="0"/>
                    <a:cs typeface="Arial" pitchFamily="34" charset="0"/>
                  </a:rPr>
                  <a:t>The middle 95% of the 1000 draws (the 2.5th to 97.5th percentiles) give a bootstrap </a:t>
                </a:r>
                <a14:m>
                  <m:oMath xmlns:m="http://schemas.openxmlformats.org/officeDocument/2006/math">
                    <m:r>
                      <a:rPr lang="en-US" sz="1400" b="0" i="1" u="none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𝐶</m:t>
                    </m:r>
                    <m:sSup>
                      <m:sSupPr>
                        <m:ctrlPr>
                          <a:rPr lang="en-US" sz="1400" b="0" i="1" u="none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sz="1400" b="0" i="1" u="none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𝐼</m:t>
                        </m:r>
                      </m:e>
                      <m:sup>
                        <m:r>
                          <a:rPr lang="en-US" sz="1400" b="0" i="1" u="none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  <a:latin typeface="Arial" pitchFamily="34" charset="0"/>
                    <a:cs typeface="Arial" pitchFamily="34" charset="0"/>
                  </a:rPr>
                  <a:t> for the difference: </a:t>
                </a:r>
                <a:br>
                  <a:rPr lang="en-US" sz="1400" b="0" u="none" dirty="0">
                    <a:solidFill>
                      <a:schemeClr val="accent6"/>
                    </a:solidFill>
                    <a:latin typeface="Arial" pitchFamily="34" charset="0"/>
                    <a:cs typeface="Arial" pitchFamily="34" charset="0"/>
                  </a:rPr>
                </a:br>
                <a:r>
                  <a:rPr lang="en-US" sz="1400" b="0" u="none" dirty="0">
                    <a:solidFill>
                      <a:schemeClr val="accent6"/>
                    </a:solidFill>
                    <a:latin typeface="Arial" pitchFamily="34" charset="0"/>
                    <a:cs typeface="Arial" pitchFamily="34" charset="0"/>
                  </a:rPr>
                  <a:t>[-.65, -.54]</a:t>
                </a:r>
              </a:p>
              <a:p>
                <a:endParaRPr lang="en-US" sz="1400" b="0" u="none" dirty="0">
                  <a:solidFill>
                    <a:schemeClr val="accent6"/>
                  </a:solidFill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sz="1400" b="0" u="none" dirty="0">
                    <a:solidFill>
                      <a:schemeClr val="accent6"/>
                    </a:solidFill>
                    <a:latin typeface="Arial" pitchFamily="34" charset="0"/>
                    <a:cs typeface="Arial" pitchFamily="34" charset="0"/>
                  </a:rPr>
                  <a:t>Since 0 is far outside this interval, we reject the null at the 95% level!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9F94C8-B3CA-4B09-ABF0-31EFADCF6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7281" y="2066203"/>
                <a:ext cx="1780483" cy="2677656"/>
              </a:xfrm>
              <a:prstGeom prst="rect">
                <a:avLst/>
              </a:prstGeom>
              <a:blipFill>
                <a:blip r:embed="rId5"/>
                <a:stretch>
                  <a:fillRect l="-1027" t="-456" r="-2055" b="-1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2784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8FD84-2E16-6FA7-4C07-2CD8A6591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13D2-F1E1-4518-2A8B-27F5CBBB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vs China Management Scores t-Test in </a:t>
            </a:r>
            <a:r>
              <a:rPr lang="en-US" u="sng" dirty="0"/>
              <a:t>Stata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A5BE31-4A73-A898-9701-20FBB641BB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72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BFAC2F-F4A8-9A29-09AC-294BB7F7E7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590" t="16523" r="21643" b="34610"/>
          <a:stretch/>
        </p:blipFill>
        <p:spPr>
          <a:xfrm>
            <a:off x="820146" y="1534905"/>
            <a:ext cx="7503708" cy="420094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BCDAEBD-9BA3-CB11-EF75-829AF8F93DC8}"/>
              </a:ext>
            </a:extLst>
          </p:cNvPr>
          <p:cNvCxnSpPr>
            <a:cxnSpLocks/>
          </p:cNvCxnSpPr>
          <p:nvPr/>
        </p:nvCxnSpPr>
        <p:spPr bwMode="auto">
          <a:xfrm flipH="1">
            <a:off x="8165096" y="3833505"/>
            <a:ext cx="489954" cy="33061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F2FEC5-80D9-03CD-493B-77B392473ED1}"/>
              </a:ext>
            </a:extLst>
          </p:cNvPr>
          <p:cNvCxnSpPr>
            <a:cxnSpLocks/>
          </p:cNvCxnSpPr>
          <p:nvPr/>
        </p:nvCxnSpPr>
        <p:spPr bwMode="auto">
          <a:xfrm flipH="1">
            <a:off x="3683892" y="3833505"/>
            <a:ext cx="489954" cy="33061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461BCB-36AA-C2BB-F393-CBFBE06D1087}"/>
              </a:ext>
            </a:extLst>
          </p:cNvPr>
          <p:cNvCxnSpPr>
            <a:cxnSpLocks/>
          </p:cNvCxnSpPr>
          <p:nvPr/>
        </p:nvCxnSpPr>
        <p:spPr bwMode="auto">
          <a:xfrm flipH="1">
            <a:off x="8165096" y="4266994"/>
            <a:ext cx="489954" cy="33061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13B723-F5A0-C3C4-4D82-8B2C3F25A3C3}"/>
              </a:ext>
            </a:extLst>
          </p:cNvPr>
          <p:cNvCxnSpPr>
            <a:cxnSpLocks/>
          </p:cNvCxnSpPr>
          <p:nvPr/>
        </p:nvCxnSpPr>
        <p:spPr bwMode="auto">
          <a:xfrm flipH="1">
            <a:off x="5561596" y="5111544"/>
            <a:ext cx="489954" cy="33061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095156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F5F0F-5619-4257-B73D-03EA1B22D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Tests 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D6B56-07A4-49D9-8DB8-A91E5EC5E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motivated by a question</a:t>
            </a:r>
          </a:p>
          <a:p>
            <a:endParaRPr lang="en-US" dirty="0"/>
          </a:p>
          <a:p>
            <a:r>
              <a:rPr lang="en-US" dirty="0"/>
              <a:t>Set up a horse race between a conservative null hypothesis and an interesting alternate hypothesis</a:t>
            </a:r>
          </a:p>
          <a:p>
            <a:endParaRPr lang="en-US" dirty="0"/>
          </a:p>
          <a:p>
            <a:r>
              <a:rPr lang="en-US" dirty="0"/>
              <a:t>Involve matching the hypotheses to the proper test statistic</a:t>
            </a:r>
          </a:p>
          <a:p>
            <a:endParaRPr lang="en-US" dirty="0"/>
          </a:p>
          <a:p>
            <a:r>
              <a:rPr lang="en-US" dirty="0"/>
              <a:t>Use sample data to assess the likelihood of observing the test statistic if the null hypothesis were true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Many statisticians spend time developing and evaluating test statistics and their analytical or bootstrap distributions so we can just look up whatever we need to answer a particular question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Conclude with an assessment of whether null hypothesis can be rejected (i.e., whether the result is “statistically significant”)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13F06-626E-44D2-A249-23F342E55F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73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124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74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19734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75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5290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A1E58-57C3-4DD0-9729-D8AFD3D28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Hypothesis Testing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C1E05-C486-4063-975A-06982DA9D8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76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38446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E68C7-A362-4EF3-93C6-DBD879910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Simple Examples for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7F297-4F9F-4F7D-816F-8288C1336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Flipping coins</a:t>
            </a:r>
          </a:p>
          <a:p>
            <a:pPr lvl="1"/>
            <a:endParaRPr lang="en-US" dirty="0"/>
          </a:p>
          <a:p>
            <a:r>
              <a:rPr lang="en-US" dirty="0"/>
              <a:t>Jury selection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554F3-58BF-49FF-B9F9-17712758B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77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41754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C26C-E554-40F8-A094-43CC3449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Flipping Coins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F110E-C2DE-453B-91A3-87A923B9A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Probability, you computed probability of various coin tosses</a:t>
            </a:r>
          </a:p>
          <a:p>
            <a:endParaRPr lang="en-US" dirty="0"/>
          </a:p>
          <a:p>
            <a:r>
              <a:rPr lang="en-US" dirty="0"/>
              <a:t>If a coin comes up heads 10x in a row, would you think it fair?</a:t>
            </a:r>
          </a:p>
          <a:p>
            <a:endParaRPr lang="en-US" dirty="0"/>
          </a:p>
          <a:p>
            <a:r>
              <a:rPr lang="en-US" dirty="0"/>
              <a:t>Hypothesis test</a:t>
            </a:r>
          </a:p>
          <a:p>
            <a:pPr lvl="1"/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the coin is fair</a:t>
            </a:r>
          </a:p>
          <a:p>
            <a:pPr lvl="1"/>
            <a:r>
              <a:rPr lang="en-US" dirty="0"/>
              <a:t>H</a:t>
            </a:r>
            <a:r>
              <a:rPr lang="en-US" baseline="-25000" dirty="0"/>
              <a:t>A</a:t>
            </a:r>
            <a:r>
              <a:rPr lang="en-US" dirty="0"/>
              <a:t>: the coin is biased</a:t>
            </a:r>
          </a:p>
          <a:p>
            <a:pPr lvl="1"/>
            <a:endParaRPr lang="en-US" dirty="0"/>
          </a:p>
          <a:p>
            <a:r>
              <a:rPr lang="en-US" dirty="0"/>
              <a:t>What is the probability that you get all heads after 10 tosses?</a:t>
            </a:r>
          </a:p>
          <a:p>
            <a:pPr lvl="1"/>
            <a:r>
              <a:rPr lang="en-US" dirty="0"/>
              <a:t>.5</a:t>
            </a:r>
            <a:r>
              <a:rPr lang="en-US" baseline="30000" dirty="0"/>
              <a:t>10 </a:t>
            </a:r>
            <a:r>
              <a:rPr lang="en-US" dirty="0"/>
              <a:t>= 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b="0" i="0" dirty="0">
                <a:solidFill>
                  <a:schemeClr val="accent6"/>
                </a:solidFill>
                <a:effectLst/>
              </a:rPr>
              <a:t>0009765625</a:t>
            </a:r>
          </a:p>
          <a:p>
            <a:pPr lvl="1"/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Would you reject H</a:t>
            </a:r>
            <a:r>
              <a:rPr lang="en-US" baseline="-25000" dirty="0">
                <a:solidFill>
                  <a:schemeClr val="accent6"/>
                </a:solidFill>
              </a:rPr>
              <a:t>0</a:t>
            </a:r>
            <a:r>
              <a:rPr lang="en-US" dirty="0">
                <a:solidFill>
                  <a:schemeClr val="accent6"/>
                </a:solidFill>
              </a:rPr>
              <a:t>?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If not, what is your probability threshold?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E8E1C-6228-4607-97F9-F5761F0FD5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78</a:t>
            </a:fld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A160DC-972B-4179-AF96-3255C7D612C3}"/>
              </a:ext>
            </a:extLst>
          </p:cNvPr>
          <p:cNvCxnSpPr>
            <a:cxnSpLocks/>
          </p:cNvCxnSpPr>
          <p:nvPr/>
        </p:nvCxnSpPr>
        <p:spPr bwMode="auto">
          <a:xfrm flipH="1">
            <a:off x="3576440" y="3487420"/>
            <a:ext cx="285682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F29C9C3-4EBD-4509-BF5C-6823E7936446}"/>
              </a:ext>
            </a:extLst>
          </p:cNvPr>
          <p:cNvSpPr txBox="1"/>
          <p:nvPr/>
        </p:nvSpPr>
        <p:spPr>
          <a:xfrm>
            <a:off x="6108626" y="2702335"/>
            <a:ext cx="2924012" cy="15696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600" b="0" u="none" dirty="0">
                <a:solidFill>
                  <a:srgbClr val="FF0000"/>
                </a:solidFill>
                <a:cs typeface="Arial" pitchFamily="34" charset="0"/>
              </a:rPr>
              <a:t>Can you see how H</a:t>
            </a:r>
            <a:r>
              <a:rPr lang="en-US" sz="1600" b="0" u="none" baseline="-25000" dirty="0">
                <a:solidFill>
                  <a:srgbClr val="FF0000"/>
                </a:solidFill>
                <a:cs typeface="Arial" pitchFamily="34" charset="0"/>
              </a:rPr>
              <a:t>0</a:t>
            </a:r>
            <a:r>
              <a:rPr lang="en-US" sz="1600" b="0" u="none" dirty="0">
                <a:solidFill>
                  <a:srgbClr val="FF0000"/>
                </a:solidFill>
                <a:cs typeface="Arial" pitchFamily="34" charset="0"/>
              </a:rPr>
              <a:t> is the conservative hypothesis?</a:t>
            </a:r>
          </a:p>
          <a:p>
            <a:pPr algn="l"/>
            <a:endParaRPr lang="en-US" sz="1600" b="0" u="none" dirty="0">
              <a:solidFill>
                <a:srgbClr val="FF0000"/>
              </a:solidFill>
              <a:cs typeface="Arial" pitchFamily="34" charset="0"/>
            </a:endParaRPr>
          </a:p>
          <a:p>
            <a:pPr algn="l"/>
            <a:r>
              <a:rPr lang="en-US" sz="1600" b="0" u="none" dirty="0">
                <a:solidFill>
                  <a:srgbClr val="FF0000"/>
                </a:solidFill>
                <a:cs typeface="Arial" pitchFamily="34" charset="0"/>
              </a:rPr>
              <a:t>We will ask if 10 heads in a row could plausibly be due to chance given this hypothesis</a:t>
            </a:r>
          </a:p>
        </p:txBody>
      </p:sp>
    </p:spTree>
    <p:extLst>
      <p:ext uri="{BB962C8B-B14F-4D97-AF65-F5344CB8AC3E}">
        <p14:creationId xmlns:p14="http://schemas.microsoft.com/office/powerpoint/2010/main" val="131039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66CD7-64E4-4C51-828B-36143E38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Jury Diversity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0FA5CE-0EB7-4AEB-9C92-A199EBEBC1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7663" indent="-347663"/>
                <a:r>
                  <a:rPr lang="en-US" sz="1800" dirty="0">
                    <a:solidFill>
                      <a:schemeClr val="accent6"/>
                    </a:solidFill>
                  </a:rPr>
                  <a:t>Jurors in the United States are drawn randomly from eligible citizens</a:t>
                </a:r>
              </a:p>
              <a:p>
                <a:pPr marL="347663" indent="-347663"/>
                <a:endParaRPr lang="en-US" sz="1800" dirty="0">
                  <a:solidFill>
                    <a:schemeClr val="accent6"/>
                  </a:solidFill>
                </a:endParaRPr>
              </a:p>
              <a:p>
                <a:pPr marL="347663" indent="-347663"/>
                <a:r>
                  <a:rPr lang="en-US" sz="1800" dirty="0">
                    <a:solidFill>
                      <a:schemeClr val="accent6"/>
                    </a:solidFill>
                  </a:rPr>
                  <a:t>In a </a:t>
                </a:r>
                <a:r>
                  <a:rPr lang="en-US" sz="1800" dirty="0">
                    <a:solidFill>
                      <a:schemeClr val="accent6"/>
                    </a:solidFill>
                    <a:hlinkClick r:id="rId2"/>
                  </a:rPr>
                  <a:t>famous case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, a jury pool was alleged to be unrepresentative</a:t>
                </a:r>
              </a:p>
              <a:p>
                <a:pPr marL="747713" lvl="1" indent="-347663"/>
                <a:r>
                  <a:rPr lang="en-US" sz="1800" dirty="0">
                    <a:solidFill>
                      <a:schemeClr val="accent6"/>
                    </a:solidFill>
                  </a:rPr>
                  <a:t>Of the 90 potential jurors, only 7 were African American (7.8%)</a:t>
                </a:r>
              </a:p>
              <a:p>
                <a:pPr marL="747713" lvl="1" indent="-347663"/>
                <a:r>
                  <a:rPr lang="en-US" sz="1800" dirty="0">
                    <a:solidFill>
                      <a:schemeClr val="accent6"/>
                    </a:solidFill>
                  </a:rPr>
                  <a:t>By contrast, 27% of eligible citizens were African American</a:t>
                </a:r>
              </a:p>
              <a:p>
                <a:endParaRPr lang="en-US" sz="1800" dirty="0">
                  <a:solidFill>
                    <a:schemeClr val="accent6"/>
                  </a:solidFill>
                </a:endParaRPr>
              </a:p>
              <a:p>
                <a:r>
                  <a:rPr lang="en-US" sz="1800" dirty="0"/>
                  <a:t>Hypothesis test</a:t>
                </a:r>
              </a:p>
              <a:p>
                <a:pPr lvl="1"/>
                <a:r>
                  <a:rPr lang="en-US" sz="1800" dirty="0"/>
                  <a:t>H</a:t>
                </a:r>
                <a:r>
                  <a:rPr lang="en-US" sz="1800" baseline="-25000" dirty="0"/>
                  <a:t>0</a:t>
                </a:r>
                <a:r>
                  <a:rPr lang="en-US" sz="1800" dirty="0"/>
                  <a:t>: The jury is racially representative</a:t>
                </a:r>
              </a:p>
              <a:p>
                <a:pPr lvl="1"/>
                <a:r>
                  <a:rPr lang="en-US" sz="1800" dirty="0"/>
                  <a:t>H</a:t>
                </a:r>
                <a:r>
                  <a:rPr lang="en-US" sz="1800" baseline="-25000" dirty="0"/>
                  <a:t>A</a:t>
                </a:r>
                <a:r>
                  <a:rPr lang="en-US" sz="1800" dirty="0"/>
                  <a:t>: The jury was not racially representative</a:t>
                </a:r>
              </a:p>
              <a:p>
                <a:endParaRPr lang="en-US" sz="1800" dirty="0">
                  <a:solidFill>
                    <a:schemeClr val="accent6"/>
                  </a:solidFill>
                </a:endParaRPr>
              </a:p>
              <a:p>
                <a:r>
                  <a:rPr lang="en-US" sz="1800" dirty="0"/>
                  <a:t>Analysis: what is the probability of 7 or fewer African Americans?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= .27, 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=90, 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sz="1800" dirty="0"/>
              </a:p>
              <a:p>
                <a:pPr lvl="1"/>
                <a:r>
                  <a:rPr lang="en-US" sz="1800" dirty="0"/>
                  <a:t>By hand: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t-BR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pt-BR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pt-BR" sz="1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800" dirty="0"/>
                  <a:t> </a:t>
                </a:r>
              </a:p>
              <a:p>
                <a:pPr lvl="1"/>
                <a:r>
                  <a:rPr lang="en-US" sz="1800" dirty="0"/>
                  <a:t>In Excel:  </a:t>
                </a:r>
                <a:r>
                  <a:rPr lang="en-U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lang="en-US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binom.dist</a:t>
                </a:r>
                <a:r>
                  <a:rPr lang="en-U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(7, 90, 0.27, True)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𝑃𝑟𝑜𝑏</m:t>
                    </m:r>
                  </m:oMath>
                </a14:m>
                <a:r>
                  <a:rPr lang="en-US" sz="1800" i="0" dirty="0">
                    <a:latin typeface="+mj-lt"/>
                  </a:rPr>
                  <a:t>(X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1800" i="0" dirty="0">
                    <a:latin typeface="+mj-lt"/>
                  </a:rPr>
                  <a:t>7)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.0000045</a:t>
                </a:r>
              </a:p>
              <a:p>
                <a:pPr lvl="1"/>
                <a:endParaRPr lang="en-US" sz="1800" dirty="0"/>
              </a:p>
              <a:p>
                <a:r>
                  <a:rPr lang="en-US" sz="1800" dirty="0"/>
                  <a:t>Would you reject H</a:t>
                </a:r>
                <a:r>
                  <a:rPr lang="en-US" sz="1800" baseline="-25000" dirty="0"/>
                  <a:t>0</a:t>
                </a:r>
                <a:r>
                  <a:rPr lang="en-US" sz="1800" dirty="0"/>
                  <a:t>? </a:t>
                </a:r>
              </a:p>
              <a:p>
                <a:endParaRPr lang="en-US" sz="18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0FA5CE-0EB7-4AEB-9C92-A199EBEBC1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34" t="-634" b="-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335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3DFB-6C3E-617F-0160-8208C9FD3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Complex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C18BA-59F2-1EF9-9DB9-E4BDD43D9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Do supermarkets sell more beer when it goes on sale?</a:t>
            </a:r>
          </a:p>
          <a:p>
            <a:endParaRPr lang="en-US" dirty="0"/>
          </a:p>
          <a:p>
            <a:r>
              <a:rPr lang="en-US" dirty="0"/>
              <a:t>Do supermarkets sell more beer on weekends when it goes on sale?</a:t>
            </a:r>
          </a:p>
          <a:p>
            <a:endParaRPr lang="en-US" dirty="0"/>
          </a:p>
          <a:p>
            <a:r>
              <a:rPr lang="en-US" dirty="0"/>
              <a:t>Does Warren Buffett beat the market?</a:t>
            </a:r>
          </a:p>
          <a:p>
            <a:endParaRPr lang="en-US" dirty="0"/>
          </a:p>
          <a:p>
            <a:r>
              <a:rPr lang="en-US" dirty="0"/>
              <a:t>Campaign contributions?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C50A-8D19-0B8D-BB63-FB2E80B48C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80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61759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F631-3B1A-4856-B07C-DEB7CC2A7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 1: Beer Sales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D36AD0-A859-4DE9-8E95-39E3BF3316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81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947309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0AC1F-B38E-4FBA-9C40-45EBB1DE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Beer Sales</a:t>
            </a:r>
            <a:br>
              <a:rPr lang="en-US" dirty="0"/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data_beer_raw.csv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2E19A4-C348-4E89-94DB-C02A390C76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106695"/>
                <a:ext cx="8437562" cy="5768975"/>
              </a:xfrm>
            </p:spPr>
            <p:txBody>
              <a:bodyPr/>
              <a:lstStyle/>
              <a:p>
                <a:r>
                  <a:rPr lang="en-US" sz="1800" dirty="0"/>
                  <a:t>In micro, you learn that quantity rises as the price falls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To test this hypothesis, we can use data on beer sales </a:t>
                </a:r>
                <a:br>
                  <a:rPr lang="en-US" sz="1800" dirty="0"/>
                </a:br>
                <a:r>
                  <a:rPr lang="en-US" sz="1800" dirty="0"/>
                  <a:t>from retailer Dominick’s Fine Foods (part of Safeway)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The data they provide tracks the quantity of 12 packs </a:t>
                </a:r>
                <a:br>
                  <a:rPr lang="en-US" sz="1800" dirty="0"/>
                </a:br>
                <a:r>
                  <a:rPr lang="en-US" sz="1800" dirty="0"/>
                  <a:t>of Miller Lite sold in sale weeks relative to the prior </a:t>
                </a:r>
                <a:br>
                  <a:rPr lang="en-US" sz="1800" dirty="0"/>
                </a:br>
                <a:r>
                  <a:rPr lang="en-US" sz="1800" dirty="0"/>
                  <a:t>non-sale week. A sale week is defined as a week when </a:t>
                </a:r>
                <a:br>
                  <a:rPr lang="en-US" sz="1800" dirty="0"/>
                </a:br>
                <a:r>
                  <a:rPr lang="en-US" sz="1800" dirty="0"/>
                  <a:t>a lower-than-average price is charged 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Data: on canvas. The dataset has observations for 153 weeks. The main variable of interest is </a:t>
                </a:r>
                <a:r>
                  <a:rPr lang="en-US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change_quantity</a:t>
                </a:r>
                <a:r>
                  <a:rPr lang="en-US" sz="1800" dirty="0">
                    <a:latin typeface="+mn-lt"/>
                    <a:cs typeface="Courier New" panose="02070309020205020404" pitchFamily="49" charset="0"/>
                  </a:rPr>
                  <a:t>. </a:t>
                </a:r>
                <a:r>
                  <a:rPr lang="en-US" sz="1800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Courier New" panose="02070309020205020404" pitchFamily="49" charset="0"/>
                  </a:rPr>
                  <a:t>Note </a:t>
                </a:r>
                <a:r>
                  <a:rPr lang="en-US" sz="1800" dirty="0">
                    <a:solidFill>
                      <a:schemeClr val="bg1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data_beer_raw.xlsx</a:t>
                </a:r>
                <a:r>
                  <a:rPr lang="en-US" sz="18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Courier New" panose="02070309020205020404" pitchFamily="49" charset="0"/>
                  </a:rPr>
                  <a:t> contains both the data and hypothesis test results</a:t>
                </a:r>
              </a:p>
              <a:p>
                <a:endParaRPr lang="en-US" sz="1800" dirty="0"/>
              </a:p>
              <a:p>
                <a:r>
                  <a:rPr lang="en-US" sz="1800" dirty="0">
                    <a:solidFill>
                      <a:schemeClr val="accent6"/>
                    </a:solidFill>
                  </a:rPr>
                  <a:t>Hypothesis test</a:t>
                </a:r>
              </a:p>
              <a:p>
                <a:pPr lvl="1"/>
                <a:r>
                  <a:rPr lang="en-US" sz="18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800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: Beer sales do not change in sale weeks 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)</a:t>
                </a:r>
                <a:endParaRPr lang="en-US" sz="1800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sz="18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800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: Beer sales change in sale weeks 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/>
                  <a:t>)</a:t>
                </a:r>
                <a:endParaRPr lang="en-US" sz="1800" dirty="0">
                  <a:solidFill>
                    <a:schemeClr val="accent6"/>
                  </a:solidFill>
                </a:endParaRPr>
              </a:p>
              <a:p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2E19A4-C348-4E89-94DB-C02A390C76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106695"/>
                <a:ext cx="8437562" cy="5768975"/>
              </a:xfrm>
              <a:blipFill>
                <a:blip r:embed="rId2"/>
                <a:stretch>
                  <a:fillRect l="-434" t="-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B5E5B-1D89-4F59-A72D-7A92495AC1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82</a:t>
            </a:fld>
            <a:endParaRPr lang="en-GB" dirty="0"/>
          </a:p>
        </p:txBody>
      </p:sp>
      <p:pic>
        <p:nvPicPr>
          <p:cNvPr id="2052" name="Picture 4" descr="Miller Lite 12 pack 12 oz. Bottle">
            <a:extLst>
              <a:ext uri="{FF2B5EF4-FFF2-40B4-BE49-F238E27FC236}">
                <a16:creationId xmlns:a16="http://schemas.microsoft.com/office/drawing/2014/main" id="{AC2D277F-C196-9F52-C460-0B2427AFD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928" y="1243320"/>
            <a:ext cx="2273059" cy="224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1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91D4-8B80-4523-B1DA-521674D8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Beer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D8862-A479-45DA-A8F6-DB2792B1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5"/>
            <a:ext cx="3005875" cy="576897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Random Variable </a:t>
            </a:r>
            <a:r>
              <a:rPr lang="en-US" dirty="0" err="1">
                <a:solidFill>
                  <a:schemeClr val="bg1"/>
                </a:solidFill>
              </a:rPr>
              <a:t>xxxxxx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  <a:tabLst>
                <a:tab pos="287338" algn="l"/>
              </a:tabLst>
            </a:pPr>
            <a:r>
              <a:rPr lang="en-US" dirty="0"/>
              <a:t>	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Distribution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Population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Sample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statistic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spcBef>
                <a:spcPts val="300"/>
              </a:spcBef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6C76D-3002-40FC-A6C0-21B8EF5BFC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83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56591" y="1089025"/>
                <a:ext cx="5587409" cy="5678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9pPr>
              </a:lstStyle>
              <a:p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</a:rPr>
                  <a:t>, the change in quantity sold during a sale week relative to the prior non-sale week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Continuous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All beer sales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u="none" kern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b="0" i="1" u="none" kern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=153 </m:t>
                      </m:r>
                      <m:r>
                        <a:rPr lang="en-US" b="0" i="1" u="none" kern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𝑤𝑒𝑒𝑘𝑠</m:t>
                      </m:r>
                    </m:oMath>
                  </m:oMathPara>
                </a14:m>
                <a:endParaRPr lang="en-US" b="0" u="none" kern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b="0" u="none" kern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b="0" i="1" u="none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0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b="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r>
                          <a:rPr lang="en-US" sz="2000" b="0" i="1" u="none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sz="2000" b="0" i="1" u="none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u="none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𝐸𝑟𝑟𝑜𝑟</m:t>
                        </m:r>
                        <m:r>
                          <a:rPr lang="en-US" sz="20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bar>
                          <m:barPr>
                            <m:pos m:val="top"/>
                            <m:ctrlPr>
                              <a:rPr lang="en-US" b="0" i="1" u="non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0" i="1" u="non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sz="20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b="0" i="1" u="none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0" i="1" u="none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num>
                      <m:den>
                        <m:d>
                          <m:dPr>
                            <m:ctrlPr>
                              <a:rPr lang="en-US" sz="2000" b="0" i="1" u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u="none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b="0" i="1" u="none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u="none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b="0" i="1" u="none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u="none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FontTx/>
                  <a:buNone/>
                  <a:tabLst>
                    <a:tab pos="287338" algn="l"/>
                  </a:tabLst>
                </a:pPr>
                <a:endParaRPr lang="en-US" b="0" u="none" kern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  <a:tabLst>
                    <a:tab pos="287338" algn="l"/>
                  </a:tabLst>
                </a:pPr>
                <a14:m>
                  <m:oMath xmlns:m="http://schemas.openxmlformats.org/officeDocument/2006/math">
                    <m:r>
                      <a:rPr lang="en-US" b="0" i="1" u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u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in large samples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6591" y="1089025"/>
                <a:ext cx="5587409" cy="5678488"/>
              </a:xfrm>
              <a:prstGeom prst="rect">
                <a:avLst/>
              </a:prstGeom>
              <a:blipFill>
                <a:blip r:embed="rId2"/>
                <a:stretch>
                  <a:fillRect l="-109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5334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DC6B-8412-4E9D-9B10-FA80F57F9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Beer Data</a:t>
            </a:r>
            <a:br>
              <a:rPr lang="en-US" dirty="0"/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data_beer_raw.csv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261B9-0662-40FE-B2A2-6B7F597AF0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84</a:t>
            </a:fld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E6A940-B19B-4A40-AE94-C1E0FA2D2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846" y="1940968"/>
            <a:ext cx="5081105" cy="36365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7C625E-9F0E-472D-A914-59B348D452DE}"/>
              </a:ext>
            </a:extLst>
          </p:cNvPr>
          <p:cNvSpPr txBox="1"/>
          <p:nvPr/>
        </p:nvSpPr>
        <p:spPr>
          <a:xfrm>
            <a:off x="7246298" y="2969980"/>
            <a:ext cx="1838965" cy="338554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What do you see?</a:t>
            </a:r>
          </a:p>
        </p:txBody>
      </p:sp>
    </p:spTree>
    <p:extLst>
      <p:ext uri="{BB962C8B-B14F-4D97-AF65-F5344CB8AC3E}">
        <p14:creationId xmlns:p14="http://schemas.microsoft.com/office/powerpoint/2010/main" val="19949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DC6B-8412-4E9D-9B10-FA80F57F9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Beer Sales Hypothesis Testing in Excel</a:t>
            </a:r>
            <a:br>
              <a:rPr lang="en-US" dirty="0"/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data_beer_raw.xlsx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24351-3B5F-4045-912E-84C6905881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>
                    <a:solidFill>
                      <a:schemeClr val="accent6"/>
                    </a:solidFill>
                  </a:rPr>
                  <a:t>Hypothesis test</a:t>
                </a:r>
              </a:p>
              <a:p>
                <a:pPr lvl="1"/>
                <a:r>
                  <a:rPr lang="en-US" sz="18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800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: Beer sales do not change in sale weeks 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)</a:t>
                </a:r>
                <a:endParaRPr lang="en-US" sz="1800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sz="18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800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: Beer sales change in sale weeks 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/>
                  <a:t>)</a:t>
                </a:r>
                <a:endParaRPr lang="en-US" sz="1800" dirty="0">
                  <a:solidFill>
                    <a:schemeClr val="accent6"/>
                  </a:solidFill>
                </a:endParaRP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r>
                  <a:rPr lang="en-US" sz="1800" dirty="0"/>
                  <a:t>Test statistic by hand</a:t>
                </a:r>
              </a:p>
              <a:p>
                <a:endParaRPr lang="en-US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sz="18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−0</m:t>
                        </m:r>
                      </m:num>
                      <m:den>
                        <m:r>
                          <a:rPr lang="en-US" sz="1800" i="1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sz="1800" i="1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smtClean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𝐸𝑟𝑟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bar>
                          <m:barPr>
                            <m:pos m:val="top"/>
                            <m:ctrlPr>
                              <a:rPr lang="en-US" sz="18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sz="18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num>
                      <m:den>
                        <m:d>
                          <m:d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180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den>
                    </m:f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20.91</m:t>
                        </m:r>
                      </m:num>
                      <m:den>
                        <m:d>
                          <m:d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14.60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den>
                    </m:f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20.9</m:t>
                        </m:r>
                      </m:num>
                      <m:den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1.18</m:t>
                        </m:r>
                      </m:den>
                    </m:f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17.7</m:t>
                    </m:r>
                  </m:oMath>
                </a14:m>
                <a:r>
                  <a:rPr lang="en-US" sz="18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24351-3B5F-4045-912E-84C690588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34" t="-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261B9-0662-40FE-B2A2-6B7F597AF0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85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941102-ED2C-400B-AB0C-2E4C0581D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2" y="2470254"/>
            <a:ext cx="7487976" cy="13958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E06302-1CCB-B5C8-1BF1-2A4DE47C0EE9}"/>
              </a:ext>
            </a:extLst>
          </p:cNvPr>
          <p:cNvSpPr txBox="1"/>
          <p:nvPr/>
        </p:nvSpPr>
        <p:spPr>
          <a:xfrm>
            <a:off x="6828397" y="5192763"/>
            <a:ext cx="1040541" cy="338554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Very big!!</a:t>
            </a:r>
          </a:p>
        </p:txBody>
      </p:sp>
    </p:spTree>
    <p:extLst>
      <p:ext uri="{BB962C8B-B14F-4D97-AF65-F5344CB8AC3E}">
        <p14:creationId xmlns:p14="http://schemas.microsoft.com/office/powerpoint/2010/main" val="315358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DC6B-8412-4E9D-9B10-FA80F57F9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Beer Sales Hypothesis Testing in Excel</a:t>
            </a:r>
            <a:br>
              <a:rPr lang="en-US" dirty="0"/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data_beer_raw.xlsx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24351-3B5F-4045-912E-84C6905881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89026"/>
                <a:ext cx="8437562" cy="2130312"/>
              </a:xfrm>
            </p:spPr>
            <p:txBody>
              <a:bodyPr/>
              <a:lstStyle/>
              <a:p>
                <a:r>
                  <a:rPr lang="en-US" sz="1800" dirty="0">
                    <a:solidFill>
                      <a:schemeClr val="accent6"/>
                    </a:solidFill>
                  </a:rPr>
                  <a:t>Hypothesis test</a:t>
                </a:r>
              </a:p>
              <a:p>
                <a:pPr lvl="1"/>
                <a:r>
                  <a:rPr lang="en-US" sz="18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800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: Beer sales do not change in sale weeks 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)</a:t>
                </a:r>
                <a:endParaRPr lang="en-US" sz="1800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sz="18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800" baseline="-25000" dirty="0">
                    <a:solidFill>
                      <a:schemeClr val="accent6"/>
                    </a:solidFill>
                  </a:rPr>
                  <a:t>A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: Beer sales change in sale weeks 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/>
                  <a:t>)</a:t>
                </a:r>
                <a:endParaRPr lang="en-US" sz="1800" dirty="0">
                  <a:solidFill>
                    <a:schemeClr val="accent6"/>
                  </a:solidFill>
                </a:endParaRP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24351-3B5F-4045-912E-84C690588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89026"/>
                <a:ext cx="8437562" cy="2130312"/>
              </a:xfrm>
              <a:blipFill>
                <a:blip r:embed="rId2"/>
                <a:stretch>
                  <a:fillRect l="-434" t="-1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261B9-0662-40FE-B2A2-6B7F597AF0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86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277CAF-9B6E-45FB-BC2E-FBFA2E24B4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7755"/>
          <a:stretch/>
        </p:blipFill>
        <p:spPr>
          <a:xfrm>
            <a:off x="876598" y="2943288"/>
            <a:ext cx="7390804" cy="201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7400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24351-3B5F-4045-912E-84C6905881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89026"/>
                <a:ext cx="8437562" cy="2130312"/>
              </a:xfrm>
            </p:spPr>
            <p:txBody>
              <a:bodyPr/>
              <a:lstStyle/>
              <a:p>
                <a:r>
                  <a:rPr lang="en-US" sz="1800" dirty="0">
                    <a:solidFill>
                      <a:schemeClr val="accent6"/>
                    </a:solidFill>
                  </a:rPr>
                  <a:t>Hypothesis test</a:t>
                </a:r>
              </a:p>
              <a:p>
                <a:pPr lvl="1"/>
                <a:r>
                  <a:rPr lang="en-US" sz="18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800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: Beer sales do not change in sale weeks 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)</a:t>
                </a:r>
                <a:endParaRPr lang="en-US" sz="1800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sz="1800" dirty="0">
                    <a:solidFill>
                      <a:srgbClr val="FF0000"/>
                    </a:solidFill>
                  </a:rPr>
                  <a:t>H</a:t>
                </a:r>
                <a:r>
                  <a:rPr lang="en-US" sz="1800" baseline="-25000" dirty="0">
                    <a:solidFill>
                      <a:srgbClr val="FF0000"/>
                    </a:solidFill>
                  </a:rPr>
                  <a:t>A</a:t>
                </a:r>
                <a:r>
                  <a:rPr lang="en-US" sz="1800" dirty="0">
                    <a:solidFill>
                      <a:srgbClr val="FF0000"/>
                    </a:solidFill>
                  </a:rPr>
                  <a:t>: Beer sales change in sale weeks 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</a:rPr>
                  <a:t>)</a:t>
                </a: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24351-3B5F-4045-912E-84C690588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89026"/>
                <a:ext cx="8437562" cy="2130312"/>
              </a:xfrm>
              <a:blipFill>
                <a:blip r:embed="rId2"/>
                <a:stretch>
                  <a:fillRect l="-434" t="-1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261B9-0662-40FE-B2A2-6B7F597AF0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87</a:t>
            </a:fld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D4158B5-2971-3A3A-AC8A-AE98B7E3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13" y="274638"/>
            <a:ext cx="8437562" cy="723900"/>
          </a:xfrm>
        </p:spPr>
        <p:txBody>
          <a:bodyPr/>
          <a:lstStyle/>
          <a:p>
            <a:r>
              <a:rPr lang="en-US" dirty="0"/>
              <a:t>Beer Sales Hypothesis Testing in Excel</a:t>
            </a:r>
            <a:br>
              <a:rPr lang="en-US" dirty="0"/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data_beer_raw.xlsx</a:t>
            </a:r>
            <a:endParaRPr lang="en-US" sz="1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707C8A-5A91-B837-39ED-2D902C30FF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9400"/>
          <a:stretch/>
        </p:blipFill>
        <p:spPr>
          <a:xfrm>
            <a:off x="877062" y="2943292"/>
            <a:ext cx="7389876" cy="196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93862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24351-3B5F-4045-912E-84C6905881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89026"/>
                <a:ext cx="8437562" cy="2130312"/>
              </a:xfrm>
            </p:spPr>
            <p:txBody>
              <a:bodyPr/>
              <a:lstStyle/>
              <a:p>
                <a:r>
                  <a:rPr lang="en-US" sz="1800" dirty="0">
                    <a:solidFill>
                      <a:schemeClr val="accent6"/>
                    </a:solidFill>
                  </a:rPr>
                  <a:t>Hypothesis test</a:t>
                </a:r>
              </a:p>
              <a:p>
                <a:pPr lvl="1"/>
                <a:r>
                  <a:rPr lang="en-US" sz="18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800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: Beer sales do not change in sale weeks 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)</a:t>
                </a:r>
                <a:endParaRPr lang="en-US" sz="1800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sz="1800" strike="sngStrike" dirty="0">
                    <a:solidFill>
                      <a:srgbClr val="FF0000"/>
                    </a:solidFill>
                  </a:rPr>
                  <a:t>H</a:t>
                </a:r>
                <a:r>
                  <a:rPr lang="en-US" sz="1800" strike="sngStrike" baseline="-25000" dirty="0">
                    <a:solidFill>
                      <a:srgbClr val="FF0000"/>
                    </a:solidFill>
                  </a:rPr>
                  <a:t>A</a:t>
                </a:r>
                <a:r>
                  <a:rPr lang="en-US" sz="1800" strike="sngStrike" dirty="0">
                    <a:solidFill>
                      <a:srgbClr val="FF0000"/>
                    </a:solidFill>
                  </a:rPr>
                  <a:t>: Beer sales change in sale weeks (</a:t>
                </a:r>
                <a14:m>
                  <m:oMath xmlns:m="http://schemas.openxmlformats.org/officeDocument/2006/math">
                    <m:r>
                      <a:rPr lang="en-US" sz="1800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strike="sngStrike" dirty="0">
                    <a:solidFill>
                      <a:srgbClr val="FF0000"/>
                    </a:solidFill>
                  </a:rPr>
                  <a:t>)</a:t>
                </a: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24351-3B5F-4045-912E-84C690588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89026"/>
                <a:ext cx="8437562" cy="2130312"/>
              </a:xfrm>
              <a:blipFill>
                <a:blip r:embed="rId2"/>
                <a:stretch>
                  <a:fillRect l="-434" t="-1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261B9-0662-40FE-B2A2-6B7F597AF0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88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26B432-8BFA-450D-A637-BBFEF9B26B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9400"/>
          <a:stretch/>
        </p:blipFill>
        <p:spPr>
          <a:xfrm>
            <a:off x="877062" y="2943292"/>
            <a:ext cx="7389876" cy="196000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FE7593-5D13-4327-A1EB-AED2AA6364BF}"/>
              </a:ext>
            </a:extLst>
          </p:cNvPr>
          <p:cNvCxnSpPr/>
          <p:nvPr/>
        </p:nvCxnSpPr>
        <p:spPr bwMode="auto">
          <a:xfrm flipH="1">
            <a:off x="5334902" y="4571956"/>
            <a:ext cx="3094892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F05E8AB-DE10-DC34-60EE-B0ABAF0F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13" y="274638"/>
            <a:ext cx="8437562" cy="723900"/>
          </a:xfrm>
        </p:spPr>
        <p:txBody>
          <a:bodyPr/>
          <a:lstStyle/>
          <a:p>
            <a:r>
              <a:rPr lang="en-US" dirty="0"/>
              <a:t>Beer Sales Hypothesis Testing in Excel</a:t>
            </a:r>
            <a:br>
              <a:rPr lang="en-US" dirty="0"/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data_beer_raw.xlsx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498139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24351-3B5F-4045-912E-84C6905881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89026"/>
                <a:ext cx="8437562" cy="2130312"/>
              </a:xfrm>
            </p:spPr>
            <p:txBody>
              <a:bodyPr/>
              <a:lstStyle/>
              <a:p>
                <a:r>
                  <a:rPr lang="en-US" sz="1800" dirty="0">
                    <a:solidFill>
                      <a:schemeClr val="accent6"/>
                    </a:solidFill>
                  </a:rPr>
                  <a:t>Hypothesis test</a:t>
                </a:r>
              </a:p>
              <a:p>
                <a:pPr lvl="1"/>
                <a:r>
                  <a:rPr lang="en-US" sz="18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800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: Beer sales do not change in sale weeks 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)</a:t>
                </a:r>
                <a:endParaRPr lang="en-US" sz="1800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sz="1800" strike="sngStrike" dirty="0">
                    <a:solidFill>
                      <a:srgbClr val="FF0000"/>
                    </a:solidFill>
                  </a:rPr>
                  <a:t>H</a:t>
                </a:r>
                <a:r>
                  <a:rPr lang="en-US" sz="1800" strike="sngStrike" baseline="-25000" dirty="0">
                    <a:solidFill>
                      <a:srgbClr val="FF0000"/>
                    </a:solidFill>
                  </a:rPr>
                  <a:t>A</a:t>
                </a:r>
                <a:r>
                  <a:rPr lang="en-US" sz="1800" strike="sngStrike" dirty="0">
                    <a:solidFill>
                      <a:srgbClr val="FF0000"/>
                    </a:solidFill>
                  </a:rPr>
                  <a:t>: Beer sales change in sale weeks (</a:t>
                </a:r>
                <a14:m>
                  <m:oMath xmlns:m="http://schemas.openxmlformats.org/officeDocument/2006/math">
                    <m:r>
                      <a:rPr lang="en-US" sz="1800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strike="sngStrike" dirty="0">
                    <a:solidFill>
                      <a:srgbClr val="FF0000"/>
                    </a:solidFill>
                  </a:rPr>
                  <a:t>)</a:t>
                </a:r>
              </a:p>
              <a:p>
                <a:pPr lvl="1"/>
                <a:r>
                  <a:rPr lang="en-US" sz="1800" dirty="0">
                    <a:solidFill>
                      <a:srgbClr val="0000FF"/>
                    </a:solidFill>
                  </a:rPr>
                  <a:t>H</a:t>
                </a:r>
                <a:r>
                  <a:rPr lang="en-US" sz="1800" baseline="-25000" dirty="0">
                    <a:solidFill>
                      <a:srgbClr val="0000FF"/>
                    </a:solidFill>
                  </a:rPr>
                  <a:t>A</a:t>
                </a:r>
                <a:r>
                  <a:rPr lang="en-US" sz="1800" dirty="0">
                    <a:solidFill>
                      <a:srgbClr val="0000FF"/>
                    </a:solidFill>
                  </a:rPr>
                  <a:t>: Beer sales higher in sale weeks 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/>
                  <a:t>)</a:t>
                </a:r>
                <a:endParaRPr lang="en-US" sz="1800" dirty="0">
                  <a:solidFill>
                    <a:schemeClr val="accent6"/>
                  </a:solidFill>
                </a:endParaRPr>
              </a:p>
              <a:p>
                <a:pPr lvl="1"/>
                <a:endParaRPr lang="en-US" sz="1800" dirty="0">
                  <a:solidFill>
                    <a:srgbClr val="0000FF"/>
                  </a:solidFill>
                </a:endParaRP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24351-3B5F-4045-912E-84C690588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89026"/>
                <a:ext cx="8437562" cy="2130312"/>
              </a:xfrm>
              <a:blipFill>
                <a:blip r:embed="rId2"/>
                <a:stretch>
                  <a:fillRect l="-434" t="-1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261B9-0662-40FE-B2A2-6B7F597AF0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89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26B432-8BFA-450D-A637-BBFEF9B26B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9400"/>
          <a:stretch/>
        </p:blipFill>
        <p:spPr>
          <a:xfrm>
            <a:off x="877062" y="2941530"/>
            <a:ext cx="7389876" cy="196000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7BA41D-B2EC-F62F-7C2B-CC0A38A0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13" y="274638"/>
            <a:ext cx="8437562" cy="723900"/>
          </a:xfrm>
        </p:spPr>
        <p:txBody>
          <a:bodyPr/>
          <a:lstStyle/>
          <a:p>
            <a:r>
              <a:rPr lang="en-US" dirty="0"/>
              <a:t>Beer Sales Hypothesis Testing in Excel</a:t>
            </a:r>
            <a:br>
              <a:rPr lang="en-US" dirty="0"/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data_beer_raw.xlsx</a:t>
            </a:r>
            <a:endParaRPr lang="en-US" sz="1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71779F-9AA2-6220-24F9-AA9B00482B15}"/>
              </a:ext>
            </a:extLst>
          </p:cNvPr>
          <p:cNvCxnSpPr/>
          <p:nvPr/>
        </p:nvCxnSpPr>
        <p:spPr bwMode="auto">
          <a:xfrm flipH="1">
            <a:off x="5334902" y="4578534"/>
            <a:ext cx="3094892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1579991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24351-3B5F-4045-912E-84C6905881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89026"/>
                <a:ext cx="8437562" cy="2130312"/>
              </a:xfrm>
            </p:spPr>
            <p:txBody>
              <a:bodyPr/>
              <a:lstStyle/>
              <a:p>
                <a:r>
                  <a:rPr lang="en-US" sz="1800" dirty="0">
                    <a:solidFill>
                      <a:schemeClr val="accent6"/>
                    </a:solidFill>
                  </a:rPr>
                  <a:t>Hypothesis test</a:t>
                </a:r>
              </a:p>
              <a:p>
                <a:pPr lvl="1"/>
                <a:r>
                  <a:rPr lang="en-US" sz="1800" dirty="0">
                    <a:solidFill>
                      <a:schemeClr val="accent6"/>
                    </a:solidFill>
                  </a:rPr>
                  <a:t>H</a:t>
                </a:r>
                <a:r>
                  <a:rPr lang="en-US" sz="1800" baseline="-25000" dirty="0">
                    <a:solidFill>
                      <a:schemeClr val="accent6"/>
                    </a:solidFill>
                  </a:rPr>
                  <a:t>0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: Beer sales do not change in sale weeks 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)</a:t>
                </a:r>
                <a:endParaRPr lang="en-US" sz="1800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sz="1800" strike="sngStrike" dirty="0">
                    <a:solidFill>
                      <a:srgbClr val="FF0000"/>
                    </a:solidFill>
                  </a:rPr>
                  <a:t>H</a:t>
                </a:r>
                <a:r>
                  <a:rPr lang="en-US" sz="1800" strike="sngStrike" baseline="-25000" dirty="0">
                    <a:solidFill>
                      <a:srgbClr val="FF0000"/>
                    </a:solidFill>
                  </a:rPr>
                  <a:t>A</a:t>
                </a:r>
                <a:r>
                  <a:rPr lang="en-US" sz="1800" strike="sngStrike" dirty="0">
                    <a:solidFill>
                      <a:srgbClr val="FF0000"/>
                    </a:solidFill>
                  </a:rPr>
                  <a:t>: Beer sales change in sale weeks (</a:t>
                </a:r>
                <a14:m>
                  <m:oMath xmlns:m="http://schemas.openxmlformats.org/officeDocument/2006/math">
                    <m:r>
                      <a:rPr lang="en-US" sz="1800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strike="sngStrike" dirty="0">
                    <a:solidFill>
                      <a:srgbClr val="FF0000"/>
                    </a:solidFill>
                  </a:rPr>
                  <a:t>)</a:t>
                </a:r>
              </a:p>
              <a:p>
                <a:pPr lvl="1"/>
                <a:r>
                  <a:rPr lang="en-US" sz="1800" dirty="0">
                    <a:solidFill>
                      <a:srgbClr val="0000FF"/>
                    </a:solidFill>
                  </a:rPr>
                  <a:t>H</a:t>
                </a:r>
                <a:r>
                  <a:rPr lang="en-US" sz="1800" baseline="-25000" dirty="0">
                    <a:solidFill>
                      <a:srgbClr val="0000FF"/>
                    </a:solidFill>
                  </a:rPr>
                  <a:t>A</a:t>
                </a:r>
                <a:r>
                  <a:rPr lang="en-US" sz="1800" dirty="0">
                    <a:solidFill>
                      <a:srgbClr val="0000FF"/>
                    </a:solidFill>
                  </a:rPr>
                  <a:t>: Beer sales higher in sale weeks 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800" dirty="0"/>
                  <a:t>)</a:t>
                </a:r>
                <a:endParaRPr lang="en-US" sz="1800" dirty="0">
                  <a:solidFill>
                    <a:schemeClr val="accent6"/>
                  </a:solidFill>
                </a:endParaRPr>
              </a:p>
              <a:p>
                <a:pPr lvl="1"/>
                <a:endParaRPr lang="en-US" sz="1800" dirty="0">
                  <a:solidFill>
                    <a:srgbClr val="0000FF"/>
                  </a:solidFill>
                </a:endParaRPr>
              </a:p>
              <a:p>
                <a:pPr marL="457200" lvl="1" indent="0">
                  <a:buNone/>
                </a:pPr>
                <a:endParaRPr lang="en-US" sz="1800" strike="sngStrike" dirty="0">
                  <a:solidFill>
                    <a:srgbClr val="FF0000"/>
                  </a:solidFill>
                </a:endParaRP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24351-3B5F-4045-912E-84C690588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89026"/>
                <a:ext cx="8437562" cy="2130312"/>
              </a:xfrm>
              <a:blipFill>
                <a:blip r:embed="rId2"/>
                <a:stretch>
                  <a:fillRect l="-434" t="-1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261B9-0662-40FE-B2A2-6B7F597AF0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90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26B432-8BFA-450D-A637-BBFEF9B26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62" y="2943295"/>
            <a:ext cx="7389876" cy="323430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AC876BC-7891-22BA-C2CF-2597043A7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13" y="274638"/>
            <a:ext cx="8437562" cy="723900"/>
          </a:xfrm>
        </p:spPr>
        <p:txBody>
          <a:bodyPr/>
          <a:lstStyle/>
          <a:p>
            <a:r>
              <a:rPr lang="en-US" dirty="0"/>
              <a:t>Beer Sales Hypothesis Testing in Excel</a:t>
            </a:r>
            <a:br>
              <a:rPr lang="en-US" dirty="0"/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data_beer_raw.xlsx</a:t>
            </a:r>
            <a:endParaRPr lang="en-US" sz="14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15BE32-68EE-ABE2-054D-739D420CBCBD}"/>
              </a:ext>
            </a:extLst>
          </p:cNvPr>
          <p:cNvCxnSpPr/>
          <p:nvPr/>
        </p:nvCxnSpPr>
        <p:spPr bwMode="auto">
          <a:xfrm flipH="1">
            <a:off x="5334902" y="4571959"/>
            <a:ext cx="3094892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C016C38-2836-8E20-769C-A2500CDAF5FD}"/>
              </a:ext>
            </a:extLst>
          </p:cNvPr>
          <p:cNvSpPr/>
          <p:nvPr/>
        </p:nvSpPr>
        <p:spPr bwMode="auto">
          <a:xfrm>
            <a:off x="236823" y="2480078"/>
            <a:ext cx="4749617" cy="2593519"/>
          </a:xfrm>
          <a:custGeom>
            <a:avLst/>
            <a:gdLst>
              <a:gd name="connsiteX0" fmla="*/ 5539230 w 5539230"/>
              <a:gd name="connsiteY0" fmla="*/ 0 h 2743200"/>
              <a:gd name="connsiteX1" fmla="*/ 401486 w 5539230"/>
              <a:gd name="connsiteY1" fmla="*/ 1447252 h 2743200"/>
              <a:gd name="connsiteX2" fmla="*/ 717250 w 5539230"/>
              <a:gd name="connsiteY2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39230" h="2743200">
                <a:moveTo>
                  <a:pt x="5539230" y="0"/>
                </a:moveTo>
                <a:cubicBezTo>
                  <a:pt x="3372189" y="495026"/>
                  <a:pt x="1205149" y="990052"/>
                  <a:pt x="401486" y="1447252"/>
                </a:cubicBezTo>
                <a:cubicBezTo>
                  <a:pt x="-402177" y="1904452"/>
                  <a:pt x="157536" y="2323826"/>
                  <a:pt x="717250" y="2743200"/>
                </a:cubicBez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509F71-EF51-96D7-8029-AAB39F37C6E3}"/>
              </a:ext>
            </a:extLst>
          </p:cNvPr>
          <p:cNvSpPr/>
          <p:nvPr/>
        </p:nvSpPr>
        <p:spPr bwMode="auto">
          <a:xfrm>
            <a:off x="4815404" y="2039313"/>
            <a:ext cx="782831" cy="493381"/>
          </a:xfrm>
          <a:prstGeom prst="ellips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8997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4439-E39B-4A78-BB86-A9614F8E3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vs Two-Sided Test</a:t>
            </a:r>
            <a:br>
              <a:rPr lang="en-US" dirty="0"/>
            </a:br>
            <a:r>
              <a:rPr lang="en-US" sz="1400" dirty="0"/>
              <a:t>Normal Distributions Not Drawn to Scale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85A92-2898-4A61-BDD3-BE2A3684B1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91</a:t>
            </a:fld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69E7121-C7BC-470F-98EB-B5725F422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16" y="2711552"/>
            <a:ext cx="3739923" cy="250512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84A03A71-B883-4C0A-ABED-CDE667779816}"/>
              </a:ext>
            </a:extLst>
          </p:cNvPr>
          <p:cNvGrpSpPr/>
          <p:nvPr/>
        </p:nvGrpSpPr>
        <p:grpSpPr>
          <a:xfrm>
            <a:off x="4860954" y="2704486"/>
            <a:ext cx="3757644" cy="2512192"/>
            <a:chOff x="613554" y="2322938"/>
            <a:chExt cx="3757644" cy="251219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D51CD6-EA42-4E4C-B2BD-3EC6C5745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275" y="2330004"/>
              <a:ext cx="3739923" cy="250512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E996740-D0D6-401E-BCD4-8F035FC975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3466"/>
            <a:stretch/>
          </p:blipFill>
          <p:spPr>
            <a:xfrm flipH="1">
              <a:off x="613554" y="2322938"/>
              <a:ext cx="618346" cy="250512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5336C4-F87B-4120-ACC8-45BF26D52CE3}"/>
                  </a:ext>
                </a:extLst>
              </p:cNvPr>
              <p:cNvSpPr txBox="1"/>
              <p:nvPr/>
            </p:nvSpPr>
            <p:spPr>
              <a:xfrm>
                <a:off x="328097" y="1508062"/>
                <a:ext cx="424276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0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One-Sided Test</a:t>
                </a:r>
              </a:p>
              <a:p>
                <a:r>
                  <a:rPr lang="en-US" sz="1600" b="0" u="none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H</a:t>
                </a:r>
                <a:r>
                  <a:rPr lang="en-US" sz="1600" b="0" u="none" baseline="-25000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0</a:t>
                </a:r>
                <a:r>
                  <a:rPr lang="en-US" sz="1600" b="0" u="none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: Beer sales do not change during </a:t>
                </a:r>
                <a:r>
                  <a:rPr lang="en-US" sz="1600" b="0" u="none" dirty="0"/>
                  <a:t>(</a:t>
                </a:r>
                <a14:m>
                  <m:oMath xmlns:m="http://schemas.openxmlformats.org/officeDocument/2006/math">
                    <m:r>
                      <a:rPr lang="en-US" sz="160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b="0" u="none" dirty="0"/>
                  <a:t>)</a:t>
                </a:r>
                <a:endParaRPr lang="en-US" sz="1600" b="0" u="none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  <a:p>
                <a:r>
                  <a:rPr lang="en-US" sz="1600" b="0" u="none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H</a:t>
                </a:r>
                <a:r>
                  <a:rPr lang="en-US" sz="1600" b="0" u="none" baseline="-25000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A</a:t>
                </a:r>
                <a:r>
                  <a:rPr lang="en-US" sz="1600" b="0" u="none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: Beer sales are higher during sale </a:t>
                </a:r>
                <a:r>
                  <a:rPr lang="en-US" sz="1600" b="0" u="none" dirty="0"/>
                  <a:t>(</a:t>
                </a:r>
                <a14:m>
                  <m:oMath xmlns:m="http://schemas.openxmlformats.org/officeDocument/2006/math">
                    <m:r>
                      <a:rPr lang="en-US" sz="160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b="0" i="1" u="none" smtClean="0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16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b="0" u="none" dirty="0"/>
                  <a:t>)</a:t>
                </a:r>
                <a:endParaRPr lang="en-US" sz="1600" b="0" u="none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5336C4-F87B-4120-ACC8-45BF26D52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97" y="1508062"/>
                <a:ext cx="4242765" cy="830997"/>
              </a:xfrm>
              <a:prstGeom prst="rect">
                <a:avLst/>
              </a:prstGeom>
              <a:blipFill>
                <a:blip r:embed="rId4"/>
                <a:stretch>
                  <a:fillRect l="-862" t="-2190" b="-8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D0C24AD3-207C-4BDA-975D-0DB819F2762A}"/>
              </a:ext>
            </a:extLst>
          </p:cNvPr>
          <p:cNvSpPr txBox="1"/>
          <p:nvPr/>
        </p:nvSpPr>
        <p:spPr>
          <a:xfrm>
            <a:off x="7752514" y="5133971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17.7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5705BE-061D-4890-BF6C-6781F4B00680}"/>
              </a:ext>
            </a:extLst>
          </p:cNvPr>
          <p:cNvSpPr txBox="1"/>
          <p:nvPr/>
        </p:nvSpPr>
        <p:spPr>
          <a:xfrm>
            <a:off x="5075085" y="5138575"/>
            <a:ext cx="652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-17.7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445660-D249-4BF0-9DA8-2518C0C859B1}"/>
              </a:ext>
            </a:extLst>
          </p:cNvPr>
          <p:cNvSpPr txBox="1"/>
          <p:nvPr/>
        </p:nvSpPr>
        <p:spPr>
          <a:xfrm>
            <a:off x="3489494" y="5133971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17.7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1D6F1B-BF02-470F-B767-DB065C479FCC}"/>
              </a:ext>
            </a:extLst>
          </p:cNvPr>
          <p:cNvSpPr txBox="1"/>
          <p:nvPr/>
        </p:nvSpPr>
        <p:spPr>
          <a:xfrm>
            <a:off x="7225686" y="3047612"/>
            <a:ext cx="18806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p-value = </a:t>
            </a:r>
            <a:r>
              <a: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2*</a:t>
            </a:r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1.5e</a:t>
            </a:r>
            <a:r>
              <a:rPr lang="en-US" sz="1600" b="0" u="none" baseline="30000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-70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861B07-EDB8-4B4E-9F8F-6A2CF0FDAD37}"/>
              </a:ext>
            </a:extLst>
          </p:cNvPr>
          <p:cNvSpPr txBox="1"/>
          <p:nvPr/>
        </p:nvSpPr>
        <p:spPr>
          <a:xfrm>
            <a:off x="3011923" y="3053137"/>
            <a:ext cx="17091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0" u="none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p-value = 1.5e</a:t>
            </a:r>
            <a:r>
              <a:rPr lang="en-US" sz="1600" b="0" u="none" baseline="30000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-70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0102D82-07C8-43D2-8245-C98AF47C3229}"/>
              </a:ext>
            </a:extLst>
          </p:cNvPr>
          <p:cNvSpPr/>
          <p:nvPr/>
        </p:nvSpPr>
        <p:spPr bwMode="auto">
          <a:xfrm>
            <a:off x="3706297" y="3460208"/>
            <a:ext cx="367012" cy="1239039"/>
          </a:xfrm>
          <a:custGeom>
            <a:avLst/>
            <a:gdLst>
              <a:gd name="connsiteX0" fmla="*/ 0 w 574679"/>
              <a:gd name="connsiteY0" fmla="*/ 0 h 1239039"/>
              <a:gd name="connsiteX1" fmla="*/ 530244 w 574679"/>
              <a:gd name="connsiteY1" fmla="*/ 806187 h 1239039"/>
              <a:gd name="connsiteX2" fmla="*/ 508601 w 574679"/>
              <a:gd name="connsiteY2" fmla="*/ 1239039 h 12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4679" h="1239039">
                <a:moveTo>
                  <a:pt x="0" y="0"/>
                </a:moveTo>
                <a:cubicBezTo>
                  <a:pt x="222738" y="299840"/>
                  <a:pt x="445477" y="599681"/>
                  <a:pt x="530244" y="806187"/>
                </a:cubicBezTo>
                <a:cubicBezTo>
                  <a:pt x="615011" y="1012693"/>
                  <a:pt x="561806" y="1125866"/>
                  <a:pt x="508601" y="1239039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5E7E631-B61F-4792-B65B-9588012F94DE}"/>
              </a:ext>
            </a:extLst>
          </p:cNvPr>
          <p:cNvSpPr/>
          <p:nvPr/>
        </p:nvSpPr>
        <p:spPr bwMode="auto">
          <a:xfrm>
            <a:off x="7970823" y="3477340"/>
            <a:ext cx="367012" cy="1239039"/>
          </a:xfrm>
          <a:custGeom>
            <a:avLst/>
            <a:gdLst>
              <a:gd name="connsiteX0" fmla="*/ 0 w 574679"/>
              <a:gd name="connsiteY0" fmla="*/ 0 h 1239039"/>
              <a:gd name="connsiteX1" fmla="*/ 530244 w 574679"/>
              <a:gd name="connsiteY1" fmla="*/ 806187 h 1239039"/>
              <a:gd name="connsiteX2" fmla="*/ 508601 w 574679"/>
              <a:gd name="connsiteY2" fmla="*/ 1239039 h 12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4679" h="1239039">
                <a:moveTo>
                  <a:pt x="0" y="0"/>
                </a:moveTo>
                <a:cubicBezTo>
                  <a:pt x="222738" y="299840"/>
                  <a:pt x="445477" y="599681"/>
                  <a:pt x="530244" y="806187"/>
                </a:cubicBezTo>
                <a:cubicBezTo>
                  <a:pt x="615011" y="1012693"/>
                  <a:pt x="561806" y="1125866"/>
                  <a:pt x="508601" y="1239039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4553988-7AC7-42ED-98C8-B97187ED5863}"/>
              </a:ext>
            </a:extLst>
          </p:cNvPr>
          <p:cNvSpPr/>
          <p:nvPr/>
        </p:nvSpPr>
        <p:spPr bwMode="auto">
          <a:xfrm flipH="1">
            <a:off x="4824563" y="3502917"/>
            <a:ext cx="3146260" cy="1086639"/>
          </a:xfrm>
          <a:custGeom>
            <a:avLst/>
            <a:gdLst>
              <a:gd name="connsiteX0" fmla="*/ 0 w 574679"/>
              <a:gd name="connsiteY0" fmla="*/ 0 h 1239039"/>
              <a:gd name="connsiteX1" fmla="*/ 530244 w 574679"/>
              <a:gd name="connsiteY1" fmla="*/ 806187 h 1239039"/>
              <a:gd name="connsiteX2" fmla="*/ 508601 w 574679"/>
              <a:gd name="connsiteY2" fmla="*/ 1239039 h 12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4679" h="1239039">
                <a:moveTo>
                  <a:pt x="0" y="0"/>
                </a:moveTo>
                <a:cubicBezTo>
                  <a:pt x="222738" y="299840"/>
                  <a:pt x="445477" y="599681"/>
                  <a:pt x="530244" y="806187"/>
                </a:cubicBezTo>
                <a:cubicBezTo>
                  <a:pt x="615011" y="1012693"/>
                  <a:pt x="561806" y="1125866"/>
                  <a:pt x="508601" y="1239039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7BACD2-3A95-4BA7-227C-9E2BD4D719CF}"/>
                  </a:ext>
                </a:extLst>
              </p:cNvPr>
              <p:cNvSpPr txBox="1"/>
              <p:nvPr/>
            </p:nvSpPr>
            <p:spPr>
              <a:xfrm>
                <a:off x="4599026" y="1514392"/>
                <a:ext cx="441217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0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Two-Sided Test</a:t>
                </a:r>
              </a:p>
              <a:p>
                <a:r>
                  <a:rPr lang="en-US" sz="1600" b="0" u="none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H</a:t>
                </a:r>
                <a:r>
                  <a:rPr lang="en-US" sz="1600" b="0" u="none" baseline="-25000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0</a:t>
                </a:r>
                <a:r>
                  <a:rPr lang="en-US" sz="1600" b="0" u="none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: Beer sales do not change during </a:t>
                </a:r>
                <a:r>
                  <a:rPr lang="en-US" sz="1600" b="0" u="none" dirty="0"/>
                  <a:t>(</a:t>
                </a:r>
                <a14:m>
                  <m:oMath xmlns:m="http://schemas.openxmlformats.org/officeDocument/2006/math">
                    <m:r>
                      <a:rPr lang="en-US" sz="160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b="0" u="none" dirty="0"/>
                  <a:t>)</a:t>
                </a:r>
                <a:endParaRPr lang="en-US" sz="1600" b="0" u="none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  <a:p>
                <a:r>
                  <a:rPr lang="en-US" sz="1600" b="0" u="none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H</a:t>
                </a:r>
                <a:r>
                  <a:rPr lang="en-US" sz="1600" b="0" u="none" baseline="-25000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A</a:t>
                </a:r>
                <a:r>
                  <a:rPr lang="en-US" sz="1600" b="0" u="none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: Beer sales are different during sale </a:t>
                </a:r>
                <a:r>
                  <a:rPr lang="en-US" sz="1600" b="0" u="none" dirty="0"/>
                  <a:t>(</a:t>
                </a:r>
                <a14:m>
                  <m:oMath xmlns:m="http://schemas.openxmlformats.org/officeDocument/2006/math">
                    <m:r>
                      <a:rPr lang="en-US" sz="1600" i="1" u="non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b="0" i="1" u="none" smtClean="0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b="0" i="1" u="none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b="0" u="none" dirty="0"/>
                  <a:t>)</a:t>
                </a:r>
                <a:endParaRPr lang="en-US" sz="1600" b="0" u="none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7BACD2-3A95-4BA7-227C-9E2BD4D71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026" y="1514392"/>
                <a:ext cx="4412170" cy="830997"/>
              </a:xfrm>
              <a:prstGeom prst="rect">
                <a:avLst/>
              </a:prstGeom>
              <a:blipFill>
                <a:blip r:embed="rId5"/>
                <a:stretch>
                  <a:fillRect l="-691" t="-2190" b="-8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5511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7" grpId="0"/>
      <p:bldP spid="31" grpId="0" animBg="1"/>
      <p:bldP spid="32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BEF0-ADB0-418A-80C4-02A40744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Beer Sales Hypothesis Testing in </a:t>
            </a:r>
            <a:r>
              <a:rPr lang="en-US" dirty="0" err="1"/>
              <a:t>ChatGPT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C8094-4DEA-4A82-B627-72D81DA4C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</a:t>
            </a:r>
            <a:r>
              <a:rPr lang="en-US" dirty="0">
                <a:hlinkClick r:id="rId2"/>
              </a:rPr>
              <a:t>this video</a:t>
            </a:r>
            <a:endParaRPr lang="en-US" dirty="0"/>
          </a:p>
          <a:p>
            <a:endParaRPr lang="en-US" dirty="0"/>
          </a:p>
          <a:p>
            <a:r>
              <a:rPr lang="en-US" dirty="0"/>
              <a:t>Drop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data_beer_raw.csv</a:t>
            </a:r>
            <a:r>
              <a:rPr lang="en-US" dirty="0"/>
              <a:t> into </a:t>
            </a:r>
            <a:r>
              <a:rPr lang="en-US" dirty="0" err="1"/>
              <a:t>ChatGPT</a:t>
            </a:r>
            <a:r>
              <a:rPr lang="en-US" dirty="0"/>
              <a:t>. 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Note: you must drop in the text file (.csv), not the excel file!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Note: copy file from canvas to your computer before you start</a:t>
            </a:r>
          </a:p>
          <a:p>
            <a:endParaRPr lang="en-US" dirty="0"/>
          </a:p>
          <a:p>
            <a:r>
              <a:rPr lang="en-US" dirty="0"/>
              <a:t>Ask </a:t>
            </a:r>
            <a:r>
              <a:rPr lang="en-US" dirty="0" err="1"/>
              <a:t>ChatGPT</a:t>
            </a:r>
            <a:r>
              <a:rPr lang="en-US" dirty="0"/>
              <a:t> to summarize the data</a:t>
            </a:r>
          </a:p>
          <a:p>
            <a:pPr lvl="1"/>
            <a:r>
              <a:rPr lang="en-US" dirty="0"/>
              <a:t>Does it look ok?</a:t>
            </a:r>
          </a:p>
          <a:p>
            <a:endParaRPr lang="en-US" dirty="0"/>
          </a:p>
          <a:p>
            <a:r>
              <a:rPr lang="en-US" dirty="0"/>
              <a:t>Ask </a:t>
            </a:r>
            <a:r>
              <a:rPr lang="en-US" dirty="0" err="1"/>
              <a:t>ChatGPT</a:t>
            </a:r>
            <a:r>
              <a:rPr lang="en-US" dirty="0"/>
              <a:t> to produce a histogram of the variable of interest</a:t>
            </a:r>
          </a:p>
          <a:p>
            <a:pPr lvl="1"/>
            <a:r>
              <a:rPr lang="en-US" dirty="0"/>
              <a:t>Does it look ok?</a:t>
            </a:r>
          </a:p>
          <a:p>
            <a:endParaRPr lang="en-US" dirty="0"/>
          </a:p>
          <a:p>
            <a:r>
              <a:rPr lang="en-US" dirty="0"/>
              <a:t>Ask Chat GPT to test if the mean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change_quantity</a:t>
            </a:r>
            <a:r>
              <a:rPr lang="en-US" dirty="0"/>
              <a:t> is zero</a:t>
            </a:r>
          </a:p>
          <a:p>
            <a:pPr lvl="1"/>
            <a:r>
              <a:rPr lang="en-US" dirty="0"/>
              <a:t>Ask to see its calculations to make sure they make sense!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09276-BB73-45AA-BEB8-0F32284B27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92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113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BEF0-ADB0-418A-80C4-02A40744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Beer Sales Hypothesis Testing in </a:t>
            </a:r>
            <a:r>
              <a:rPr lang="en-US" dirty="0" err="1"/>
              <a:t>ChatGPT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09276-BB73-45AA-BEB8-0F32284B27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93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D924EE-7705-420C-8FCE-A6D171C9D6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138" t="27149" r="32269"/>
          <a:stretch/>
        </p:blipFill>
        <p:spPr>
          <a:xfrm>
            <a:off x="1650248" y="957308"/>
            <a:ext cx="5843503" cy="579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2326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BEF0-ADB0-418A-80C4-02A40744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Beer Sales Hypothesis Testing in </a:t>
            </a:r>
            <a:r>
              <a:rPr lang="en-US" dirty="0" err="1"/>
              <a:t>ChatGPT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09276-BB73-45AA-BEB8-0F32284B27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94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D29813-0E7E-4FB5-834F-96C02FAEF2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296" t="26473" r="35325"/>
          <a:stretch/>
        </p:blipFill>
        <p:spPr>
          <a:xfrm>
            <a:off x="1962804" y="998538"/>
            <a:ext cx="5218391" cy="585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9560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07DD-13F6-4931-A280-B5D47BB8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 2: Beer Sales in </a:t>
            </a:r>
            <a:br>
              <a:rPr lang="en-US" dirty="0"/>
            </a:br>
            <a:r>
              <a:rPr lang="en-US" u="sng" dirty="0"/>
              <a:t>December</a:t>
            </a:r>
            <a:r>
              <a:rPr lang="en-US" dirty="0"/>
              <a:t> vs Other Months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F4AB75-E64F-444F-AA4A-AD36D1A4F2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95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153030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0AC1F-B38E-4FBA-9C40-45EBB1DE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Beer Sales in December</a:t>
            </a:r>
            <a:br>
              <a:rPr lang="en-US" dirty="0"/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data_beer.xlsx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E19A4-C348-4E89-94DB-C02A390C7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106695"/>
            <a:ext cx="8437562" cy="5768975"/>
          </a:xfrm>
        </p:spPr>
        <p:txBody>
          <a:bodyPr/>
          <a:lstStyle/>
          <a:p>
            <a:r>
              <a:rPr lang="en-US" dirty="0"/>
              <a:t>Dominick’s just heard about your proficiency with means testing</a:t>
            </a:r>
          </a:p>
          <a:p>
            <a:endParaRPr lang="en-US" dirty="0"/>
          </a:p>
          <a:p>
            <a:r>
              <a:rPr lang="en-US" dirty="0"/>
              <a:t>They want to hire you to tell them whether beer sales are even more effective around the holidays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see that the data they’ve already given you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data_beer.csv) </a:t>
            </a:r>
            <a:r>
              <a:rPr lang="en-US" dirty="0"/>
              <a:t>notes the month of each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change_quantity</a:t>
            </a:r>
            <a:r>
              <a:rPr lang="en-US" dirty="0"/>
              <a:t> observation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dirty="0">
                <a:solidFill>
                  <a:schemeClr val="accent6"/>
                </a:solidFill>
              </a:rPr>
              <a:t>Hypothesis test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baseline="-25000" dirty="0">
                <a:solidFill>
                  <a:schemeClr val="accent6"/>
                </a:solidFill>
              </a:rPr>
              <a:t>0</a:t>
            </a:r>
            <a:r>
              <a:rPr lang="en-US" dirty="0">
                <a:solidFill>
                  <a:schemeClr val="accent6"/>
                </a:solidFill>
              </a:rPr>
              <a:t>: Beer sales are same in December as other months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baseline="-25000" dirty="0">
                <a:solidFill>
                  <a:schemeClr val="accent6"/>
                </a:solidFill>
              </a:rPr>
              <a:t>A</a:t>
            </a:r>
            <a:r>
              <a:rPr lang="en-US" dirty="0">
                <a:solidFill>
                  <a:schemeClr val="accent6"/>
                </a:solidFill>
              </a:rPr>
              <a:t>: Beer sales are different in December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B5E5B-1D89-4F59-A72D-7A92495AC1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96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687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91D4-8B80-4523-B1DA-521674D8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Beer Sales In December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D8862-A479-45DA-A8F6-DB2792B1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5"/>
            <a:ext cx="3005875" cy="576897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Random Variable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xxxxxx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  <a:tabLst>
                <a:tab pos="287338" algn="l"/>
              </a:tabLst>
            </a:pPr>
            <a:r>
              <a:rPr lang="en-US" dirty="0"/>
              <a:t>	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Distribution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Population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Sample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statistic </a:t>
            </a:r>
            <a:r>
              <a:rPr lang="en-US" dirty="0" err="1">
                <a:solidFill>
                  <a:schemeClr val="bg1"/>
                </a:solidFill>
              </a:rPr>
              <a:t>xxxxxxxxxxx</a:t>
            </a:r>
            <a:endParaRPr lang="en-US" dirty="0">
              <a:solidFill>
                <a:schemeClr val="bg1"/>
              </a:solidFill>
            </a:endParaRP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6C76D-3002-40FC-A6C0-21B8EF5BFC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97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56591" y="1089025"/>
                <a:ext cx="5587409" cy="5678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9pPr>
              </a:lstStyle>
              <a:p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</a:rPr>
                  <a:t>, the change in quantity sold during a sale week relative to the prior non-sale week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Continuous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All beer sales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u="none" kern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u="none" kern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=17</m:t>
                    </m:r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(December) and </a:t>
                </a:r>
                <a14:m>
                  <m:oMath xmlns:m="http://schemas.openxmlformats.org/officeDocument/2006/math">
                    <m:r>
                      <a:rPr lang="en-US" b="0" i="1" u="none" kern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u="none" kern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=136</m:t>
                    </m:r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(Other)</a:t>
                </a:r>
                <a:endParaRPr lang="en-US" b="0" u="none" kern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b="0" u="none" kern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u="non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u="non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u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𝐶h𝑖𝑛𝑎</m:t>
                              </m:r>
                            </m:sub>
                          </m:sSub>
                          <m:r>
                            <a:rPr lang="en-US" i="1" u="non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𝑈𝑆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u="none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i="1" u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i="1" u="none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 u="none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u="none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i="1" u="none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b="0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𝐶h𝑖𝑛𝑎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𝐶h𝑖𝑛𝑎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 u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 u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i="1" u="none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 u="none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u="none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i="1" u="none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𝑈𝑆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𝐶h𝑖𝑛𝑎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u="none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Student t (~normal for large N)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6591" y="1089025"/>
                <a:ext cx="5587409" cy="5678488"/>
              </a:xfrm>
              <a:prstGeom prst="rect">
                <a:avLst/>
              </a:prstGeom>
              <a:blipFill>
                <a:blip r:embed="rId2"/>
                <a:stretch>
                  <a:fillRect l="-109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62451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DC6B-8412-4E9D-9B10-FA80F57F9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Beer Sales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24351-3B5F-4045-912E-84C690588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6"/>
            <a:ext cx="8437562" cy="1269164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Hypothesis test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baseline="-25000" dirty="0">
                <a:solidFill>
                  <a:schemeClr val="accent6"/>
                </a:solidFill>
              </a:rPr>
              <a:t>0</a:t>
            </a:r>
            <a:r>
              <a:rPr lang="en-US" dirty="0">
                <a:solidFill>
                  <a:schemeClr val="accent6"/>
                </a:solidFill>
              </a:rPr>
              <a:t>: Beer sales are same in December as other months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baseline="-25000" dirty="0">
                <a:solidFill>
                  <a:schemeClr val="accent6"/>
                </a:solidFill>
              </a:rPr>
              <a:t>A</a:t>
            </a:r>
            <a:r>
              <a:rPr lang="en-US" dirty="0">
                <a:solidFill>
                  <a:schemeClr val="accent6"/>
                </a:solidFill>
              </a:rPr>
              <a:t>: Beer </a:t>
            </a:r>
            <a:r>
              <a:rPr lang="en-US">
                <a:solidFill>
                  <a:schemeClr val="accent6"/>
                </a:solidFill>
              </a:rPr>
              <a:t>sales are </a:t>
            </a:r>
            <a:r>
              <a:rPr lang="en-US" dirty="0">
                <a:solidFill>
                  <a:schemeClr val="accent6"/>
                </a:solidFill>
              </a:rPr>
              <a:t>different in December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261B9-0662-40FE-B2A2-6B7F597AF0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98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38EBAC-7D35-43B9-B7AF-EA844922C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706" y="2297377"/>
            <a:ext cx="3858588" cy="38663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A734E7-F451-4694-A624-E7D27F7AD6A6}"/>
              </a:ext>
            </a:extLst>
          </p:cNvPr>
          <p:cNvSpPr txBox="1"/>
          <p:nvPr/>
        </p:nvSpPr>
        <p:spPr>
          <a:xfrm>
            <a:off x="6604188" y="3976647"/>
            <a:ext cx="1882881" cy="338554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What do you see?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73509B-8C7F-A991-445D-96180E82F2C6}"/>
              </a:ext>
            </a:extLst>
          </p:cNvPr>
          <p:cNvSpPr txBox="1"/>
          <p:nvPr/>
        </p:nvSpPr>
        <p:spPr>
          <a:xfrm>
            <a:off x="2802406" y="6035152"/>
            <a:ext cx="3618129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b="0" dirty="0">
                <a:cs typeface="Arial" pitchFamily="34" charset="0"/>
              </a:rPr>
              <a:t>ChatGPT Prompt</a:t>
            </a:r>
            <a:r>
              <a:rPr lang="en-US" sz="1000" b="0" u="none" dirty="0">
                <a:cs typeface="Arial" pitchFamily="34" charset="0"/>
              </a:rPr>
              <a:t>: “Please create a single figure that contains a comparison of the kernel density of observations for month 12 and a kernel density for the observations of all other months”</a:t>
            </a:r>
          </a:p>
        </p:txBody>
      </p:sp>
    </p:spTree>
    <p:extLst>
      <p:ext uri="{BB962C8B-B14F-4D97-AF65-F5344CB8AC3E}">
        <p14:creationId xmlns:p14="http://schemas.microsoft.com/office/powerpoint/2010/main" val="106752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9F00-E15D-430C-AD10-31BB8FAAA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Beer Sales Hypothesis Testing in Excel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6B9F4-D5E4-42F4-A6A1-C83A74C6BF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99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53D3EB-139E-4A5A-B78A-75FA5B632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44" y="2362519"/>
            <a:ext cx="8726511" cy="259016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4B47938-E567-4BBD-8A74-E4420F86D342}"/>
              </a:ext>
            </a:extLst>
          </p:cNvPr>
          <p:cNvCxnSpPr/>
          <p:nvPr/>
        </p:nvCxnSpPr>
        <p:spPr bwMode="auto">
          <a:xfrm>
            <a:off x="8078102" y="2099333"/>
            <a:ext cx="221836" cy="60058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93460392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9F00-E15D-430C-AD10-31BB8FAAA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Beer Sales Hypothesis Testing in Excel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6B9F4-D5E4-42F4-A6A1-C83A74C6BF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100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32F442-1EE1-4053-861F-AEE5FEC3B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656" y="1904395"/>
            <a:ext cx="4616687" cy="282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71731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B5620E2-B1A5-41C6-B9B4-6998A0C77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332" y="1746428"/>
            <a:ext cx="6711335" cy="35668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DE9F00-E15D-430C-AD10-31BB8FAAA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Beer Sales Hypothesis Testing in Excel</a:t>
            </a:r>
            <a:br>
              <a:rPr lang="en-US" dirty="0"/>
            </a:br>
            <a:r>
              <a:rPr lang="en-US" dirty="0"/>
              <a:t>(Other-Dec) Months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ED9F2-FF41-435F-ABE3-015189F0B1C4}"/>
              </a:ext>
            </a:extLst>
          </p:cNvPr>
          <p:cNvSpPr txBox="1"/>
          <p:nvPr/>
        </p:nvSpPr>
        <p:spPr>
          <a:xfrm>
            <a:off x="6243892" y="4296298"/>
            <a:ext cx="2275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Reject?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31DC4C-906F-48FC-9140-52BCBB6298D9}"/>
              </a:ext>
            </a:extLst>
          </p:cNvPr>
          <p:cNvCxnSpPr/>
          <p:nvPr/>
        </p:nvCxnSpPr>
        <p:spPr bwMode="auto">
          <a:xfrm>
            <a:off x="991050" y="4225718"/>
            <a:ext cx="732602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5BAAB6-9C1C-4CF7-A13B-79717F279499}"/>
              </a:ext>
            </a:extLst>
          </p:cNvPr>
          <p:cNvCxnSpPr/>
          <p:nvPr/>
        </p:nvCxnSpPr>
        <p:spPr bwMode="auto">
          <a:xfrm>
            <a:off x="991050" y="4756868"/>
            <a:ext cx="732602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974DF1E-380C-432E-A455-2528BB4F9F74}"/>
              </a:ext>
            </a:extLst>
          </p:cNvPr>
          <p:cNvSpPr txBox="1"/>
          <p:nvPr/>
        </p:nvSpPr>
        <p:spPr>
          <a:xfrm>
            <a:off x="6238480" y="4864418"/>
            <a:ext cx="2275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Reject?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89B2144-469C-426C-A19D-0BBD8625A8CD}"/>
              </a:ext>
            </a:extLst>
          </p:cNvPr>
          <p:cNvSpPr/>
          <p:nvPr/>
        </p:nvSpPr>
        <p:spPr bwMode="auto">
          <a:xfrm>
            <a:off x="7527382" y="3141759"/>
            <a:ext cx="474972" cy="261515"/>
          </a:xfrm>
          <a:prstGeom prst="ellipse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6A2A9A-A566-43AC-BFF7-E52A73511586}"/>
              </a:ext>
            </a:extLst>
          </p:cNvPr>
          <p:cNvSpPr txBox="1"/>
          <p:nvPr/>
        </p:nvSpPr>
        <p:spPr>
          <a:xfrm>
            <a:off x="8000738" y="3090446"/>
            <a:ext cx="11432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0" u="none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Not Large!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CF5A6E-41B5-49B8-B27C-AED18CBA126A}"/>
                  </a:ext>
                </a:extLst>
              </p:cNvPr>
              <p:cNvSpPr txBox="1"/>
              <p:nvPr/>
            </p:nvSpPr>
            <p:spPr>
              <a:xfrm>
                <a:off x="5730658" y="5413117"/>
                <a:ext cx="3354605" cy="1384995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400" b="0" u="none" dirty="0">
                    <a:solidFill>
                      <a:schemeClr val="accent6"/>
                    </a:solidFill>
                    <a:latin typeface="Arial" pitchFamily="34" charset="0"/>
                    <a:cs typeface="Arial" pitchFamily="34" charset="0"/>
                  </a:rPr>
                  <a:t>Because the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𝑁</m:t>
                    </m:r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&lt;30</m:t>
                    </m:r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  <a:latin typeface="Arial" pitchFamily="34" charset="0"/>
                    <a:cs typeface="Arial" pitchFamily="34" charset="0"/>
                  </a:rPr>
                  <a:t>, we have to compare the test statistic to the Student t distribution rather than </a:t>
                </a:r>
                <a14:m>
                  <m:oMath xmlns:m="http://schemas.openxmlformats.org/officeDocument/2006/math"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𝑁</m:t>
                    </m:r>
                    <m:r>
                      <a:rPr lang="en-US" sz="1400" b="0" i="1" u="none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(0,1)</m:t>
                    </m:r>
                  </m:oMath>
                </a14:m>
                <a:r>
                  <a:rPr lang="en-US" sz="1400" b="0" u="none" dirty="0">
                    <a:solidFill>
                      <a:schemeClr val="accent6"/>
                    </a:solidFill>
                    <a:latin typeface="Arial" pitchFamily="34" charset="0"/>
                    <a:cs typeface="Arial" pitchFamily="34" charset="0"/>
                  </a:rPr>
                  <a:t>. That’s why the critical values look different. Excel and other software does this automatically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CF5A6E-41B5-49B8-B27C-AED18CBA1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658" y="5413117"/>
                <a:ext cx="3354605" cy="1384995"/>
              </a:xfrm>
              <a:prstGeom prst="rect">
                <a:avLst/>
              </a:prstGeom>
              <a:blipFill>
                <a:blip r:embed="rId3"/>
                <a:stretch>
                  <a:fillRect l="-545" t="-881" r="-364" b="-3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5DEF06-5A51-959E-D3C2-4FAA0FF52321}"/>
              </a:ext>
            </a:extLst>
          </p:cNvPr>
          <p:cNvSpPr/>
          <p:nvPr/>
        </p:nvSpPr>
        <p:spPr bwMode="auto">
          <a:xfrm>
            <a:off x="4190798" y="4618049"/>
            <a:ext cx="1466641" cy="1046285"/>
          </a:xfrm>
          <a:custGeom>
            <a:avLst/>
            <a:gdLst>
              <a:gd name="connsiteX0" fmla="*/ 1039044 w 1466641"/>
              <a:gd name="connsiteY0" fmla="*/ 0 h 1046285"/>
              <a:gd name="connsiteX1" fmla="*/ 6232 w 1466641"/>
              <a:gd name="connsiteY1" fmla="*/ 874929 h 1046285"/>
              <a:gd name="connsiteX2" fmla="*/ 1466641 w 1466641"/>
              <a:gd name="connsiteY2" fmla="*/ 1045968 h 104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6641" h="1046285">
                <a:moveTo>
                  <a:pt x="1039044" y="0"/>
                </a:moveTo>
                <a:cubicBezTo>
                  <a:pt x="487005" y="350300"/>
                  <a:pt x="-65034" y="700601"/>
                  <a:pt x="6232" y="874929"/>
                </a:cubicBezTo>
                <a:cubicBezTo>
                  <a:pt x="77498" y="1049257"/>
                  <a:pt x="772069" y="1047612"/>
                  <a:pt x="1466641" y="1045968"/>
                </a:cubicBezTo>
              </a:path>
            </a:pathLst>
          </a:cu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59CAAB3-AD22-0124-1B0A-02A88B3D3FDD}"/>
              </a:ext>
            </a:extLst>
          </p:cNvPr>
          <p:cNvSpPr/>
          <p:nvPr/>
        </p:nvSpPr>
        <p:spPr bwMode="auto">
          <a:xfrm>
            <a:off x="4190798" y="5150901"/>
            <a:ext cx="1466641" cy="513433"/>
          </a:xfrm>
          <a:custGeom>
            <a:avLst/>
            <a:gdLst>
              <a:gd name="connsiteX0" fmla="*/ 1039044 w 1466641"/>
              <a:gd name="connsiteY0" fmla="*/ 0 h 1046285"/>
              <a:gd name="connsiteX1" fmla="*/ 6232 w 1466641"/>
              <a:gd name="connsiteY1" fmla="*/ 874929 h 1046285"/>
              <a:gd name="connsiteX2" fmla="*/ 1466641 w 1466641"/>
              <a:gd name="connsiteY2" fmla="*/ 1045968 h 104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6641" h="1046285">
                <a:moveTo>
                  <a:pt x="1039044" y="0"/>
                </a:moveTo>
                <a:cubicBezTo>
                  <a:pt x="487005" y="350300"/>
                  <a:pt x="-65034" y="700601"/>
                  <a:pt x="6232" y="874929"/>
                </a:cubicBezTo>
                <a:cubicBezTo>
                  <a:pt x="77498" y="1049257"/>
                  <a:pt x="772069" y="1047612"/>
                  <a:pt x="1466641" y="1045968"/>
                </a:cubicBezTo>
              </a:path>
            </a:pathLst>
          </a:cu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4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 animBg="1"/>
      <p:bldP spid="12" grpId="0"/>
      <p:bldP spid="13" grpId="0" animBg="1"/>
      <p:bldP spid="3" grpId="0" animBg="1"/>
      <p:bldP spid="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EBB2-5B7B-4EFF-B3AC-2FB67036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 3: Warren Buffett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776FB-14D6-4B97-B618-D07F509C9C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102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132093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13747-6181-4ACE-80D0-3DE5E7F08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Buffett Beat the Market?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BCC0E-67C8-428B-82D6-623A4C26C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5"/>
            <a:ext cx="8235950" cy="576897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Berkshire Hathaway (BRK) is a </a:t>
            </a:r>
            <a:br>
              <a:rPr lang="en-US" dirty="0"/>
            </a:br>
            <a:r>
              <a:rPr lang="en-US" dirty="0"/>
              <a:t>multinational conglomerate </a:t>
            </a:r>
            <a:br>
              <a:rPr lang="en-US" dirty="0"/>
            </a:br>
            <a:r>
              <a:rPr lang="en-US" dirty="0"/>
              <a:t>holding company based in </a:t>
            </a:r>
            <a:br>
              <a:rPr lang="en-US" dirty="0"/>
            </a:br>
            <a:r>
              <a:rPr lang="en-US" dirty="0"/>
              <a:t>Omaha, Nebraska, led by </a:t>
            </a:r>
            <a:br>
              <a:rPr lang="en-US" dirty="0"/>
            </a:br>
            <a:r>
              <a:rPr lang="en-US" dirty="0"/>
              <a:t>billionaire investor Warren </a:t>
            </a:r>
            <a:br>
              <a:rPr lang="en-US" dirty="0"/>
            </a:br>
            <a:r>
              <a:rPr lang="en-US" dirty="0"/>
              <a:t>Buffett</a:t>
            </a:r>
          </a:p>
          <a:p>
            <a:endParaRPr lang="en-US" dirty="0"/>
          </a:p>
          <a:p>
            <a:r>
              <a:rPr lang="en-US" dirty="0"/>
              <a:t>BRK offers two classes of shares, A and B. Class A shares have superior voting rights. Class B shares are more affordable</a:t>
            </a:r>
          </a:p>
          <a:p>
            <a:endParaRPr lang="en-US" dirty="0"/>
          </a:p>
          <a:p>
            <a:r>
              <a:rPr lang="en-US" dirty="0"/>
              <a:t>Does Berkshire Hathaway offer a better return than the S&amp;P500?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37513-1512-45E7-BB6D-2B12F5E7B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103</a:t>
            </a:fld>
            <a:endParaRPr lang="en-GB" dirty="0"/>
          </a:p>
        </p:txBody>
      </p:sp>
      <p:pic>
        <p:nvPicPr>
          <p:cNvPr id="3078" name="Picture 6" descr="What I Learned from Warren Buffett">
            <a:extLst>
              <a:ext uri="{FF2B5EF4-FFF2-40B4-BE49-F238E27FC236}">
                <a16:creationId xmlns:a16="http://schemas.microsoft.com/office/drawing/2014/main" id="{441EA080-630F-46EF-B100-AB85723293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26"/>
          <a:stretch/>
        </p:blipFill>
        <p:spPr bwMode="auto">
          <a:xfrm>
            <a:off x="5668434" y="1512245"/>
            <a:ext cx="1837265" cy="183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932105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B7BD3-4C8F-4A78-A1B3-3A2D212E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of Daily Returns</a:t>
            </a:r>
            <a:br>
              <a:rPr lang="en-US" dirty="0"/>
            </a:br>
            <a:r>
              <a:rPr lang="en-US" sz="1400" dirty="0"/>
              <a:t>2000 to Present</a:t>
            </a:r>
            <a:br>
              <a:rPr lang="en-US" sz="1400" dirty="0"/>
            </a:br>
            <a:endParaRPr lang="en-US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25B719-BD67-431C-A0C9-8CBE58F374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104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A0F848-B2DD-4CFD-94BF-077DE484EAE5}"/>
              </a:ext>
            </a:extLst>
          </p:cNvPr>
          <p:cNvSpPr txBox="1"/>
          <p:nvPr/>
        </p:nvSpPr>
        <p:spPr>
          <a:xfrm>
            <a:off x="1488741" y="5787879"/>
            <a:ext cx="1773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0" u="none" dirty="0">
                <a:latin typeface="Arial" pitchFamily="34" charset="0"/>
                <a:cs typeface="Arial" pitchFamily="34" charset="0"/>
              </a:rPr>
              <a:t>Source: Yahoo Finance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563F3E-5492-4A9D-BA5B-5656D60CD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124" y="1139571"/>
            <a:ext cx="6397752" cy="45788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20D7AA-21D0-4C81-A380-928A9459B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167" y="1662979"/>
            <a:ext cx="3330796" cy="78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5415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91D4-8B80-4523-B1DA-521674D8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BRK-A and SP500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D8862-A479-45DA-A8F6-DB2792B1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5"/>
            <a:ext cx="3005875" cy="576897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Random Variable</a:t>
            </a:r>
          </a:p>
          <a:p>
            <a:pPr marL="0" indent="0">
              <a:buNone/>
              <a:tabLst>
                <a:tab pos="287338" algn="l"/>
              </a:tabLst>
            </a:pPr>
            <a:r>
              <a:rPr lang="en-US" dirty="0"/>
              <a:t>	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Distribution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Population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Sample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statistic </a:t>
            </a:r>
            <a:r>
              <a:rPr lang="en-US" dirty="0" err="1">
                <a:solidFill>
                  <a:schemeClr val="bg1"/>
                </a:solidFill>
              </a:rPr>
              <a:t>xxxxxxxxxxx</a:t>
            </a:r>
            <a:endParaRPr lang="en-US" dirty="0">
              <a:solidFill>
                <a:schemeClr val="bg1"/>
              </a:solidFill>
            </a:endParaRP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6C76D-3002-40FC-A6C0-21B8EF5BFC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105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69290" y="1089025"/>
                <a:ext cx="5587409" cy="5678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9pPr>
              </a:lstStyle>
              <a:p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u="none" kern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</a:rPr>
                  <a:t>, the daily return of BRK-A or SP500 on day </a:t>
                </a:r>
                <a:r>
                  <a:rPr lang="en-US" b="0" i="1" u="none" kern="0" dirty="0" err="1">
                    <a:solidFill>
                      <a:schemeClr val="tx1"/>
                    </a:solidFill>
                  </a:rPr>
                  <a:t>i</a:t>
                </a:r>
                <a:r>
                  <a:rPr lang="en-US" b="0" u="none" kern="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Continuous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All BRK-A and SP500 returns, past and present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Prices for </a:t>
                </a:r>
                <a14:m>
                  <m:oMath xmlns:m="http://schemas.openxmlformats.org/officeDocument/2006/math">
                    <m:r>
                      <a:rPr lang="en-US" b="0" i="1" u="none" kern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u="none" kern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=6421</m:t>
                    </m:r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trading days 1/1/00-7/15/25</a:t>
                </a: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u="non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u="non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u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u="none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 u="none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 u="none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b="0" i="1" u="none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𝐵𝑅𝐾</m:t>
                              </m:r>
                            </m:sub>
                          </m:sSub>
                          <m:r>
                            <a:rPr lang="en-US" i="1" u="non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u="none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 u="none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 u="none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b="0" i="1" u="none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𝑆𝑃</m:t>
                              </m:r>
                              <m:r>
                                <a:rPr lang="en-US" b="0" i="1" u="none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500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u="none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i="1" u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u="none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i="1" u="none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 u="none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u="none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i="1" u="none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b="0" i="1" u="none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𝐵𝑅𝐾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u="none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u="none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u="none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𝐵𝑅𝐾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 u="non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 u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u="none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i="1" u="none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 u="none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u="none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i="1" u="none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b="0" i="1" u="none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𝑆𝑃</m:t>
                                      </m:r>
                                      <m:r>
                                        <a:rPr lang="en-US" b="0" i="1" u="none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500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u="none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u="none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u="none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𝑆𝑃</m:t>
                                      </m:r>
                                      <m:r>
                                        <a:rPr lang="en-US" b="0" i="1" u="none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500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u="none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u="none" kern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u="none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u="none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for large samples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9290" y="1089025"/>
                <a:ext cx="5587409" cy="5678488"/>
              </a:xfrm>
              <a:prstGeom prst="rect">
                <a:avLst/>
              </a:prstGeom>
              <a:blipFill>
                <a:blip r:embed="rId2"/>
                <a:stretch>
                  <a:fillRect l="-1201" r="-98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53868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7447-93D5-416D-9E01-446E1445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Buffett Beat the Market?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F3554-7E07-4940-B683-651410436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89026"/>
                <a:ext cx="8437562" cy="5768974"/>
              </a:xfrm>
            </p:spPr>
            <p:txBody>
              <a:bodyPr/>
              <a:lstStyle/>
              <a:p>
                <a:r>
                  <a:rPr lang="en-US" dirty="0"/>
                  <a:t>Hypothesis test</a:t>
                </a:r>
              </a:p>
              <a:p>
                <a:pPr lvl="1"/>
                <a:r>
                  <a:rPr lang="en-US" dirty="0"/>
                  <a:t>H</a:t>
                </a:r>
                <a:r>
                  <a:rPr lang="en-US" baseline="-25000" dirty="0"/>
                  <a:t>0</a:t>
                </a:r>
                <a:r>
                  <a:rPr lang="en-US" dirty="0"/>
                  <a:t>: Returns for BRK are identical to those of SP500</a:t>
                </a:r>
              </a:p>
              <a:p>
                <a:pPr lvl="1"/>
                <a:r>
                  <a:rPr lang="en-US" dirty="0"/>
                  <a:t>H</a:t>
                </a:r>
                <a:r>
                  <a:rPr lang="en-US" baseline="-25000" dirty="0"/>
                  <a:t>A</a:t>
                </a:r>
                <a:r>
                  <a:rPr lang="en-US" dirty="0"/>
                  <a:t>: Returns for one or the other are larger</a:t>
                </a:r>
              </a:p>
              <a:p>
                <a:endParaRPr lang="en-US" dirty="0"/>
              </a:p>
              <a:p>
                <a:r>
                  <a:rPr lang="en-US" dirty="0"/>
                  <a:t>Data: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𝐵𝑅𝐾</m:t>
                        </m:r>
                      </m:sub>
                    </m:sSub>
                  </m:oMath>
                </a14:m>
                <a:r>
                  <a:rPr lang="en-US" dirty="0"/>
                  <a:t>   = 6420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𝐵𝑅𝐾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 </a:t>
                </a:r>
                <a:r>
                  <a:rPr lang="en-US" dirty="0"/>
                  <a:t>= .00040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𝐵𝑅𝐾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 </a:t>
                </a:r>
                <a:r>
                  <a:rPr lang="en-US" dirty="0"/>
                  <a:t>=.0138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𝑆𝑃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6420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𝑆𝑃</m:t>
                        </m:r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sub>
                    </m:sSub>
                  </m:oMath>
                </a14:m>
                <a:r>
                  <a:rPr lang="en-US" dirty="0"/>
                  <a:t>= .00023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𝑆𝑃</m:t>
                        </m:r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sub>
                    </m:sSub>
                  </m:oMath>
                </a14:m>
                <a:r>
                  <a:rPr lang="en-US" dirty="0"/>
                  <a:t>=.0123</a:t>
                </a:r>
              </a:p>
              <a:p>
                <a:endParaRPr lang="en-US" dirty="0"/>
              </a:p>
              <a:p>
                <a:r>
                  <a:rPr lang="en-US" dirty="0"/>
                  <a:t>Test statistic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𝐵𝑅𝐾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𝑈𝑆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𝐵𝑅𝐾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𝐵𝑅𝐾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𝑆𝑃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500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𝑆𝑃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500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=0.74</m:t>
                      </m:r>
                    </m:oMath>
                  </m:oMathPara>
                </a14:m>
                <a:endParaRPr lang="en-US" i="1" dirty="0">
                  <a:solidFill>
                    <a:schemeClr val="accent6"/>
                  </a:solidFill>
                </a:endParaRPr>
              </a:p>
              <a:p>
                <a:endParaRPr lang="en-US" i="1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:r>
                  <a:rPr lang="en-US" dirty="0">
                    <a:solidFill>
                      <a:srgbClr val="00B0F0"/>
                    </a:solidFill>
                  </a:rPr>
                  <a:t>p-value</a:t>
                </a:r>
                <a:r>
                  <a:rPr lang="en-US" dirty="0">
                    <a:solidFill>
                      <a:schemeClr val="accent6"/>
                    </a:solidFill>
                  </a:rPr>
                  <a:t> = .46,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[−.000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 .000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62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Cannot reject the null at the 95% level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F3554-7E07-4940-B683-651410436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89026"/>
                <a:ext cx="8437562" cy="5768974"/>
              </a:xfrm>
              <a:blipFill>
                <a:blip r:embed="rId3"/>
                <a:stretch>
                  <a:fillRect l="-650" t="-529" b="-2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234A8-AB71-4678-B749-C7DF452A57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106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001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07DD-13F6-4931-A280-B5D47BB8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 4: Campaign Contributions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F4AB75-E64F-444F-AA4A-AD36D1A4F2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107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590179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16B8A-73DA-43CB-B2D3-3BB800EC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Campaign Contributions in Connecticut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84BCD-A331-4557-9F7C-207A73257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6"/>
            <a:ext cx="5115454" cy="3897842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In the appendix to slide deck 1, we found that the average campaign contribution in CT was $96</a:t>
            </a:r>
          </a:p>
          <a:p>
            <a:endParaRPr lang="en-US" dirty="0"/>
          </a:p>
          <a:p>
            <a:r>
              <a:rPr lang="en-US" dirty="0"/>
              <a:t>Can we reject the hypothesis that the true contribution is $100?</a:t>
            </a:r>
          </a:p>
          <a:p>
            <a:endParaRPr lang="en-US" dirty="0"/>
          </a:p>
          <a:p>
            <a:r>
              <a:rPr lang="en-US" dirty="0"/>
              <a:t>Recall: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5CD48-3F00-493B-8B7E-A1D0485EF0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108</a:t>
            </a:fld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6EE04DB-56C9-40BB-9147-9BB125D5B555}"/>
              </a:ext>
            </a:extLst>
          </p:cNvPr>
          <p:cNvGrpSpPr/>
          <p:nvPr/>
        </p:nvGrpSpPr>
        <p:grpSpPr>
          <a:xfrm>
            <a:off x="5247055" y="1253066"/>
            <a:ext cx="3342908" cy="2993279"/>
            <a:chOff x="322343" y="768525"/>
            <a:chExt cx="4980027" cy="452796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D3C464A-4951-4D67-AF3E-A9DCC1331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1367" y="1561515"/>
              <a:ext cx="4541003" cy="3734973"/>
            </a:xfrm>
            <a:prstGeom prst="rect">
              <a:avLst/>
            </a:prstGeom>
          </p:spPr>
        </p:pic>
        <p:pic>
          <p:nvPicPr>
            <p:cNvPr id="7" name="Picture 2" descr="Federal Election Commission - Wikipedia">
              <a:extLst>
                <a:ext uri="{FF2B5EF4-FFF2-40B4-BE49-F238E27FC236}">
                  <a16:creationId xmlns:a16="http://schemas.microsoft.com/office/drawing/2014/main" id="{8F9DA0BA-A5C0-495E-81D1-F2246926D4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343" y="768525"/>
              <a:ext cx="2255604" cy="2266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40DD923-7DE3-4038-9C24-A819529E4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190" y="4330041"/>
            <a:ext cx="4209008" cy="202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0668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91D4-8B80-4523-B1DA-521674D8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Campaign Contribution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D8862-A479-45DA-A8F6-DB2792B1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13" y="1089025"/>
            <a:ext cx="3005875" cy="576897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Random Variable</a:t>
            </a:r>
          </a:p>
          <a:p>
            <a:pPr marL="0" indent="0">
              <a:buNone/>
              <a:tabLst>
                <a:tab pos="287338" algn="l"/>
              </a:tabLst>
            </a:pPr>
            <a:r>
              <a:rPr lang="en-US" dirty="0"/>
              <a:t>	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Distribution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Population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Sample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statistic</a:t>
            </a: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endParaRPr lang="en-US" dirty="0">
              <a:solidFill>
                <a:schemeClr val="accent6"/>
              </a:solidFill>
            </a:endParaRPr>
          </a:p>
          <a:p>
            <a:pPr>
              <a:tabLst>
                <a:tab pos="287338" algn="l"/>
              </a:tabLst>
            </a:pPr>
            <a:r>
              <a:rPr lang="en-US" dirty="0">
                <a:solidFill>
                  <a:schemeClr val="accent6"/>
                </a:solidFill>
              </a:rPr>
              <a:t>Test stat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6C76D-3002-40FC-A6C0-21B8EF5BFC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109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56591" y="1089025"/>
                <a:ext cx="5587409" cy="5678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+mn-lt"/>
                    <a:cs typeface="+mn-cs"/>
                  </a:defRPr>
                </a:lvl9pPr>
              </a:lstStyle>
              <a:p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u="none" kern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u="none" kern="0" dirty="0">
                    <a:solidFill>
                      <a:schemeClr val="tx1"/>
                    </a:solidFill>
                  </a:rPr>
                  <a:t>, the contribution of individual </a:t>
                </a:r>
                <a:r>
                  <a:rPr lang="en-US" b="0" i="1" u="none" kern="0" dirty="0" err="1">
                    <a:solidFill>
                      <a:schemeClr val="tx1"/>
                    </a:solidFill>
                  </a:rPr>
                  <a:t>i</a:t>
                </a:r>
                <a:r>
                  <a:rPr lang="en-US" b="0" u="none" kern="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Continuous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</a:rPr>
                  <a:t>All donors</a:t>
                </a:r>
              </a:p>
              <a:p>
                <a:pPr marL="0" indent="0">
                  <a:buNone/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A random sample of N=5,449 contributions</a:t>
                </a:r>
                <a:endParaRPr lang="en-US" b="0" u="none" kern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FontTx/>
                  <a:buNone/>
                  <a:tabLst>
                    <a:tab pos="287338" algn="l"/>
                  </a:tabLst>
                </a:pPr>
                <a:endParaRPr lang="en-US" b="0" u="none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en-US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  <m:r>
                            <a:rPr lang="en-US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𝑆𝑡𝑑</m:t>
                          </m:r>
                          <m:r>
                            <a:rPr lang="en-US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𝐸𝑟𝑟𝑜𝑟</m:t>
                          </m:r>
                          <m:r>
                            <a:rPr lang="en-US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en-US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  <m:r>
                            <a:rPr lang="en-US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en-US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num>
                        <m:den>
                          <m:d>
                            <m:dPr>
                              <m:ctrlPr>
                                <a:rPr lang="en-US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u="non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b="0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b="0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b="0" i="1" u="non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b="0" u="none" kern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  <a:tabLst>
                    <a:tab pos="287338" algn="l"/>
                  </a:tabLst>
                </a:pPr>
                <a:endParaRPr lang="en-US" b="0" u="none" kern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  <a:tabLst>
                    <a:tab pos="287338" algn="l"/>
                  </a:tabLst>
                </a:pPr>
                <a:r>
                  <a:rPr lang="en-US" b="0" u="none" kern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Student t (~normal for large samples)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D3CA7D2-1776-4F35-9E1D-4BE96EA67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6591" y="1089025"/>
                <a:ext cx="5587409" cy="5678488"/>
              </a:xfrm>
              <a:prstGeom prst="rect">
                <a:avLst/>
              </a:prstGeom>
              <a:blipFill>
                <a:blip r:embed="rId2"/>
                <a:stretch>
                  <a:fillRect l="-109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43645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7447-93D5-416D-9E01-446E1445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Campaign Contribution Hypothesis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F3554-7E07-4940-B683-651410436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013" y="1089026"/>
                <a:ext cx="8437562" cy="5537968"/>
              </a:xfrm>
            </p:spPr>
            <p:txBody>
              <a:bodyPr/>
              <a:lstStyle/>
              <a:p>
                <a:r>
                  <a:rPr lang="en-US" dirty="0"/>
                  <a:t>Hypothesis test</a:t>
                </a:r>
              </a:p>
              <a:p>
                <a:pPr lvl="1"/>
                <a:r>
                  <a:rPr lang="en-US" dirty="0"/>
                  <a:t>H</a:t>
                </a:r>
                <a:r>
                  <a:rPr lang="en-US" baseline="-25000" dirty="0"/>
                  <a:t>0</a:t>
                </a:r>
                <a:r>
                  <a:rPr lang="en-US" dirty="0"/>
                  <a:t>: The average contribution in CT is $100</a:t>
                </a:r>
              </a:p>
              <a:p>
                <a:pPr lvl="1"/>
                <a:r>
                  <a:rPr lang="en-US" dirty="0"/>
                  <a:t>H</a:t>
                </a:r>
                <a:r>
                  <a:rPr lang="en-US" baseline="-25000" dirty="0"/>
                  <a:t>A</a:t>
                </a:r>
                <a:r>
                  <a:rPr lang="en-US" dirty="0"/>
                  <a:t>: The average is different from $100</a:t>
                </a:r>
              </a:p>
              <a:p>
                <a:endParaRPr lang="en-US" dirty="0"/>
              </a:p>
              <a:p>
                <a:r>
                  <a:rPr lang="en-US" dirty="0"/>
                  <a:t>Data: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1" u="none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		</a:t>
                </a: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= </a:t>
                </a:r>
                <a:r>
                  <a:rPr lang="en-US" dirty="0">
                    <a:solidFill>
                      <a:schemeClr val="tx1"/>
                    </a:solidFill>
                  </a:rPr>
                  <a:t>5449</a:t>
                </a:r>
                <a:r>
                  <a:rPr lang="en-US" b="0" i="1" u="none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u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		= $96.37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bar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	= $295.75</a:t>
                </a:r>
              </a:p>
              <a:p>
                <a:endParaRPr lang="en-US" dirty="0"/>
              </a:p>
              <a:p>
                <a:r>
                  <a:rPr lang="en-US" dirty="0"/>
                  <a:t>Test statistic: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𝐸𝑟𝑟𝑜𝑟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−100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−3.63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295.75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5449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3.63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4.0065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−.91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p-value = 2*</a:t>
                </a:r>
                <a:r>
                  <a:rPr lang="en-US" sz="20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NORM.DIST(-0.9053,0,1,True)</a:t>
                </a:r>
                <a:r>
                  <a:rPr lang="en-US" sz="2000" dirty="0"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.36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Do you reject the null?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F3554-7E07-4940-B683-651410436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013" y="1089026"/>
                <a:ext cx="8437562" cy="5537968"/>
              </a:xfrm>
              <a:blipFill>
                <a:blip r:embed="rId2"/>
                <a:stretch>
                  <a:fillRect l="-650" t="-551" b="-2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234A8-AB71-4678-B749-C7DF452A57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342029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BC7A-629F-4E60-884C-5D8ADAE6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74904F-B664-47BB-8921-6232BFFED0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111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855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9B41B-52E3-49FB-B563-DE82551C7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What’s the Question?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67357-0693-425E-8A96-B2FFBAA26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questions we seek to answer compare outcomes across groups, e.g., how do medical outcomes vary with exposure to a new drug? </a:t>
            </a:r>
          </a:p>
          <a:p>
            <a:endParaRPr lang="en-US" dirty="0"/>
          </a:p>
          <a:p>
            <a:r>
              <a:rPr lang="en-US" dirty="0"/>
              <a:t>Most other questions focus on co-movement of cause and effect, e.g., do student test scores respond positively to teacher experience?</a:t>
            </a:r>
          </a:p>
          <a:p>
            <a:endParaRPr lang="en-US" dirty="0"/>
          </a:p>
          <a:p>
            <a:r>
              <a:rPr lang="en-US" dirty="0"/>
              <a:t>There is an art to asking the right question. Questions that are too broad will be hard to answer. Answers to very narrow questions may not apply to many situations </a:t>
            </a:r>
          </a:p>
          <a:p>
            <a:pPr lvl="1"/>
            <a:r>
              <a:rPr lang="en-US" dirty="0"/>
              <a:t>Too broad: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How do taxes affect economic outcomes?</a:t>
            </a:r>
          </a:p>
          <a:p>
            <a:pPr lvl="1"/>
            <a:r>
              <a:rPr lang="en-US" dirty="0"/>
              <a:t>Too narrow: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What is the effect of a one-cent increase in parking meter fees in Springfield on weekday parking between 2 and 4 PM in July?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Just right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: How do small changes in parking prices affect the demand for short-term parking and congestion in city centers?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36945-B8E2-4F82-A609-6AAD4D61BE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764443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E1E9A-0A6C-4093-A0B0-896C75364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 to Economic 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BD6A6-E00F-48DD-B31F-7F03EC1F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questions that are </a:t>
            </a:r>
          </a:p>
          <a:p>
            <a:pPr lvl="1"/>
            <a:r>
              <a:rPr lang="en-US" dirty="0"/>
              <a:t>Too specific and parochial</a:t>
            </a:r>
          </a:p>
          <a:p>
            <a:pPr lvl="1"/>
            <a:r>
              <a:rPr lang="en-US" dirty="0"/>
              <a:t>Unconnected to a model motivating why the question matters</a:t>
            </a:r>
          </a:p>
          <a:p>
            <a:pPr lvl="1"/>
            <a:r>
              <a:rPr lang="en-US" dirty="0"/>
              <a:t>More about data mining than testing or building theory</a:t>
            </a:r>
          </a:p>
          <a:p>
            <a:pPr lvl="1"/>
            <a:endParaRPr lang="en-US" dirty="0"/>
          </a:p>
          <a:p>
            <a:r>
              <a:rPr lang="en-US" dirty="0"/>
              <a:t>Try to find questions that </a:t>
            </a:r>
          </a:p>
          <a:p>
            <a:pPr lvl="1"/>
            <a:r>
              <a:rPr lang="en-US" dirty="0"/>
              <a:t>Engage with economic theory and explore causal mechanisms</a:t>
            </a:r>
          </a:p>
          <a:p>
            <a:pPr lvl="1"/>
            <a:r>
              <a:rPr lang="en-US" dirty="0"/>
              <a:t>Generalize beyond one setting</a:t>
            </a:r>
          </a:p>
          <a:p>
            <a:pPr lvl="1"/>
            <a:r>
              <a:rPr lang="en-US" dirty="0"/>
              <a:t>Are transparent about assumptions and model uncertainty</a:t>
            </a:r>
          </a:p>
          <a:p>
            <a:pPr lvl="1"/>
            <a:r>
              <a:rPr lang="en-US" dirty="0"/>
              <a:t>Help us learn about how the economy works, not just how a specific policy affected a specific number in a specific place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D5582-9E47-4FBA-A9A7-A3F38C28A3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460103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FDD57-6519-4EC7-A72B-D21AC66E0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the “Student t” Distribution</a:t>
            </a:r>
            <a:br>
              <a:rPr lang="en-US" dirty="0"/>
            </a:br>
            <a:r>
              <a:rPr lang="en-US" sz="1400" dirty="0"/>
              <a:t>See </a:t>
            </a:r>
            <a:r>
              <a:rPr lang="en-US" sz="1400" b="0" u="none" dirty="0">
                <a:latin typeface="Arial" pitchFamily="34" charset="0"/>
                <a:cs typeface="Arial" pitchFamily="34" charset="0"/>
                <a:hlinkClick r:id="rId2"/>
              </a:rPr>
              <a:t>this article</a:t>
            </a:r>
            <a:r>
              <a:rPr lang="en-US" sz="1400" b="0" u="none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sz="1400" b="0" u="none" dirty="0">
                <a:latin typeface="Arial" pitchFamily="34" charset="0"/>
                <a:cs typeface="Arial" pitchFamily="34" charset="0"/>
                <a:hlinkClick r:id="rId3"/>
              </a:rPr>
              <a:t>this article</a:t>
            </a:r>
            <a:r>
              <a:rPr lang="en-US" sz="1400" dirty="0"/>
              <a:t> for 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BA727-335E-4E52-B542-91781D6C7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u="none" dirty="0">
                <a:latin typeface="Arial" pitchFamily="34" charset="0"/>
                <a:cs typeface="Arial" pitchFamily="34" charset="0"/>
              </a:rPr>
              <a:t>William Sealy </a:t>
            </a:r>
            <a:r>
              <a:rPr lang="en-US" sz="2000" b="0" u="none" dirty="0" err="1">
                <a:latin typeface="Arial" pitchFamily="34" charset="0"/>
                <a:cs typeface="Arial" pitchFamily="34" charset="0"/>
              </a:rPr>
              <a:t>Gosset</a:t>
            </a:r>
            <a:r>
              <a:rPr lang="en-US" sz="2000" b="0" u="none" dirty="0">
                <a:latin typeface="Arial" pitchFamily="34" charset="0"/>
                <a:cs typeface="Arial" pitchFamily="34" charset="0"/>
              </a:rPr>
              <a:t> invented/discovered the t-test</a:t>
            </a:r>
            <a:br>
              <a:rPr lang="en-US" sz="2000" b="0" u="none" dirty="0">
                <a:latin typeface="Arial" pitchFamily="34" charset="0"/>
                <a:cs typeface="Arial" pitchFamily="34" charset="0"/>
              </a:rPr>
            </a:br>
            <a:r>
              <a:rPr lang="en-US" sz="2000" b="0" u="none" dirty="0">
                <a:latin typeface="Arial" pitchFamily="34" charset="0"/>
                <a:cs typeface="Arial" pitchFamily="34" charset="0"/>
              </a:rPr>
              <a:t>in 1908 and published it under the pseudonym </a:t>
            </a:r>
            <a:br>
              <a:rPr lang="en-US" sz="2000" b="0" u="none" dirty="0">
                <a:latin typeface="Arial" pitchFamily="34" charset="0"/>
                <a:cs typeface="Arial" pitchFamily="34" charset="0"/>
              </a:rPr>
            </a:br>
            <a:r>
              <a:rPr lang="en-US" sz="2000" b="0" u="none" dirty="0">
                <a:latin typeface="Arial" pitchFamily="34" charset="0"/>
                <a:cs typeface="Arial" pitchFamily="34" charset="0"/>
              </a:rPr>
              <a:t>“Student” to maintain secrecy, per his firm’s policy.  </a:t>
            </a:r>
          </a:p>
          <a:p>
            <a:endParaRPr lang="en-US" dirty="0"/>
          </a:p>
          <a:p>
            <a:r>
              <a:rPr lang="en-US" sz="2000" b="0" u="none" dirty="0">
                <a:latin typeface="Arial" pitchFamily="34" charset="0"/>
                <a:cs typeface="Arial" pitchFamily="34" charset="0"/>
              </a:rPr>
              <a:t>Gosset worked at the Guinness Brewery in Dublin. </a:t>
            </a:r>
            <a:br>
              <a:rPr lang="en-US" sz="2000" b="0" u="none" dirty="0">
                <a:latin typeface="Arial" pitchFamily="34" charset="0"/>
                <a:cs typeface="Arial" pitchFamily="34" charset="0"/>
              </a:rPr>
            </a:br>
            <a:r>
              <a:rPr lang="en-US" sz="2000" b="0" u="none" dirty="0">
                <a:latin typeface="Arial" pitchFamily="34" charset="0"/>
                <a:cs typeface="Arial" pitchFamily="34" charset="0"/>
              </a:rPr>
              <a:t>He needed to estimate quantities such as the true </a:t>
            </a:r>
            <a:br>
              <a:rPr lang="en-US" sz="2000" b="0" u="none" dirty="0">
                <a:latin typeface="Arial" pitchFamily="34" charset="0"/>
                <a:cs typeface="Arial" pitchFamily="34" charset="0"/>
              </a:rPr>
            </a:br>
            <a:r>
              <a:rPr lang="en-US" sz="2000" b="0" u="none" dirty="0">
                <a:latin typeface="Arial" pitchFamily="34" charset="0"/>
                <a:cs typeface="Arial" pitchFamily="34" charset="0"/>
              </a:rPr>
              <a:t>mean weight and true mean quality of barley </a:t>
            </a:r>
            <a:br>
              <a:rPr lang="en-US" sz="2000" b="0" u="none" dirty="0">
                <a:latin typeface="Arial" pitchFamily="34" charset="0"/>
                <a:cs typeface="Arial" pitchFamily="34" charset="0"/>
              </a:rPr>
            </a:br>
            <a:r>
              <a:rPr lang="en-US" sz="2000" b="0" u="none" dirty="0">
                <a:latin typeface="Arial" pitchFamily="34" charset="0"/>
                <a:cs typeface="Arial" pitchFamily="34" charset="0"/>
              </a:rPr>
              <a:t>batches. </a:t>
            </a:r>
          </a:p>
          <a:p>
            <a:endParaRPr lang="en-US" dirty="0"/>
          </a:p>
          <a:p>
            <a:r>
              <a:rPr lang="en-US" sz="2000" b="0" u="none" dirty="0">
                <a:latin typeface="Arial" pitchFamily="34" charset="0"/>
                <a:cs typeface="Arial" pitchFamily="34" charset="0"/>
              </a:rPr>
              <a:t>Because he worked with very small samples, (N&lt;30), he could not make use of the Central Limit Theorem. After spending a year researching the appropriate test statistic under these circumstances at UCL in London, he characterized the t-distribution, which </a:t>
            </a:r>
            <a:r>
              <a:rPr lang="en-US" dirty="0"/>
              <a:t>converges to the normal distribution for large N. </a:t>
            </a:r>
          </a:p>
          <a:p>
            <a:endParaRPr lang="en-US" sz="2000" b="0" u="none" dirty="0">
              <a:latin typeface="Arial" pitchFamily="34" charset="0"/>
              <a:cs typeface="Arial" pitchFamily="34" charset="0"/>
            </a:endParaRPr>
          </a:p>
          <a:p>
            <a:r>
              <a:rPr lang="en-US" sz="2000" b="0" u="none" dirty="0">
                <a:latin typeface="Arial" pitchFamily="34" charset="0"/>
                <a:cs typeface="Arial" pitchFamily="34" charset="0"/>
              </a:rPr>
              <a:t>Intuitively, the t-distribution has fatter tails than a normal distribution, as </a:t>
            </a:r>
            <a:r>
              <a:rPr lang="en-US" dirty="0"/>
              <a:t>one has less chance to observe “tail” events in small samples.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6D8F8-60D0-42CE-9935-8C067C436A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114</a:t>
            </a:fld>
            <a:endParaRPr lang="en-GB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E2DAE31-92C3-472B-8F8F-63FAE196C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22891" y="1227139"/>
            <a:ext cx="1815052" cy="2338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88959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2962-EF4C-44B2-811B-FA320FA4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for the Student t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3EAD25-68D4-4183-8CBD-AD4608FED8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115</a:t>
            </a:fld>
            <a:endParaRPr lang="en-GB" dirty="0"/>
          </a:p>
        </p:txBody>
      </p:sp>
      <p:sp>
        <p:nvSpPr>
          <p:cNvPr id="4" name="AutoShape 2" descr="Output image">
            <a:extLst>
              <a:ext uri="{FF2B5EF4-FFF2-40B4-BE49-F238E27FC236}">
                <a16:creationId xmlns:a16="http://schemas.microsoft.com/office/drawing/2014/main" id="{65D97543-9502-47BC-A4B9-81AA7740BD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E405A4-64EE-4B4D-A4C0-16C92A854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40" y="1413470"/>
            <a:ext cx="7666074" cy="491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0972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96A25-671B-D183-3415-4EDD640EC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31193-C8AC-FCF0-2C29-1469A564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Election Example Re-Visited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95E9D-5A50-89D8-ACBA-A56C1B2B3D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116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0DF27-5BD3-52FD-E663-072F2261F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" y="1938638"/>
            <a:ext cx="4825015" cy="34379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D50141-2B9E-1D01-66C4-EB692E85587F}"/>
                  </a:ext>
                </a:extLst>
              </p:cNvPr>
              <p:cNvSpPr txBox="1"/>
              <p:nvPr/>
            </p:nvSpPr>
            <p:spPr>
              <a:xfrm>
                <a:off x="2591757" y="5037818"/>
                <a:ext cx="19697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u="non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𝜇</m:t>
                      </m:r>
                    </m:oMath>
                  </m:oMathPara>
                </a14:m>
                <a:endParaRPr lang="en-US" sz="1800" b="0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D50141-2B9E-1D01-66C4-EB692E855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757" y="5037818"/>
                <a:ext cx="196977" cy="276999"/>
              </a:xfrm>
              <a:prstGeom prst="rect">
                <a:avLst/>
              </a:prstGeom>
              <a:blipFill>
                <a:blip r:embed="rId3"/>
                <a:stretch>
                  <a:fillRect l="-43750" r="-625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75C583A-20E5-C2D1-2B88-7675CEDA6CBE}"/>
              </a:ext>
            </a:extLst>
          </p:cNvPr>
          <p:cNvSpPr txBox="1"/>
          <p:nvPr/>
        </p:nvSpPr>
        <p:spPr>
          <a:xfrm>
            <a:off x="657697" y="5353391"/>
            <a:ext cx="4065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cs typeface="Arial" panose="020B0604020202020204" pitchFamily="34" charset="0"/>
              </a:rPr>
              <a:t>True Change in Taxes Owed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F7B0A4-E791-CB2D-CE4C-7431A90E09D8}"/>
              </a:ext>
            </a:extLst>
          </p:cNvPr>
          <p:cNvCxnSpPr/>
          <p:nvPr/>
        </p:nvCxnSpPr>
        <p:spPr bwMode="auto">
          <a:xfrm>
            <a:off x="2105397" y="2504899"/>
            <a:ext cx="156057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653785-E12C-9D40-84F4-3A383FBA4C3E}"/>
                  </a:ext>
                </a:extLst>
              </p:cNvPr>
              <p:cNvSpPr txBox="1"/>
              <p:nvPr/>
            </p:nvSpPr>
            <p:spPr>
              <a:xfrm>
                <a:off x="2724793" y="2547145"/>
                <a:ext cx="311875" cy="19973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54864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400" i="1" u="none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 u="none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1400" b="0" u="none" dirty="0">
                  <a:solidFill>
                    <a:srgbClr val="00B0F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653785-E12C-9D40-84F4-3A383FBA4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793" y="2547145"/>
                <a:ext cx="311875" cy="199737"/>
              </a:xfrm>
              <a:prstGeom prst="rect">
                <a:avLst/>
              </a:prstGeom>
              <a:blipFill>
                <a:blip r:embed="rId4"/>
                <a:stretch>
                  <a:fillRect r="-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6DB2CD99-DA44-AF2B-2FD2-3C56A25E705C}"/>
              </a:ext>
            </a:extLst>
          </p:cNvPr>
          <p:cNvSpPr/>
          <p:nvPr/>
        </p:nvSpPr>
        <p:spPr bwMode="auto">
          <a:xfrm>
            <a:off x="2842631" y="2468069"/>
            <a:ext cx="71120" cy="73660"/>
          </a:xfrm>
          <a:prstGeom prst="ellipse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BB7294-08D2-EAD6-D13F-22C5D2D952A8}"/>
                  </a:ext>
                </a:extLst>
              </p:cNvPr>
              <p:cNvSpPr txBox="1"/>
              <p:nvPr/>
            </p:nvSpPr>
            <p:spPr>
              <a:xfrm>
                <a:off x="1554541" y="2127655"/>
                <a:ext cx="1076823" cy="184666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05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5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050" b="0" i="1" u="none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−1.96∗</m:t>
                    </m:r>
                    <m:r>
                      <a:rPr lang="en-US" sz="1050" b="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𝑆𝐸</m:t>
                    </m:r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</a:rPr>
                  <a:t>)</a:t>
                </a:r>
                <a:endParaRPr lang="en-US" sz="1200" b="0" u="none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BB7294-08D2-EAD6-D13F-22C5D2D95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541" y="2127655"/>
                <a:ext cx="1076823" cy="184666"/>
              </a:xfrm>
              <a:prstGeom prst="rect">
                <a:avLst/>
              </a:prstGeom>
              <a:blipFill>
                <a:blip r:embed="rId5"/>
                <a:stretch>
                  <a:fillRect t="-30000" r="-10169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51BEAC-2797-1C9F-5183-12D070F91677}"/>
              </a:ext>
            </a:extLst>
          </p:cNvPr>
          <p:cNvCxnSpPr/>
          <p:nvPr/>
        </p:nvCxnSpPr>
        <p:spPr bwMode="auto">
          <a:xfrm>
            <a:off x="3665973" y="2340481"/>
            <a:ext cx="0" cy="1786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BD9ECF-1EDA-67CD-5F64-0D1BA14C7CC7}"/>
              </a:ext>
            </a:extLst>
          </p:cNvPr>
          <p:cNvCxnSpPr/>
          <p:nvPr/>
        </p:nvCxnSpPr>
        <p:spPr bwMode="auto">
          <a:xfrm>
            <a:off x="2105397" y="2340482"/>
            <a:ext cx="0" cy="1786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0E14C72-C34E-9F35-0C91-8E6FA268494A}"/>
              </a:ext>
            </a:extLst>
          </p:cNvPr>
          <p:cNvSpPr txBox="1"/>
          <p:nvPr/>
        </p:nvSpPr>
        <p:spPr>
          <a:xfrm>
            <a:off x="985832" y="1501172"/>
            <a:ext cx="3329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u="none" dirty="0">
                <a:cs typeface="Arial" panose="020B0604020202020204" pitchFamily="34" charset="0"/>
              </a:rPr>
              <a:t>Distribution of Change in Taxes Owed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A4990AD-1076-7DFC-9E5C-42B7D435238E}"/>
                  </a:ext>
                </a:extLst>
              </p:cNvPr>
              <p:cNvSpPr txBox="1"/>
              <p:nvPr/>
            </p:nvSpPr>
            <p:spPr>
              <a:xfrm>
                <a:off x="3131764" y="2119742"/>
                <a:ext cx="1076823" cy="184666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050" i="1" u="none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50" i="1" u="none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050" b="0" i="1" u="none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 b="0" i="1" u="none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1.96∗</m:t>
                    </m:r>
                    <m:r>
                      <a:rPr lang="en-US" sz="1050" b="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  <m:r>
                      <a:rPr lang="en-US" sz="1050" b="0" i="1" u="none" dirty="0" smtClean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</a:rPr>
                  <a:t>)</a:t>
                </a:r>
                <a:endParaRPr lang="en-US" sz="1200" b="0" u="none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A4990AD-1076-7DFC-9E5C-42B7D4352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64" y="2119742"/>
                <a:ext cx="1076823" cy="184666"/>
              </a:xfrm>
              <a:prstGeom prst="rect">
                <a:avLst/>
              </a:prstGeom>
              <a:blipFill>
                <a:blip r:embed="rId6"/>
                <a:stretch>
                  <a:fillRect t="-30000" r="-10227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2C81A0-280A-0B78-54DF-FD1A5B528F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9" y="1089025"/>
                <a:ext cx="4513260" cy="5768975"/>
              </a:xfrm>
            </p:spPr>
            <p:txBody>
              <a:bodyPr/>
              <a:lstStyle/>
              <a:p>
                <a:endParaRPr lang="en-US" sz="1600" dirty="0"/>
              </a:p>
              <a:p>
                <a:r>
                  <a:rPr lang="en-US" sz="1600" dirty="0"/>
                  <a:t>Our hypothesis test</a:t>
                </a:r>
              </a:p>
              <a:p>
                <a:pPr lvl="1"/>
                <a:r>
                  <a:rPr lang="en-US" sz="1600" dirty="0"/>
                  <a:t>H</a:t>
                </a:r>
                <a:r>
                  <a:rPr lang="en-US" sz="1600" baseline="-25000" dirty="0"/>
                  <a:t>0</a:t>
                </a:r>
                <a:r>
                  <a:rPr lang="en-US" sz="1600" dirty="0"/>
                  <a:t>: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R</a:t>
                </a:r>
                <a:r>
                  <a:rPr lang="en-US" sz="1600" dirty="0"/>
                  <a:t>evenue neutral 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pPr lvl="1"/>
                <a:r>
                  <a:rPr lang="en-US" sz="1600" dirty="0"/>
                  <a:t>H</a:t>
                </a:r>
                <a:r>
                  <a:rPr lang="en-US" sz="1600" baseline="-25000" dirty="0"/>
                  <a:t>A</a:t>
                </a:r>
                <a:r>
                  <a:rPr lang="en-US" sz="1600" dirty="0"/>
                  <a:t>: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N</a:t>
                </a:r>
                <a:r>
                  <a:rPr lang="en-US" sz="1600" dirty="0"/>
                  <a:t>ot revenue neutral 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The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sz="1600" dirty="0"/>
                  <a:t> is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sz="16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−1.96∗</m:t>
                            </m:r>
                            <m:r>
                              <a:rPr lang="en-US" sz="1600" i="1" dirty="0">
                                <a:solidFill>
                                  <a:srgbClr val="EB97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𝑆𝐸</m:t>
                            </m:r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 </m:t>
                            </m:r>
                          </m:e>
                          <m:e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sz="16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+1.96∗</m:t>
                            </m:r>
                            <m:r>
                              <a:rPr lang="en-US" sz="1600" i="1" dirty="0">
                                <a:solidFill>
                                  <a:srgbClr val="EB97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𝑆𝐸</m:t>
                            </m:r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  <m:r>
                      <a:rPr lang="en-US" sz="16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=.95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  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If 0 is inside this interval, we cannot reject H</a:t>
                </a:r>
                <a:r>
                  <a:rPr lang="en-US" sz="1600" baseline="-25000" dirty="0"/>
                  <a:t>0</a:t>
                </a:r>
                <a:r>
                  <a:rPr lang="en-US" sz="1600" dirty="0"/>
                  <a:t>. If it is outside this interval, we will reject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2C81A0-280A-0B78-54DF-FD1A5B528F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9" y="1089025"/>
                <a:ext cx="4513260" cy="5768975"/>
              </a:xfrm>
              <a:blipFill>
                <a:blip r:embed="rId7"/>
                <a:stretch>
                  <a:fillRect l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933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9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16271-B8AA-A73F-DE9A-C5BFBFCF5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6D7F-70DF-571A-7169-DCCCC9BD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Election Example Re-Visited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A7BA5-90A0-181A-AF8F-8FA30AFCAA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117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9949E-E2DB-6368-BD4D-DEC2A0C60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" y="1938638"/>
            <a:ext cx="4825015" cy="34379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17F446-F9D0-69E9-69BB-1884249F777E}"/>
                  </a:ext>
                </a:extLst>
              </p:cNvPr>
              <p:cNvSpPr txBox="1"/>
              <p:nvPr/>
            </p:nvSpPr>
            <p:spPr>
              <a:xfrm>
                <a:off x="2591757" y="5037818"/>
                <a:ext cx="19697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u="non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𝜇</m:t>
                      </m:r>
                    </m:oMath>
                  </m:oMathPara>
                </a14:m>
                <a:endParaRPr lang="en-US" sz="1800" b="0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17F446-F9D0-69E9-69BB-1884249F7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757" y="5037818"/>
                <a:ext cx="196977" cy="276999"/>
              </a:xfrm>
              <a:prstGeom prst="rect">
                <a:avLst/>
              </a:prstGeom>
              <a:blipFill>
                <a:blip r:embed="rId3"/>
                <a:stretch>
                  <a:fillRect l="-43750" r="-625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64047A7-7A06-3CFD-D66B-FFB233CE73BC}"/>
              </a:ext>
            </a:extLst>
          </p:cNvPr>
          <p:cNvSpPr txBox="1"/>
          <p:nvPr/>
        </p:nvSpPr>
        <p:spPr>
          <a:xfrm>
            <a:off x="657697" y="5353391"/>
            <a:ext cx="4065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cs typeface="Arial" panose="020B0604020202020204" pitchFamily="34" charset="0"/>
              </a:rPr>
              <a:t>True Change in Taxes Owed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27AEED-D5A3-4EFE-B595-ABF6C1ED97C0}"/>
              </a:ext>
            </a:extLst>
          </p:cNvPr>
          <p:cNvCxnSpPr/>
          <p:nvPr/>
        </p:nvCxnSpPr>
        <p:spPr bwMode="auto">
          <a:xfrm>
            <a:off x="2105397" y="2504899"/>
            <a:ext cx="156057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D9B6BA-1776-C766-2560-96641EB04E8F}"/>
                  </a:ext>
                </a:extLst>
              </p:cNvPr>
              <p:cNvSpPr txBox="1"/>
              <p:nvPr/>
            </p:nvSpPr>
            <p:spPr>
              <a:xfrm>
                <a:off x="2724793" y="2547145"/>
                <a:ext cx="311875" cy="19973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54864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400" i="1" u="none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 u="none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1400" b="0" u="none" dirty="0">
                  <a:solidFill>
                    <a:srgbClr val="00B0F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D9B6BA-1776-C766-2560-96641EB04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793" y="2547145"/>
                <a:ext cx="311875" cy="199737"/>
              </a:xfrm>
              <a:prstGeom prst="rect">
                <a:avLst/>
              </a:prstGeom>
              <a:blipFill>
                <a:blip r:embed="rId4"/>
                <a:stretch>
                  <a:fillRect r="-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7AAB304B-02AC-EE66-E814-D90DFB402DFB}"/>
              </a:ext>
            </a:extLst>
          </p:cNvPr>
          <p:cNvSpPr/>
          <p:nvPr/>
        </p:nvSpPr>
        <p:spPr bwMode="auto">
          <a:xfrm>
            <a:off x="2842631" y="2468069"/>
            <a:ext cx="71120" cy="73660"/>
          </a:xfrm>
          <a:prstGeom prst="ellipse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5CB0D6D-7F8E-0769-23FE-BB302342D03A}"/>
                  </a:ext>
                </a:extLst>
              </p:cNvPr>
              <p:cNvSpPr txBox="1"/>
              <p:nvPr/>
            </p:nvSpPr>
            <p:spPr>
              <a:xfrm>
                <a:off x="1554541" y="2127655"/>
                <a:ext cx="1076823" cy="184666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05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5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050" b="0" i="1" u="none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−1.96∗</m:t>
                    </m:r>
                    <m:r>
                      <a:rPr lang="en-US" sz="1050" b="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𝑆𝐸</m:t>
                    </m:r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</a:rPr>
                  <a:t>)</a:t>
                </a:r>
                <a:endParaRPr lang="en-US" sz="1200" b="0" u="none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5CB0D6D-7F8E-0769-23FE-BB302342D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541" y="2127655"/>
                <a:ext cx="1076823" cy="184666"/>
              </a:xfrm>
              <a:prstGeom prst="rect">
                <a:avLst/>
              </a:prstGeom>
              <a:blipFill>
                <a:blip r:embed="rId5"/>
                <a:stretch>
                  <a:fillRect t="-30000" r="-10169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29C6E7-1B42-8138-4ECA-44F4778C3A8D}"/>
              </a:ext>
            </a:extLst>
          </p:cNvPr>
          <p:cNvCxnSpPr/>
          <p:nvPr/>
        </p:nvCxnSpPr>
        <p:spPr bwMode="auto">
          <a:xfrm>
            <a:off x="3665973" y="2340481"/>
            <a:ext cx="0" cy="1786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D2AF69-5169-A864-B01F-DAA0BF071AD9}"/>
              </a:ext>
            </a:extLst>
          </p:cNvPr>
          <p:cNvCxnSpPr/>
          <p:nvPr/>
        </p:nvCxnSpPr>
        <p:spPr bwMode="auto">
          <a:xfrm>
            <a:off x="2105397" y="2340482"/>
            <a:ext cx="0" cy="1786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B0F1C78-491E-E848-13C8-BB5A0A5C57DB}"/>
              </a:ext>
            </a:extLst>
          </p:cNvPr>
          <p:cNvSpPr txBox="1"/>
          <p:nvPr/>
        </p:nvSpPr>
        <p:spPr>
          <a:xfrm>
            <a:off x="985832" y="1501172"/>
            <a:ext cx="3329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u="none" dirty="0">
                <a:cs typeface="Arial" panose="020B0604020202020204" pitchFamily="34" charset="0"/>
              </a:rPr>
              <a:t>Distribution of Change in Taxes Owed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1DBFBA-96CB-24CD-9CB7-DA0BC99D2845}"/>
                  </a:ext>
                </a:extLst>
              </p:cNvPr>
              <p:cNvSpPr txBox="1"/>
              <p:nvPr/>
            </p:nvSpPr>
            <p:spPr>
              <a:xfrm>
                <a:off x="3131764" y="2119742"/>
                <a:ext cx="1076823" cy="184666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05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5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050" b="0" i="1" u="none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+1.96∗</m:t>
                    </m:r>
                    <m:r>
                      <a:rPr lang="en-US" sz="1050" b="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  <m:r>
                      <a:rPr lang="en-US" sz="1050" b="0" i="1" u="none" dirty="0" smtClean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</a:rPr>
                  <a:t>)</a:t>
                </a:r>
                <a:endParaRPr lang="en-US" sz="1200" b="0" u="none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1DBFBA-96CB-24CD-9CB7-DA0BC99D2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64" y="2119742"/>
                <a:ext cx="1076823" cy="184666"/>
              </a:xfrm>
              <a:prstGeom prst="rect">
                <a:avLst/>
              </a:prstGeom>
              <a:blipFill>
                <a:blip r:embed="rId6"/>
                <a:stretch>
                  <a:fillRect t="-30000" r="-10227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7D653F-20A7-C5E5-D07C-6D9D765F4D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9" y="1089025"/>
                <a:ext cx="4513260" cy="5768975"/>
              </a:xfrm>
            </p:spPr>
            <p:txBody>
              <a:bodyPr/>
              <a:lstStyle/>
              <a:p>
                <a:endParaRPr lang="en-US" sz="1600" dirty="0"/>
              </a:p>
              <a:p>
                <a:r>
                  <a:rPr lang="en-US" sz="1600" dirty="0"/>
                  <a:t>Our hypothesis test</a:t>
                </a:r>
              </a:p>
              <a:p>
                <a:pPr lvl="1"/>
                <a:r>
                  <a:rPr lang="en-US" sz="1600" dirty="0"/>
                  <a:t>H</a:t>
                </a:r>
                <a:r>
                  <a:rPr lang="en-US" sz="1600" baseline="-25000" dirty="0"/>
                  <a:t>0</a:t>
                </a:r>
                <a:r>
                  <a:rPr lang="en-US" sz="1600" dirty="0"/>
                  <a:t>: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R</a:t>
                </a:r>
                <a:r>
                  <a:rPr lang="en-US" sz="1600" dirty="0"/>
                  <a:t>evenue neutral 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pPr lvl="1"/>
                <a:r>
                  <a:rPr lang="en-US" sz="1600" dirty="0"/>
                  <a:t>H</a:t>
                </a:r>
                <a:r>
                  <a:rPr lang="en-US" sz="1600" baseline="-25000" dirty="0"/>
                  <a:t>A</a:t>
                </a:r>
                <a:r>
                  <a:rPr lang="en-US" sz="1600" dirty="0"/>
                  <a:t>: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N</a:t>
                </a:r>
                <a:r>
                  <a:rPr lang="en-US" sz="1600" dirty="0"/>
                  <a:t>ot revenue neutral 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The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sz="1600" dirty="0"/>
                  <a:t> is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sz="16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−1.96∗</m:t>
                            </m:r>
                            <m:r>
                              <a:rPr lang="en-US" sz="1600" i="1" dirty="0">
                                <a:solidFill>
                                  <a:srgbClr val="EB97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𝑆𝐸</m:t>
                            </m:r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 </m:t>
                            </m:r>
                          </m:e>
                          <m:e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sz="16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+1.96∗</m:t>
                            </m:r>
                            <m:r>
                              <a:rPr lang="en-US" sz="1600" i="1" dirty="0">
                                <a:solidFill>
                                  <a:srgbClr val="EB97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𝑆𝐸</m:t>
                            </m:r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  <m:r>
                      <a:rPr lang="en-US" sz="16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=.95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  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Suppose H</a:t>
                </a:r>
                <a:r>
                  <a:rPr lang="en-US" sz="1600" baseline="-25000" dirty="0"/>
                  <a:t>0</a:t>
                </a:r>
                <a:r>
                  <a:rPr lang="en-US" sz="1600" dirty="0"/>
                  <a:t> is true. Then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sz="16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−1.96∗</m:t>
                            </m:r>
                            <m:r>
                              <a:rPr lang="en-US" sz="1600" i="1" dirty="0">
                                <a:solidFill>
                                  <a:srgbClr val="EB97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𝑆𝐸</m:t>
                            </m:r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 </m:t>
                            </m:r>
                          </m:e>
                          <m:e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16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+1.96∗</m:t>
                            </m:r>
                            <m:r>
                              <a:rPr lang="en-US" sz="1600" i="1" dirty="0">
                                <a:solidFill>
                                  <a:srgbClr val="EB97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𝑆𝐸</m:t>
                            </m:r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  <m:r>
                      <a:rPr lang="en-US" sz="16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=.95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  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7D653F-20A7-C5E5-D07C-6D9D765F4D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9" y="1089025"/>
                <a:ext cx="4513260" cy="5768975"/>
              </a:xfrm>
              <a:blipFill>
                <a:blip r:embed="rId7"/>
                <a:stretch>
                  <a:fillRect l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62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9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11004-B87B-8C05-6E84-EC9F41A1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0E7E-2B59-FD5C-DB9F-C39FB34DE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Election Example Re-Visited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3D9E6-B7B9-2EAE-8B01-56C6DFD6E6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FC96386F-C149-48D8-92C5-2CFDBA85534B}" type="slidenum">
              <a:rPr lang="en-GB" smtClean="0"/>
              <a:pPr>
                <a:defRPr/>
              </a:pPr>
              <a:t>118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89826-469B-E366-8790-FFB622494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" y="1938638"/>
            <a:ext cx="4825015" cy="34379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FB9C5F-FFD2-BFCA-81EC-68BE06D5C542}"/>
                  </a:ext>
                </a:extLst>
              </p:cNvPr>
              <p:cNvSpPr txBox="1"/>
              <p:nvPr/>
            </p:nvSpPr>
            <p:spPr>
              <a:xfrm>
                <a:off x="2591757" y="5037818"/>
                <a:ext cx="19697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u="non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𝜇</m:t>
                      </m:r>
                    </m:oMath>
                  </m:oMathPara>
                </a14:m>
                <a:endParaRPr lang="en-US" sz="1800" b="0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FB9C5F-FFD2-BFCA-81EC-68BE06D5C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757" y="5037818"/>
                <a:ext cx="196977" cy="276999"/>
              </a:xfrm>
              <a:prstGeom prst="rect">
                <a:avLst/>
              </a:prstGeom>
              <a:blipFill>
                <a:blip r:embed="rId3"/>
                <a:stretch>
                  <a:fillRect l="-43750" r="-625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8049BC8-03C7-DC19-F7F3-E674BA994E21}"/>
              </a:ext>
            </a:extLst>
          </p:cNvPr>
          <p:cNvSpPr txBox="1"/>
          <p:nvPr/>
        </p:nvSpPr>
        <p:spPr>
          <a:xfrm>
            <a:off x="657697" y="5353391"/>
            <a:ext cx="4065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u="none" dirty="0">
                <a:cs typeface="Arial" panose="020B0604020202020204" pitchFamily="34" charset="0"/>
              </a:rPr>
              <a:t>True Change in Taxes Owed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671443-1983-37C7-F730-58BAB85B78D4}"/>
              </a:ext>
            </a:extLst>
          </p:cNvPr>
          <p:cNvCxnSpPr/>
          <p:nvPr/>
        </p:nvCxnSpPr>
        <p:spPr bwMode="auto">
          <a:xfrm>
            <a:off x="2105397" y="2504899"/>
            <a:ext cx="156057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6215AD-0D54-CE62-36C0-1BBFA4AF906D}"/>
                  </a:ext>
                </a:extLst>
              </p:cNvPr>
              <p:cNvSpPr txBox="1"/>
              <p:nvPr/>
            </p:nvSpPr>
            <p:spPr>
              <a:xfrm>
                <a:off x="2724793" y="2547145"/>
                <a:ext cx="311875" cy="19973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54864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400" i="1" u="none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 u="none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1400" b="0" u="none" dirty="0">
                  <a:solidFill>
                    <a:srgbClr val="00B0F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6215AD-0D54-CE62-36C0-1BBFA4AF9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793" y="2547145"/>
                <a:ext cx="311875" cy="199737"/>
              </a:xfrm>
              <a:prstGeom prst="rect">
                <a:avLst/>
              </a:prstGeom>
              <a:blipFill>
                <a:blip r:embed="rId4"/>
                <a:stretch>
                  <a:fillRect r="-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BF77C8F9-42D8-B342-5969-1A447908CD28}"/>
              </a:ext>
            </a:extLst>
          </p:cNvPr>
          <p:cNvSpPr/>
          <p:nvPr/>
        </p:nvSpPr>
        <p:spPr bwMode="auto">
          <a:xfrm>
            <a:off x="2842631" y="2468069"/>
            <a:ext cx="71120" cy="73660"/>
          </a:xfrm>
          <a:prstGeom prst="ellipse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258BCE-D3EA-8866-26A9-2F2F7BE2AE55}"/>
                  </a:ext>
                </a:extLst>
              </p:cNvPr>
              <p:cNvSpPr txBox="1"/>
              <p:nvPr/>
            </p:nvSpPr>
            <p:spPr>
              <a:xfrm>
                <a:off x="1554541" y="2127655"/>
                <a:ext cx="1076823" cy="184666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05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5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050" b="0" i="1" u="none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−1.96∗</m:t>
                    </m:r>
                    <m:r>
                      <a:rPr lang="en-US" sz="1050" b="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𝑆𝐸</m:t>
                    </m:r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</a:rPr>
                  <a:t>)</a:t>
                </a:r>
                <a:endParaRPr lang="en-US" sz="1200" b="0" u="none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258BCE-D3EA-8866-26A9-2F2F7BE2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541" y="2127655"/>
                <a:ext cx="1076823" cy="184666"/>
              </a:xfrm>
              <a:prstGeom prst="rect">
                <a:avLst/>
              </a:prstGeom>
              <a:blipFill>
                <a:blip r:embed="rId5"/>
                <a:stretch>
                  <a:fillRect t="-30000" r="-10169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EA96D4-73EA-0131-EFA7-08488DCE5F7F}"/>
              </a:ext>
            </a:extLst>
          </p:cNvPr>
          <p:cNvCxnSpPr/>
          <p:nvPr/>
        </p:nvCxnSpPr>
        <p:spPr bwMode="auto">
          <a:xfrm>
            <a:off x="3665973" y="2340481"/>
            <a:ext cx="0" cy="1786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D4450E-3C68-197A-4876-B6D5E7EF81F2}"/>
              </a:ext>
            </a:extLst>
          </p:cNvPr>
          <p:cNvCxnSpPr/>
          <p:nvPr/>
        </p:nvCxnSpPr>
        <p:spPr bwMode="auto">
          <a:xfrm>
            <a:off x="2105397" y="2340482"/>
            <a:ext cx="0" cy="1786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4A2B4A2-43F5-0A36-A263-1E7E33CA83E6}"/>
              </a:ext>
            </a:extLst>
          </p:cNvPr>
          <p:cNvSpPr txBox="1"/>
          <p:nvPr/>
        </p:nvSpPr>
        <p:spPr>
          <a:xfrm>
            <a:off x="985832" y="1501172"/>
            <a:ext cx="3329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u="none" dirty="0">
                <a:cs typeface="Arial" panose="020B0604020202020204" pitchFamily="34" charset="0"/>
              </a:rPr>
              <a:t>Distribution of Change in Taxes Owed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E47C29-470A-FC61-BC6B-7BCB1B6DE125}"/>
                  </a:ext>
                </a:extLst>
              </p:cNvPr>
              <p:cNvSpPr txBox="1"/>
              <p:nvPr/>
            </p:nvSpPr>
            <p:spPr>
              <a:xfrm>
                <a:off x="3131764" y="2119742"/>
                <a:ext cx="1076823" cy="184666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05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5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050" b="0" i="1" u="none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+1.96∗</m:t>
                    </m:r>
                    <m:r>
                      <a:rPr lang="en-US" sz="1050" b="0" i="1" u="none" dirty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  <m:r>
                      <a:rPr lang="en-US" sz="1050" b="0" i="1" u="none" dirty="0" smtClean="0">
                        <a:solidFill>
                          <a:srgbClr val="EB971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b="0" u="none" dirty="0">
                    <a:solidFill>
                      <a:schemeClr val="accent6"/>
                    </a:solidFill>
                  </a:rPr>
                  <a:t>)</a:t>
                </a:r>
                <a:endParaRPr lang="en-US" sz="1200" b="0" u="none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E47C29-470A-FC61-BC6B-7BCB1B6DE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64" y="2119742"/>
                <a:ext cx="1076823" cy="184666"/>
              </a:xfrm>
              <a:prstGeom prst="rect">
                <a:avLst/>
              </a:prstGeom>
              <a:blipFill>
                <a:blip r:embed="rId6"/>
                <a:stretch>
                  <a:fillRect t="-30000" r="-10227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E448D0-1A8D-6ECC-E697-3950C30DF5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9" y="1089025"/>
                <a:ext cx="4513260" cy="5768975"/>
              </a:xfrm>
            </p:spPr>
            <p:txBody>
              <a:bodyPr/>
              <a:lstStyle/>
              <a:p>
                <a:endParaRPr lang="en-US" sz="1600" dirty="0"/>
              </a:p>
              <a:p>
                <a:r>
                  <a:rPr lang="en-US" sz="1600" dirty="0"/>
                  <a:t>Our hypothesis test</a:t>
                </a:r>
              </a:p>
              <a:p>
                <a:pPr lvl="1"/>
                <a:r>
                  <a:rPr lang="en-US" sz="1600" dirty="0"/>
                  <a:t>H</a:t>
                </a:r>
                <a:r>
                  <a:rPr lang="en-US" sz="1600" baseline="-25000" dirty="0"/>
                  <a:t>0</a:t>
                </a:r>
                <a:r>
                  <a:rPr lang="en-US" sz="1600" dirty="0"/>
                  <a:t>: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R</a:t>
                </a:r>
                <a:r>
                  <a:rPr lang="en-US" sz="1600" dirty="0"/>
                  <a:t>evenue neutral 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pPr lvl="1"/>
                <a:r>
                  <a:rPr lang="en-US" sz="1600" dirty="0"/>
                  <a:t>H</a:t>
                </a:r>
                <a:r>
                  <a:rPr lang="en-US" sz="1600" baseline="-25000" dirty="0"/>
                  <a:t>A</a:t>
                </a:r>
                <a:r>
                  <a:rPr lang="en-US" sz="1600" dirty="0"/>
                  <a:t>: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N</a:t>
                </a:r>
                <a:r>
                  <a:rPr lang="en-US" sz="1600" dirty="0"/>
                  <a:t>ot revenue neutral 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The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sz="1600" dirty="0"/>
                  <a:t> is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sz="16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−1.96∗</m:t>
                            </m:r>
                            <m:r>
                              <a:rPr lang="en-US" sz="1600" i="1" dirty="0">
                                <a:solidFill>
                                  <a:srgbClr val="EB97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𝑆𝐸</m:t>
                            </m:r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 </m:t>
                            </m:r>
                          </m:e>
                          <m:e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sz="16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+1.96∗</m:t>
                            </m:r>
                            <m:r>
                              <a:rPr lang="en-US" sz="1600" i="1" dirty="0">
                                <a:solidFill>
                                  <a:srgbClr val="EB97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𝑆𝐸</m:t>
                            </m:r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  <m:r>
                      <a:rPr lang="en-US" sz="16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=.95</m:t>
                    </m:r>
                  </m:oMath>
                </a14:m>
                <a:r>
                  <a:rPr lang="en-US" sz="1600" dirty="0">
                    <a:solidFill>
                      <a:schemeClr val="accent6"/>
                    </a:solidFill>
                    <a:ea typeface="Cambria Math" panose="02040503050406030204" pitchFamily="18" charset="0"/>
                  </a:rPr>
                  <a:t>  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If 0 is inside this interval, we cannot reject H</a:t>
                </a:r>
                <a:r>
                  <a:rPr lang="en-US" sz="1600" baseline="-25000" dirty="0"/>
                  <a:t>0</a:t>
                </a:r>
                <a:r>
                  <a:rPr lang="en-US" sz="1600" dirty="0"/>
                  <a:t>. If it is outside this interval, we will reject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Instead of asking “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</a:rPr>
                  <a:t>is 0 in my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</a:rPr>
                  <a:t>?</a:t>
                </a:r>
                <a:r>
                  <a:rPr lang="en-US" sz="1600" dirty="0"/>
                  <a:t>”, we can ask “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</a:rPr>
                  <a:t>if H</a:t>
                </a:r>
                <a:r>
                  <a:rPr lang="en-US" sz="1600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</a:rPr>
                  <a:t> is true, how far is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</a:rPr>
                  <a:t> from 0 measured in standard deviation units?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”, i.e., </a:t>
                </a:r>
              </a:p>
              <a:p>
                <a:endParaRPr lang="en-US" sz="1600" dirty="0">
                  <a:solidFill>
                    <a:schemeClr val="accent6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𝑠𝑡𝑎𝑡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sz="1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r>
                          <a:rPr lang="en-US" sz="1600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sz="1600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dirty="0">
                            <a:solidFill>
                              <a:srgbClr val="EB971B"/>
                            </a:solidFill>
                            <a:latin typeface="Cambria Math" panose="02040503050406030204" pitchFamily="18" charset="0"/>
                          </a:rPr>
                          <m:t>𝐸𝑟𝑟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bar>
                          <m:barPr>
                            <m:pos m:val="top"/>
                            <m:ctrlP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600" dirty="0"/>
                  <a:t> 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E448D0-1A8D-6ECC-E697-3950C30DF5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9" y="1089025"/>
                <a:ext cx="4513260" cy="5768975"/>
              </a:xfrm>
              <a:blipFill>
                <a:blip r:embed="rId7"/>
                <a:stretch>
                  <a:fillRect l="-541" r="-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458E2E65-6EAE-1DD3-A84C-E719ED7A12CC}"/>
              </a:ext>
            </a:extLst>
          </p:cNvPr>
          <p:cNvSpPr/>
          <p:nvPr/>
        </p:nvSpPr>
        <p:spPr bwMode="auto">
          <a:xfrm>
            <a:off x="5933732" y="5361415"/>
            <a:ext cx="2493221" cy="401283"/>
          </a:xfrm>
          <a:prstGeom prst="ellipse">
            <a:avLst/>
          </a:prstGeom>
          <a:noFill/>
          <a:ln w="12700" cap="flat" cmpd="sng" algn="ctr">
            <a:solidFill>
              <a:srgbClr val="EB971B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2C9992-2E17-498C-D2AA-BFC0F42D9B35}"/>
              </a:ext>
            </a:extLst>
          </p:cNvPr>
          <p:cNvSpPr/>
          <p:nvPr/>
        </p:nvSpPr>
        <p:spPr bwMode="auto">
          <a:xfrm>
            <a:off x="6844349" y="6265636"/>
            <a:ext cx="937919" cy="233842"/>
          </a:xfrm>
          <a:prstGeom prst="ellipse">
            <a:avLst/>
          </a:prstGeom>
          <a:noFill/>
          <a:ln w="12700" cap="flat" cmpd="sng" algn="ctr">
            <a:solidFill>
              <a:srgbClr val="EB971B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9DFCF20-108B-4D59-14EC-430C95F00715}"/>
              </a:ext>
            </a:extLst>
          </p:cNvPr>
          <p:cNvSpPr/>
          <p:nvPr/>
        </p:nvSpPr>
        <p:spPr bwMode="auto">
          <a:xfrm>
            <a:off x="7782268" y="5661168"/>
            <a:ext cx="644685" cy="700161"/>
          </a:xfrm>
          <a:custGeom>
            <a:avLst/>
            <a:gdLst>
              <a:gd name="connsiteX0" fmla="*/ 361813 w 657013"/>
              <a:gd name="connsiteY0" fmla="*/ 0 h 710469"/>
              <a:gd name="connsiteX1" fmla="*/ 644685 w 657013"/>
              <a:gd name="connsiteY1" fmla="*/ 328921 h 710469"/>
              <a:gd name="connsiteX2" fmla="*/ 0 w 657013"/>
              <a:gd name="connsiteY2" fmla="*/ 710469 h 71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7013" h="710469">
                <a:moveTo>
                  <a:pt x="361813" y="0"/>
                </a:moveTo>
                <a:cubicBezTo>
                  <a:pt x="533400" y="105255"/>
                  <a:pt x="704987" y="210510"/>
                  <a:pt x="644685" y="328921"/>
                </a:cubicBezTo>
                <a:cubicBezTo>
                  <a:pt x="584383" y="447332"/>
                  <a:pt x="292191" y="578900"/>
                  <a:pt x="0" y="710469"/>
                </a:cubicBezTo>
              </a:path>
            </a:pathLst>
          </a:custGeom>
          <a:noFill/>
          <a:ln w="9525" cap="flat" cmpd="sng" algn="ctr">
            <a:solidFill>
              <a:srgbClr val="EB971B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0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9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6DE1F-90CE-58DD-B87F-3A592F2F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5E212B-542F-BCE5-584A-1972CE9E99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119</a:t>
            </a:fld>
            <a:endParaRPr lang="en-GB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6EB0DC6-46E7-A9FA-1204-2CDD44CD1143}"/>
              </a:ext>
            </a:extLst>
          </p:cNvPr>
          <p:cNvGrpSpPr/>
          <p:nvPr/>
        </p:nvGrpSpPr>
        <p:grpSpPr>
          <a:xfrm>
            <a:off x="4954587" y="1948705"/>
            <a:ext cx="4642454" cy="3307845"/>
            <a:chOff x="4954587" y="1948705"/>
            <a:chExt cx="4642454" cy="330784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CFA8FBF-0557-C592-2ACB-217CD21A3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54587" y="1948705"/>
              <a:ext cx="4642454" cy="330784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DC60D3-3A38-9F1D-0EC9-70C0D47300E6}"/>
                </a:ext>
              </a:extLst>
            </p:cNvPr>
            <p:cNvSpPr txBox="1"/>
            <p:nvPr/>
          </p:nvSpPr>
          <p:spPr>
            <a:xfrm>
              <a:off x="8268133" y="4199527"/>
              <a:ext cx="6527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0" u="none" dirty="0">
                  <a:solidFill>
                    <a:srgbClr val="FF0000"/>
                  </a:solidFill>
                  <a:cs typeface="Arial" pitchFamily="34" charset="0"/>
                </a:rPr>
                <a:t>3.5%</a:t>
              </a:r>
              <a:endPara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693353-52A2-1D5D-349A-219F771CB79D}"/>
              </a:ext>
            </a:extLst>
          </p:cNvPr>
          <p:cNvGrpSpPr/>
          <p:nvPr/>
        </p:nvGrpSpPr>
        <p:grpSpPr>
          <a:xfrm>
            <a:off x="58737" y="1948705"/>
            <a:ext cx="4642454" cy="3307845"/>
            <a:chOff x="58737" y="1948705"/>
            <a:chExt cx="4642454" cy="33078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D9310BB-9A21-A61B-63F5-0FA3F53ED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737" y="1948705"/>
              <a:ext cx="4642454" cy="330784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04C0A12-DBC8-449B-CA77-1A3E26F30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03" t="49358" r="8412" b="13784"/>
            <a:stretch>
              <a:fillRect/>
            </a:stretch>
          </p:blipFill>
          <p:spPr>
            <a:xfrm flipH="1">
              <a:off x="844549" y="3589927"/>
              <a:ext cx="1076325" cy="12192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4D58FF9-BB2D-DD5A-3506-BC0DC9404EB4}"/>
                    </a:ext>
                  </a:extLst>
                </p:cNvPr>
                <p:cNvSpPr txBox="1"/>
                <p:nvPr/>
              </p:nvSpPr>
              <p:spPr>
                <a:xfrm>
                  <a:off x="601505" y="1948705"/>
                  <a:ext cx="1600675" cy="1015663"/>
                </a:xfrm>
                <a:prstGeom prst="rect">
                  <a:avLst/>
                </a:prstGeom>
                <a:solidFill>
                  <a:schemeClr val="accent3">
                    <a:lumMod val="95000"/>
                  </a:schemeClr>
                </a:solidFill>
                <a:ln w="3175">
                  <a:solidFill>
                    <a:srgbClr val="FF0000"/>
                  </a:solidFill>
                </a:ln>
              </p:spPr>
              <p:txBody>
                <a:bodyPr wrap="square" lIns="45720" rIns="0" rtlCol="0">
                  <a:spAutoFit/>
                </a:bodyPr>
                <a:lstStyle/>
                <a:p>
                  <a:r>
                    <a:rPr lang="en-US" sz="1200" b="0" u="none" dirty="0">
                      <a:solidFill>
                        <a:schemeClr val="accent6"/>
                      </a:solidFill>
                      <a:cs typeface="Arial" pitchFamily="34" charset="0"/>
                    </a:rPr>
                    <a:t>Total probability of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200" b="0" i="1" u="none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en-US" sz="1200" b="0" i="1" u="none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𝑡</m:t>
                          </m:r>
                          <m:r>
                            <a:rPr lang="en-US" sz="1200" b="0" i="1" u="none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−</m:t>
                          </m:r>
                          <m:r>
                            <a:rPr lang="en-US" sz="1200" b="0" i="1" u="none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𝑠𝑡𝑎𝑡</m:t>
                          </m:r>
                        </m:e>
                      </m:d>
                      <m:r>
                        <a:rPr lang="en-US" sz="1200" b="0" i="1" u="none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≥1.81</m:t>
                      </m:r>
                    </m:oMath>
                  </a14:m>
                  <a:r>
                    <a:rPr lang="en-US" sz="1200" b="0" u="none" dirty="0">
                      <a:solidFill>
                        <a:schemeClr val="accent6"/>
                      </a:solidFill>
                      <a:cs typeface="Arial" pitchFamily="34" charset="0"/>
                    </a:rPr>
                    <a:t> is </a:t>
                  </a:r>
                  <a:r>
                    <a:rPr lang="en-US" sz="1200" b="0" u="none" dirty="0">
                      <a:solidFill>
                        <a:srgbClr val="FF0000"/>
                      </a:solidFill>
                      <a:cs typeface="Arial" pitchFamily="34" charset="0"/>
                    </a:rPr>
                    <a:t>7%</a:t>
                  </a:r>
                  <a:r>
                    <a:rPr lang="en-US" sz="1200" b="0" u="none" dirty="0">
                      <a:solidFill>
                        <a:schemeClr val="accent6"/>
                      </a:solidFill>
                      <a:cs typeface="Arial" pitchFamily="34" charset="0"/>
                    </a:rPr>
                    <a:t> because we care about deviations in </a:t>
                  </a:r>
                  <a:r>
                    <a:rPr lang="en-US" sz="1200" b="0" dirty="0">
                      <a:solidFill>
                        <a:schemeClr val="accent6"/>
                      </a:solidFill>
                      <a:cs typeface="Arial" pitchFamily="34" charset="0"/>
                    </a:rPr>
                    <a:t>both</a:t>
                  </a:r>
                  <a:r>
                    <a:rPr lang="en-US" sz="1200" b="0" u="none" dirty="0">
                      <a:solidFill>
                        <a:schemeClr val="accent6"/>
                      </a:solidFill>
                      <a:cs typeface="Arial" pitchFamily="34" charset="0"/>
                    </a:rPr>
                    <a:t> directions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4D58FF9-BB2D-DD5A-3506-BC0DC9404E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505" y="1948705"/>
                  <a:ext cx="1600675" cy="1015663"/>
                </a:xfrm>
                <a:prstGeom prst="rect">
                  <a:avLst/>
                </a:prstGeom>
                <a:blipFill>
                  <a:blip r:embed="rId3"/>
                  <a:stretch>
                    <a:fillRect l="-3042" t="-1198" r="-3422" b="-2994"/>
                  </a:stretch>
                </a:blipFill>
                <a:ln w="31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4C8DB3A-326D-11D3-A97B-36DEEDB36EAC}"/>
                </a:ext>
              </a:extLst>
            </p:cNvPr>
            <p:cNvSpPr/>
            <p:nvPr/>
          </p:nvSpPr>
          <p:spPr bwMode="auto">
            <a:xfrm flipH="1">
              <a:off x="908355" y="3048000"/>
              <a:ext cx="550209" cy="1121047"/>
            </a:xfrm>
            <a:custGeom>
              <a:avLst/>
              <a:gdLst>
                <a:gd name="connsiteX0" fmla="*/ 0 w 279400"/>
                <a:gd name="connsiteY0" fmla="*/ 431800 h 431800"/>
                <a:gd name="connsiteX1" fmla="*/ 177800 w 279400"/>
                <a:gd name="connsiteY1" fmla="*/ 241300 h 431800"/>
                <a:gd name="connsiteX2" fmla="*/ 279400 w 279400"/>
                <a:gd name="connsiteY2" fmla="*/ 0 h 43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" h="431800">
                  <a:moveTo>
                    <a:pt x="0" y="431800"/>
                  </a:moveTo>
                  <a:cubicBezTo>
                    <a:pt x="65616" y="372533"/>
                    <a:pt x="131233" y="313267"/>
                    <a:pt x="177800" y="241300"/>
                  </a:cubicBezTo>
                  <a:cubicBezTo>
                    <a:pt x="224367" y="169333"/>
                    <a:pt x="251883" y="84666"/>
                    <a:pt x="279400" y="0"/>
                  </a:cubicBezTo>
                </a:path>
              </a:pathLst>
            </a:custGeom>
            <a:noFill/>
            <a:ln w="31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542EB54-E2D5-A313-1543-D38C8C41D672}"/>
              </a:ext>
            </a:extLst>
          </p:cNvPr>
          <p:cNvSpPr txBox="1"/>
          <p:nvPr/>
        </p:nvSpPr>
        <p:spPr>
          <a:xfrm>
            <a:off x="3348691" y="4199527"/>
            <a:ext cx="652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0" u="none" dirty="0">
                <a:solidFill>
                  <a:srgbClr val="FF0000"/>
                </a:solidFill>
                <a:cs typeface="Arial" pitchFamily="34" charset="0"/>
              </a:rPr>
              <a:t>3.5%</a:t>
            </a:r>
            <a:endParaRPr lang="en-US" sz="1600" b="0" u="none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A30A9-7632-BA96-E2C3-9339B3D39FBB}"/>
              </a:ext>
            </a:extLst>
          </p:cNvPr>
          <p:cNvSpPr txBox="1"/>
          <p:nvPr/>
        </p:nvSpPr>
        <p:spPr>
          <a:xfrm>
            <a:off x="1161751" y="4199527"/>
            <a:ext cx="652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0" u="none" dirty="0">
                <a:solidFill>
                  <a:srgbClr val="FF0000"/>
                </a:solidFill>
                <a:cs typeface="Arial" pitchFamily="34" charset="0"/>
              </a:rPr>
              <a:t>3.5%</a:t>
            </a:r>
            <a:endParaRPr lang="en-US" sz="1600" b="0" u="none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DC7116B-C6CC-DC79-0EE9-97590C5E28CC}"/>
              </a:ext>
            </a:extLst>
          </p:cNvPr>
          <p:cNvSpPr/>
          <p:nvPr/>
        </p:nvSpPr>
        <p:spPr bwMode="auto">
          <a:xfrm>
            <a:off x="914400" y="3055619"/>
            <a:ext cx="2434291" cy="1219199"/>
          </a:xfrm>
          <a:custGeom>
            <a:avLst/>
            <a:gdLst>
              <a:gd name="connsiteX0" fmla="*/ 2613660 w 2613660"/>
              <a:gd name="connsiteY0" fmla="*/ 1127760 h 1127760"/>
              <a:gd name="connsiteX1" fmla="*/ 510540 w 2613660"/>
              <a:gd name="connsiteY1" fmla="*/ 624840 h 1127760"/>
              <a:gd name="connsiteX2" fmla="*/ 0 w 2613660"/>
              <a:gd name="connsiteY2" fmla="*/ 0 h 112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13660" h="1127760">
                <a:moveTo>
                  <a:pt x="2613660" y="1127760"/>
                </a:moveTo>
                <a:cubicBezTo>
                  <a:pt x="1779905" y="970280"/>
                  <a:pt x="946150" y="812800"/>
                  <a:pt x="510540" y="624840"/>
                </a:cubicBezTo>
                <a:cubicBezTo>
                  <a:pt x="74930" y="436880"/>
                  <a:pt x="67310" y="54610"/>
                  <a:pt x="0" y="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4204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9DA99-9A6C-9711-0AE5-86F6487B7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46F0E-07D0-5ACC-8A56-9451C4F0A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A580D6-6A41-22AE-1AD1-6B9959058C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fld id="{B18DCB8B-D2FE-45D5-9D77-2EAE87C4CC26}" type="slidenum">
              <a:rPr lang="en-GB" smtClean="0"/>
              <a:pPr>
                <a:defRPr/>
              </a:pPr>
              <a:t>120</a:t>
            </a:fld>
            <a:endParaRPr lang="en-GB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9DF8C0-EC10-F8AD-0A78-34392DCC12EF}"/>
              </a:ext>
            </a:extLst>
          </p:cNvPr>
          <p:cNvGrpSpPr/>
          <p:nvPr/>
        </p:nvGrpSpPr>
        <p:grpSpPr>
          <a:xfrm>
            <a:off x="4954587" y="1948705"/>
            <a:ext cx="4642454" cy="3307845"/>
            <a:chOff x="4954587" y="1948705"/>
            <a:chExt cx="4642454" cy="330784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95EA9FC-B860-2DDC-1749-320A77CD8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54587" y="1948705"/>
              <a:ext cx="4642454" cy="330784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38BBD8-69E3-2527-10FB-AF477BBAEC0B}"/>
                </a:ext>
              </a:extLst>
            </p:cNvPr>
            <p:cNvSpPr txBox="1"/>
            <p:nvPr/>
          </p:nvSpPr>
          <p:spPr>
            <a:xfrm>
              <a:off x="8268133" y="4199527"/>
              <a:ext cx="6527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0" u="none" dirty="0">
                  <a:solidFill>
                    <a:srgbClr val="FF0000"/>
                  </a:solidFill>
                  <a:cs typeface="Arial" pitchFamily="34" charset="0"/>
                </a:rPr>
                <a:t>3.5%</a:t>
              </a:r>
              <a:endPara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D63B54-C29F-84C2-666B-64C86BDA138E}"/>
              </a:ext>
            </a:extLst>
          </p:cNvPr>
          <p:cNvGrpSpPr/>
          <p:nvPr/>
        </p:nvGrpSpPr>
        <p:grpSpPr>
          <a:xfrm>
            <a:off x="58737" y="1948705"/>
            <a:ext cx="4642454" cy="3307845"/>
            <a:chOff x="58737" y="1948705"/>
            <a:chExt cx="4642454" cy="33078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BD772EA-2F74-409A-02AE-16089BE33BD4}"/>
                </a:ext>
              </a:extLst>
            </p:cNvPr>
            <p:cNvGrpSpPr/>
            <p:nvPr/>
          </p:nvGrpSpPr>
          <p:grpSpPr>
            <a:xfrm>
              <a:off x="58737" y="1948705"/>
              <a:ext cx="4642454" cy="3307845"/>
              <a:chOff x="58737" y="1948705"/>
              <a:chExt cx="4642454" cy="3307845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68D24F3-60A7-EAE5-DE7B-E9A3290F0E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737" y="1948705"/>
                <a:ext cx="4642454" cy="3307845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E7576F7-CD2F-3CC0-E789-0454F13C78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68403" t="49358" r="8412" b="13784"/>
              <a:stretch>
                <a:fillRect/>
              </a:stretch>
            </p:blipFill>
            <p:spPr>
              <a:xfrm flipH="1">
                <a:off x="844549" y="3589927"/>
                <a:ext cx="1076325" cy="1219200"/>
              </a:xfrm>
              <a:prstGeom prst="rect">
                <a:avLst/>
              </a:prstGeom>
            </p:spPr>
          </p:pic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AE943BA-DFF8-A008-0DF9-FD4B54B8DE01}"/>
                </a:ext>
              </a:extLst>
            </p:cNvPr>
            <p:cNvSpPr txBox="1"/>
            <p:nvPr/>
          </p:nvSpPr>
          <p:spPr>
            <a:xfrm>
              <a:off x="3348691" y="4199527"/>
              <a:ext cx="6527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0" u="none" dirty="0">
                  <a:solidFill>
                    <a:srgbClr val="FF0000"/>
                  </a:solidFill>
                  <a:cs typeface="Arial" pitchFamily="34" charset="0"/>
                </a:rPr>
                <a:t>3.5%</a:t>
              </a:r>
              <a:endPara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1D38928-0B93-F133-3168-E6038985DD23}"/>
                </a:ext>
              </a:extLst>
            </p:cNvPr>
            <p:cNvSpPr txBox="1"/>
            <p:nvPr/>
          </p:nvSpPr>
          <p:spPr>
            <a:xfrm>
              <a:off x="1161751" y="4199527"/>
              <a:ext cx="6527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0" u="none" dirty="0">
                  <a:solidFill>
                    <a:srgbClr val="FF0000"/>
                  </a:solidFill>
                  <a:cs typeface="Arial" pitchFamily="34" charset="0"/>
                </a:rPr>
                <a:t>3.5%</a:t>
              </a:r>
              <a:endParaRPr lang="en-US" sz="1600" b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001888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rgbClr val="00B05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 algn="l">
          <a:defRPr sz="1600" b="0" u="none" dirty="0" smtClean="0">
            <a:solidFill>
              <a:srgbClr val="FF0000"/>
            </a:solidFill>
            <a:latin typeface="Arial" pitchFamily="34" charset="0"/>
            <a:cs typeface="Arial" pitchFamily="34" charset="0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51869</TotalTime>
  <Words>8363</Words>
  <Application>Microsoft Office PowerPoint</Application>
  <PresentationFormat>On-screen Show (4:3)</PresentationFormat>
  <Paragraphs>1488</Paragraphs>
  <Slides>120</Slides>
  <Notes>11</Notes>
  <HiddenSlides>15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24" baseType="lpstr">
      <vt:lpstr>Cambria Math</vt:lpstr>
      <vt:lpstr>Courier New</vt:lpstr>
      <vt:lpstr>Arial</vt:lpstr>
      <vt:lpstr>presentation</vt:lpstr>
      <vt:lpstr>2. Hypothesis Testing </vt:lpstr>
      <vt:lpstr>Vocabulary and Formulas 1</vt:lpstr>
      <vt:lpstr>Vocabulary and Formulas 2</vt:lpstr>
      <vt:lpstr>Vocabulary and Formulas 3</vt:lpstr>
      <vt:lpstr>Today</vt:lpstr>
      <vt:lpstr>Last Time / This Time</vt:lpstr>
      <vt:lpstr>Problem Set 1</vt:lpstr>
      <vt:lpstr>Review</vt:lpstr>
      <vt:lpstr>Motivation</vt:lpstr>
      <vt:lpstr>Motivation</vt:lpstr>
      <vt:lpstr>Hypothesis Testing</vt:lpstr>
      <vt:lpstr>Example: Tax Scoring (2-sided t-test)</vt:lpstr>
      <vt:lpstr>Tax Scoring</vt:lpstr>
      <vt:lpstr>Summary of Tax Scoring Data</vt:lpstr>
      <vt:lpstr>Summary of Tax Scoring Data</vt:lpstr>
      <vt:lpstr>N(0,1) vs Student-t Distributions</vt:lpstr>
      <vt:lpstr>Review: the CI^95 Approach to Seeing if μ=0</vt:lpstr>
      <vt:lpstr>Review: the CI^95 Approach to Seeing if μ=0</vt:lpstr>
      <vt:lpstr>New: the t-stat Approach to Seeing if μ=0</vt:lpstr>
      <vt:lpstr>New: the t-stat Approach to Seeing if μ=0</vt:lpstr>
      <vt:lpstr>How Likely is x ̅ if H0 is True? Visualizing the t-statistic</vt:lpstr>
      <vt:lpstr>How Likely is x ̅ if H0 is True? Visualizing the t-statistic</vt:lpstr>
      <vt:lpstr>How Likely is x ̅ if H0 is True? Visualizing the t-statistic</vt:lpstr>
      <vt:lpstr>Finding the p-value</vt:lpstr>
      <vt:lpstr>Interpreting the p-value for the Senators</vt:lpstr>
      <vt:lpstr>PowerPoint Presentation</vt:lpstr>
      <vt:lpstr>Comparing CI^95 and t-stat</vt:lpstr>
      <vt:lpstr>Comparing CI^95 and t-stat</vt:lpstr>
      <vt:lpstr>Recipe for Hypothesis Testing</vt:lpstr>
      <vt:lpstr>Example 2: Emissions Control (1-sided t-test)</vt:lpstr>
      <vt:lpstr>Emissions Control</vt:lpstr>
      <vt:lpstr>Summary of Emissions Compliance Data</vt:lpstr>
      <vt:lpstr>What is the Hypothesis Test Here?</vt:lpstr>
      <vt:lpstr>Emissions Compliance</vt:lpstr>
      <vt:lpstr>Emissions Compliance</vt:lpstr>
      <vt:lpstr>Computing the 1-Sided CI95 for Emissions</vt:lpstr>
      <vt:lpstr>1-Sided t-test</vt:lpstr>
      <vt:lpstr>1-Sided t-test</vt:lpstr>
      <vt:lpstr>1-Sided t-test</vt:lpstr>
      <vt:lpstr>1- vs 2-Sided t-test Want 95% Confidence in BOTH cases!</vt:lpstr>
      <vt:lpstr>Wait…..What?</vt:lpstr>
      <vt:lpstr>1- vs 2-Sided t-test Want 95% Confidence in BOTH cases!</vt:lpstr>
      <vt:lpstr>1- vs 2-Sided t-test Want 95% Confidence in BOTH cases!</vt:lpstr>
      <vt:lpstr>More 1- vs 2-Sided t-tests</vt:lpstr>
      <vt:lpstr>1-sided CI^95 Corresponding to 1-sided t-test</vt:lpstr>
      <vt:lpstr>Emissions Compliance (cont)</vt:lpstr>
      <vt:lpstr>Rule for Finding N Needed to Get a Certain Margin of Error </vt:lpstr>
      <vt:lpstr>Testing for Differences in Two Samples’ Means</vt:lpstr>
      <vt:lpstr>Differences in Samples’ Means</vt:lpstr>
      <vt:lpstr>Differences in Samples’ Means</vt:lpstr>
      <vt:lpstr>Differences in Samples’ Means</vt:lpstr>
      <vt:lpstr>Differences in Samples’ Means</vt:lpstr>
      <vt:lpstr>Differences in Samples’ Means</vt:lpstr>
      <vt:lpstr>Intuition for the Difference in Samples’ Means t-statistic</vt:lpstr>
      <vt:lpstr>Hypothesis Tests ….</vt:lpstr>
      <vt:lpstr>Example 3: Management Scores (if time)</vt:lpstr>
      <vt:lpstr>Management Scores https://worldmanagementsurvey.org/</vt:lpstr>
      <vt:lpstr>Summary of Management Score Sample</vt:lpstr>
      <vt:lpstr>US vs Chinese Management Scores data_wms.xlsx</vt:lpstr>
      <vt:lpstr>US vs China Management Scores Hypothesis Testing data_wms.xlsx</vt:lpstr>
      <vt:lpstr>Difference in Means Hypothesis Testing in Excel data_wms.xlsx</vt:lpstr>
      <vt:lpstr>Difference in Means Hypothesis Testing in Excel data_wms.xlsx</vt:lpstr>
      <vt:lpstr>US vs China Management Scores t-Test in Excel data_wms.xlsx</vt:lpstr>
      <vt:lpstr>US vs China Management Scores t-Test in Stata</vt:lpstr>
      <vt:lpstr>Example 4: Management Scores Test with Bootstrap (if time)</vt:lpstr>
      <vt:lpstr>Bootstrapping</vt:lpstr>
      <vt:lpstr>Visualizing the Bootstrap</vt:lpstr>
      <vt:lpstr>Are US Firms Better Managed than Chinese Firms?</vt:lpstr>
      <vt:lpstr>Are US Firms Better Managed than Chinese Firms?</vt:lpstr>
      <vt:lpstr>Are US Firms Better Managed than Chinese Firms?</vt:lpstr>
      <vt:lpstr>Are US Firms Better Managed than Chinese Firms?</vt:lpstr>
      <vt:lpstr>US vs China Management Scores t-Test in Stata</vt:lpstr>
      <vt:lpstr>Hypothesis Tests ….</vt:lpstr>
      <vt:lpstr>End</vt:lpstr>
      <vt:lpstr>Appendix</vt:lpstr>
      <vt:lpstr>Simple Hypothesis Testing Examples</vt:lpstr>
      <vt:lpstr>Two Simple Examples for Intuition</vt:lpstr>
      <vt:lpstr>Example 1: Flipping Coins</vt:lpstr>
      <vt:lpstr>Example 2: Jury Diversity</vt:lpstr>
      <vt:lpstr>More Complex Examples</vt:lpstr>
      <vt:lpstr>More Examples 1: Beer Sales</vt:lpstr>
      <vt:lpstr>Beer Sales data_beer_raw.csv</vt:lpstr>
      <vt:lpstr>Summary of Beer Data</vt:lpstr>
      <vt:lpstr>Summary of Beer Data data_beer_raw.csv</vt:lpstr>
      <vt:lpstr>Beer Sales Hypothesis Testing in Excel data_beer_raw.xlsx</vt:lpstr>
      <vt:lpstr>Beer Sales Hypothesis Testing in Excel data_beer_raw.xlsx</vt:lpstr>
      <vt:lpstr>Beer Sales Hypothesis Testing in Excel data_beer_raw.xlsx</vt:lpstr>
      <vt:lpstr>Beer Sales Hypothesis Testing in Excel data_beer_raw.xlsx</vt:lpstr>
      <vt:lpstr>Beer Sales Hypothesis Testing in Excel data_beer_raw.xlsx</vt:lpstr>
      <vt:lpstr>Beer Sales Hypothesis Testing in Excel data_beer_raw.xlsx</vt:lpstr>
      <vt:lpstr>One vs Two-Sided Test Normal Distributions Not Drawn to Scale</vt:lpstr>
      <vt:lpstr>Beer Sales Hypothesis Testing in ChatGPT</vt:lpstr>
      <vt:lpstr>Beer Sales Hypothesis Testing in ChatGPT</vt:lpstr>
      <vt:lpstr>Beer Sales Hypothesis Testing in ChatGPT</vt:lpstr>
      <vt:lpstr>More Examples 2: Beer Sales in  December vs Other Months</vt:lpstr>
      <vt:lpstr>Beer Sales in December data_beer.xlsx</vt:lpstr>
      <vt:lpstr>Summary of Beer Sales In December Data</vt:lpstr>
      <vt:lpstr>Beer Sales Hypothesis Testing</vt:lpstr>
      <vt:lpstr>Beer Sales Hypothesis Testing in Excel</vt:lpstr>
      <vt:lpstr>Beer Sales Hypothesis Testing in Excel</vt:lpstr>
      <vt:lpstr>Beer Sales Hypothesis Testing in Excel (Other-Dec) Months</vt:lpstr>
      <vt:lpstr>More Examples 3: Warren Buffett</vt:lpstr>
      <vt:lpstr>Does Buffett Beat the Market?</vt:lpstr>
      <vt:lpstr>Distribution of Daily Returns 2000 to Present </vt:lpstr>
      <vt:lpstr>Summary of BRK-A and SP500 Data</vt:lpstr>
      <vt:lpstr>Does Buffett Beat the Market?</vt:lpstr>
      <vt:lpstr>More Examples 4: Campaign Contributions</vt:lpstr>
      <vt:lpstr>Campaign Contributions in Connecticut</vt:lpstr>
      <vt:lpstr>Summary of Campaign Contribution Sample</vt:lpstr>
      <vt:lpstr>Campaign Contribution Hypothesis Testing</vt:lpstr>
      <vt:lpstr>Other</vt:lpstr>
      <vt:lpstr>Motivation: What’s the Question?</vt:lpstr>
      <vt:lpstr>Guide to Economic Research Questions</vt:lpstr>
      <vt:lpstr>History of the “Student t” Distribution See this article and this article for more</vt:lpstr>
      <vt:lpstr>Intuition for the Student t Distribution</vt:lpstr>
      <vt:lpstr>Election Example Re-Visited</vt:lpstr>
      <vt:lpstr>Election Example Re-Visited</vt:lpstr>
      <vt:lpstr>Election Example Re-Visited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Surprisingly Swift Decline of U.S.  Manufacturing Employment   May 2011       Justin R. Pierce, U.S. Census Bureau Peter K. Schott, Yale School of Management &amp; NBER</dc:title>
  <dc:creator>pks4</dc:creator>
  <cp:lastModifiedBy>Schott, Peter</cp:lastModifiedBy>
  <cp:revision>3106</cp:revision>
  <cp:lastPrinted>2014-02-20T16:21:36Z</cp:lastPrinted>
  <dcterms:created xsi:type="dcterms:W3CDTF">2012-10-07T19:45:42Z</dcterms:created>
  <dcterms:modified xsi:type="dcterms:W3CDTF">2026-08-28T23:10:38Z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PageLayout">
    <vt:lpwstr>Message</vt:lpwstr>
  </property>
</Properties>
</file>